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5"/>
  </p:notesMasterIdLst>
  <p:handoutMasterIdLst>
    <p:handoutMasterId r:id="rId56"/>
  </p:handoutMasterIdLst>
  <p:sldIdLst>
    <p:sldId id="256" r:id="rId2"/>
    <p:sldId id="349" r:id="rId3"/>
    <p:sldId id="564" r:id="rId4"/>
    <p:sldId id="350" r:id="rId5"/>
    <p:sldId id="519" r:id="rId6"/>
    <p:sldId id="520" r:id="rId7"/>
    <p:sldId id="521" r:id="rId8"/>
    <p:sldId id="522" r:id="rId9"/>
    <p:sldId id="523" r:id="rId10"/>
    <p:sldId id="524" r:id="rId11"/>
    <p:sldId id="565" r:id="rId12"/>
    <p:sldId id="470" r:id="rId13"/>
    <p:sldId id="525" r:id="rId14"/>
    <p:sldId id="526" r:id="rId15"/>
    <p:sldId id="527" r:id="rId16"/>
    <p:sldId id="528" r:id="rId17"/>
    <p:sldId id="529" r:id="rId18"/>
    <p:sldId id="530" r:id="rId19"/>
    <p:sldId id="531" r:id="rId20"/>
    <p:sldId id="532" r:id="rId21"/>
    <p:sldId id="533" r:id="rId22"/>
    <p:sldId id="534" r:id="rId23"/>
    <p:sldId id="566" r:id="rId24"/>
    <p:sldId id="535" r:id="rId25"/>
    <p:sldId id="536" r:id="rId26"/>
    <p:sldId id="537" r:id="rId27"/>
    <p:sldId id="538" r:id="rId28"/>
    <p:sldId id="539" r:id="rId29"/>
    <p:sldId id="540" r:id="rId30"/>
    <p:sldId id="542" r:id="rId31"/>
    <p:sldId id="567" r:id="rId32"/>
    <p:sldId id="541" r:id="rId33"/>
    <p:sldId id="544" r:id="rId34"/>
    <p:sldId id="545" r:id="rId35"/>
    <p:sldId id="546" r:id="rId36"/>
    <p:sldId id="547" r:id="rId37"/>
    <p:sldId id="548" r:id="rId38"/>
    <p:sldId id="550" r:id="rId39"/>
    <p:sldId id="551" r:id="rId40"/>
    <p:sldId id="554" r:id="rId41"/>
    <p:sldId id="552" r:id="rId42"/>
    <p:sldId id="568" r:id="rId43"/>
    <p:sldId id="555" r:id="rId44"/>
    <p:sldId id="557" r:id="rId45"/>
    <p:sldId id="559" r:id="rId46"/>
    <p:sldId id="558" r:id="rId47"/>
    <p:sldId id="560" r:id="rId48"/>
    <p:sldId id="561" r:id="rId49"/>
    <p:sldId id="562" r:id="rId50"/>
    <p:sldId id="563" r:id="rId51"/>
    <p:sldId id="516" r:id="rId52"/>
    <p:sldId id="517" r:id="rId53"/>
    <p:sldId id="518" r:id="rId54"/>
  </p:sldIdLst>
  <p:sldSz cx="9144000" cy="6858000" type="screen4x3"/>
  <p:notesSz cx="6858000" cy="9144000"/>
  <p:custDataLst>
    <p:tags r:id="rId57"/>
  </p:custDataLst>
  <p:defaultTextStyle>
    <a:defPPr>
      <a:defRPr lang="en-US"/>
    </a:defPPr>
    <a:lvl1pPr algn="ctr" rtl="0" eaLnBrk="0" fontAlgn="base" hangingPunct="0">
      <a:spcBef>
        <a:spcPct val="0"/>
      </a:spcBef>
      <a:spcAft>
        <a:spcPct val="0"/>
      </a:spcAft>
      <a:defRPr sz="2400" kern="1200">
        <a:solidFill>
          <a:schemeClr val="bg1"/>
        </a:solidFill>
        <a:latin typeface="Arial" charset="0"/>
        <a:ea typeface="+mn-ea"/>
        <a:cs typeface="+mn-cs"/>
      </a:defRPr>
    </a:lvl1pPr>
    <a:lvl2pPr marL="457200" algn="ctr" rtl="0" eaLnBrk="0" fontAlgn="base" hangingPunct="0">
      <a:spcBef>
        <a:spcPct val="0"/>
      </a:spcBef>
      <a:spcAft>
        <a:spcPct val="0"/>
      </a:spcAft>
      <a:defRPr sz="2400" kern="1200">
        <a:solidFill>
          <a:schemeClr val="bg1"/>
        </a:solidFill>
        <a:latin typeface="Arial" charset="0"/>
        <a:ea typeface="+mn-ea"/>
        <a:cs typeface="+mn-cs"/>
      </a:defRPr>
    </a:lvl2pPr>
    <a:lvl3pPr marL="914400" algn="ctr" rtl="0" eaLnBrk="0" fontAlgn="base" hangingPunct="0">
      <a:spcBef>
        <a:spcPct val="0"/>
      </a:spcBef>
      <a:spcAft>
        <a:spcPct val="0"/>
      </a:spcAft>
      <a:defRPr sz="2400" kern="1200">
        <a:solidFill>
          <a:schemeClr val="bg1"/>
        </a:solidFill>
        <a:latin typeface="Arial" charset="0"/>
        <a:ea typeface="+mn-ea"/>
        <a:cs typeface="+mn-cs"/>
      </a:defRPr>
    </a:lvl3pPr>
    <a:lvl4pPr marL="1371600" algn="ctr" rtl="0" eaLnBrk="0" fontAlgn="base" hangingPunct="0">
      <a:spcBef>
        <a:spcPct val="0"/>
      </a:spcBef>
      <a:spcAft>
        <a:spcPct val="0"/>
      </a:spcAft>
      <a:defRPr sz="2400" kern="1200">
        <a:solidFill>
          <a:schemeClr val="bg1"/>
        </a:solidFill>
        <a:latin typeface="Arial" charset="0"/>
        <a:ea typeface="+mn-ea"/>
        <a:cs typeface="+mn-cs"/>
      </a:defRPr>
    </a:lvl4pPr>
    <a:lvl5pPr marL="1828800" algn="ctr" rtl="0" eaLnBrk="0" fontAlgn="base" hangingPunct="0">
      <a:spcBef>
        <a:spcPct val="0"/>
      </a:spcBef>
      <a:spcAft>
        <a:spcPct val="0"/>
      </a:spcAft>
      <a:defRPr sz="2400" kern="1200">
        <a:solidFill>
          <a:schemeClr val="bg1"/>
        </a:solidFill>
        <a:latin typeface="Arial" charset="0"/>
        <a:ea typeface="+mn-ea"/>
        <a:cs typeface="+mn-cs"/>
      </a:defRPr>
    </a:lvl5pPr>
    <a:lvl6pPr marL="2286000" algn="l" defTabSz="914400" rtl="0" eaLnBrk="1" latinLnBrk="0" hangingPunct="1">
      <a:defRPr sz="2400" kern="1200">
        <a:solidFill>
          <a:schemeClr val="bg1"/>
        </a:solidFill>
        <a:latin typeface="Arial" charset="0"/>
        <a:ea typeface="+mn-ea"/>
        <a:cs typeface="+mn-cs"/>
      </a:defRPr>
    </a:lvl6pPr>
    <a:lvl7pPr marL="2743200" algn="l" defTabSz="914400" rtl="0" eaLnBrk="1" latinLnBrk="0" hangingPunct="1">
      <a:defRPr sz="2400" kern="1200">
        <a:solidFill>
          <a:schemeClr val="bg1"/>
        </a:solidFill>
        <a:latin typeface="Arial" charset="0"/>
        <a:ea typeface="+mn-ea"/>
        <a:cs typeface="+mn-cs"/>
      </a:defRPr>
    </a:lvl7pPr>
    <a:lvl8pPr marL="3200400" algn="l" defTabSz="914400" rtl="0" eaLnBrk="1" latinLnBrk="0" hangingPunct="1">
      <a:defRPr sz="2400" kern="1200">
        <a:solidFill>
          <a:schemeClr val="bg1"/>
        </a:solidFill>
        <a:latin typeface="Arial" charset="0"/>
        <a:ea typeface="+mn-ea"/>
        <a:cs typeface="+mn-cs"/>
      </a:defRPr>
    </a:lvl8pPr>
    <a:lvl9pPr marL="3657600" algn="l" defTabSz="914400" rtl="0" eaLnBrk="1" latinLnBrk="0" hangingPunct="1">
      <a:defRPr sz="24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C4D7"/>
    <a:srgbClr val="FFCCCC"/>
    <a:srgbClr val="FF99CC"/>
    <a:srgbClr val="CC00FF"/>
    <a:srgbClr val="FF7C80"/>
    <a:srgbClr val="0033CC"/>
    <a:srgbClr val="0000FF"/>
    <a:srgbClr val="FF0066"/>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59" autoAdjust="0"/>
    <p:restoredTop sz="89844" autoAdjust="0"/>
  </p:normalViewPr>
  <p:slideViewPr>
    <p:cSldViewPr>
      <p:cViewPr varScale="1">
        <p:scale>
          <a:sx n="50" d="100"/>
          <a:sy n="50" d="100"/>
        </p:scale>
        <p:origin x="1469" y="29"/>
      </p:cViewPr>
      <p:guideLst>
        <p:guide orient="horz" pos="2160"/>
        <p:guide pos="2880"/>
      </p:guideLst>
    </p:cSldViewPr>
  </p:slideViewPr>
  <p:outlineViewPr>
    <p:cViewPr>
      <p:scale>
        <a:sx n="33" d="100"/>
        <a:sy n="33" d="100"/>
      </p:scale>
      <p:origin x="0" y="718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88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6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1669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9E2B97F0-33F1-4001-BBE2-6DA117D757A1}" type="slidenum">
              <a:rPr lang="en-US"/>
              <a:pPr>
                <a:defRPr/>
              </a:pPr>
              <a:t>‹#›</a:t>
            </a:fld>
            <a:endParaRPr lang="en-US"/>
          </a:p>
        </p:txBody>
      </p:sp>
    </p:spTree>
    <p:extLst>
      <p:ext uri="{BB962C8B-B14F-4D97-AF65-F5344CB8AC3E}">
        <p14:creationId xmlns:p14="http://schemas.microsoft.com/office/powerpoint/2010/main" val="147688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33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03222506-91B9-4608-A17B-3DCA2CD2D529}" type="slidenum">
              <a:rPr lang="en-US"/>
              <a:pPr>
                <a:defRPr/>
              </a:pPr>
              <a:t>‹#›</a:t>
            </a:fld>
            <a:endParaRPr lang="en-US"/>
          </a:p>
        </p:txBody>
      </p:sp>
    </p:spTree>
    <p:extLst>
      <p:ext uri="{BB962C8B-B14F-4D97-AF65-F5344CB8AC3E}">
        <p14:creationId xmlns:p14="http://schemas.microsoft.com/office/powerpoint/2010/main" val="40677649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a:spLocks noChangeArrowheads="1"/>
          </p:cNvSpPr>
          <p:nvPr/>
        </p:nvSpPr>
        <p:spPr bwMode="gray">
          <a:xfrm>
            <a:off x="8004175" y="0"/>
            <a:ext cx="1139825" cy="6858000"/>
          </a:xfrm>
          <a:prstGeom prst="rect">
            <a:avLst/>
          </a:prstGeom>
          <a:solidFill>
            <a:schemeClr val="bg2">
              <a:alpha val="39999"/>
            </a:schemeClr>
          </a:solidFill>
          <a:ln w="9525">
            <a:noFill/>
            <a:miter lim="800000"/>
            <a:headEnd/>
            <a:tailEnd/>
          </a:ln>
          <a:effectLst/>
        </p:spPr>
        <p:txBody>
          <a:bodyPr wrap="none" anchor="ctr"/>
          <a:lstStyle/>
          <a:p>
            <a:pPr>
              <a:defRPr/>
            </a:pPr>
            <a:endParaRPr lang="en-US"/>
          </a:p>
        </p:txBody>
      </p:sp>
      <p:sp>
        <p:nvSpPr>
          <p:cNvPr id="5" name="Rectangle 4"/>
          <p:cNvSpPr>
            <a:spLocks noChangeArrowheads="1"/>
          </p:cNvSpPr>
          <p:nvPr/>
        </p:nvSpPr>
        <p:spPr bwMode="white">
          <a:xfrm>
            <a:off x="0" y="4638675"/>
            <a:ext cx="9144000" cy="2219325"/>
          </a:xfrm>
          <a:prstGeom prst="rect">
            <a:avLst/>
          </a:prstGeom>
          <a:solidFill>
            <a:schemeClr val="folHlink">
              <a:alpha val="31000"/>
            </a:schemeClr>
          </a:solidFill>
          <a:ln w="9525">
            <a:noFill/>
            <a:miter lim="800000"/>
            <a:headEnd/>
            <a:tailEnd/>
          </a:ln>
          <a:effectLst/>
        </p:spPr>
        <p:txBody>
          <a:bodyPr wrap="none" anchor="ctr"/>
          <a:lstStyle/>
          <a:p>
            <a:pPr>
              <a:defRPr/>
            </a:pPr>
            <a:endParaRPr lang="en-US"/>
          </a:p>
        </p:txBody>
      </p:sp>
      <p:sp>
        <p:nvSpPr>
          <p:cNvPr id="6" name="Rectangle 5"/>
          <p:cNvSpPr>
            <a:spLocks noChangeArrowheads="1"/>
          </p:cNvSpPr>
          <p:nvPr/>
        </p:nvSpPr>
        <p:spPr bwMode="gray">
          <a:xfrm>
            <a:off x="0" y="2149475"/>
            <a:ext cx="9144000" cy="2498725"/>
          </a:xfrm>
          <a:prstGeom prst="rect">
            <a:avLst/>
          </a:prstGeom>
          <a:solidFill>
            <a:schemeClr val="tx1"/>
          </a:solidFill>
          <a:ln w="9525">
            <a:noFill/>
            <a:miter lim="800000"/>
            <a:headEnd/>
            <a:tailEnd/>
          </a:ln>
          <a:effectLst/>
        </p:spPr>
        <p:txBody>
          <a:bodyPr wrap="none" anchor="ctr"/>
          <a:lstStyle/>
          <a:p>
            <a:pPr>
              <a:defRPr/>
            </a:pPr>
            <a:endParaRPr lang="en-US"/>
          </a:p>
        </p:txBody>
      </p:sp>
      <p:sp>
        <p:nvSpPr>
          <p:cNvPr id="7" name="Freeform 6"/>
          <p:cNvSpPr>
            <a:spLocks/>
          </p:cNvSpPr>
          <p:nvPr/>
        </p:nvSpPr>
        <p:spPr bwMode="gray">
          <a:xfrm>
            <a:off x="-9525" y="2138363"/>
            <a:ext cx="8015288" cy="22717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folHlink">
              <a:alpha val="73000"/>
            </a:schemeClr>
          </a:solidFill>
          <a:ln w="9525">
            <a:noFill/>
            <a:round/>
            <a:headEnd/>
            <a:tailEnd/>
          </a:ln>
          <a:effectLst/>
        </p:spPr>
        <p:txBody>
          <a:bodyPr/>
          <a:lstStyle/>
          <a:p>
            <a:pPr>
              <a:defRPr/>
            </a:pPr>
            <a:endParaRPr lang="en-US"/>
          </a:p>
        </p:txBody>
      </p:sp>
      <p:sp>
        <p:nvSpPr>
          <p:cNvPr id="8" name="AutoShape 21"/>
          <p:cNvSpPr>
            <a:spLocks noChangeArrowheads="1"/>
          </p:cNvSpPr>
          <p:nvPr/>
        </p:nvSpPr>
        <p:spPr bwMode="gray">
          <a:xfrm>
            <a:off x="7696200" y="59436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9" name="AutoShape 22"/>
          <p:cNvSpPr>
            <a:spLocks noChangeArrowheads="1"/>
          </p:cNvSpPr>
          <p:nvPr/>
        </p:nvSpPr>
        <p:spPr bwMode="gray">
          <a:xfrm>
            <a:off x="8229600" y="56388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0" name="AutoShape 23"/>
          <p:cNvSpPr>
            <a:spLocks noChangeArrowheads="1"/>
          </p:cNvSpPr>
          <p:nvPr/>
        </p:nvSpPr>
        <p:spPr bwMode="gray">
          <a:xfrm>
            <a:off x="8220075" y="622935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1" name="Text Box 14"/>
          <p:cNvSpPr txBox="1">
            <a:spLocks noChangeArrowheads="1"/>
          </p:cNvSpPr>
          <p:nvPr/>
        </p:nvSpPr>
        <p:spPr bwMode="auto">
          <a:xfrm>
            <a:off x="304800" y="228600"/>
            <a:ext cx="1447800" cy="519113"/>
          </a:xfrm>
          <a:prstGeom prst="rect">
            <a:avLst/>
          </a:prstGeom>
          <a:noFill/>
          <a:ln w="9525">
            <a:noFill/>
            <a:miter lim="800000"/>
            <a:headEnd/>
            <a:tailEnd/>
          </a:ln>
          <a:effectLst/>
        </p:spPr>
        <p:txBody>
          <a:bodyPr>
            <a:spAutoFit/>
          </a:bodyPr>
          <a:lstStyle/>
          <a:p>
            <a:pPr eaLnBrk="1" hangingPunct="1">
              <a:defRPr/>
            </a:pPr>
            <a:r>
              <a:rPr lang="en-US" sz="2800" b="1">
                <a:solidFill>
                  <a:schemeClr val="tx2"/>
                </a:solidFill>
                <a:latin typeface="Verdana" pitchFamily="34" charset="0"/>
              </a:rPr>
              <a:t>LOGO</a:t>
            </a:r>
          </a:p>
        </p:txBody>
      </p:sp>
      <p:grpSp>
        <p:nvGrpSpPr>
          <p:cNvPr id="12" name="Group 116"/>
          <p:cNvGrpSpPr>
            <a:grpSpLocks/>
          </p:cNvGrpSpPr>
          <p:nvPr/>
        </p:nvGrpSpPr>
        <p:grpSpPr bwMode="auto">
          <a:xfrm>
            <a:off x="190500" y="2324100"/>
            <a:ext cx="3276600" cy="3314700"/>
            <a:chOff x="120" y="1464"/>
            <a:chExt cx="2064" cy="2088"/>
          </a:xfrm>
        </p:grpSpPr>
        <p:sp>
          <p:nvSpPr>
            <p:cNvPr id="13"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2"/>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4"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3"/>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5"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4"/>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grpSp>
      <p:sp>
        <p:nvSpPr>
          <p:cNvPr id="3074" name="Rectangle 2"/>
          <p:cNvSpPr>
            <a:spLocks noGrp="1" noChangeArrowheads="1"/>
          </p:cNvSpPr>
          <p:nvPr>
            <p:ph type="ctrTitle"/>
          </p:nvPr>
        </p:nvSpPr>
        <p:spPr bwMode="gray">
          <a:xfrm>
            <a:off x="1143000" y="990600"/>
            <a:ext cx="6705600" cy="1012825"/>
          </a:xfrm>
        </p:spPr>
        <p:txBody>
          <a:bodyPr/>
          <a:lstStyle>
            <a:lvl1pPr algn="ctr">
              <a:defRPr sz="3600" b="1">
                <a:solidFill>
                  <a:schemeClr val="tx2"/>
                </a:solidFill>
              </a:defRPr>
            </a:lvl1pPr>
          </a:lstStyle>
          <a:p>
            <a:r>
              <a:rPr lang="en-US"/>
              <a:t>Click to edit Master title style</a:t>
            </a:r>
          </a:p>
        </p:txBody>
      </p:sp>
      <p:sp>
        <p:nvSpPr>
          <p:cNvPr id="3075" name="Rectangle 3"/>
          <p:cNvSpPr>
            <a:spLocks noGrp="1" noChangeArrowheads="1"/>
          </p:cNvSpPr>
          <p:nvPr>
            <p:ph type="subTitle" idx="1"/>
          </p:nvPr>
        </p:nvSpPr>
        <p:spPr bwMode="white">
          <a:xfrm>
            <a:off x="3505200" y="2971800"/>
            <a:ext cx="4343400" cy="685800"/>
          </a:xfrm>
        </p:spPr>
        <p:txBody>
          <a:bodyPr/>
          <a:lstStyle>
            <a:lvl1pPr marL="0" indent="0" algn="r">
              <a:buFont typeface="Wingdings" pitchFamily="2" charset="2"/>
              <a:buNone/>
              <a:defRPr sz="1600">
                <a:solidFill>
                  <a:schemeClr val="bg1"/>
                </a:solidFill>
              </a:defRPr>
            </a:lvl1pPr>
          </a:lstStyle>
          <a:p>
            <a:r>
              <a:rPr lang="en-US"/>
              <a:t>Click to edit Master subtitle style</a:t>
            </a:r>
          </a:p>
        </p:txBody>
      </p:sp>
      <p:sp>
        <p:nvSpPr>
          <p:cNvPr id="16" name="Rectangle 4"/>
          <p:cNvSpPr>
            <a:spLocks noGrp="1" noChangeArrowheads="1"/>
          </p:cNvSpPr>
          <p:nvPr>
            <p:ph type="dt" sz="half" idx="10"/>
          </p:nvPr>
        </p:nvSpPr>
        <p:spPr>
          <a:xfrm>
            <a:off x="3352800" y="6553200"/>
            <a:ext cx="2133600" cy="152400"/>
          </a:xfrm>
        </p:spPr>
        <p:txBody>
          <a:bodyPr/>
          <a:lstStyle>
            <a:lvl1pPr algn="r">
              <a:defRPr sz="1000">
                <a:solidFill>
                  <a:schemeClr val="tx2"/>
                </a:solidFill>
                <a:latin typeface="+mn-lt"/>
              </a:defRPr>
            </a:lvl1pPr>
          </a:lstStyle>
          <a:p>
            <a:pPr>
              <a:defRPr/>
            </a:pPr>
            <a:r>
              <a:rPr lang="en-US"/>
              <a:t>Khoa CNTT - UNETI</a:t>
            </a:r>
          </a:p>
        </p:txBody>
      </p:sp>
      <p:sp>
        <p:nvSpPr>
          <p:cNvPr id="17" name="Rectangle 5"/>
          <p:cNvSpPr>
            <a:spLocks noGrp="1" noChangeArrowheads="1"/>
          </p:cNvSpPr>
          <p:nvPr>
            <p:ph type="ftr" sz="quarter" idx="11"/>
          </p:nvPr>
        </p:nvSpPr>
        <p:spPr>
          <a:xfrm>
            <a:off x="304800" y="6477000"/>
            <a:ext cx="2590800" cy="228600"/>
          </a:xfrm>
        </p:spPr>
        <p:txBody>
          <a:bodyPr/>
          <a:lstStyle>
            <a:lvl1pPr algn="ctr">
              <a:defRPr sz="1200">
                <a:solidFill>
                  <a:schemeClr val="tx2"/>
                </a:solidFill>
                <a:latin typeface="Arial" charset="0"/>
              </a:defRPr>
            </a:lvl1pPr>
          </a:lstStyle>
          <a:p>
            <a:pPr>
              <a:defRPr/>
            </a:pPr>
            <a:endParaRPr lang="en-US"/>
          </a:p>
        </p:txBody>
      </p:sp>
      <p:sp>
        <p:nvSpPr>
          <p:cNvPr id="18" name="Rectangle 6"/>
          <p:cNvSpPr>
            <a:spLocks noGrp="1" noChangeArrowheads="1"/>
          </p:cNvSpPr>
          <p:nvPr>
            <p:ph type="sldNum" sz="quarter" idx="12"/>
          </p:nvPr>
        </p:nvSpPr>
        <p:spPr>
          <a:xfrm>
            <a:off x="8210550" y="6467475"/>
            <a:ext cx="533400" cy="244475"/>
          </a:xfrm>
        </p:spPr>
        <p:txBody>
          <a:bodyPr/>
          <a:lstStyle>
            <a:lvl1pPr>
              <a:defRPr sz="1200">
                <a:latin typeface="Arial" charset="0"/>
              </a:defRPr>
            </a:lvl1pPr>
          </a:lstStyle>
          <a:p>
            <a:pPr>
              <a:defRPr/>
            </a:pPr>
            <a:fld id="{C6D4949A-6AB1-4FC2-9B68-AD4CBDC6154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a:lvl1pPr>
          </a:lstStyle>
          <a:p>
            <a:pPr>
              <a:defRPr/>
            </a:pPr>
            <a:fld id="{38F16FD5-974A-40BB-8233-36E86F2AA73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sz="1400">
                <a:solidFill>
                  <a:srgbClr val="002060"/>
                </a:solidFill>
              </a:defRPr>
            </a:lvl1pPr>
          </a:lstStyle>
          <a:p>
            <a:pPr>
              <a:defRPr/>
            </a:pPr>
            <a:fld id="{38F16FD5-974A-40BB-8233-36E86F2AA732}" type="slidenum">
              <a:rPr lang="en-US" smtClean="0"/>
              <a:pPr>
                <a:defRPr/>
              </a:pPr>
              <a:t>‹#›</a:t>
            </a:fld>
            <a:endParaRPr lang="en-US"/>
          </a:p>
        </p:txBody>
      </p:sp>
    </p:spTree>
    <p:extLst>
      <p:ext uri="{BB962C8B-B14F-4D97-AF65-F5344CB8AC3E}">
        <p14:creationId xmlns:p14="http://schemas.microsoft.com/office/powerpoint/2010/main" val="2416010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FA5E583-F5BB-4A7C-968E-806973EDB11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6EADD87-5DE4-4FC8-9754-98A33C5556A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9FAD1ED-0F27-4714-8A61-3EA2C1E8813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CB3A908F-56BE-4858-AD2D-1A4CAAE951C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1136BFC-504A-480F-875D-D2CFCCA5FFC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CC38E81-E6E1-4595-9BE0-D4ED4704EBC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76259F6-250F-48F2-A908-7B59FD9010F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513BACE-ADF4-4A55-8B8C-495A02FEA02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B9936B-AF50-4F83-B203-9D59168E1E35}"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sp>
        <p:nvSpPr>
          <p:cNvPr id="17" name="Shape 17"/>
          <p:cNvSpPr>
            <a:spLocks noGrp="1"/>
          </p:cNvSpPr>
          <p:nvPr>
            <p:ph type="sldNum" sz="quarter" idx="2"/>
          </p:nvPr>
        </p:nvSpPr>
        <p:spPr>
          <a:xfrm>
            <a:off x="8226244" y="6475414"/>
            <a:ext cx="245404" cy="226986"/>
          </a:xfrm>
          <a:prstGeom prst="rect">
            <a:avLst/>
          </a:prstGeom>
        </p:spPr>
        <p:txBody>
          <a:bodyPr/>
          <a:lstStyle/>
          <a:p>
            <a:fld id="{86CB4B4D-7CA3-9044-876B-883B54F8677D}" type="slidenum">
              <a:rPr/>
              <a:t>‹#›</a:t>
            </a:fld>
            <a:endParaRPr/>
          </a:p>
        </p:txBody>
      </p:sp>
      <p:sp>
        <p:nvSpPr>
          <p:cNvPr id="3" name="Text Placeholder 2"/>
          <p:cNvSpPr>
            <a:spLocks noGrp="1"/>
          </p:cNvSpPr>
          <p:nvPr>
            <p:ph type="body" sz="quarter" idx="10" hasCustomPrompt="1"/>
          </p:nvPr>
        </p:nvSpPr>
        <p:spPr>
          <a:xfrm>
            <a:off x="914399" y="6475414"/>
            <a:ext cx="3294530" cy="234668"/>
          </a:xfrm>
        </p:spPr>
        <p:txBody>
          <a:bodyPr/>
          <a:lstStyle>
            <a:lvl1pPr marL="0" indent="0">
              <a:buNone/>
              <a:defRPr sz="1400" baseline="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err="1"/>
              <a:t>Khoa</a:t>
            </a:r>
            <a:r>
              <a:rPr lang="en-US" dirty="0"/>
              <a:t> </a:t>
            </a:r>
            <a:r>
              <a:rPr lang="en-US" dirty="0" err="1"/>
              <a:t>Công</a:t>
            </a:r>
            <a:r>
              <a:rPr lang="en-US" dirty="0"/>
              <a:t> </a:t>
            </a:r>
            <a:r>
              <a:rPr lang="en-US" dirty="0" err="1"/>
              <a:t>nghệ</a:t>
            </a:r>
            <a:r>
              <a:rPr lang="en-US" dirty="0"/>
              <a:t> </a:t>
            </a:r>
            <a:r>
              <a:rPr lang="en-US" dirty="0" err="1"/>
              <a:t>thông</a:t>
            </a:r>
            <a:r>
              <a:rPr lang="en-US" dirty="0"/>
              <a:t> tin - </a:t>
            </a:r>
            <a:r>
              <a:rPr lang="en-US" dirty="0" err="1"/>
              <a:t>Uneti</a:t>
            </a:r>
            <a:endParaRPr lang="en-US" dirty="0"/>
          </a:p>
        </p:txBody>
      </p:sp>
    </p:spTree>
    <p:extLst>
      <p:ext uri="{BB962C8B-B14F-4D97-AF65-F5344CB8AC3E}">
        <p14:creationId xmlns:p14="http://schemas.microsoft.com/office/powerpoint/2010/main" val="253966929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Freeform 15"/>
          <p:cNvSpPr>
            <a:spLocks/>
          </p:cNvSpPr>
          <p:nvPr/>
        </p:nvSpPr>
        <p:spPr bwMode="gray">
          <a:xfrm>
            <a:off x="-9525" y="344488"/>
            <a:ext cx="8194675" cy="6334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tx2"/>
          </a:solidFill>
          <a:ln w="9525">
            <a:noFill/>
            <a:round/>
            <a:headEnd/>
            <a:tailEnd/>
          </a:ln>
          <a:effectLst/>
        </p:spPr>
        <p:txBody>
          <a:bodyPr/>
          <a:lstStyle/>
          <a:p>
            <a:pPr>
              <a:defRPr/>
            </a:pPr>
            <a:endParaRPr lang="en-US"/>
          </a:p>
        </p:txBody>
      </p:sp>
      <p:grpSp>
        <p:nvGrpSpPr>
          <p:cNvPr id="1027" name="Group 16"/>
          <p:cNvGrpSpPr>
            <a:grpSpLocks/>
          </p:cNvGrpSpPr>
          <p:nvPr/>
        </p:nvGrpSpPr>
        <p:grpSpPr bwMode="auto">
          <a:xfrm>
            <a:off x="8153400" y="0"/>
            <a:ext cx="990600" cy="6858000"/>
            <a:chOff x="5040" y="0"/>
            <a:chExt cx="720" cy="4320"/>
          </a:xfrm>
        </p:grpSpPr>
        <p:sp>
          <p:nvSpPr>
            <p:cNvPr id="1041" name="Rectangle 17"/>
            <p:cNvSpPr>
              <a:spLocks noChangeArrowheads="1"/>
            </p:cNvSpPr>
            <p:nvPr/>
          </p:nvSpPr>
          <p:spPr bwMode="gray">
            <a:xfrm>
              <a:off x="5042" y="0"/>
              <a:ext cx="718" cy="4320"/>
            </a:xfrm>
            <a:prstGeom prst="rect">
              <a:avLst/>
            </a:prstGeom>
            <a:solidFill>
              <a:schemeClr val="folHlink">
                <a:alpha val="39999"/>
              </a:schemeClr>
            </a:solidFill>
            <a:ln w="9525">
              <a:noFill/>
              <a:miter lim="800000"/>
              <a:headEnd/>
              <a:tailEnd/>
            </a:ln>
            <a:effectLst/>
          </p:spPr>
          <p:txBody>
            <a:bodyPr wrap="none" anchor="ctr"/>
            <a:lstStyle/>
            <a:p>
              <a:pPr>
                <a:defRPr/>
              </a:pPr>
              <a:endParaRPr lang="en-US"/>
            </a:p>
          </p:txBody>
        </p:sp>
        <p:sp>
          <p:nvSpPr>
            <p:cNvPr id="1042" name="Rectangle 18"/>
            <p:cNvSpPr>
              <a:spLocks noChangeArrowheads="1"/>
            </p:cNvSpPr>
            <p:nvPr/>
          </p:nvSpPr>
          <p:spPr bwMode="gray">
            <a:xfrm>
              <a:off x="5040" y="219"/>
              <a:ext cx="720" cy="393"/>
            </a:xfrm>
            <a:prstGeom prst="rect">
              <a:avLst/>
            </a:prstGeom>
            <a:solidFill>
              <a:schemeClr val="tx1"/>
            </a:solidFill>
            <a:ln w="9525">
              <a:noFill/>
              <a:miter lim="800000"/>
              <a:headEnd/>
              <a:tailEnd/>
            </a:ln>
            <a:effectLst/>
          </p:spPr>
          <p:txBody>
            <a:bodyPr wrap="none" anchor="ctr"/>
            <a:lstStyle/>
            <a:p>
              <a:pPr>
                <a:defRPr/>
              </a:pPr>
              <a:endParaRPr lang="en-US"/>
            </a:p>
          </p:txBody>
        </p:sp>
      </p:grpSp>
      <p:sp>
        <p:nvSpPr>
          <p:cNvPr id="1043" name="AutoShape 19"/>
          <p:cNvSpPr>
            <a:spLocks noChangeArrowheads="1"/>
          </p:cNvSpPr>
          <p:nvPr/>
        </p:nvSpPr>
        <p:spPr bwMode="gray">
          <a:xfrm>
            <a:off x="7696200" y="59436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4" name="AutoShape 20"/>
          <p:cNvSpPr>
            <a:spLocks noChangeArrowheads="1"/>
          </p:cNvSpPr>
          <p:nvPr/>
        </p:nvSpPr>
        <p:spPr bwMode="gray">
          <a:xfrm>
            <a:off x="8229600" y="56388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5" name="AutoShape 21"/>
          <p:cNvSpPr>
            <a:spLocks noChangeArrowheads="1"/>
          </p:cNvSpPr>
          <p:nvPr/>
        </p:nvSpPr>
        <p:spPr bwMode="gray">
          <a:xfrm>
            <a:off x="8220075" y="622935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31" name="Rectangle 3"/>
          <p:cNvSpPr>
            <a:spLocks noGrp="1" noChangeArrowheads="1"/>
          </p:cNvSpPr>
          <p:nvPr>
            <p:ph type="body" idx="1"/>
          </p:nvPr>
        </p:nvSpPr>
        <p:spPr bwMode="auto">
          <a:xfrm>
            <a:off x="457200" y="1076325"/>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519863"/>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solidFill>
                  <a:schemeClr val="tx1"/>
                </a:solidFill>
              </a:defRPr>
            </a:lvl1pPr>
          </a:lstStyle>
          <a:p>
            <a:pPr>
              <a:defRPr/>
            </a:pPr>
            <a:r>
              <a:rPr lang="en-US"/>
              <a:t>Khoa CNTT - UNETI</a:t>
            </a:r>
          </a:p>
        </p:txBody>
      </p:sp>
      <p:sp>
        <p:nvSpPr>
          <p:cNvPr id="1029" name="Rectangle 5"/>
          <p:cNvSpPr>
            <a:spLocks noGrp="1" noChangeArrowheads="1"/>
          </p:cNvSpPr>
          <p:nvPr>
            <p:ph type="ftr" sz="quarter" idx="3"/>
          </p:nvPr>
        </p:nvSpPr>
        <p:spPr bwMode="auto">
          <a:xfrm>
            <a:off x="5181600" y="6477000"/>
            <a:ext cx="2895600" cy="233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8286750" y="6386513"/>
            <a:ext cx="457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mn-lt"/>
              </a:defRPr>
            </a:lvl1pPr>
          </a:lstStyle>
          <a:p>
            <a:pPr>
              <a:defRPr/>
            </a:pPr>
            <a:fld id="{3DD6941D-3DCA-4DBC-80FB-7A196F783DA7}" type="slidenum">
              <a:rPr lang="en-US"/>
              <a:pPr>
                <a:defRPr/>
              </a:pPr>
              <a:t>‹#›</a:t>
            </a:fld>
            <a:endParaRPr lang="en-US"/>
          </a:p>
        </p:txBody>
      </p:sp>
      <p:grpSp>
        <p:nvGrpSpPr>
          <p:cNvPr id="1035" name="Group 22"/>
          <p:cNvGrpSpPr>
            <a:grpSpLocks/>
          </p:cNvGrpSpPr>
          <p:nvPr/>
        </p:nvGrpSpPr>
        <p:grpSpPr bwMode="auto">
          <a:xfrm>
            <a:off x="152400" y="228600"/>
            <a:ext cx="838200" cy="838200"/>
            <a:chOff x="18" y="144"/>
            <a:chExt cx="510" cy="480"/>
          </a:xfrm>
        </p:grpSpPr>
        <p:sp>
          <p:nvSpPr>
            <p:cNvPr id="1047" name="AutoShape 23"/>
            <p:cNvSpPr>
              <a:spLocks noChangeArrowheads="1"/>
            </p:cNvSpPr>
            <p:nvPr userDrawn="1"/>
          </p:nvSpPr>
          <p:spPr bwMode="gray">
            <a:xfrm>
              <a:off x="18" y="258"/>
              <a:ext cx="288" cy="240"/>
            </a:xfrm>
            <a:prstGeom prst="hexagon">
              <a:avLst>
                <a:gd name="adj" fmla="val 30000"/>
                <a:gd name="vf" fmla="val 115470"/>
              </a:avLst>
            </a:prstGeom>
            <a:solidFill>
              <a:schemeClr val="hlink"/>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8" name="AutoShape 24"/>
            <p:cNvSpPr>
              <a:spLocks noChangeArrowheads="1"/>
            </p:cNvSpPr>
            <p:nvPr userDrawn="1"/>
          </p:nvSpPr>
          <p:spPr bwMode="gray">
            <a:xfrm>
              <a:off x="240" y="144"/>
              <a:ext cx="288" cy="240"/>
            </a:xfrm>
            <a:prstGeom prst="hexagon">
              <a:avLst>
                <a:gd name="adj" fmla="val 30000"/>
                <a:gd name="vf" fmla="val 115470"/>
              </a:avLst>
            </a:prstGeom>
            <a:solidFill>
              <a:schemeClr val="accent2"/>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9" name="AutoShape 25"/>
            <p:cNvSpPr>
              <a:spLocks noChangeArrowheads="1"/>
            </p:cNvSpPr>
            <p:nvPr userDrawn="1"/>
          </p:nvSpPr>
          <p:spPr bwMode="gray">
            <a:xfrm>
              <a:off x="240" y="384"/>
              <a:ext cx="288" cy="240"/>
            </a:xfrm>
            <a:prstGeom prst="hexagon">
              <a:avLst>
                <a:gd name="adj" fmla="val 30000"/>
                <a:gd name="vf" fmla="val 115470"/>
              </a:avLst>
            </a:prstGeom>
            <a:solidFill>
              <a:schemeClr val="accent1"/>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grpSp>
      <p:sp>
        <p:nvSpPr>
          <p:cNvPr id="1036" name="Rectangle 2"/>
          <p:cNvSpPr>
            <a:spLocks noGrp="1" noChangeArrowheads="1"/>
          </p:cNvSpPr>
          <p:nvPr>
            <p:ph type="title"/>
          </p:nvPr>
        </p:nvSpPr>
        <p:spPr bwMode="white">
          <a:xfrm>
            <a:off x="1143000" y="381000"/>
            <a:ext cx="6705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843" r:id="rId1"/>
    <p:sldLayoutId id="2147483833" r:id="rId2"/>
    <p:sldLayoutId id="2147483965"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967" r:id="rId13"/>
  </p:sldLayoutIdLst>
  <p:hf hdr="0" ftr="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hyperlink" Target="https://www.genymotion.com/" TargetMode="Externa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sp>
        <p:nvSpPr>
          <p:cNvPr id="6" name="Title 1"/>
          <p:cNvSpPr txBox="1">
            <a:spLocks/>
          </p:cNvSpPr>
          <p:nvPr/>
        </p:nvSpPr>
        <p:spPr bwMode="gray">
          <a:xfrm>
            <a:off x="-76200" y="228600"/>
            <a:ext cx="10210800" cy="7620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chor="ctr"/>
          <a:lstStyle/>
          <a:p>
            <a:pPr>
              <a:defRPr/>
            </a:pPr>
            <a:r>
              <a:rPr lang="en-US" sz="1800" b="1" kern="0">
                <a:solidFill>
                  <a:schemeClr val="tx1"/>
                </a:solidFill>
                <a:latin typeface="+mj-lt"/>
                <a:ea typeface="+mj-ea"/>
                <a:cs typeface="+mj-cs"/>
              </a:rPr>
              <a:t>TRƯỜNG ĐẠI HỌC KINH TẾ KỸ THUẬT CÔNG NGHIỆP</a:t>
            </a:r>
          </a:p>
          <a:p>
            <a:pPr>
              <a:defRPr/>
            </a:pPr>
            <a:r>
              <a:rPr lang="en-US" sz="1800" b="1" kern="0" err="1">
                <a:solidFill>
                  <a:schemeClr val="tx1"/>
                </a:solidFill>
                <a:latin typeface="+mj-lt"/>
                <a:ea typeface="+mj-ea"/>
                <a:cs typeface="+mj-cs"/>
              </a:rPr>
              <a:t>Khoa</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Công</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Nghệ</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Thông</a:t>
            </a:r>
            <a:r>
              <a:rPr lang="en-US" sz="1800" b="1" kern="0">
                <a:solidFill>
                  <a:schemeClr val="tx1"/>
                </a:solidFill>
                <a:latin typeface="+mj-lt"/>
                <a:ea typeface="+mj-ea"/>
                <a:cs typeface="+mj-cs"/>
              </a:rPr>
              <a:t> Tin</a:t>
            </a:r>
          </a:p>
          <a:p>
            <a:pPr>
              <a:defRPr/>
            </a:pPr>
            <a:r>
              <a:rPr lang="en-US" sz="1800" b="1" kern="0">
                <a:solidFill>
                  <a:schemeClr val="tx1"/>
                </a:solidFill>
                <a:latin typeface="+mj-lt"/>
                <a:ea typeface="+mj-ea"/>
                <a:cs typeface="+mj-cs"/>
              </a:rPr>
              <a:t>-------</a:t>
            </a:r>
            <a:r>
              <a:rPr lang="en-US" sz="1800" b="1" kern="0">
                <a:solidFill>
                  <a:schemeClr val="tx1"/>
                </a:solidFill>
                <a:latin typeface="+mj-lt"/>
                <a:ea typeface="+mj-ea"/>
                <a:cs typeface="+mj-cs"/>
                <a:sym typeface="Wingdings"/>
              </a:rPr>
              <a:t></a:t>
            </a:r>
            <a:r>
              <a:rPr lang="en-US" sz="1800" b="1" kern="0">
                <a:solidFill>
                  <a:schemeClr val="tx1"/>
                </a:solidFill>
                <a:latin typeface="+mj-lt"/>
                <a:ea typeface="+mj-ea"/>
                <a:cs typeface="+mj-cs"/>
              </a:rPr>
              <a:t>------</a:t>
            </a:r>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8" name="Rectangle 2"/>
          <p:cNvSpPr txBox="1">
            <a:spLocks noChangeArrowheads="1"/>
          </p:cNvSpPr>
          <p:nvPr/>
        </p:nvSpPr>
        <p:spPr bwMode="gray">
          <a:xfrm>
            <a:off x="2133600" y="1219200"/>
            <a:ext cx="67056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a:ln>
                  <a:noFill/>
                </a:ln>
                <a:solidFill>
                  <a:srgbClr val="FF0000"/>
                </a:solidFill>
                <a:effectLst/>
                <a:uLnTx/>
                <a:uFillTx/>
                <a:latin typeface="+mj-lt"/>
                <a:ea typeface="+mj-ea"/>
                <a:cs typeface="+mj-cs"/>
              </a:rPr>
              <a:t>LẬP TR</a:t>
            </a:r>
            <a:r>
              <a:rPr lang="en-US" sz="4000" b="1" kern="0">
                <a:solidFill>
                  <a:srgbClr val="FF0000"/>
                </a:solidFill>
                <a:latin typeface="+mj-lt"/>
                <a:ea typeface="+mj-ea"/>
                <a:cs typeface="+mj-cs"/>
              </a:rPr>
              <a:t>ÌNH DI ĐỘNG</a:t>
            </a:r>
            <a:endParaRPr kumimoji="0" lang="en-US" sz="4000" b="1" i="0" u="none" strike="noStrike" kern="0" cap="none" spc="0" normalizeH="0" baseline="0" noProof="0">
              <a:ln>
                <a:noFill/>
              </a:ln>
              <a:solidFill>
                <a:srgbClr val="FF0000"/>
              </a:solidFill>
              <a:effectLst/>
              <a:uLnTx/>
              <a:uFillTx/>
              <a:latin typeface="+mj-lt"/>
              <a:ea typeface="+mj-ea"/>
              <a:cs typeface="+mj-cs"/>
            </a:endParaRPr>
          </a:p>
        </p:txBody>
      </p:sp>
      <p:sp>
        <p:nvSpPr>
          <p:cNvPr id="7" name="Shape 43"/>
          <p:cNvSpPr txBox="1">
            <a:spLocks/>
          </p:cNvSpPr>
          <p:nvPr/>
        </p:nvSpPr>
        <p:spPr bwMode="auto">
          <a:xfrm>
            <a:off x="3048000" y="2165888"/>
            <a:ext cx="5334000"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lgn="ctr">
              <a:spcBef>
                <a:spcPts val="900"/>
              </a:spcBef>
              <a:buFont typeface="Wingdings" pitchFamily="2" charset="2"/>
              <a:buNone/>
              <a:defRPr sz="4000" b="1">
                <a:solidFill>
                  <a:srgbClr val="260026"/>
                </a:solidFill>
              </a:defRPr>
            </a:pPr>
            <a:r>
              <a:rPr lang="vi-VN" sz="3600" b="1" kern="0">
                <a:solidFill>
                  <a:schemeClr val="bg1"/>
                </a:solidFill>
              </a:rPr>
              <a:t>CHƯƠNG 1</a:t>
            </a:r>
          </a:p>
          <a:p>
            <a:pPr marL="0" indent="0" algn="ctr">
              <a:spcBef>
                <a:spcPts val="900"/>
              </a:spcBef>
              <a:buFont typeface="Wingdings" pitchFamily="2" charset="2"/>
              <a:buNone/>
              <a:defRPr sz="4000" b="1">
                <a:solidFill>
                  <a:srgbClr val="260026"/>
                </a:solidFill>
              </a:defRPr>
            </a:pPr>
            <a:r>
              <a:rPr lang="vi-VN" sz="3600" b="1" kern="0">
                <a:solidFill>
                  <a:schemeClr val="bg1"/>
                </a:solidFill>
              </a:rPr>
              <a:t>T</a:t>
            </a:r>
            <a:r>
              <a:rPr lang="en-US" sz="3600" b="1" kern="0">
                <a:solidFill>
                  <a:schemeClr val="bg1"/>
                </a:solidFill>
              </a:rPr>
              <a:t>ỔNG QUAN VỀ LẬP TRÌNH ANDROID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81000"/>
            <a:ext cx="8458200" cy="563563"/>
          </a:xfrm>
        </p:spPr>
        <p:txBody>
          <a:bodyPr/>
          <a:lstStyle/>
          <a:p>
            <a:r>
              <a:rPr lang="en-US" sz="2400" b="1" err="1"/>
              <a:t>Chương</a:t>
            </a:r>
            <a:r>
              <a:rPr lang="en-US" sz="2400" b="1"/>
              <a:t> 1 – </a:t>
            </a:r>
            <a:r>
              <a:rPr lang="en-US" sz="2400" b="1" err="1"/>
              <a:t>Tổng</a:t>
            </a:r>
            <a:r>
              <a:rPr lang="en-US" sz="2400" b="1"/>
              <a:t> </a:t>
            </a:r>
            <a:r>
              <a:rPr lang="en-US" sz="2400" b="1" err="1"/>
              <a:t>quan</a:t>
            </a:r>
            <a:r>
              <a:rPr lang="en-US" sz="2400" b="1"/>
              <a:t> </a:t>
            </a:r>
            <a:r>
              <a:rPr lang="en-US" sz="2400" b="1" err="1"/>
              <a:t>về</a:t>
            </a:r>
            <a:r>
              <a:rPr lang="en-US" sz="2400" b="1"/>
              <a:t> </a:t>
            </a:r>
            <a:r>
              <a:rPr lang="en-US" sz="2400" b="1" err="1"/>
              <a:t>lập</a:t>
            </a:r>
            <a:r>
              <a:rPr lang="en-US" sz="2400" b="1"/>
              <a:t> </a:t>
            </a:r>
            <a:r>
              <a:rPr lang="en-US" sz="2400" b="1" err="1"/>
              <a:t>trình</a:t>
            </a:r>
            <a:r>
              <a:rPr lang="en-US" sz="2400" b="1"/>
              <a:t> Android</a:t>
            </a:r>
          </a:p>
        </p:txBody>
      </p:sp>
      <p:sp>
        <p:nvSpPr>
          <p:cNvPr id="19" name="Line 13"/>
          <p:cNvSpPr>
            <a:spLocks noChangeShapeType="1"/>
          </p:cNvSpPr>
          <p:nvPr/>
        </p:nvSpPr>
        <p:spPr bwMode="gray">
          <a:xfrm>
            <a:off x="1959960" y="3977020"/>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0" name="Rectangle 14"/>
          <p:cNvSpPr>
            <a:spLocks noChangeArrowheads="1"/>
          </p:cNvSpPr>
          <p:nvPr/>
        </p:nvSpPr>
        <p:spPr bwMode="gray">
          <a:xfrm rot="3419336">
            <a:off x="1675797" y="3400758"/>
            <a:ext cx="479425" cy="520700"/>
          </a:xfrm>
          <a:prstGeom prst="rect">
            <a:avLst/>
          </a:prstGeom>
          <a:gradFill rotWithShape="1">
            <a:gsLst>
              <a:gs pos="0">
                <a:schemeClr val="folHlink"/>
              </a:gs>
              <a:gs pos="100000">
                <a:schemeClr val="fo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folHlink"/>
            </a:extrusionClr>
          </a:sp3d>
        </p:spPr>
        <p:txBody>
          <a:bodyPr wrap="none" anchor="ctr">
            <a:flatTx/>
          </a:bodyPr>
          <a:lstStyle/>
          <a:p>
            <a:endParaRPr lang="en-US"/>
          </a:p>
        </p:txBody>
      </p:sp>
      <p:sp>
        <p:nvSpPr>
          <p:cNvPr id="31" name="Text Box 15"/>
          <p:cNvSpPr txBox="1">
            <a:spLocks noChangeArrowheads="1"/>
          </p:cNvSpPr>
          <p:nvPr/>
        </p:nvSpPr>
        <p:spPr bwMode="gray">
          <a:xfrm>
            <a:off x="1602033" y="3443620"/>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1.3</a:t>
            </a:r>
          </a:p>
        </p:txBody>
      </p:sp>
      <p:sp>
        <p:nvSpPr>
          <p:cNvPr id="32" name="Line 16"/>
          <p:cNvSpPr>
            <a:spLocks noChangeShapeType="1"/>
          </p:cNvSpPr>
          <p:nvPr/>
        </p:nvSpPr>
        <p:spPr bwMode="gray">
          <a:xfrm>
            <a:off x="1975522" y="2313209"/>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3" name="Rectangle 17"/>
          <p:cNvSpPr>
            <a:spLocks noChangeArrowheads="1"/>
          </p:cNvSpPr>
          <p:nvPr/>
        </p:nvSpPr>
        <p:spPr bwMode="gray">
          <a:xfrm rot="3419336">
            <a:off x="1691359" y="1736947"/>
            <a:ext cx="479425" cy="520700"/>
          </a:xfrm>
          <a:prstGeom prst="rect">
            <a:avLst/>
          </a:prstGeom>
          <a:gradFill rotWithShape="1">
            <a:gsLst>
              <a:gs pos="0">
                <a:schemeClr val="accent1"/>
              </a:gs>
              <a:gs pos="100000">
                <a:schemeClr val="accent1">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1"/>
            </a:extrusionClr>
          </a:sp3d>
        </p:spPr>
        <p:txBody>
          <a:bodyPr wrap="none" anchor="ctr">
            <a:flatTx/>
          </a:bodyPr>
          <a:lstStyle/>
          <a:p>
            <a:endParaRPr lang="en-US"/>
          </a:p>
        </p:txBody>
      </p:sp>
      <p:sp>
        <p:nvSpPr>
          <p:cNvPr id="34" name="Text Box 18"/>
          <p:cNvSpPr txBox="1">
            <a:spLocks noChangeArrowheads="1"/>
          </p:cNvSpPr>
          <p:nvPr/>
        </p:nvSpPr>
        <p:spPr bwMode="gray">
          <a:xfrm>
            <a:off x="2384446" y="4287202"/>
            <a:ext cx="5182251" cy="430887"/>
          </a:xfrm>
          <a:prstGeom prst="rect">
            <a:avLst/>
          </a:prstGeom>
          <a:noFill/>
          <a:ln w="9525" algn="ctr">
            <a:noFill/>
            <a:miter lim="800000"/>
            <a:headEnd/>
            <a:tailEnd/>
          </a:ln>
          <a:effectLst/>
        </p:spPr>
        <p:txBody>
          <a:bodyPr wrap="square">
            <a:spAutoFit/>
          </a:bodyPr>
          <a:lstStyle/>
          <a:p>
            <a:pPr algn="l"/>
            <a:r>
              <a:rPr lang="en-US" sz="2200" b="1">
                <a:solidFill>
                  <a:schemeClr val="tx2"/>
                </a:solidFill>
              </a:rPr>
              <a:t> TẠO PROJECT ANDROID CƠ BẢN</a:t>
            </a:r>
          </a:p>
        </p:txBody>
      </p:sp>
      <p:sp>
        <p:nvSpPr>
          <p:cNvPr id="35" name="Text Box 19"/>
          <p:cNvSpPr txBox="1">
            <a:spLocks noChangeArrowheads="1"/>
          </p:cNvSpPr>
          <p:nvPr/>
        </p:nvSpPr>
        <p:spPr bwMode="gray">
          <a:xfrm>
            <a:off x="1617595" y="1779809"/>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1.1</a:t>
            </a:r>
          </a:p>
        </p:txBody>
      </p:sp>
      <p:sp>
        <p:nvSpPr>
          <p:cNvPr id="36" name="Line 20"/>
          <p:cNvSpPr>
            <a:spLocks noChangeShapeType="1"/>
          </p:cNvSpPr>
          <p:nvPr/>
        </p:nvSpPr>
        <p:spPr bwMode="gray">
          <a:xfrm>
            <a:off x="1936769" y="4832702"/>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7" name="Rectangle 21"/>
          <p:cNvSpPr>
            <a:spLocks noChangeArrowheads="1"/>
          </p:cNvSpPr>
          <p:nvPr/>
        </p:nvSpPr>
        <p:spPr bwMode="gray">
          <a:xfrm rot="3419336">
            <a:off x="1652606" y="4256440"/>
            <a:ext cx="479425" cy="520700"/>
          </a:xfrm>
          <a:prstGeom prst="rect">
            <a:avLst/>
          </a:prstGeom>
          <a:gradFill rotWithShape="1">
            <a:gsLst>
              <a:gs pos="0">
                <a:schemeClr val="accent2"/>
              </a:gs>
              <a:gs pos="100000">
                <a:schemeClr val="accent2">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2"/>
            </a:extrusionClr>
          </a:sp3d>
        </p:spPr>
        <p:txBody>
          <a:bodyPr wrap="none" anchor="ctr">
            <a:flatTx/>
          </a:bodyPr>
          <a:lstStyle/>
          <a:p>
            <a:endParaRPr lang="en-US"/>
          </a:p>
        </p:txBody>
      </p:sp>
      <p:sp>
        <p:nvSpPr>
          <p:cNvPr id="38" name="Text Box 22"/>
          <p:cNvSpPr txBox="1">
            <a:spLocks noChangeArrowheads="1"/>
          </p:cNvSpPr>
          <p:nvPr/>
        </p:nvSpPr>
        <p:spPr bwMode="gray">
          <a:xfrm>
            <a:off x="1578842" y="4299302"/>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1.4</a:t>
            </a:r>
          </a:p>
        </p:txBody>
      </p:sp>
      <p:sp>
        <p:nvSpPr>
          <p:cNvPr id="39" name="Line 23"/>
          <p:cNvSpPr>
            <a:spLocks noChangeShapeType="1"/>
          </p:cNvSpPr>
          <p:nvPr/>
        </p:nvSpPr>
        <p:spPr bwMode="gray">
          <a:xfrm>
            <a:off x="1921427" y="3139405"/>
            <a:ext cx="4799012" cy="1587"/>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40" name="Rectangle 24"/>
          <p:cNvSpPr>
            <a:spLocks noChangeArrowheads="1"/>
          </p:cNvSpPr>
          <p:nvPr/>
        </p:nvSpPr>
        <p:spPr bwMode="gray">
          <a:xfrm rot="3419336">
            <a:off x="1635676" y="2564730"/>
            <a:ext cx="479425" cy="520700"/>
          </a:xfrm>
          <a:prstGeom prst="rect">
            <a:avLst/>
          </a:prstGeom>
          <a:gradFill rotWithShape="1">
            <a:gsLst>
              <a:gs pos="0">
                <a:schemeClr val="hlink"/>
              </a:gs>
              <a:gs pos="100000">
                <a:schemeClr va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hlink"/>
            </a:extrusionClr>
          </a:sp3d>
        </p:spPr>
        <p:txBody>
          <a:bodyPr wrap="none" anchor="ctr">
            <a:flatTx/>
          </a:bodyPr>
          <a:lstStyle/>
          <a:p>
            <a:endParaRPr lang="en-US"/>
          </a:p>
        </p:txBody>
      </p:sp>
      <p:sp>
        <p:nvSpPr>
          <p:cNvPr id="41" name="Text Box 25"/>
          <p:cNvSpPr txBox="1">
            <a:spLocks noChangeArrowheads="1"/>
          </p:cNvSpPr>
          <p:nvPr/>
        </p:nvSpPr>
        <p:spPr bwMode="gray">
          <a:xfrm>
            <a:off x="1561912" y="2607592"/>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1.2</a:t>
            </a:r>
          </a:p>
        </p:txBody>
      </p:sp>
      <p:sp>
        <p:nvSpPr>
          <p:cNvPr id="42" name="Text Box 29"/>
          <p:cNvSpPr txBox="1">
            <a:spLocks noChangeArrowheads="1"/>
          </p:cNvSpPr>
          <p:nvPr/>
        </p:nvSpPr>
        <p:spPr bwMode="gray">
          <a:xfrm>
            <a:off x="2492135" y="2705132"/>
            <a:ext cx="6066854" cy="430887"/>
          </a:xfrm>
          <a:prstGeom prst="rect">
            <a:avLst/>
          </a:prstGeom>
          <a:noFill/>
          <a:ln w="9525" algn="ctr">
            <a:noFill/>
            <a:miter lim="800000"/>
            <a:headEnd/>
            <a:tailEnd/>
          </a:ln>
          <a:effectLst/>
        </p:spPr>
        <p:txBody>
          <a:bodyPr wrap="none">
            <a:spAutoFit/>
          </a:bodyPr>
          <a:lstStyle/>
          <a:p>
            <a:pPr algn="l" eaLnBrk="0" hangingPunct="0"/>
            <a:r>
              <a:rPr lang="en-US" sz="2200" b="1">
                <a:solidFill>
                  <a:schemeClr val="tx2"/>
                </a:solidFill>
              </a:rPr>
              <a:t>TỔNG QUAN HĐH VÀ KIẾN TRÚC ANDROID</a:t>
            </a:r>
          </a:p>
        </p:txBody>
      </p:sp>
      <p:sp>
        <p:nvSpPr>
          <p:cNvPr id="43" name="Text Box 30"/>
          <p:cNvSpPr txBox="1">
            <a:spLocks noChangeArrowheads="1"/>
          </p:cNvSpPr>
          <p:nvPr/>
        </p:nvSpPr>
        <p:spPr bwMode="gray">
          <a:xfrm>
            <a:off x="2462337" y="3469933"/>
            <a:ext cx="5305427" cy="430887"/>
          </a:xfrm>
          <a:prstGeom prst="rect">
            <a:avLst/>
          </a:prstGeom>
          <a:noFill/>
          <a:ln w="9525" algn="ctr">
            <a:noFill/>
            <a:miter lim="800000"/>
            <a:headEnd/>
            <a:tailEnd/>
          </a:ln>
          <a:effectLst/>
        </p:spPr>
        <p:txBody>
          <a:bodyPr wrap="none">
            <a:spAutoFit/>
          </a:bodyPr>
          <a:lstStyle/>
          <a:p>
            <a:pPr algn="l" eaLnBrk="0" hangingPunct="0"/>
            <a:r>
              <a:rPr lang="en-US" sz="2200" b="1">
                <a:solidFill>
                  <a:schemeClr val="tx2"/>
                </a:solidFill>
              </a:rPr>
              <a:t> MÔI TRƯỜNG PHÁT TRIỂN ANDROID</a:t>
            </a:r>
          </a:p>
        </p:txBody>
      </p:sp>
      <p:sp>
        <p:nvSpPr>
          <p:cNvPr id="44" name="Text Box 18">
            <a:extLst>
              <a:ext uri="{FF2B5EF4-FFF2-40B4-BE49-F238E27FC236}">
                <a16:creationId xmlns:a16="http://schemas.microsoft.com/office/drawing/2014/main" id="{3B08D919-B9F7-4532-A6DF-0637E33C4F56}"/>
              </a:ext>
            </a:extLst>
          </p:cNvPr>
          <p:cNvSpPr txBox="1">
            <a:spLocks noChangeArrowheads="1"/>
          </p:cNvSpPr>
          <p:nvPr/>
        </p:nvSpPr>
        <p:spPr bwMode="gray">
          <a:xfrm>
            <a:off x="2279988" y="1817451"/>
            <a:ext cx="7038215" cy="430887"/>
          </a:xfrm>
          <a:prstGeom prst="rect">
            <a:avLst/>
          </a:prstGeom>
          <a:noFill/>
          <a:ln w="9525" algn="ctr">
            <a:noFill/>
            <a:miter lim="800000"/>
            <a:headEnd/>
            <a:tailEnd/>
          </a:ln>
          <a:effectLst/>
        </p:spPr>
        <p:txBody>
          <a:bodyPr wrap="square">
            <a:spAutoFit/>
          </a:bodyPr>
          <a:lstStyle/>
          <a:p>
            <a:pPr algn="l" eaLnBrk="0" hangingPunct="0"/>
            <a:r>
              <a:rPr lang="en-US" sz="2200" b="1">
                <a:solidFill>
                  <a:schemeClr val="tx2"/>
                </a:solidFill>
              </a:rPr>
              <a:t>   SỰ PHÁT TRIỂN CỦA CÁC ƯDDĐ</a:t>
            </a:r>
          </a:p>
        </p:txBody>
      </p:sp>
      <p:sp>
        <p:nvSpPr>
          <p:cNvPr id="3" name="Date Placeholder 2"/>
          <p:cNvSpPr>
            <a:spLocks noGrp="1"/>
          </p:cNvSpPr>
          <p:nvPr>
            <p:ph type="dt" sz="half" idx="10"/>
          </p:nvPr>
        </p:nvSpPr>
        <p:spPr/>
        <p:txBody>
          <a:bodyPr/>
          <a:lstStyle/>
          <a:p>
            <a:pPr>
              <a:defRPr/>
            </a:pPr>
            <a:r>
              <a:rPr lang="en-US"/>
              <a:t>Khoa CNTT - UNETI</a:t>
            </a:r>
          </a:p>
        </p:txBody>
      </p:sp>
      <p:sp>
        <p:nvSpPr>
          <p:cNvPr id="4" name="Slide Number Placeholder 3"/>
          <p:cNvSpPr>
            <a:spLocks noGrp="1"/>
          </p:cNvSpPr>
          <p:nvPr>
            <p:ph type="sldNum" sz="quarter" idx="12"/>
          </p:nvPr>
        </p:nvSpPr>
        <p:spPr/>
        <p:txBody>
          <a:bodyPr/>
          <a:lstStyle/>
          <a:p>
            <a:pPr>
              <a:defRPr/>
            </a:pPr>
            <a:fld id="{38F16FD5-974A-40BB-8233-36E86F2AA732}" type="slidenum">
              <a:rPr lang="en-US" smtClean="0"/>
              <a:pPr>
                <a:defRPr/>
              </a:pPr>
              <a:t>2</a:t>
            </a:fld>
            <a:endParaRPr lang="en-US"/>
          </a:p>
        </p:txBody>
      </p:sp>
      <p:sp>
        <p:nvSpPr>
          <p:cNvPr id="25" name="Text Box 18">
            <a:extLst>
              <a:ext uri="{FF2B5EF4-FFF2-40B4-BE49-F238E27FC236}">
                <a16:creationId xmlns:a16="http://schemas.microsoft.com/office/drawing/2014/main" id="{C0D06112-E136-44E4-AFBB-B99966AA98EB}"/>
              </a:ext>
            </a:extLst>
          </p:cNvPr>
          <p:cNvSpPr txBox="1">
            <a:spLocks noChangeArrowheads="1"/>
          </p:cNvSpPr>
          <p:nvPr/>
        </p:nvSpPr>
        <p:spPr bwMode="gray">
          <a:xfrm>
            <a:off x="2361255" y="5158039"/>
            <a:ext cx="5447204" cy="430887"/>
          </a:xfrm>
          <a:prstGeom prst="rect">
            <a:avLst/>
          </a:prstGeom>
          <a:noFill/>
          <a:ln w="9525" algn="ctr">
            <a:noFill/>
            <a:miter lim="800000"/>
            <a:headEnd/>
            <a:tailEnd/>
          </a:ln>
          <a:effectLst/>
        </p:spPr>
        <p:txBody>
          <a:bodyPr wrap="square">
            <a:spAutoFit/>
          </a:bodyPr>
          <a:lstStyle/>
          <a:p>
            <a:pPr algn="l" eaLnBrk="0" hangingPunct="0"/>
            <a:r>
              <a:rPr lang="en-US" sz="2200" b="1">
                <a:solidFill>
                  <a:schemeClr val="tx2"/>
                </a:solidFill>
              </a:rPr>
              <a:t> SỬ DỤNG MÁY ẢO TRONG LTDĐ</a:t>
            </a:r>
          </a:p>
        </p:txBody>
      </p:sp>
      <p:sp>
        <p:nvSpPr>
          <p:cNvPr id="26" name="Line 20">
            <a:extLst>
              <a:ext uri="{FF2B5EF4-FFF2-40B4-BE49-F238E27FC236}">
                <a16:creationId xmlns:a16="http://schemas.microsoft.com/office/drawing/2014/main" id="{25897986-FD06-4525-BFC5-B8393B1481A3}"/>
              </a:ext>
            </a:extLst>
          </p:cNvPr>
          <p:cNvSpPr>
            <a:spLocks noChangeShapeType="1"/>
          </p:cNvSpPr>
          <p:nvPr/>
        </p:nvSpPr>
        <p:spPr bwMode="gray">
          <a:xfrm>
            <a:off x="1913578" y="5703539"/>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27" name="Rectangle 21">
            <a:extLst>
              <a:ext uri="{FF2B5EF4-FFF2-40B4-BE49-F238E27FC236}">
                <a16:creationId xmlns:a16="http://schemas.microsoft.com/office/drawing/2014/main" id="{3E042816-A30A-4DAD-8913-B62B132CADEB}"/>
              </a:ext>
            </a:extLst>
          </p:cNvPr>
          <p:cNvSpPr>
            <a:spLocks noChangeArrowheads="1"/>
          </p:cNvSpPr>
          <p:nvPr/>
        </p:nvSpPr>
        <p:spPr bwMode="gray">
          <a:xfrm rot="3419336">
            <a:off x="1599233" y="5110687"/>
            <a:ext cx="479425" cy="520700"/>
          </a:xfrm>
          <a:prstGeom prst="rect">
            <a:avLst/>
          </a:prstGeom>
          <a:solidFill>
            <a:srgbClr val="FFFF00"/>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2"/>
            </a:extrusionClr>
          </a:sp3d>
        </p:spPr>
        <p:txBody>
          <a:bodyPr wrap="none" anchor="ctr">
            <a:flatTx/>
          </a:bodyPr>
          <a:lstStyle/>
          <a:p>
            <a:endParaRPr lang="en-US"/>
          </a:p>
        </p:txBody>
      </p:sp>
      <p:sp>
        <p:nvSpPr>
          <p:cNvPr id="28" name="Text Box 22">
            <a:extLst>
              <a:ext uri="{FF2B5EF4-FFF2-40B4-BE49-F238E27FC236}">
                <a16:creationId xmlns:a16="http://schemas.microsoft.com/office/drawing/2014/main" id="{D39ACB31-F33C-4402-B2EA-64BAFF026FA3}"/>
              </a:ext>
            </a:extLst>
          </p:cNvPr>
          <p:cNvSpPr txBox="1">
            <a:spLocks noChangeArrowheads="1"/>
          </p:cNvSpPr>
          <p:nvPr/>
        </p:nvSpPr>
        <p:spPr bwMode="gray">
          <a:xfrm>
            <a:off x="1560059" y="5170139"/>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ppt_x"/>
                                          </p:val>
                                        </p:tav>
                                        <p:tav tm="100000">
                                          <p:val>
                                            <p:strVal val="#ppt_x"/>
                                          </p:val>
                                        </p:tav>
                                      </p:tavLst>
                                    </p:anim>
                                    <p:anim calcmode="lin" valueType="num">
                                      <p:cBhvr additive="base">
                                        <p:cTn id="12" dur="500" fill="hold"/>
                                        <p:tgtEl>
                                          <p:spTgt spid="3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ppt_x"/>
                                          </p:val>
                                        </p:tav>
                                        <p:tav tm="100000">
                                          <p:val>
                                            <p:strVal val="#ppt_x"/>
                                          </p:val>
                                        </p:tav>
                                      </p:tavLst>
                                    </p:anim>
                                    <p:anim calcmode="lin" valueType="num">
                                      <p:cBhvr additive="base">
                                        <p:cTn id="2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additive="base">
                                        <p:cTn id="25" dur="500" fill="hold"/>
                                        <p:tgtEl>
                                          <p:spTgt spid="41"/>
                                        </p:tgtEl>
                                        <p:attrNameLst>
                                          <p:attrName>ppt_x</p:attrName>
                                        </p:attrNameLst>
                                      </p:cBhvr>
                                      <p:tavLst>
                                        <p:tav tm="0">
                                          <p:val>
                                            <p:strVal val="#ppt_x"/>
                                          </p:val>
                                        </p:tav>
                                        <p:tav tm="100000">
                                          <p:val>
                                            <p:strVal val="#ppt_x"/>
                                          </p:val>
                                        </p:tav>
                                      </p:tavLst>
                                    </p:anim>
                                    <p:anim calcmode="lin" valueType="num">
                                      <p:cBhvr additive="base">
                                        <p:cTn id="26" dur="500" fill="hold"/>
                                        <p:tgtEl>
                                          <p:spTgt spid="4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anim calcmode="lin" valueType="num">
                                      <p:cBhvr additive="base">
                                        <p:cTn id="29" dur="500" fill="hold"/>
                                        <p:tgtEl>
                                          <p:spTgt spid="40"/>
                                        </p:tgtEl>
                                        <p:attrNameLst>
                                          <p:attrName>ppt_x</p:attrName>
                                        </p:attrNameLst>
                                      </p:cBhvr>
                                      <p:tavLst>
                                        <p:tav tm="0">
                                          <p:val>
                                            <p:strVal val="#ppt_x"/>
                                          </p:val>
                                        </p:tav>
                                        <p:tav tm="100000">
                                          <p:val>
                                            <p:strVal val="#ppt_x"/>
                                          </p:val>
                                        </p:tav>
                                      </p:tavLst>
                                    </p:anim>
                                    <p:anim calcmode="lin" valueType="num">
                                      <p:cBhvr additive="base">
                                        <p:cTn id="30" dur="500" fill="hold"/>
                                        <p:tgtEl>
                                          <p:spTgt spid="4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 calcmode="lin" valueType="num">
                                      <p:cBhvr additive="base">
                                        <p:cTn id="33" dur="500" fill="hold"/>
                                        <p:tgtEl>
                                          <p:spTgt spid="42"/>
                                        </p:tgtEl>
                                        <p:attrNameLst>
                                          <p:attrName>ppt_x</p:attrName>
                                        </p:attrNameLst>
                                      </p:cBhvr>
                                      <p:tavLst>
                                        <p:tav tm="0">
                                          <p:val>
                                            <p:strVal val="#ppt_x"/>
                                          </p:val>
                                        </p:tav>
                                        <p:tav tm="100000">
                                          <p:val>
                                            <p:strVal val="#ppt_x"/>
                                          </p:val>
                                        </p:tav>
                                      </p:tavLst>
                                    </p:anim>
                                    <p:anim calcmode="lin" valueType="num">
                                      <p:cBhvr additive="base">
                                        <p:cTn id="34" dur="500" fill="hold"/>
                                        <p:tgtEl>
                                          <p:spTgt spid="4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500" fill="hold"/>
                                        <p:tgtEl>
                                          <p:spTgt spid="31"/>
                                        </p:tgtEl>
                                        <p:attrNameLst>
                                          <p:attrName>ppt_x</p:attrName>
                                        </p:attrNameLst>
                                      </p:cBhvr>
                                      <p:tavLst>
                                        <p:tav tm="0">
                                          <p:val>
                                            <p:strVal val="#ppt_x"/>
                                          </p:val>
                                        </p:tav>
                                        <p:tav tm="100000">
                                          <p:val>
                                            <p:strVal val="#ppt_x"/>
                                          </p:val>
                                        </p:tav>
                                      </p:tavLst>
                                    </p:anim>
                                    <p:anim calcmode="lin" valueType="num">
                                      <p:cBhvr additive="base">
                                        <p:cTn id="44" dur="500" fill="hold"/>
                                        <p:tgtEl>
                                          <p:spTgt spid="3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 calcmode="lin" valueType="num">
                                      <p:cBhvr additive="base">
                                        <p:cTn id="51" dur="500" fill="hold"/>
                                        <p:tgtEl>
                                          <p:spTgt spid="43"/>
                                        </p:tgtEl>
                                        <p:attrNameLst>
                                          <p:attrName>ppt_x</p:attrName>
                                        </p:attrNameLst>
                                      </p:cBhvr>
                                      <p:tavLst>
                                        <p:tav tm="0">
                                          <p:val>
                                            <p:strVal val="#ppt_x"/>
                                          </p:val>
                                        </p:tav>
                                        <p:tav tm="100000">
                                          <p:val>
                                            <p:strVal val="#ppt_x"/>
                                          </p:val>
                                        </p:tav>
                                      </p:tavLst>
                                    </p:anim>
                                    <p:anim calcmode="lin" valueType="num">
                                      <p:cBhvr additive="base">
                                        <p:cTn id="52" dur="500" fill="hold"/>
                                        <p:tgtEl>
                                          <p:spTgt spid="4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cBhvr additive="base">
                                        <p:cTn id="61" dur="500" fill="hold"/>
                                        <p:tgtEl>
                                          <p:spTgt spid="38"/>
                                        </p:tgtEl>
                                        <p:attrNameLst>
                                          <p:attrName>ppt_x</p:attrName>
                                        </p:attrNameLst>
                                      </p:cBhvr>
                                      <p:tavLst>
                                        <p:tav tm="0">
                                          <p:val>
                                            <p:strVal val="#ppt_x"/>
                                          </p:val>
                                        </p:tav>
                                        <p:tav tm="100000">
                                          <p:val>
                                            <p:strVal val="#ppt_x"/>
                                          </p:val>
                                        </p:tav>
                                      </p:tavLst>
                                    </p:anim>
                                    <p:anim calcmode="lin" valueType="num">
                                      <p:cBhvr additive="base">
                                        <p:cTn id="62" dur="500" fill="hold"/>
                                        <p:tgtEl>
                                          <p:spTgt spid="38"/>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ppt_x"/>
                                          </p:val>
                                        </p:tav>
                                        <p:tav tm="100000">
                                          <p:val>
                                            <p:strVal val="#ppt_x"/>
                                          </p:val>
                                        </p:tav>
                                      </p:tavLst>
                                    </p:anim>
                                    <p:anim calcmode="lin" valueType="num">
                                      <p:cBhvr additive="base">
                                        <p:cTn id="66" dur="500" fill="hold"/>
                                        <p:tgtEl>
                                          <p:spTgt spid="3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 calcmode="lin" valueType="num">
                                      <p:cBhvr additive="base">
                                        <p:cTn id="69" dur="500" fill="hold"/>
                                        <p:tgtEl>
                                          <p:spTgt spid="34"/>
                                        </p:tgtEl>
                                        <p:attrNameLst>
                                          <p:attrName>ppt_x</p:attrName>
                                        </p:attrNameLst>
                                      </p:cBhvr>
                                      <p:tavLst>
                                        <p:tav tm="0">
                                          <p:val>
                                            <p:strVal val="#ppt_x"/>
                                          </p:val>
                                        </p:tav>
                                        <p:tav tm="100000">
                                          <p:val>
                                            <p:strVal val="#ppt_x"/>
                                          </p:val>
                                        </p:tav>
                                      </p:tavLst>
                                    </p:anim>
                                    <p:anim calcmode="lin" valueType="num">
                                      <p:cBhvr additive="base">
                                        <p:cTn id="70" dur="500" fill="hold"/>
                                        <p:tgtEl>
                                          <p:spTgt spid="34"/>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ppt_x"/>
                                          </p:val>
                                        </p:tav>
                                        <p:tav tm="100000">
                                          <p:val>
                                            <p:strVal val="#ppt_x"/>
                                          </p:val>
                                        </p:tav>
                                      </p:tavLst>
                                    </p:anim>
                                    <p:anim calcmode="lin" valueType="num">
                                      <p:cBhvr additive="base">
                                        <p:cTn id="7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anim calcmode="lin" valueType="num">
                                      <p:cBhvr additive="base">
                                        <p:cTn id="79" dur="500" fill="hold"/>
                                        <p:tgtEl>
                                          <p:spTgt spid="28"/>
                                        </p:tgtEl>
                                        <p:attrNameLst>
                                          <p:attrName>ppt_x</p:attrName>
                                        </p:attrNameLst>
                                      </p:cBhvr>
                                      <p:tavLst>
                                        <p:tav tm="0">
                                          <p:val>
                                            <p:strVal val="#ppt_x"/>
                                          </p:val>
                                        </p:tav>
                                        <p:tav tm="100000">
                                          <p:val>
                                            <p:strVal val="#ppt_x"/>
                                          </p:val>
                                        </p:tav>
                                      </p:tavLst>
                                    </p:anim>
                                    <p:anim calcmode="lin" valueType="num">
                                      <p:cBhvr additive="base">
                                        <p:cTn id="80" dur="500" fill="hold"/>
                                        <p:tgtEl>
                                          <p:spTgt spid="28"/>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fill="hold"/>
                                        <p:tgtEl>
                                          <p:spTgt spid="27"/>
                                        </p:tgtEl>
                                        <p:attrNameLst>
                                          <p:attrName>ppt_x</p:attrName>
                                        </p:attrNameLst>
                                      </p:cBhvr>
                                      <p:tavLst>
                                        <p:tav tm="0">
                                          <p:val>
                                            <p:strVal val="#ppt_x"/>
                                          </p:val>
                                        </p:tav>
                                        <p:tav tm="100000">
                                          <p:val>
                                            <p:strVal val="#ppt_x"/>
                                          </p:val>
                                        </p:tav>
                                      </p:tavLst>
                                    </p:anim>
                                    <p:anim calcmode="lin" valueType="num">
                                      <p:cBhvr additive="base">
                                        <p:cTn id="84" dur="500" fill="hold"/>
                                        <p:tgtEl>
                                          <p:spTgt spid="27"/>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00" fill="hold"/>
                                        <p:tgtEl>
                                          <p:spTgt spid="25"/>
                                        </p:tgtEl>
                                        <p:attrNameLst>
                                          <p:attrName>ppt_x</p:attrName>
                                        </p:attrNameLst>
                                      </p:cBhvr>
                                      <p:tavLst>
                                        <p:tav tm="0">
                                          <p:val>
                                            <p:strVal val="#ppt_x"/>
                                          </p:val>
                                        </p:tav>
                                        <p:tav tm="100000">
                                          <p:val>
                                            <p:strVal val="#ppt_x"/>
                                          </p:val>
                                        </p:tav>
                                      </p:tavLst>
                                    </p:anim>
                                    <p:anim calcmode="lin" valueType="num">
                                      <p:cBhvr additive="base">
                                        <p:cTn id="88" dur="500" fill="hold"/>
                                        <p:tgtEl>
                                          <p:spTgt spid="25"/>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500" fill="hold"/>
                                        <p:tgtEl>
                                          <p:spTgt spid="26"/>
                                        </p:tgtEl>
                                        <p:attrNameLst>
                                          <p:attrName>ppt_x</p:attrName>
                                        </p:attrNameLst>
                                      </p:cBhvr>
                                      <p:tavLst>
                                        <p:tav tm="0">
                                          <p:val>
                                            <p:strVal val="#ppt_x"/>
                                          </p:val>
                                        </p:tav>
                                        <p:tav tm="100000">
                                          <p:val>
                                            <p:strVal val="#ppt_x"/>
                                          </p:val>
                                        </p:tav>
                                      </p:tavLst>
                                    </p:anim>
                                    <p:anim calcmode="lin" valueType="num">
                                      <p:cBhvr additive="base">
                                        <p:cTn id="9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0" grpId="0" animBg="1"/>
      <p:bldP spid="31" grpId="0"/>
      <p:bldP spid="32" grpId="0" animBg="1"/>
      <p:bldP spid="33" grpId="0" animBg="1"/>
      <p:bldP spid="34" grpId="0"/>
      <p:bldP spid="35" grpId="0"/>
      <p:bldP spid="36" grpId="0" animBg="1"/>
      <p:bldP spid="37" grpId="0" animBg="1"/>
      <p:bldP spid="38" grpId="0"/>
      <p:bldP spid="39" grpId="0" animBg="1"/>
      <p:bldP spid="40" grpId="0" animBg="1"/>
      <p:bldP spid="41" grpId="0"/>
      <p:bldP spid="42" grpId="0"/>
      <p:bldP spid="43" grpId="0"/>
      <p:bldP spid="44" grpId="0"/>
      <p:bldP spid="25" grpId="0"/>
      <p:bldP spid="26" grpId="0" animBg="1"/>
      <p:bldP spid="27" grpId="0" animBg="1"/>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1.1 SỰ PHÁT TRIỂN CỦA CÁC ỨNG DỤNG DI ĐỘNG</a:t>
            </a:r>
            <a:endParaRPr lang="vi-VN" sz="3600" b="1" kern="0">
              <a:solidFill>
                <a:schemeClr val="bg1"/>
              </a:solidFill>
            </a:endParaRPr>
          </a:p>
        </p:txBody>
      </p:sp>
    </p:spTree>
    <p:extLst>
      <p:ext uri="{BB962C8B-B14F-4D97-AF65-F5344CB8AC3E}">
        <p14:creationId xmlns:p14="http://schemas.microsoft.com/office/powerpoint/2010/main" val="2586820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a:t>1.1.1 THIẾT BỊ DI ĐỘNG VÀ CỐ ĐỊNH</a:t>
            </a:r>
          </a:p>
        </p:txBody>
      </p:sp>
      <p:sp>
        <p:nvSpPr>
          <p:cNvPr id="48" name="Date Placeholder 47"/>
          <p:cNvSpPr>
            <a:spLocks noGrp="1"/>
          </p:cNvSpPr>
          <p:nvPr>
            <p:ph type="dt" sz="half" idx="10"/>
          </p:nvPr>
        </p:nvSpPr>
        <p:spPr/>
        <p:txBody>
          <a:bodyPr/>
          <a:lstStyle/>
          <a:p>
            <a:pPr>
              <a:defRPr/>
            </a:pPr>
            <a:r>
              <a:rPr lang="en-US">
                <a:solidFill>
                  <a:schemeClr val="tx1">
                    <a:lumMod val="50000"/>
                  </a:schemeClr>
                </a:solidFill>
              </a:rPr>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solidFill>
                  <a:schemeClr val="tx1">
                    <a:lumMod val="50000"/>
                  </a:schemeClr>
                </a:solidFill>
              </a:rPr>
              <a:pPr>
                <a:defRPr/>
              </a:pPr>
              <a:t>4</a:t>
            </a:fld>
            <a:endParaRPr lang="en-US">
              <a:solidFill>
                <a:schemeClr val="tx1">
                  <a:lumMod val="50000"/>
                </a:schemeClr>
              </a:solidFill>
            </a:endParaRPr>
          </a:p>
        </p:txBody>
      </p:sp>
      <p:sp>
        <p:nvSpPr>
          <p:cNvPr id="7" name="TextBox 6">
            <a:extLst>
              <a:ext uri="{FF2B5EF4-FFF2-40B4-BE49-F238E27FC236}">
                <a16:creationId xmlns:a16="http://schemas.microsoft.com/office/drawing/2014/main" id="{08FC8BD6-B8B9-4228-9A0E-0EBFE8814D08}"/>
              </a:ext>
            </a:extLst>
          </p:cNvPr>
          <p:cNvSpPr txBox="1"/>
          <p:nvPr/>
        </p:nvSpPr>
        <p:spPr>
          <a:xfrm>
            <a:off x="228600" y="911053"/>
            <a:ext cx="7772400" cy="556594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err="1">
                <a:solidFill>
                  <a:schemeClr val="accent4">
                    <a:lumMod val="90000"/>
                    <a:lumOff val="10000"/>
                  </a:schemeClr>
                </a:solidFill>
                <a:latin typeface="Times New Roman" panose="02020603050405020304" pitchFamily="18" charset="0"/>
                <a:cs typeface="Times New Roman" panose="02020603050405020304" pitchFamily="18" charset="0"/>
              </a:rPr>
              <a:t>Thiết</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bị</a:t>
            </a:r>
            <a:r>
              <a:rPr lang="en-US">
                <a:solidFill>
                  <a:schemeClr val="accent4">
                    <a:lumMod val="90000"/>
                    <a:lumOff val="10000"/>
                  </a:schemeClr>
                </a:solidFill>
                <a:latin typeface="Times New Roman" panose="02020603050405020304" pitchFamily="18" charset="0"/>
                <a:cs typeface="Times New Roman" panose="02020603050405020304" pitchFamily="18" charset="0"/>
              </a:rPr>
              <a:t> di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động</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với</a:t>
            </a:r>
            <a:r>
              <a:rPr lang="en-US">
                <a:solidFill>
                  <a:schemeClr val="accent4">
                    <a:lumMod val="90000"/>
                    <a:lumOff val="10000"/>
                  </a:schemeClr>
                </a:solidFill>
                <a:latin typeface="Times New Roman" panose="02020603050405020304" pitchFamily="18" charset="0"/>
                <a:cs typeface="Times New Roman" panose="02020603050405020304" pitchFamily="18" charset="0"/>
              </a:rPr>
              <a:t> ý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nghĩa</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là</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giao</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tiếp</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không</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dây</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đã</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xuất</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hiện</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từ</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rất</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lâu</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Tăng trưởng về số lượng khi xuất hiện thiết bị dành cho cá nhân (nhỏ, gọn, nhiều khách hàng)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en-US" err="1">
                <a:solidFill>
                  <a:schemeClr val="accent4">
                    <a:lumMod val="90000"/>
                    <a:lumOff val="10000"/>
                  </a:schemeClr>
                </a:solidFill>
                <a:latin typeface="Times New Roman" panose="02020603050405020304" pitchFamily="18" charset="0"/>
                <a:cs typeface="Times New Roman" panose="02020603050405020304" pitchFamily="18" charset="0"/>
              </a:rPr>
              <a:t>Bùng</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nổ</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khi</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giá</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thiết</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bị</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giảm</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nhiều</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khách</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hàng</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có</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khả</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năng</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mua</a:t>
            </a:r>
            <a:r>
              <a:rPr lang="en-US">
                <a:solidFill>
                  <a:schemeClr val="accent4">
                    <a:lumMod val="90000"/>
                    <a:lumOff val="10000"/>
                  </a:schemeClr>
                </a:solidFill>
                <a:latin typeface="Times New Roman" panose="02020603050405020304" pitchFamily="18" charset="0"/>
                <a:cs typeface="Times New Roman" panose="02020603050405020304" pitchFamily="18" charset="0"/>
              </a:rPr>
              <a:t>)</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Xu hướng: thiết bị di động dần thay thế cho thiết bị cố định do việc mua để thay thế thiết bị cũ</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en-US" err="1">
                <a:solidFill>
                  <a:schemeClr val="accent4">
                    <a:lumMod val="90000"/>
                    <a:lumOff val="10000"/>
                  </a:schemeClr>
                </a:solidFill>
                <a:latin typeface="Times New Roman" panose="02020603050405020304" pitchFamily="18" charset="0"/>
                <a:cs typeface="Times New Roman" panose="02020603050405020304" pitchFamily="18" charset="0"/>
              </a:rPr>
              <a:t>Xuất</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hiện</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những</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chức</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năng</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mới</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dịch</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vụ</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mới</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và</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cuối</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cùng</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là</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những</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loại</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thiết</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bị</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err="1">
                <a:solidFill>
                  <a:schemeClr val="accent4">
                    <a:lumMod val="90000"/>
                    <a:lumOff val="10000"/>
                  </a:schemeClr>
                </a:solidFill>
                <a:latin typeface="Times New Roman" panose="02020603050405020304" pitchFamily="18" charset="0"/>
                <a:cs typeface="Times New Roman" panose="02020603050405020304" pitchFamily="18" charset="0"/>
              </a:rPr>
              <a:t>mới</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a:t>1.1.2 CHỨC NĂNG MỚI CỦA ƯDDĐ</a:t>
            </a:r>
          </a:p>
        </p:txBody>
      </p:sp>
      <p:sp>
        <p:nvSpPr>
          <p:cNvPr id="48" name="Date Placeholder 47"/>
          <p:cNvSpPr>
            <a:spLocks noGrp="1"/>
          </p:cNvSpPr>
          <p:nvPr>
            <p:ph type="dt" sz="half" idx="10"/>
          </p:nvPr>
        </p:nvSpPr>
        <p:spPr/>
        <p:txBody>
          <a:bodyPr/>
          <a:lstStyle/>
          <a:p>
            <a:pPr>
              <a:defRPr/>
            </a:pPr>
            <a:r>
              <a:rPr lang="en-US">
                <a:solidFill>
                  <a:schemeClr val="tx1">
                    <a:lumMod val="50000"/>
                  </a:schemeClr>
                </a:solidFill>
              </a:rPr>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solidFill>
                  <a:schemeClr val="tx1">
                    <a:lumMod val="50000"/>
                  </a:schemeClr>
                </a:solidFill>
              </a:rPr>
              <a:pPr>
                <a:defRPr/>
              </a:pPr>
              <a:t>5</a:t>
            </a:fld>
            <a:endParaRPr lang="en-US">
              <a:solidFill>
                <a:schemeClr val="tx1">
                  <a:lumMod val="50000"/>
                </a:schemeClr>
              </a:solidFill>
            </a:endParaRPr>
          </a:p>
        </p:txBody>
      </p:sp>
      <p:sp>
        <p:nvSpPr>
          <p:cNvPr id="7" name="TextBox 6">
            <a:extLst>
              <a:ext uri="{FF2B5EF4-FFF2-40B4-BE49-F238E27FC236}">
                <a16:creationId xmlns:a16="http://schemas.microsoft.com/office/drawing/2014/main" id="{08FC8BD6-B8B9-4228-9A0E-0EBFE8814D08}"/>
              </a:ext>
            </a:extLst>
          </p:cNvPr>
          <p:cNvSpPr txBox="1"/>
          <p:nvPr/>
        </p:nvSpPr>
        <p:spPr>
          <a:xfrm>
            <a:off x="390111" y="1143948"/>
            <a:ext cx="7772400" cy="5288948"/>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Giao tiếp kiểu chạm-vuốt (bàn phím hạn chế)</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Tích hợp chụp ảnh, máy chơi nhạc, máy điện thoại và thêm nhiều thiết bị nữa trong tương lai</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Tích hợp các cảm biến, thiết bị có khả năng tương tác tốt hơn do “nhận ra” môi trường xung quanh</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chemeClr val="tx1">
                  <a:lumMod val="50000"/>
                </a:schemeClr>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Ghi nhận được độ nghiêng của thiết bị</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chemeClr val="tx1">
                  <a:lumMod val="50000"/>
                </a:schemeClr>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Ghi nhận được gia tốc và hướng di chuyển của thiết bị</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chemeClr val="tx1">
                  <a:lumMod val="50000"/>
                </a:schemeClr>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Ghi nhận được âm thanh, nhiệt độ, ánh sáng xung quanh</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Nhiều giao tiếp không dây: bluetooth, wifi,…</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Tích năng các dịch vụ online (GPS, OTT,…)</a:t>
            </a:r>
          </a:p>
        </p:txBody>
      </p:sp>
    </p:spTree>
    <p:extLst>
      <p:ext uri="{BB962C8B-B14F-4D97-AF65-F5344CB8AC3E}">
        <p14:creationId xmlns:p14="http://schemas.microsoft.com/office/powerpoint/2010/main" val="4238543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a:t>1.1.3 NỀN TẢNG CHO ƯDDĐ</a:t>
            </a:r>
          </a:p>
        </p:txBody>
      </p:sp>
      <p:sp>
        <p:nvSpPr>
          <p:cNvPr id="48" name="Date Placeholder 47"/>
          <p:cNvSpPr>
            <a:spLocks noGrp="1"/>
          </p:cNvSpPr>
          <p:nvPr>
            <p:ph type="dt" sz="half" idx="10"/>
          </p:nvPr>
        </p:nvSpPr>
        <p:spPr/>
        <p:txBody>
          <a:bodyPr/>
          <a:lstStyle/>
          <a:p>
            <a:pPr>
              <a:defRPr/>
            </a:pPr>
            <a:r>
              <a:rPr lang="en-US">
                <a:solidFill>
                  <a:schemeClr val="tx1">
                    <a:lumMod val="50000"/>
                  </a:schemeClr>
                </a:solidFill>
              </a:rPr>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solidFill>
                  <a:schemeClr val="tx1">
                    <a:lumMod val="50000"/>
                  </a:schemeClr>
                </a:solidFill>
              </a:rPr>
              <a:pPr>
                <a:defRPr/>
              </a:pPr>
              <a:t>6</a:t>
            </a:fld>
            <a:endParaRPr lang="en-US">
              <a:solidFill>
                <a:schemeClr val="tx1">
                  <a:lumMod val="50000"/>
                </a:schemeClr>
              </a:solidFill>
            </a:endParaRPr>
          </a:p>
        </p:txBody>
      </p:sp>
      <p:sp>
        <p:nvSpPr>
          <p:cNvPr id="7" name="TextBox 6">
            <a:extLst>
              <a:ext uri="{FF2B5EF4-FFF2-40B4-BE49-F238E27FC236}">
                <a16:creationId xmlns:a16="http://schemas.microsoft.com/office/drawing/2014/main" id="{08FC8BD6-B8B9-4228-9A0E-0EBFE8814D08}"/>
              </a:ext>
            </a:extLst>
          </p:cNvPr>
          <p:cNvSpPr txBox="1"/>
          <p:nvPr/>
        </p:nvSpPr>
        <p:spPr>
          <a:xfrm>
            <a:off x="420757" y="1447800"/>
            <a:ext cx="3352800" cy="4191981"/>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(1973) embedded OS</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(1996) Palm OS</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(1996) Windows CE</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(1999) Nokia S40</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(2000) Symbian</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(2002) BlackBerry</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(2005) Maemo OS (Nokia)</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(2007) iOS</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(2008) Android</a:t>
            </a:r>
          </a:p>
        </p:txBody>
      </p:sp>
      <p:sp>
        <p:nvSpPr>
          <p:cNvPr id="8" name="TextBox 7">
            <a:extLst>
              <a:ext uri="{FF2B5EF4-FFF2-40B4-BE49-F238E27FC236}">
                <a16:creationId xmlns:a16="http://schemas.microsoft.com/office/drawing/2014/main" id="{1F832462-5FE8-4E4E-A80D-98C8B0E6F109}"/>
              </a:ext>
            </a:extLst>
          </p:cNvPr>
          <p:cNvSpPr txBox="1"/>
          <p:nvPr/>
        </p:nvSpPr>
        <p:spPr>
          <a:xfrm>
            <a:off x="4419600" y="1447800"/>
            <a:ext cx="3352800" cy="373031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(2009) webOS (Palm)</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(2009) Bada (Samsung)</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(2010) Windows Phone</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(2011) MeeGo</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(2012) Firefox OS</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(2013) Ubuntu Touch</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(2013) Sailfish OS</a:t>
            </a:r>
          </a:p>
          <a:p>
            <a:pPr marL="342900"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(2013) Tizen</a:t>
            </a:r>
          </a:p>
        </p:txBody>
      </p:sp>
    </p:spTree>
    <p:extLst>
      <p:ext uri="{BB962C8B-B14F-4D97-AF65-F5344CB8AC3E}">
        <p14:creationId xmlns:p14="http://schemas.microsoft.com/office/powerpoint/2010/main" val="609796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7696200" cy="563563"/>
          </a:xfrm>
        </p:spPr>
        <p:txBody>
          <a:bodyPr/>
          <a:lstStyle/>
          <a:p>
            <a:r>
              <a:rPr lang="en-US" sz="2400" b="1"/>
              <a:t>1.1.4 THỊ PHẦN CÁC NỀN TẢNG TOÀN CẦU</a:t>
            </a:r>
          </a:p>
        </p:txBody>
      </p:sp>
      <p:sp>
        <p:nvSpPr>
          <p:cNvPr id="48" name="Date Placeholder 47"/>
          <p:cNvSpPr>
            <a:spLocks noGrp="1"/>
          </p:cNvSpPr>
          <p:nvPr>
            <p:ph type="dt" sz="half" idx="10"/>
          </p:nvPr>
        </p:nvSpPr>
        <p:spPr/>
        <p:txBody>
          <a:bodyPr/>
          <a:lstStyle/>
          <a:p>
            <a:pPr>
              <a:defRPr/>
            </a:pPr>
            <a:r>
              <a:rPr lang="en-US">
                <a:solidFill>
                  <a:schemeClr val="tx1">
                    <a:lumMod val="50000"/>
                  </a:schemeClr>
                </a:solidFill>
              </a:rPr>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solidFill>
                  <a:schemeClr val="tx1">
                    <a:lumMod val="50000"/>
                  </a:schemeClr>
                </a:solidFill>
              </a:rPr>
              <a:pPr>
                <a:defRPr/>
              </a:pPr>
              <a:t>7</a:t>
            </a:fld>
            <a:endParaRPr lang="en-US">
              <a:solidFill>
                <a:schemeClr val="tx1">
                  <a:lumMod val="50000"/>
                </a:schemeClr>
              </a:solidFill>
            </a:endParaRPr>
          </a:p>
        </p:txBody>
      </p:sp>
      <p:pic>
        <p:nvPicPr>
          <p:cNvPr id="5" name="Picture 4" descr="Chart, line chart&#10;&#10;Description automatically generated">
            <a:extLst>
              <a:ext uri="{FF2B5EF4-FFF2-40B4-BE49-F238E27FC236}">
                <a16:creationId xmlns:a16="http://schemas.microsoft.com/office/drawing/2014/main" id="{D6D787C7-CF97-43A8-9F3F-C095E43693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287" y="1395344"/>
            <a:ext cx="8613913" cy="4687491"/>
          </a:xfrm>
          <a:prstGeom prst="rect">
            <a:avLst/>
          </a:prstGeom>
        </p:spPr>
      </p:pic>
    </p:spTree>
    <p:extLst>
      <p:ext uri="{BB962C8B-B14F-4D97-AF65-F5344CB8AC3E}">
        <p14:creationId xmlns:p14="http://schemas.microsoft.com/office/powerpoint/2010/main" val="2200044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2999" y="381000"/>
            <a:ext cx="7635795" cy="563563"/>
          </a:xfrm>
        </p:spPr>
        <p:txBody>
          <a:bodyPr/>
          <a:lstStyle/>
          <a:p>
            <a:r>
              <a:rPr lang="en-US" sz="2400" b="1"/>
              <a:t>1.1.4 THỊ PHẦN CÁC NỀN TẢNG TOÀN CẦU</a:t>
            </a:r>
          </a:p>
        </p:txBody>
      </p:sp>
      <p:sp>
        <p:nvSpPr>
          <p:cNvPr id="48" name="Date Placeholder 47"/>
          <p:cNvSpPr>
            <a:spLocks noGrp="1"/>
          </p:cNvSpPr>
          <p:nvPr>
            <p:ph type="dt" sz="half" idx="10"/>
          </p:nvPr>
        </p:nvSpPr>
        <p:spPr/>
        <p:txBody>
          <a:bodyPr/>
          <a:lstStyle/>
          <a:p>
            <a:pPr>
              <a:defRPr/>
            </a:pPr>
            <a:r>
              <a:rPr lang="en-US">
                <a:solidFill>
                  <a:schemeClr val="tx1">
                    <a:lumMod val="50000"/>
                  </a:schemeClr>
                </a:solidFill>
              </a:rPr>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solidFill>
                  <a:schemeClr val="tx1">
                    <a:lumMod val="50000"/>
                  </a:schemeClr>
                </a:solidFill>
              </a:rPr>
              <a:pPr>
                <a:defRPr/>
              </a:pPr>
              <a:t>8</a:t>
            </a:fld>
            <a:endParaRPr lang="en-US">
              <a:solidFill>
                <a:schemeClr val="tx1">
                  <a:lumMod val="50000"/>
                </a:schemeClr>
              </a:solidFill>
            </a:endParaRPr>
          </a:p>
        </p:txBody>
      </p:sp>
      <p:pic>
        <p:nvPicPr>
          <p:cNvPr id="7" name="Picture 6" descr="Table&#10;&#10;Description automatically generated">
            <a:extLst>
              <a:ext uri="{FF2B5EF4-FFF2-40B4-BE49-F238E27FC236}">
                <a16:creationId xmlns:a16="http://schemas.microsoft.com/office/drawing/2014/main" id="{88827F20-A71F-43F6-A7D2-1BCF98440B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51" y="1022806"/>
            <a:ext cx="8652899" cy="2586335"/>
          </a:xfrm>
          <a:prstGeom prst="rect">
            <a:avLst/>
          </a:prstGeom>
        </p:spPr>
      </p:pic>
      <p:sp>
        <p:nvSpPr>
          <p:cNvPr id="9" name="TextBox 8">
            <a:extLst>
              <a:ext uri="{FF2B5EF4-FFF2-40B4-BE49-F238E27FC236}">
                <a16:creationId xmlns:a16="http://schemas.microsoft.com/office/drawing/2014/main" id="{55565740-324E-4E98-BA3D-8BCDB8F2C2E3}"/>
              </a:ext>
            </a:extLst>
          </p:cNvPr>
          <p:cNvSpPr txBox="1"/>
          <p:nvPr/>
        </p:nvSpPr>
        <p:spPr>
          <a:xfrm>
            <a:off x="228600" y="3843665"/>
            <a:ext cx="7772400" cy="2241960"/>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Nền tảng Android thống trị về số lượng</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Nền tảng iOS có sự biến động (đang giảm chận dần)</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Không có nhiều cơ hội cho các nền tảng khác, ngoại trừ sự xuất hiện của các thiết bị mang tính đột phá (như iPhone)</a:t>
            </a:r>
          </a:p>
        </p:txBody>
      </p:sp>
    </p:spTree>
    <p:extLst>
      <p:ext uri="{BB962C8B-B14F-4D97-AF65-F5344CB8AC3E}">
        <p14:creationId xmlns:p14="http://schemas.microsoft.com/office/powerpoint/2010/main" val="2445768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7696200" cy="563563"/>
          </a:xfrm>
        </p:spPr>
        <p:txBody>
          <a:bodyPr/>
          <a:lstStyle/>
          <a:p>
            <a:r>
              <a:rPr lang="en-US" sz="2400" b="1"/>
              <a:t>1.1.4 THỊ PHẦN CÁC NỀN TẢNG TOÀN CẦU</a:t>
            </a:r>
          </a:p>
        </p:txBody>
      </p:sp>
      <p:sp>
        <p:nvSpPr>
          <p:cNvPr id="48" name="Date Placeholder 47"/>
          <p:cNvSpPr>
            <a:spLocks noGrp="1"/>
          </p:cNvSpPr>
          <p:nvPr>
            <p:ph type="dt" sz="half" idx="10"/>
          </p:nvPr>
        </p:nvSpPr>
        <p:spPr/>
        <p:txBody>
          <a:bodyPr/>
          <a:lstStyle/>
          <a:p>
            <a:pPr>
              <a:defRPr/>
            </a:pPr>
            <a:r>
              <a:rPr lang="en-US">
                <a:solidFill>
                  <a:schemeClr val="tx1">
                    <a:lumMod val="50000"/>
                  </a:schemeClr>
                </a:solidFill>
              </a:rPr>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solidFill>
                  <a:schemeClr val="tx1">
                    <a:lumMod val="50000"/>
                  </a:schemeClr>
                </a:solidFill>
              </a:rPr>
              <a:pPr>
                <a:defRPr/>
              </a:pPr>
              <a:t>9</a:t>
            </a:fld>
            <a:endParaRPr lang="en-US">
              <a:solidFill>
                <a:schemeClr val="tx1">
                  <a:lumMod val="50000"/>
                </a:schemeClr>
              </a:solidFill>
            </a:endParaRPr>
          </a:p>
        </p:txBody>
      </p:sp>
      <p:sp>
        <p:nvSpPr>
          <p:cNvPr id="6" name="TextBox 5">
            <a:extLst>
              <a:ext uri="{FF2B5EF4-FFF2-40B4-BE49-F238E27FC236}">
                <a16:creationId xmlns:a16="http://schemas.microsoft.com/office/drawing/2014/main" id="{BD606AC8-A7E6-4389-90D0-048D71B928DD}"/>
              </a:ext>
            </a:extLst>
          </p:cNvPr>
          <p:cNvSpPr txBox="1"/>
          <p:nvPr/>
        </p:nvSpPr>
        <p:spPr>
          <a:xfrm>
            <a:off x="149086" y="1075255"/>
            <a:ext cx="7623313" cy="461665"/>
          </a:xfrm>
          <a:prstGeom prst="rect">
            <a:avLst/>
          </a:prstGeom>
          <a:noFill/>
        </p:spPr>
        <p:txBody>
          <a:bodyPr wrap="square" rtlCol="0">
            <a:spAutoFit/>
          </a:bodyPr>
          <a:lstStyle/>
          <a:p>
            <a:pPr algn="l"/>
            <a:r>
              <a:rPr lang="en-US" b="1" i="1">
                <a:solidFill>
                  <a:schemeClr val="accent4">
                    <a:lumMod val="90000"/>
                    <a:lumOff val="10000"/>
                  </a:schemeClr>
                </a:solidFill>
                <a:latin typeface="Times New Roman" panose="02020603050405020304" pitchFamily="18" charset="0"/>
                <a:cs typeface="Times New Roman" panose="02020603050405020304" pitchFamily="18" charset="0"/>
              </a:rPr>
              <a:t> So sánh sự đa dạng của 3 chợ ứng dụng</a:t>
            </a:r>
          </a:p>
        </p:txBody>
      </p:sp>
      <p:pic>
        <p:nvPicPr>
          <p:cNvPr id="5" name="Picture 4" descr="Table&#10;&#10;Description automatically generated">
            <a:extLst>
              <a:ext uri="{FF2B5EF4-FFF2-40B4-BE49-F238E27FC236}">
                <a16:creationId xmlns:a16="http://schemas.microsoft.com/office/drawing/2014/main" id="{F512D00B-BAC8-4005-9692-2B0340CBA2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644421"/>
            <a:ext cx="7315200" cy="4655769"/>
          </a:xfrm>
          <a:prstGeom prst="rect">
            <a:avLst/>
          </a:prstGeom>
        </p:spPr>
      </p:pic>
    </p:spTree>
    <p:extLst>
      <p:ext uri="{BB962C8B-B14F-4D97-AF65-F5344CB8AC3E}">
        <p14:creationId xmlns:p14="http://schemas.microsoft.com/office/powerpoint/2010/main" val="1756813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a:t>1.1.5 CƠ HỘI CHO LẬP TRÌNH VIÊN</a:t>
            </a:r>
          </a:p>
        </p:txBody>
      </p:sp>
      <p:sp>
        <p:nvSpPr>
          <p:cNvPr id="48" name="Date Placeholder 47"/>
          <p:cNvSpPr>
            <a:spLocks noGrp="1"/>
          </p:cNvSpPr>
          <p:nvPr>
            <p:ph type="dt" sz="half" idx="10"/>
          </p:nvPr>
        </p:nvSpPr>
        <p:spPr/>
        <p:txBody>
          <a:bodyPr/>
          <a:lstStyle/>
          <a:p>
            <a:pPr>
              <a:defRPr/>
            </a:pPr>
            <a:r>
              <a:rPr lang="en-US">
                <a:solidFill>
                  <a:schemeClr val="tx1">
                    <a:lumMod val="50000"/>
                  </a:schemeClr>
                </a:solidFill>
              </a:rPr>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solidFill>
                  <a:schemeClr val="tx1">
                    <a:lumMod val="50000"/>
                  </a:schemeClr>
                </a:solidFill>
              </a:rPr>
              <a:pPr>
                <a:defRPr/>
              </a:pPr>
              <a:t>10</a:t>
            </a:fld>
            <a:endParaRPr lang="en-US">
              <a:solidFill>
                <a:schemeClr val="tx1">
                  <a:lumMod val="50000"/>
                </a:schemeClr>
              </a:solidFill>
            </a:endParaRPr>
          </a:p>
        </p:txBody>
      </p:sp>
      <p:sp>
        <p:nvSpPr>
          <p:cNvPr id="7" name="TextBox 6">
            <a:extLst>
              <a:ext uri="{FF2B5EF4-FFF2-40B4-BE49-F238E27FC236}">
                <a16:creationId xmlns:a16="http://schemas.microsoft.com/office/drawing/2014/main" id="{8AD52240-030B-4F9E-97AF-DBFE1B88F60B}"/>
              </a:ext>
            </a:extLst>
          </p:cNvPr>
          <p:cNvSpPr txBox="1"/>
          <p:nvPr/>
        </p:nvSpPr>
        <p:spPr>
          <a:xfrm>
            <a:off x="304800" y="1143000"/>
            <a:ext cx="7772400" cy="5248360"/>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Thị trường ứng dụng cho di động tăng trưởng nóng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chemeClr val="tx1">
                  <a:lumMod val="50000"/>
                </a:schemeClr>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Chuyển đổi các ứng dụng đã có lên di động</a:t>
            </a:r>
          </a:p>
          <a:p>
            <a:pPr marL="800100" lvl="1" indent="-342900" algn="l">
              <a:lnSpc>
                <a:spcPct val="150000"/>
              </a:lnSpc>
              <a:buClr>
                <a:schemeClr val="tx1">
                  <a:lumMod val="50000"/>
                </a:schemeClr>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Chuyển đổi các ứng dụng di động sang loại thiết bị mới </a:t>
            </a:r>
          </a:p>
          <a:p>
            <a:pPr marL="800100" lvl="1" indent="-342900" algn="l">
              <a:lnSpc>
                <a:spcPct val="150000"/>
              </a:lnSpc>
              <a:buClr>
                <a:schemeClr val="tx1">
                  <a:lumMod val="50000"/>
                </a:schemeClr>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Phát triển những ứng dụng mới hoàn toàn, khai thác khả năng đặc biệt của di động</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Nhu cầu nhân lực viết phần mềm cho di động cao </a:t>
            </a:r>
          </a:p>
          <a:p>
            <a:pPr marL="800100" lvl="1" indent="-342900" algn="l">
              <a:lnSpc>
                <a:spcPct val="150000"/>
              </a:lnSpc>
              <a:buClr>
                <a:schemeClr val="tx1">
                  <a:lumMod val="50000"/>
                </a:schemeClr>
              </a:buClr>
              <a:buFont typeface="Arial" panose="020B0604020202020204" pitchFamily="34" charset="0"/>
              <a:buChar char="•"/>
            </a:pPr>
            <a:r>
              <a:rPr lang="vi-VN" sz="2200">
                <a:solidFill>
                  <a:schemeClr val="accent4">
                    <a:lumMod val="90000"/>
                    <a:lumOff val="10000"/>
                  </a:schemeClr>
                </a:solidFill>
                <a:latin typeface="Times New Roman" panose="02020603050405020304" pitchFamily="18" charset="0"/>
                <a:cs typeface="Times New Roman" panose="02020603050405020304" pitchFamily="18" charset="0"/>
              </a:rPr>
              <a:t>Tăng trưởng về lương cho người làm di động</a:t>
            </a:r>
            <a:endParaRPr lang="en-US" sz="22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chemeClr val="tx1">
                  <a:lumMod val="50000"/>
                </a:schemeClr>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Đỡ nhàm chán vì xuất hiện những công nghệ mới</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Cơ hội thực hiện các ý tưởng mới</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chemeClr val="tx1">
                  <a:lumMod val="50000"/>
                </a:schemeClr>
              </a:buClr>
              <a:buFont typeface="Arial" panose="020B0604020202020204" pitchFamily="34" charset="0"/>
              <a:buChar char="•"/>
            </a:pPr>
            <a:r>
              <a:rPr lang="vi-VN" sz="2200">
                <a:solidFill>
                  <a:schemeClr val="accent4">
                    <a:lumMod val="90000"/>
                    <a:lumOff val="10000"/>
                  </a:schemeClr>
                </a:solidFill>
                <a:latin typeface="Times New Roman" panose="02020603050405020304" pitchFamily="18" charset="0"/>
                <a:cs typeface="Times New Roman" panose="02020603050405020304" pitchFamily="18" charset="0"/>
              </a:rPr>
              <a:t>Tự viết và bán ứng dụng: không còn quá khó như trước</a:t>
            </a:r>
            <a:endParaRPr lang="en-US" sz="22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2303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1.2 TỔNG QUAN HĐH VÀ KIẾN TRÚC ANDROID</a:t>
            </a:r>
            <a:endParaRPr lang="vi-VN" sz="3600" b="1" kern="0">
              <a:solidFill>
                <a:schemeClr val="bg1"/>
              </a:solidFill>
            </a:endParaRPr>
          </a:p>
        </p:txBody>
      </p:sp>
    </p:spTree>
    <p:extLst>
      <p:ext uri="{BB962C8B-B14F-4D97-AF65-F5344CB8AC3E}">
        <p14:creationId xmlns:p14="http://schemas.microsoft.com/office/powerpoint/2010/main" val="3037575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TỔNG QUAN HỆ ĐIỀU HÀNH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12</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81000" y="1143000"/>
            <a:ext cx="7772400" cy="4457952"/>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Hệ điều hành dựa trên hệ điều hành Linux</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Được tùy biến cho thiết bị di động và những hệ thống nhúng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Android được phát triển và hỗ trợ bởi liên minh OHA (Open Handset Allien) gồm nhiều công ty phần cứng, phần mềm và dịch vụ: Google, HTC, LG, Samsung, Motorola, Sprint, T-Mobile, NVIDIA, Intel, Broadcom, Qualcom,…</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Có 2 phiên bản song song: Android &amp; Google API</a:t>
            </a:r>
          </a:p>
        </p:txBody>
      </p:sp>
    </p:spTree>
    <p:extLst>
      <p:ext uri="{BB962C8B-B14F-4D97-AF65-F5344CB8AC3E}">
        <p14:creationId xmlns:p14="http://schemas.microsoft.com/office/powerpoint/2010/main" val="3781611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TỔNG QUAN HỆ ĐIỀU HÀNH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13</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507724" y="1536920"/>
            <a:ext cx="7772400" cy="5011949"/>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Multithread</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Web ready (html5, css3, javascript, flash)</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Open GL</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Java</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Multitouch</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Media (full HD video, mpeg4, H.264, mp3,…)</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Wifi, 3G, Bluetooth,…</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GPS</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Sensors</a:t>
            </a:r>
          </a:p>
        </p:txBody>
      </p:sp>
      <p:sp>
        <p:nvSpPr>
          <p:cNvPr id="8" name="TextBox 7">
            <a:extLst>
              <a:ext uri="{FF2B5EF4-FFF2-40B4-BE49-F238E27FC236}">
                <a16:creationId xmlns:a16="http://schemas.microsoft.com/office/drawing/2014/main" id="{F1B64F30-82F3-4BD6-9FA2-8803BF6357FA}"/>
              </a:ext>
            </a:extLst>
          </p:cNvPr>
          <p:cNvSpPr txBox="1"/>
          <p:nvPr/>
        </p:nvSpPr>
        <p:spPr>
          <a:xfrm>
            <a:off x="152400" y="1038812"/>
            <a:ext cx="5638800" cy="461665"/>
          </a:xfrm>
          <a:prstGeom prst="rect">
            <a:avLst/>
          </a:prstGeom>
          <a:noFill/>
        </p:spPr>
        <p:txBody>
          <a:bodyPr wrap="square" rtlCol="0">
            <a:spAutoFit/>
          </a:bodyPr>
          <a:lstStyle/>
          <a:p>
            <a:pPr algn="l"/>
            <a:r>
              <a:rPr lang="en-US" b="1" i="1">
                <a:solidFill>
                  <a:schemeClr val="accent4">
                    <a:lumMod val="90000"/>
                    <a:lumOff val="10000"/>
                  </a:schemeClr>
                </a:solidFill>
                <a:latin typeface="Times New Roman" panose="02020603050405020304" pitchFamily="18" charset="0"/>
                <a:cs typeface="Times New Roman" panose="02020603050405020304" pitchFamily="18" charset="0"/>
              </a:rPr>
              <a:t> Các đặc điểm nổi bật</a:t>
            </a:r>
          </a:p>
        </p:txBody>
      </p:sp>
    </p:spTree>
    <p:extLst>
      <p:ext uri="{BB962C8B-B14F-4D97-AF65-F5344CB8AC3E}">
        <p14:creationId xmlns:p14="http://schemas.microsoft.com/office/powerpoint/2010/main" val="3602761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LỊCH SỬ PHÁT TRIỂN HĐH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14</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100723"/>
            <a:ext cx="7772400" cy="5262979"/>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Google mua Android Inc 17-8-2005</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Ra mắt cộng đồng tháng 11-2007, thành lập OHA</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Phiên bản 1.0 ra mắt tháng 9-2008</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Phiên bản 1.1 ra mắt tháng 2-2009</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Phiên bản 1.5 (Cupcake) ra mắt tháng 4-2009</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Phiên bản 4.4 (Kitkat) ra mắt tháng 11-2013 </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Phiên bản 5.0 (Lollipop) ra mắt tháng 10-2014</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Phiên bản 6.0 (Marshmallow) ra mắt tháng 11-2015</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Phiên bản 7.0 (Nougat) ra mắt tháng 8-2016</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Phiên bản 8.0 (Oreo) 8-2017, Phiên bản 9.0 (Pie) 8-2018</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Phiên bản Android 10 ra mắt 9-2019</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Phiên bản Andoird 11 ra mắt 9-2020</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Mới nhất là phiên bản Andoird 12 ra mắt 10-2021</a:t>
            </a:r>
          </a:p>
        </p:txBody>
      </p:sp>
    </p:spTree>
    <p:extLst>
      <p:ext uri="{BB962C8B-B14F-4D97-AF65-F5344CB8AC3E}">
        <p14:creationId xmlns:p14="http://schemas.microsoft.com/office/powerpoint/2010/main" val="2463789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LỊCH SỬ PHÁT TRIỂN HĐH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15</a:t>
            </a:fld>
            <a:endParaRPr lang="en-US"/>
          </a:p>
        </p:txBody>
      </p:sp>
      <p:pic>
        <p:nvPicPr>
          <p:cNvPr id="5" name="Picture 4" descr="Company name&#10;&#10;Description automatically generated with medium confidence">
            <a:extLst>
              <a:ext uri="{FF2B5EF4-FFF2-40B4-BE49-F238E27FC236}">
                <a16:creationId xmlns:a16="http://schemas.microsoft.com/office/drawing/2014/main" id="{EB64C07B-79B1-498D-A471-BE64FC2DC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713" y="1295243"/>
            <a:ext cx="8711565" cy="5029357"/>
          </a:xfrm>
          <a:prstGeom prst="rect">
            <a:avLst/>
          </a:prstGeom>
        </p:spPr>
      </p:pic>
    </p:spTree>
    <p:extLst>
      <p:ext uri="{BB962C8B-B14F-4D97-AF65-F5344CB8AC3E}">
        <p14:creationId xmlns:p14="http://schemas.microsoft.com/office/powerpoint/2010/main" val="3427328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1.2.3 LẬP TRÌNH ANDROID – KIẾN TRÚC OS</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16</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219200"/>
            <a:ext cx="7772400" cy="3785652"/>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Android OS chia thành tầng ứng dụng và các tầng trung gian để LTV có thể mở rộng hoặc tùy chỉnh theo mục đích ứng dụng họ viết</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Có 4 tầng trong HDH Android gồm:</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00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Application Framework</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00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Android Runtime</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00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Native Libraries</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00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Linux Kernel</a:t>
            </a:r>
          </a:p>
          <a:p>
            <a:pPr marL="342900"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Tầng cao hơn sử dụng API của các tầng bên dưới</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Về lý thuyết thì LTV can thiệp được vào mọi tầng</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2377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1.2.3 LẬP TRÌNH ANDROID – KIẾN TRÚC OS</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17</a:t>
            </a:fld>
            <a:endParaRPr lang="en-US"/>
          </a:p>
        </p:txBody>
      </p:sp>
      <p:pic>
        <p:nvPicPr>
          <p:cNvPr id="5" name="Picture 4" descr="Graphical user interface&#10;&#10;Description automatically generated">
            <a:extLst>
              <a:ext uri="{FF2B5EF4-FFF2-40B4-BE49-F238E27FC236}">
                <a16:creationId xmlns:a16="http://schemas.microsoft.com/office/drawing/2014/main" id="{31827969-8091-4309-8BAB-843EB46F2D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468" y="1164886"/>
            <a:ext cx="8652174" cy="4854913"/>
          </a:xfrm>
          <a:prstGeom prst="rect">
            <a:avLst/>
          </a:prstGeom>
        </p:spPr>
      </p:pic>
    </p:spTree>
    <p:extLst>
      <p:ext uri="{BB962C8B-B14F-4D97-AF65-F5344CB8AC3E}">
        <p14:creationId xmlns:p14="http://schemas.microsoft.com/office/powerpoint/2010/main" val="1797401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1.2.3 LẬP TRÌNH ANDROID – KIẾN TRÚC OS</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18</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351508"/>
            <a:ext cx="7772400" cy="4154984"/>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Linux Kernel</a:t>
            </a:r>
            <a:r>
              <a:rPr lang="en-US">
                <a:solidFill>
                  <a:schemeClr val="accent4">
                    <a:lumMod val="90000"/>
                    <a:lumOff val="10000"/>
                  </a:schemeClr>
                </a:solidFill>
                <a:latin typeface="Times New Roman" panose="02020603050405020304" pitchFamily="18" charset="0"/>
                <a:cs typeface="Times New Roman" panose="02020603050405020304" pitchFamily="18" charset="0"/>
              </a:rPr>
              <a:t>: tầng thấp nhất</a:t>
            </a:r>
          </a:p>
          <a:p>
            <a:pPr marL="800100" lvl="1"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Mọi xử lý của hệ thống đều phải thông qua tầng này</a:t>
            </a:r>
          </a:p>
          <a:p>
            <a:pPr marL="800100" lvl="1"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Cung cấp các trình điều khiển thiết bị phần cứng</a:t>
            </a:r>
          </a:p>
          <a:p>
            <a:pPr marL="1257300" lvl="2" indent="-342900" algn="l">
              <a:buClr>
                <a:srgbClr val="00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Camera</a:t>
            </a:r>
          </a:p>
          <a:p>
            <a:pPr marL="1257300" lvl="2" indent="-342900" algn="l">
              <a:buClr>
                <a:srgbClr val="00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USB</a:t>
            </a:r>
          </a:p>
          <a:p>
            <a:pPr marL="1257300" lvl="2" indent="-342900" algn="l">
              <a:buClr>
                <a:srgbClr val="00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Wifi / Bluetooth</a:t>
            </a:r>
          </a:p>
          <a:p>
            <a:pPr marL="1257300" lvl="2" indent="-342900" algn="l">
              <a:buClr>
                <a:srgbClr val="00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Display</a:t>
            </a:r>
          </a:p>
          <a:p>
            <a:pPr marL="1257300" lvl="2" indent="-342900" algn="l">
              <a:buClr>
                <a:srgbClr val="00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Power Management</a:t>
            </a:r>
          </a:p>
          <a:p>
            <a:pPr marL="1257300" lvl="2" indent="-342900" algn="l">
              <a:buClr>
                <a:srgbClr val="00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t>
            </a:r>
          </a:p>
          <a:p>
            <a:pPr marL="800100" lvl="1"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Quản lý CPU và điều phối hoạt động các tiến trình</a:t>
            </a:r>
          </a:p>
          <a:p>
            <a:pPr marL="800100" lvl="1"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Quản lý bộ nhớ ở mức vật lý</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7335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1.2.3 LẬP TRÌNH ANDROID – KIẾN TRÚC OS</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19</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295400"/>
            <a:ext cx="7772400" cy="3970318"/>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vi-VN" b="1">
                <a:solidFill>
                  <a:schemeClr val="accent4">
                    <a:lumMod val="90000"/>
                    <a:lumOff val="10000"/>
                  </a:schemeClr>
                </a:solidFill>
                <a:latin typeface="Times New Roman" panose="02020603050405020304" pitchFamily="18" charset="0"/>
                <a:cs typeface="Times New Roman" panose="02020603050405020304" pitchFamily="18" charset="0"/>
              </a:rPr>
              <a:t>Native Libraries</a:t>
            </a:r>
            <a:r>
              <a:rPr lang="vi-VN">
                <a:solidFill>
                  <a:schemeClr val="accent4">
                    <a:lumMod val="90000"/>
                    <a:lumOff val="10000"/>
                  </a:schemeClr>
                </a:solidFill>
                <a:latin typeface="Times New Roman" panose="02020603050405020304" pitchFamily="18" charset="0"/>
                <a:cs typeface="Times New Roman" panose="02020603050405020304" pitchFamily="18" charset="0"/>
              </a:rPr>
              <a:t>: thư viện các hàm lập trình</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System C library: có nguồn gốc từ hệ thống thư viện chuẩn C (libc), điều chỉnh các thiết bị nhúng trên Linux </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Media Libraries (mở rộng từ PacketVideo's OpenCORE) thư viện hỗ trợ playback và recording của nhiều định dạng video, audio và image phổ biến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1257300" lvl="2" indent="-342900" algn="l">
              <a:buClr>
                <a:srgbClr val="00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MPEG4</a:t>
            </a:r>
          </a:p>
          <a:p>
            <a:pPr marL="1257300" lvl="2" indent="-342900" algn="l">
              <a:buClr>
                <a:srgbClr val="00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H.264</a:t>
            </a:r>
          </a:p>
          <a:p>
            <a:pPr marL="1257300" lvl="2" indent="-342900" algn="l">
              <a:buClr>
                <a:srgbClr val="00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MP3</a:t>
            </a:r>
          </a:p>
          <a:p>
            <a:pPr marL="1257300" lvl="2" indent="-342900" algn="l">
              <a:buClr>
                <a:srgbClr val="00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AAC</a:t>
            </a:r>
          </a:p>
          <a:p>
            <a:pPr marL="1257300" lvl="2" indent="-342900" algn="l">
              <a:buClr>
                <a:srgbClr val="00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JPG/PNG/GIF</a:t>
            </a:r>
            <a:endParaRPr lang="fr-FR"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2874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1.2.3 LẬP TRÌNH ANDROID – KIẾN TRÚC OS</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20</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295400"/>
            <a:ext cx="7772400" cy="3785652"/>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vi-VN" b="1">
                <a:solidFill>
                  <a:schemeClr val="accent4">
                    <a:lumMod val="90000"/>
                    <a:lumOff val="10000"/>
                  </a:schemeClr>
                </a:solidFill>
                <a:latin typeface="Times New Roman" panose="02020603050405020304" pitchFamily="18" charset="0"/>
                <a:cs typeface="Times New Roman" panose="02020603050405020304" pitchFamily="18" charset="0"/>
              </a:rPr>
              <a:t>Native Libraries</a:t>
            </a:r>
            <a:r>
              <a:rPr lang="en-US" b="1">
                <a:solidFill>
                  <a:schemeClr val="accent4">
                    <a:lumMod val="90000"/>
                    <a:lumOff val="10000"/>
                  </a:schemeClr>
                </a:solidFill>
                <a:latin typeface="Times New Roman" panose="02020603050405020304" pitchFamily="18" charset="0"/>
                <a:cs typeface="Times New Roman" panose="02020603050405020304" pitchFamily="18" charset="0"/>
              </a:rPr>
              <a:t> (tiếp)</a:t>
            </a:r>
          </a:p>
          <a:p>
            <a:pPr marL="800100" lvl="1"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Surface Manager: quản lý việc hiển thị và kết hợp đồ họa 2D và 3D</a:t>
            </a: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OpenGL: thư viện đồ họa tiêu chuẩn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3D libraries: thư viện 3D dựa trên OpenGL ES, có nâng cấp tăng tốc "hardware 3D acceleration“ </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SSL: thư viện hỗ trợ mã hóa kết nối mạng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SQLite: động cơ cơ sở dữ liệu của ứng dụng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Webkit: bộ diễn dịch HTML, CSS &amp; Javascript</a:t>
            </a:r>
          </a:p>
          <a:p>
            <a:pPr marL="800100" lvl="1"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514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1.2.3 LẬP TRÌNH ANDROID – KIẾN TRÚC OS</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21</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295400"/>
            <a:ext cx="7772400" cy="4524315"/>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Android Runtime: </a:t>
            </a:r>
            <a:r>
              <a:rPr lang="en-US">
                <a:solidFill>
                  <a:schemeClr val="accent4">
                    <a:lumMod val="90000"/>
                    <a:lumOff val="10000"/>
                  </a:schemeClr>
                </a:solidFill>
                <a:latin typeface="Times New Roman" panose="02020603050405020304" pitchFamily="18" charset="0"/>
                <a:cs typeface="Times New Roman" panose="02020603050405020304" pitchFamily="18" charset="0"/>
              </a:rPr>
              <a:t>hỗ trợ việc chạy ứng dụng</a:t>
            </a:r>
          </a:p>
          <a:p>
            <a:pPr marL="800100" lvl="1"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Máy ảo Dalvik: giúp thực thi các ứng dụng android, mỗi ứng dụng chạy trên một tiến trình riêng của Dalvik VM</a:t>
            </a: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Máy ảo Dalvik thực thi các file mang định dạng .dex (Dalvik Excutable), định dạng này là định dạng đã được tối ưu hóa để chỉ chiếm một vùng nhớ vừa đủ dùng và nhỏ nhất có thể</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Máy ảo ART, xuất hiện trong các phiên bản Android mới, sử dụng kĩ thuật biên dịch tức thời để có thể giúp ứng dụng chạy nhanh hơn, không hoàn toàn tương thích với mọi ứng dụng Android hiện thời </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43871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1.2.3 LẬP TRÌNH ANDROID – KIẾN TRÚC OS</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22</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295400"/>
            <a:ext cx="7772400" cy="4524315"/>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Application Framework</a:t>
            </a: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Nơi cung cấp các API có sẵn để sử dụng các tính năng của phần cứng mà không cần hiểu cấu trúc bên dưới</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Các API được chia thành các nhóm: View UI, Content Providers, Resource Manager, Notification Manager, Activity Manager,...</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Cung cấp các thành phần cơ bản để tạo nên ứng dụng Android mà ta thường thấy</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Các thành phần của tầng này gần như tương đương 1-1 với các gói thư viện java trong Android SDK do Google cung cấp cho các nhà phát triển ứng dụng Android</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9546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1.3 MÔI TRƯỜNG PHÁT TRIỂN ANDROID</a:t>
            </a:r>
            <a:endParaRPr lang="vi-VN" sz="3600" b="1" kern="0">
              <a:solidFill>
                <a:schemeClr val="bg1"/>
              </a:solidFill>
            </a:endParaRPr>
          </a:p>
        </p:txBody>
      </p:sp>
    </p:spTree>
    <p:extLst>
      <p:ext uri="{BB962C8B-B14F-4D97-AF65-F5344CB8AC3E}">
        <p14:creationId xmlns:p14="http://schemas.microsoft.com/office/powerpoint/2010/main" val="1787279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MÔI TRƯỜNG LẬP TRÌNH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24</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076153"/>
            <a:ext cx="7772400" cy="556594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Có thể viết ứng dụng Android bằng nhiều ngôn ngữ và nhiều cách khác nhau</a:t>
            </a:r>
          </a:p>
          <a:p>
            <a:pPr marL="800100" lvl="1" indent="-342900" algn="l">
              <a:lnSpc>
                <a:spcPct val="150000"/>
              </a:lnSpc>
              <a:buClr>
                <a:srgbClr val="FF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Viết bằng Java, chạy trên máy ảo: dùng SDK</a:t>
            </a:r>
          </a:p>
          <a:p>
            <a:pPr marL="800100" lvl="1" indent="-342900" algn="l">
              <a:lnSpc>
                <a:spcPct val="150000"/>
              </a:lnSpc>
              <a:buClr>
                <a:srgbClr val="FF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Viết bằng C/C++ chạy trực tiếp trên CPU: dùng NDK</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SDK: viết nhanh, chạy chậm, chi phí thấp, tương thích cao, bảo trì dễ</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NDK: viết lâu, chạy nhanh, chi phí cao, tương thích thấp, bảo trì khó</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Ngoài ra có thể dùng các ngôn ngữ lập trình khác</a:t>
            </a:r>
          </a:p>
          <a:p>
            <a:pPr lvl="1" algn="l">
              <a:lnSpc>
                <a:spcPct val="150000"/>
              </a:lnSpc>
              <a:buClr>
                <a:srgbClr val="FF0000"/>
              </a:buClr>
            </a:pP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1557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MÔI TRƯỜNG LẬP TRÌNH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25</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295400"/>
            <a:ext cx="7772400" cy="3570208"/>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Android có thể phát triển trên hầu hết các hệ điều hành phổ biến hiện nay:</a:t>
            </a:r>
          </a:p>
          <a:p>
            <a:pPr marL="800100" lvl="1" indent="-342900" algn="l">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Windows 32 bit: từ Windows XP trở lên</a:t>
            </a:r>
          </a:p>
          <a:p>
            <a:pPr marL="800100" lvl="1" indent="-342900" algn="l">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Windows 64 bit: từ Windows Vista trở lên</a:t>
            </a:r>
          </a:p>
          <a:p>
            <a:pPr marL="800100" lvl="1" indent="-342900" algn="l">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Mac OS X 10.4.8 or later (x86 only)</a:t>
            </a:r>
          </a:p>
          <a:p>
            <a:pPr marL="800100" lvl="1" indent="-342900" algn="l">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Ubuntu</a:t>
            </a:r>
          </a:p>
          <a:p>
            <a:pPr marL="342900"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Môi trường phát triển: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JDK (Java Development Kit) 1.6 or higher </a:t>
            </a:r>
          </a:p>
          <a:p>
            <a:pPr marL="800100" lvl="1" indent="-342900" algn="l">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Android SDK</a:t>
            </a:r>
          </a:p>
          <a:p>
            <a:pPr marL="800100" lvl="1" indent="-342900" algn="l">
              <a:buClr>
                <a:srgbClr val="000000"/>
              </a:buClr>
              <a:buFont typeface="Arial" panose="020B0604020202020204" pitchFamily="34" charset="0"/>
              <a:buChar char="•"/>
            </a:pPr>
            <a:r>
              <a:rPr lang="nl-NL" sz="2200">
                <a:solidFill>
                  <a:schemeClr val="accent4">
                    <a:lumMod val="90000"/>
                    <a:lumOff val="10000"/>
                  </a:schemeClr>
                </a:solidFill>
                <a:latin typeface="Times New Roman" panose="02020603050405020304" pitchFamily="18" charset="0"/>
                <a:cs typeface="Times New Roman" panose="02020603050405020304" pitchFamily="18" charset="0"/>
              </a:rPr>
              <a:t>IDE (Android Studio, Eclipse, Netbean,…)</a:t>
            </a:r>
            <a:endParaRPr lang="fr-FR" sz="22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610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MÔI TRƯỜNG LẬP TRÌNH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26</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295400"/>
            <a:ext cx="7772400" cy="3970318"/>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Android SDK (Android Software Development Kit): công cụ phát triển ứng dụng cho Android OS, chỉ gồm tài liệu, máy ảo và các công cụ dịch, không có giao diện phát triển tích hợp (IDE)</a:t>
            </a:r>
          </a:p>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Các thành phần chính của Android SDK:</a:t>
            </a:r>
          </a:p>
          <a:p>
            <a:pPr marL="800100" lvl="1" indent="-342900" algn="l">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Bộ công cụ giúp dịch mã java thành ứng dụng</a:t>
            </a:r>
          </a:p>
          <a:p>
            <a:pPr marL="800100" lvl="1" indent="-342900" algn="l">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Các công cụ tiện ích cho lập trình viên để có thể dễ dàng tìm hiểu và xử lý các vấn đề đặt ra khi viết ứng dụng</a:t>
            </a:r>
          </a:p>
          <a:p>
            <a:pPr marL="800100" lvl="1" indent="-342900" algn="l">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Nhóm các tài nguyên ứng với từng bản Android OS</a:t>
            </a:r>
          </a:p>
          <a:p>
            <a:pPr marL="800100" lvl="1" indent="-342900" algn="l">
              <a:buClr>
                <a:srgbClr val="000000"/>
              </a:buClr>
              <a:buFont typeface="Arial" panose="020B0604020202020204" pitchFamily="34" charset="0"/>
              <a:buChar char="•"/>
            </a:pPr>
            <a:r>
              <a:rPr lang="vi-VN" sz="2200">
                <a:solidFill>
                  <a:schemeClr val="accent4">
                    <a:lumMod val="90000"/>
                    <a:lumOff val="10000"/>
                  </a:schemeClr>
                </a:solidFill>
                <a:latin typeface="Times New Roman" panose="02020603050405020304" pitchFamily="18" charset="0"/>
                <a:cs typeface="Times New Roman" panose="02020603050405020304" pitchFamily="18" charset="0"/>
              </a:rPr>
              <a:t>Thư viện bổ sung cho phép LTV dễ dàng khai thác các dịch vụ của Google (Maps, AdMod, YouTube,…)</a:t>
            </a:r>
            <a:endParaRPr lang="fr-FR" sz="22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2442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MÔI TRƯỜNG LẬP TRÌNH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27</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219200"/>
            <a:ext cx="7772400" cy="5288948"/>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Với một phiên bản Android OS, SDK cung cấp:</a:t>
            </a:r>
          </a:p>
          <a:p>
            <a:pPr marL="800100" lvl="1" indent="-342900" algn="l">
              <a:lnSpc>
                <a:spcPct val="150000"/>
              </a:lnSpc>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Tài liệu lập trình ứng với phiên bản đó</a:t>
            </a:r>
          </a:p>
          <a:p>
            <a:pPr marL="800100" lvl="1" indent="-342900" algn="l">
              <a:lnSpc>
                <a:spcPct val="150000"/>
              </a:lnSpc>
              <a:buClr>
                <a:srgbClr val="000000"/>
              </a:buClr>
              <a:buFont typeface="Arial" panose="020B0604020202020204" pitchFamily="34" charset="0"/>
              <a:buChar char="•"/>
            </a:pPr>
            <a:r>
              <a:rPr lang="vi-VN" sz="2200">
                <a:solidFill>
                  <a:schemeClr val="accent4">
                    <a:lumMod val="90000"/>
                    <a:lumOff val="10000"/>
                  </a:schemeClr>
                </a:solidFill>
                <a:latin typeface="Times New Roman" panose="02020603050405020304" pitchFamily="18" charset="0"/>
                <a:cs typeface="Times New Roman" panose="02020603050405020304" pitchFamily="18" charset="0"/>
              </a:rPr>
              <a:t>Thư viện các gói lập trình cơ bản cho phiên bản đó</a:t>
            </a:r>
            <a:endParaRPr lang="en-US" sz="22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000000"/>
              </a:buClr>
              <a:buFont typeface="Arial" panose="020B0604020202020204" pitchFamily="34" charset="0"/>
              <a:buChar char="•"/>
            </a:pPr>
            <a:r>
              <a:rPr lang="vi-VN" sz="2200">
                <a:solidFill>
                  <a:schemeClr val="accent4">
                    <a:lumMod val="90000"/>
                    <a:lumOff val="10000"/>
                  </a:schemeClr>
                </a:solidFill>
                <a:latin typeface="Times New Roman" panose="02020603050405020304" pitchFamily="18" charset="0"/>
                <a:cs typeface="Times New Roman" panose="02020603050405020304" pitchFamily="18" charset="0"/>
              </a:rPr>
              <a:t>Thư viện các gói lập trình bổ sung cho phép khai thác dịch vụ của Google (Google APIs) ứng với phiên bản đó</a:t>
            </a:r>
            <a:endParaRPr lang="en-US" sz="22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Các file ảnh để tạo máy ảo cho phiên bản hiện tại</a:t>
            </a:r>
          </a:p>
          <a:p>
            <a:pPr marL="800100" lvl="1" indent="-342900" algn="l">
              <a:lnSpc>
                <a:spcPct val="150000"/>
              </a:lnSpc>
              <a:buClr>
                <a:srgbClr val="000000"/>
              </a:buClr>
              <a:buFont typeface="Arial" panose="020B0604020202020204" pitchFamily="34" charset="0"/>
              <a:buChar char="•"/>
            </a:pPr>
            <a:r>
              <a:rPr lang="en-US" sz="2200">
                <a:solidFill>
                  <a:schemeClr val="accent4">
                    <a:lumMod val="90000"/>
                    <a:lumOff val="10000"/>
                  </a:schemeClr>
                </a:solidFill>
                <a:latin typeface="Times New Roman" panose="02020603050405020304" pitchFamily="18" charset="0"/>
                <a:cs typeface="Times New Roman" panose="02020603050405020304" pitchFamily="18" charset="0"/>
              </a:rPr>
              <a:t>Mã nguồn của phiên bản hiện tại</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Chú ý: Android SDK có thể tải về từng phần liên quan tới nội dung cần phát triển, bản đầy đủ kích thước khá lớn (vài chục GB)</a:t>
            </a:r>
            <a:endParaRPr lang="fr-FR" sz="32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7373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MỘT SỐ IDE CHO PHÁT TRIỂN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28</a:t>
            </a:fld>
            <a:endParaRPr lang="en-US"/>
          </a:p>
        </p:txBody>
      </p:sp>
      <p:pic>
        <p:nvPicPr>
          <p:cNvPr id="5" name="Picture 4" descr="Text&#10;&#10;Description automatically generated">
            <a:extLst>
              <a:ext uri="{FF2B5EF4-FFF2-40B4-BE49-F238E27FC236}">
                <a16:creationId xmlns:a16="http://schemas.microsoft.com/office/drawing/2014/main" id="{E66DA0F9-7858-4C2C-83D9-26ADFD6B2E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219200"/>
            <a:ext cx="8150062" cy="4953000"/>
          </a:xfrm>
          <a:prstGeom prst="rect">
            <a:avLst/>
          </a:prstGeom>
        </p:spPr>
      </p:pic>
    </p:spTree>
    <p:extLst>
      <p:ext uri="{BB962C8B-B14F-4D97-AF65-F5344CB8AC3E}">
        <p14:creationId xmlns:p14="http://schemas.microsoft.com/office/powerpoint/2010/main" val="2051649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MỘT SỐ IDE CHO PHÁT TRIỂN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29</a:t>
            </a:fld>
            <a:endParaRPr lang="en-US"/>
          </a:p>
        </p:txBody>
      </p:sp>
      <p:pic>
        <p:nvPicPr>
          <p:cNvPr id="7" name="Picture 6" descr="Graphical user interface, application&#10;&#10;Description automatically generated">
            <a:extLst>
              <a:ext uri="{FF2B5EF4-FFF2-40B4-BE49-F238E27FC236}">
                <a16:creationId xmlns:a16="http://schemas.microsoft.com/office/drawing/2014/main" id="{775B7358-9081-4EA9-844B-0C9E8AEB10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118996"/>
            <a:ext cx="8523662" cy="5267517"/>
          </a:xfrm>
          <a:prstGeom prst="rect">
            <a:avLst/>
          </a:prstGeom>
        </p:spPr>
      </p:pic>
    </p:spTree>
    <p:extLst>
      <p:ext uri="{BB962C8B-B14F-4D97-AF65-F5344CB8AC3E}">
        <p14:creationId xmlns:p14="http://schemas.microsoft.com/office/powerpoint/2010/main" val="18661522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MỘT SỐ IDE CHO PHÁT TRIỂN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30</a:t>
            </a:fld>
            <a:endParaRPr lang="en-US"/>
          </a:p>
        </p:txBody>
      </p:sp>
      <p:pic>
        <p:nvPicPr>
          <p:cNvPr id="5" name="Picture 4" descr="Graphical user interface, text, application&#10;&#10;Description automatically generated">
            <a:extLst>
              <a:ext uri="{FF2B5EF4-FFF2-40B4-BE49-F238E27FC236}">
                <a16:creationId xmlns:a16="http://schemas.microsoft.com/office/drawing/2014/main" id="{AC0ABFD6-DE64-4545-9DB8-2C09EA25C3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066800"/>
            <a:ext cx="8441024" cy="5105400"/>
          </a:xfrm>
          <a:prstGeom prst="rect">
            <a:avLst/>
          </a:prstGeom>
        </p:spPr>
      </p:pic>
    </p:spTree>
    <p:extLst>
      <p:ext uri="{BB962C8B-B14F-4D97-AF65-F5344CB8AC3E}">
        <p14:creationId xmlns:p14="http://schemas.microsoft.com/office/powerpoint/2010/main" val="34743122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1.4 TẠO PROJECT ANDROID CƠ BẢN</a:t>
            </a:r>
            <a:endParaRPr lang="vi-VN" sz="3600" b="1" kern="0">
              <a:solidFill>
                <a:schemeClr val="bg1"/>
              </a:solidFill>
            </a:endParaRPr>
          </a:p>
        </p:txBody>
      </p:sp>
    </p:spTree>
    <p:extLst>
      <p:ext uri="{BB962C8B-B14F-4D97-AF65-F5344CB8AC3E}">
        <p14:creationId xmlns:p14="http://schemas.microsoft.com/office/powerpoint/2010/main" val="176261296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1.4.1 TẠO PROJECT ANDROID CƠ BẢN</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32</a:t>
            </a:fld>
            <a:endParaRPr lang="en-US"/>
          </a:p>
        </p:txBody>
      </p:sp>
      <p:sp>
        <p:nvSpPr>
          <p:cNvPr id="9" name="TextBox 8">
            <a:extLst>
              <a:ext uri="{FF2B5EF4-FFF2-40B4-BE49-F238E27FC236}">
                <a16:creationId xmlns:a16="http://schemas.microsoft.com/office/drawing/2014/main" id="{AF3F5230-DBD1-47A9-906D-5DE081EBA0DA}"/>
              </a:ext>
            </a:extLst>
          </p:cNvPr>
          <p:cNvSpPr txBox="1"/>
          <p:nvPr/>
        </p:nvSpPr>
        <p:spPr>
          <a:xfrm>
            <a:off x="200439" y="1118779"/>
            <a:ext cx="8743122" cy="461665"/>
          </a:xfrm>
          <a:prstGeom prst="rect">
            <a:avLst/>
          </a:prstGeom>
          <a:noFill/>
        </p:spPr>
        <p:txBody>
          <a:bodyPr wrap="square" rtlCol="0">
            <a:spAutoFit/>
          </a:bodyPr>
          <a:lstStyle/>
          <a:p>
            <a:pPr algn="l">
              <a:buClr>
                <a:srgbClr val="FF0000"/>
              </a:buClr>
            </a:pPr>
            <a:r>
              <a:rPr lang="en-US">
                <a:solidFill>
                  <a:schemeClr val="accent4">
                    <a:lumMod val="90000"/>
                    <a:lumOff val="10000"/>
                  </a:schemeClr>
                </a:solidFill>
                <a:latin typeface="Times New Roman" panose="02020603050405020304" pitchFamily="18" charset="0"/>
                <a:cs typeface="Times New Roman" panose="02020603050405020304" pitchFamily="18" charset="0"/>
              </a:rPr>
              <a:t>Bước 1: Mở Android Studio. Click “Start a new Android project”</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10" name="Picture 9" descr="Graphical user interface, text&#10;&#10;Description automatically generated with medium confidence">
            <a:extLst>
              <a:ext uri="{FF2B5EF4-FFF2-40B4-BE49-F238E27FC236}">
                <a16:creationId xmlns:a16="http://schemas.microsoft.com/office/drawing/2014/main" id="{113A419F-7FC9-4726-BC10-B5F873034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80444"/>
            <a:ext cx="7696200" cy="4704351"/>
          </a:xfrm>
          <a:prstGeom prst="rect">
            <a:avLst/>
          </a:prstGeom>
        </p:spPr>
      </p:pic>
    </p:spTree>
    <p:extLst>
      <p:ext uri="{BB962C8B-B14F-4D97-AF65-F5344CB8AC3E}">
        <p14:creationId xmlns:p14="http://schemas.microsoft.com/office/powerpoint/2010/main" val="40862866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1.4.1 TẠO PROJECT ANDROID CƠ BẢN</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33</a:t>
            </a:fld>
            <a:endParaRPr lang="en-US"/>
          </a:p>
        </p:txBody>
      </p:sp>
      <p:sp>
        <p:nvSpPr>
          <p:cNvPr id="9" name="TextBox 8">
            <a:extLst>
              <a:ext uri="{FF2B5EF4-FFF2-40B4-BE49-F238E27FC236}">
                <a16:creationId xmlns:a16="http://schemas.microsoft.com/office/drawing/2014/main" id="{AF3F5230-DBD1-47A9-906D-5DE081EBA0DA}"/>
              </a:ext>
            </a:extLst>
          </p:cNvPr>
          <p:cNvSpPr txBox="1"/>
          <p:nvPr/>
        </p:nvSpPr>
        <p:spPr>
          <a:xfrm>
            <a:off x="152400" y="1077913"/>
            <a:ext cx="8228772" cy="830997"/>
          </a:xfrm>
          <a:prstGeom prst="rect">
            <a:avLst/>
          </a:prstGeom>
          <a:noFill/>
        </p:spPr>
        <p:txBody>
          <a:bodyPr wrap="square" rtlCol="0">
            <a:spAutoFit/>
          </a:bodyPr>
          <a:lstStyle/>
          <a:p>
            <a:pPr algn="l">
              <a:buClr>
                <a:srgbClr val="FF0000"/>
              </a:buClr>
            </a:pPr>
            <a:r>
              <a:rPr lang="en-US">
                <a:solidFill>
                  <a:schemeClr val="accent4">
                    <a:lumMod val="90000"/>
                    <a:lumOff val="10000"/>
                  </a:schemeClr>
                </a:solidFill>
                <a:latin typeface="Times New Roman" panose="02020603050405020304" pitchFamily="18" charset="0"/>
                <a:cs typeface="Times New Roman" panose="02020603050405020304" pitchFamily="18" charset="0"/>
              </a:rPr>
              <a:t>Bước 2: Chọn một màn hình Activity để hiển thị. Ở đây có thể chọn “Empty Activity”</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Graphical user interface, application&#10;&#10;Description automatically generated">
            <a:extLst>
              <a:ext uri="{FF2B5EF4-FFF2-40B4-BE49-F238E27FC236}">
                <a16:creationId xmlns:a16="http://schemas.microsoft.com/office/drawing/2014/main" id="{BB02A991-F925-4BA2-ADB9-B6AC241834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952380"/>
            <a:ext cx="5833378" cy="4434133"/>
          </a:xfrm>
          <a:prstGeom prst="rect">
            <a:avLst/>
          </a:prstGeom>
        </p:spPr>
      </p:pic>
    </p:spTree>
    <p:extLst>
      <p:ext uri="{BB962C8B-B14F-4D97-AF65-F5344CB8AC3E}">
        <p14:creationId xmlns:p14="http://schemas.microsoft.com/office/powerpoint/2010/main" val="23610836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1.4.1 TẠO PROJECT ANDROID CƠ BẢN</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34</a:t>
            </a:fld>
            <a:endParaRPr lang="en-US"/>
          </a:p>
        </p:txBody>
      </p:sp>
      <p:sp>
        <p:nvSpPr>
          <p:cNvPr id="9" name="TextBox 8">
            <a:extLst>
              <a:ext uri="{FF2B5EF4-FFF2-40B4-BE49-F238E27FC236}">
                <a16:creationId xmlns:a16="http://schemas.microsoft.com/office/drawing/2014/main" id="{AF3F5230-DBD1-47A9-906D-5DE081EBA0DA}"/>
              </a:ext>
            </a:extLst>
          </p:cNvPr>
          <p:cNvSpPr txBox="1"/>
          <p:nvPr/>
        </p:nvSpPr>
        <p:spPr>
          <a:xfrm>
            <a:off x="200439" y="1053870"/>
            <a:ext cx="8743122" cy="461665"/>
          </a:xfrm>
          <a:prstGeom prst="rect">
            <a:avLst/>
          </a:prstGeom>
          <a:noFill/>
        </p:spPr>
        <p:txBody>
          <a:bodyPr wrap="square" rtlCol="0">
            <a:spAutoFit/>
          </a:bodyPr>
          <a:lstStyle/>
          <a:p>
            <a:pPr algn="l">
              <a:buClr>
                <a:srgbClr val="FF0000"/>
              </a:buClr>
            </a:pPr>
            <a:r>
              <a:rPr lang="en-US">
                <a:solidFill>
                  <a:schemeClr val="accent4">
                    <a:lumMod val="90000"/>
                    <a:lumOff val="10000"/>
                  </a:schemeClr>
                </a:solidFill>
                <a:latin typeface="Times New Roman" panose="02020603050405020304" pitchFamily="18" charset="0"/>
                <a:cs typeface="Times New Roman" panose="02020603050405020304" pitchFamily="18" charset="0"/>
              </a:rPr>
              <a:t>Bước 3: Điền các thông tin cơ bản</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7" name="Picture 6" descr="Graphical user interface, application&#10;&#10;Description automatically generated">
            <a:extLst>
              <a:ext uri="{FF2B5EF4-FFF2-40B4-BE49-F238E27FC236}">
                <a16:creationId xmlns:a16="http://schemas.microsoft.com/office/drawing/2014/main" id="{A5F40EB5-8FDC-4297-8B46-4D046E847B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708473"/>
            <a:ext cx="5555485" cy="4203975"/>
          </a:xfrm>
          <a:prstGeom prst="rect">
            <a:avLst/>
          </a:prstGeom>
        </p:spPr>
      </p:pic>
      <p:sp>
        <p:nvSpPr>
          <p:cNvPr id="10" name="TextBox 9">
            <a:extLst>
              <a:ext uri="{FF2B5EF4-FFF2-40B4-BE49-F238E27FC236}">
                <a16:creationId xmlns:a16="http://schemas.microsoft.com/office/drawing/2014/main" id="{F528F998-C63F-4B5D-ABF6-810EA75A3CC4}"/>
              </a:ext>
            </a:extLst>
          </p:cNvPr>
          <p:cNvSpPr txBox="1"/>
          <p:nvPr/>
        </p:nvSpPr>
        <p:spPr>
          <a:xfrm>
            <a:off x="5772150" y="1688866"/>
            <a:ext cx="2743200" cy="4524315"/>
          </a:xfrm>
          <a:prstGeom prst="rect">
            <a:avLst/>
          </a:prstGeom>
          <a:noFill/>
        </p:spPr>
        <p:txBody>
          <a:bodyPr wrap="square" rtlCol="0">
            <a:spAutoFit/>
          </a:bodyPr>
          <a:lstStyle/>
          <a:p>
            <a:pPr algn="l">
              <a:buClr>
                <a:srgbClr val="FF0000"/>
              </a:buClr>
            </a:pP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 Tên Project: Tên dự án, viết hoa chữ cái đầu tiên mỗi từ</a:t>
            </a:r>
          </a:p>
          <a:p>
            <a:pPr algn="l">
              <a:buClr>
                <a:srgbClr val="FF0000"/>
              </a:buClr>
            </a:pP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 Tên Package: Đặt theo gói dự án của bạn, mỗi ứng dụng có một tên package duy nhất</a:t>
            </a:r>
          </a:p>
          <a:p>
            <a:pPr algn="l">
              <a:buClr>
                <a:srgbClr val="FF0000"/>
              </a:buClr>
            </a:pP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 Location: Vị trí lưu trữ project của bạn</a:t>
            </a:r>
          </a:p>
          <a:p>
            <a:pPr algn="l">
              <a:buClr>
                <a:srgbClr val="FF0000"/>
              </a:buClr>
            </a:pP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 Language: Ngôn ngữ sử dụng để xây dựng ứng dụng</a:t>
            </a:r>
          </a:p>
          <a:p>
            <a:pPr algn="l">
              <a:buClr>
                <a:srgbClr val="FF0000"/>
              </a:buClr>
            </a:pP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 Minimum API level: Phiên bản API thấp nhất mà ứng dụng có thể chạy</a:t>
            </a:r>
          </a:p>
          <a:p>
            <a:pPr algn="l">
              <a:buClr>
                <a:srgbClr val="FF0000"/>
              </a:buClr>
            </a:pPr>
            <a:endParaRPr lang="fr-FR" sz="18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7740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1.4.1 TẠO PROJECT ANDROID CƠ BẢN</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35</a:t>
            </a:fld>
            <a:endParaRPr lang="en-US"/>
          </a:p>
        </p:txBody>
      </p:sp>
      <p:sp>
        <p:nvSpPr>
          <p:cNvPr id="9" name="TextBox 8">
            <a:extLst>
              <a:ext uri="{FF2B5EF4-FFF2-40B4-BE49-F238E27FC236}">
                <a16:creationId xmlns:a16="http://schemas.microsoft.com/office/drawing/2014/main" id="{AF3F5230-DBD1-47A9-906D-5DE081EBA0DA}"/>
              </a:ext>
            </a:extLst>
          </p:cNvPr>
          <p:cNvSpPr txBox="1"/>
          <p:nvPr/>
        </p:nvSpPr>
        <p:spPr>
          <a:xfrm>
            <a:off x="157370" y="1195220"/>
            <a:ext cx="8743122" cy="461665"/>
          </a:xfrm>
          <a:prstGeom prst="rect">
            <a:avLst/>
          </a:prstGeom>
          <a:noFill/>
        </p:spPr>
        <p:txBody>
          <a:bodyPr wrap="square" rtlCol="0">
            <a:spAutoFit/>
          </a:bodyPr>
          <a:lstStyle/>
          <a:p>
            <a:pPr algn="l">
              <a:buClr>
                <a:srgbClr val="FF0000"/>
              </a:buClr>
            </a:pPr>
            <a:r>
              <a:rPr lang="en-US">
                <a:solidFill>
                  <a:schemeClr val="accent4">
                    <a:lumMod val="90000"/>
                    <a:lumOff val="10000"/>
                  </a:schemeClr>
                </a:solidFill>
                <a:latin typeface="Times New Roman" panose="02020603050405020304" pitchFamily="18" charset="0"/>
                <a:cs typeface="Times New Roman" panose="02020603050405020304" pitchFamily="18" charset="0"/>
              </a:rPr>
              <a:t>Sau một khoảng từ 10 – 20s Android Studio sẽ xây dựng xong Project</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Graphical user interface, text&#10;&#10;Description automatically generated">
            <a:extLst>
              <a:ext uri="{FF2B5EF4-FFF2-40B4-BE49-F238E27FC236}">
                <a16:creationId xmlns:a16="http://schemas.microsoft.com/office/drawing/2014/main" id="{846DC110-FD93-49E3-BFA9-39969F8C65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370" y="1660198"/>
            <a:ext cx="8586580" cy="4782153"/>
          </a:xfrm>
          <a:prstGeom prst="rect">
            <a:avLst/>
          </a:prstGeom>
        </p:spPr>
      </p:pic>
    </p:spTree>
    <p:extLst>
      <p:ext uri="{BB962C8B-B14F-4D97-AF65-F5344CB8AC3E}">
        <p14:creationId xmlns:p14="http://schemas.microsoft.com/office/powerpoint/2010/main" val="83651258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1.4.2 CẤU TRÚC PROJECT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36</a:t>
            </a:fld>
            <a:endParaRPr lang="en-US"/>
          </a:p>
        </p:txBody>
      </p:sp>
      <p:pic>
        <p:nvPicPr>
          <p:cNvPr id="7" name="Picture 6" descr="Text&#10;&#10;Description automatically generated">
            <a:extLst>
              <a:ext uri="{FF2B5EF4-FFF2-40B4-BE49-F238E27FC236}">
                <a16:creationId xmlns:a16="http://schemas.microsoft.com/office/drawing/2014/main" id="{15BDEA3D-D829-44B8-827B-2751B94F8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591" y="1552794"/>
            <a:ext cx="5342083" cy="4198984"/>
          </a:xfrm>
          <a:prstGeom prst="rect">
            <a:avLst/>
          </a:prstGeom>
        </p:spPr>
      </p:pic>
      <p:sp>
        <p:nvSpPr>
          <p:cNvPr id="10" name="TextBox 9">
            <a:extLst>
              <a:ext uri="{FF2B5EF4-FFF2-40B4-BE49-F238E27FC236}">
                <a16:creationId xmlns:a16="http://schemas.microsoft.com/office/drawing/2014/main" id="{14FEEEE4-0B92-4863-B9B9-DE179D71DD64}"/>
              </a:ext>
            </a:extLst>
          </p:cNvPr>
          <p:cNvSpPr txBox="1"/>
          <p:nvPr/>
        </p:nvSpPr>
        <p:spPr>
          <a:xfrm>
            <a:off x="5745646" y="1669578"/>
            <a:ext cx="2743200" cy="3416320"/>
          </a:xfrm>
          <a:prstGeom prst="rect">
            <a:avLst/>
          </a:prstGeom>
          <a:noFill/>
        </p:spPr>
        <p:txBody>
          <a:bodyPr wrap="square" rtlCol="0">
            <a:spAutoFit/>
          </a:bodyPr>
          <a:lstStyle/>
          <a:p>
            <a:pPr algn="l">
              <a:buClr>
                <a:srgbClr val="FF0000"/>
              </a:buClr>
            </a:pP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Khi tạo Project Android trên IDE Android Studio ta sẽ nhận được cấu trúc thư mục như sau</a:t>
            </a:r>
          </a:p>
          <a:p>
            <a:pPr algn="l">
              <a:buClr>
                <a:srgbClr val="FF0000"/>
              </a:buClr>
            </a:pPr>
            <a:endParaRPr lang="fr-FR" sz="1800">
              <a:solidFill>
                <a:schemeClr val="accent4">
                  <a:lumMod val="90000"/>
                  <a:lumOff val="10000"/>
                </a:schemeClr>
              </a:solidFill>
              <a:latin typeface="Times New Roman" panose="02020603050405020304" pitchFamily="18" charset="0"/>
              <a:cs typeface="Times New Roman" panose="02020603050405020304" pitchFamily="18" charset="0"/>
            </a:endParaRPr>
          </a:p>
          <a:p>
            <a:pPr algn="l">
              <a:buClr>
                <a:srgbClr val="FF0000"/>
              </a:buClr>
            </a:pPr>
            <a:r>
              <a:rPr lang="fr-FR" sz="1800" b="1">
                <a:solidFill>
                  <a:schemeClr val="accent4">
                    <a:lumMod val="90000"/>
                    <a:lumOff val="10000"/>
                  </a:schemeClr>
                </a:solidFill>
                <a:latin typeface="Times New Roman" panose="02020603050405020304" pitchFamily="18" charset="0"/>
                <a:cs typeface="Times New Roman" panose="02020603050405020304" pitchFamily="18" charset="0"/>
              </a:rPr>
              <a:t>Lưu ý:</a:t>
            </a: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 Cấu trúc thư mục Android không phải lúc nào cũng như hình bên.</a:t>
            </a:r>
          </a:p>
          <a:p>
            <a:pPr algn="l">
              <a:buClr>
                <a:srgbClr val="FF0000"/>
              </a:buClr>
            </a:pP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Trên thực thế LTV có thể thêm, sửa, xóa một số thư mục theo yêu cầu của ứng dụng</a:t>
            </a:r>
          </a:p>
        </p:txBody>
      </p:sp>
    </p:spTree>
    <p:extLst>
      <p:ext uri="{BB962C8B-B14F-4D97-AF65-F5344CB8AC3E}">
        <p14:creationId xmlns:p14="http://schemas.microsoft.com/office/powerpoint/2010/main" val="27035221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1.4.2 CẤU TRÚC PROJECT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37</a:t>
            </a:fld>
            <a:endParaRPr lang="en-US"/>
          </a:p>
        </p:txBody>
      </p:sp>
      <p:sp>
        <p:nvSpPr>
          <p:cNvPr id="6" name="TextBox 5">
            <a:extLst>
              <a:ext uri="{FF2B5EF4-FFF2-40B4-BE49-F238E27FC236}">
                <a16:creationId xmlns:a16="http://schemas.microsoft.com/office/drawing/2014/main" id="{B7934E57-7577-4BFB-A798-49248178C37A}"/>
              </a:ext>
            </a:extLst>
          </p:cNvPr>
          <p:cNvSpPr txBox="1"/>
          <p:nvPr/>
        </p:nvSpPr>
        <p:spPr>
          <a:xfrm>
            <a:off x="152400" y="1076238"/>
            <a:ext cx="7543800" cy="461665"/>
          </a:xfrm>
          <a:prstGeom prst="rect">
            <a:avLst/>
          </a:prstGeom>
          <a:noFill/>
        </p:spPr>
        <p:txBody>
          <a:bodyPr wrap="square" rtlCol="0">
            <a:spAutoFit/>
          </a:bodyPr>
          <a:lstStyle/>
          <a:p>
            <a:pPr algn="l"/>
            <a:r>
              <a:rPr lang="en-US" b="1" i="1">
                <a:solidFill>
                  <a:schemeClr val="accent4">
                    <a:lumMod val="90000"/>
                    <a:lumOff val="10000"/>
                  </a:schemeClr>
                </a:solidFill>
                <a:latin typeface="Times New Roman" panose="02020603050405020304" pitchFamily="18" charset="0"/>
                <a:cs typeface="Times New Roman" panose="02020603050405020304" pitchFamily="18" charset="0"/>
              </a:rPr>
              <a:t> Thư mục Java</a:t>
            </a:r>
          </a:p>
        </p:txBody>
      </p:sp>
      <p:sp>
        <p:nvSpPr>
          <p:cNvPr id="10" name="TextBox 9">
            <a:extLst>
              <a:ext uri="{FF2B5EF4-FFF2-40B4-BE49-F238E27FC236}">
                <a16:creationId xmlns:a16="http://schemas.microsoft.com/office/drawing/2014/main" id="{14FEEEE4-0B92-4863-B9B9-DE179D71DD64}"/>
              </a:ext>
            </a:extLst>
          </p:cNvPr>
          <p:cNvSpPr txBox="1"/>
          <p:nvPr/>
        </p:nvSpPr>
        <p:spPr>
          <a:xfrm>
            <a:off x="215347" y="1537903"/>
            <a:ext cx="8336446" cy="923330"/>
          </a:xfrm>
          <a:prstGeom prst="rect">
            <a:avLst/>
          </a:prstGeom>
          <a:noFill/>
        </p:spPr>
        <p:txBody>
          <a:bodyPr wrap="square" rtlCol="0">
            <a:spAutoFit/>
          </a:bodyPr>
          <a:lstStyle/>
          <a:p>
            <a:pPr algn="l">
              <a:buClr>
                <a:srgbClr val="FF0000"/>
              </a:buClr>
            </a:pP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Thư mục này chứa tất cả các file nguồn Java (.java) mà ta tạo trong quá trình phát triển ứng dụng, </a:t>
            </a:r>
            <a:r>
              <a:rPr lang="vi-VN" sz="1800" b="0" i="0">
                <a:solidFill>
                  <a:schemeClr val="accent4">
                    <a:lumMod val="90000"/>
                    <a:lumOff val="10000"/>
                  </a:schemeClr>
                </a:solidFill>
                <a:effectLst/>
                <a:latin typeface="Times New Roman" panose="02020603050405020304" pitchFamily="18" charset="0"/>
                <a:cs typeface="Times New Roman" panose="02020603050405020304" pitchFamily="18" charset="0"/>
              </a:rPr>
              <a:t>bao gồm cả mã JUnit test code. Bất cứ khi nào tạo bất kỳ</a:t>
            </a:r>
            <a:r>
              <a:rPr lang="en-US" sz="1800" b="0" i="0">
                <a:solidFill>
                  <a:schemeClr val="accent4">
                    <a:lumMod val="90000"/>
                    <a:lumOff val="10000"/>
                  </a:schemeClr>
                </a:solidFill>
                <a:effectLst/>
                <a:latin typeface="Times New Roman" panose="02020603050405020304" pitchFamily="18" charset="0"/>
                <a:cs typeface="Times New Roman" panose="02020603050405020304" pitchFamily="18" charset="0"/>
              </a:rPr>
              <a:t> Activity mới nào, những Activity đó sẽ được them vào trong package của thư mục Java</a:t>
            </a:r>
            <a:endParaRPr lang="fr-FR" sz="180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Graphical user interface, text, application&#10;&#10;Description automatically generated">
            <a:extLst>
              <a:ext uri="{FF2B5EF4-FFF2-40B4-BE49-F238E27FC236}">
                <a16:creationId xmlns:a16="http://schemas.microsoft.com/office/drawing/2014/main" id="{3F342455-7C2E-452D-8E57-0D97AD888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101" y="2673802"/>
            <a:ext cx="7999649" cy="3749154"/>
          </a:xfrm>
          <a:prstGeom prst="rect">
            <a:avLst/>
          </a:prstGeom>
        </p:spPr>
      </p:pic>
    </p:spTree>
    <p:extLst>
      <p:ext uri="{BB962C8B-B14F-4D97-AF65-F5344CB8AC3E}">
        <p14:creationId xmlns:p14="http://schemas.microsoft.com/office/powerpoint/2010/main" val="332740655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1.4.2 CẤU TRÚC PROJECT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38</a:t>
            </a:fld>
            <a:endParaRPr lang="en-US"/>
          </a:p>
        </p:txBody>
      </p:sp>
      <p:sp>
        <p:nvSpPr>
          <p:cNvPr id="6" name="TextBox 5">
            <a:extLst>
              <a:ext uri="{FF2B5EF4-FFF2-40B4-BE49-F238E27FC236}">
                <a16:creationId xmlns:a16="http://schemas.microsoft.com/office/drawing/2014/main" id="{B7934E57-7577-4BFB-A798-49248178C37A}"/>
              </a:ext>
            </a:extLst>
          </p:cNvPr>
          <p:cNvSpPr txBox="1"/>
          <p:nvPr/>
        </p:nvSpPr>
        <p:spPr>
          <a:xfrm>
            <a:off x="139148" y="1073465"/>
            <a:ext cx="7543800" cy="461665"/>
          </a:xfrm>
          <a:prstGeom prst="rect">
            <a:avLst/>
          </a:prstGeom>
          <a:noFill/>
        </p:spPr>
        <p:txBody>
          <a:bodyPr wrap="square" rtlCol="0">
            <a:spAutoFit/>
          </a:bodyPr>
          <a:lstStyle/>
          <a:p>
            <a:pPr algn="l"/>
            <a:r>
              <a:rPr lang="en-US" b="1" i="1">
                <a:solidFill>
                  <a:schemeClr val="accent4">
                    <a:lumMod val="90000"/>
                    <a:lumOff val="10000"/>
                  </a:schemeClr>
                </a:solidFill>
                <a:latin typeface="Times New Roman" panose="02020603050405020304" pitchFamily="18" charset="0"/>
                <a:cs typeface="Times New Roman" panose="02020603050405020304" pitchFamily="18" charset="0"/>
              </a:rPr>
              <a:t> Thư mục res (Resources)</a:t>
            </a:r>
          </a:p>
        </p:txBody>
      </p:sp>
      <p:sp>
        <p:nvSpPr>
          <p:cNvPr id="10" name="TextBox 9">
            <a:extLst>
              <a:ext uri="{FF2B5EF4-FFF2-40B4-BE49-F238E27FC236}">
                <a16:creationId xmlns:a16="http://schemas.microsoft.com/office/drawing/2014/main" id="{14FEEEE4-0B92-4863-B9B9-DE179D71DD64}"/>
              </a:ext>
            </a:extLst>
          </p:cNvPr>
          <p:cNvSpPr txBox="1"/>
          <p:nvPr/>
        </p:nvSpPr>
        <p:spPr>
          <a:xfrm>
            <a:off x="213277" y="1412457"/>
            <a:ext cx="8336446" cy="923330"/>
          </a:xfrm>
          <a:prstGeom prst="rect">
            <a:avLst/>
          </a:prstGeom>
          <a:noFill/>
        </p:spPr>
        <p:txBody>
          <a:bodyPr wrap="square" rtlCol="0">
            <a:spAutoFit/>
          </a:bodyPr>
          <a:lstStyle/>
          <a:p>
            <a:pPr algn="l">
              <a:buClr>
                <a:srgbClr val="FF0000"/>
              </a:buClr>
            </a:pP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Trong thư mục res có chứa nhiều thư mục khác</a:t>
            </a:r>
          </a:p>
          <a:p>
            <a:pPr algn="l">
              <a:buClr>
                <a:srgbClr val="FF0000"/>
              </a:buClr>
            </a:pP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Đây là thư mục quan trọng chứa tất cả các tài nguyên của ứng dụng (không phải code).</a:t>
            </a:r>
          </a:p>
          <a:p>
            <a:pPr algn="l">
              <a:buClr>
                <a:srgbClr val="FF0000"/>
              </a:buClr>
            </a:pPr>
            <a:r>
              <a:rPr lang="fr-FR" sz="1800">
                <a:solidFill>
                  <a:schemeClr val="accent4">
                    <a:lumMod val="90000"/>
                    <a:lumOff val="10000"/>
                  </a:schemeClr>
                </a:solidFill>
                <a:latin typeface="Times New Roman" panose="02020603050405020304" pitchFamily="18" charset="0"/>
                <a:cs typeface="Times New Roman" panose="02020603050405020304" pitchFamily="18" charset="0"/>
              </a:rPr>
              <a:t>Chẳng hạn như ảnh bitmap, UI strings, XML layouts </a:t>
            </a:r>
          </a:p>
        </p:txBody>
      </p:sp>
      <p:pic>
        <p:nvPicPr>
          <p:cNvPr id="7" name="Picture 6" descr="Graphical user interface, text, application&#10;&#10;Description automatically generated">
            <a:extLst>
              <a:ext uri="{FF2B5EF4-FFF2-40B4-BE49-F238E27FC236}">
                <a16:creationId xmlns:a16="http://schemas.microsoft.com/office/drawing/2014/main" id="{73C0B64D-F847-4BB2-99B8-0CB9B67A7D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335787"/>
            <a:ext cx="8458200" cy="3981008"/>
          </a:xfrm>
          <a:prstGeom prst="rect">
            <a:avLst/>
          </a:prstGeom>
        </p:spPr>
      </p:pic>
    </p:spTree>
    <p:extLst>
      <p:ext uri="{BB962C8B-B14F-4D97-AF65-F5344CB8AC3E}">
        <p14:creationId xmlns:p14="http://schemas.microsoft.com/office/powerpoint/2010/main" val="26667550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1.4.2 CẤU TRÚC PROJECT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39</a:t>
            </a:fld>
            <a:endParaRPr lang="en-US"/>
          </a:p>
        </p:txBody>
      </p:sp>
      <p:sp>
        <p:nvSpPr>
          <p:cNvPr id="6" name="TextBox 5">
            <a:extLst>
              <a:ext uri="{FF2B5EF4-FFF2-40B4-BE49-F238E27FC236}">
                <a16:creationId xmlns:a16="http://schemas.microsoft.com/office/drawing/2014/main" id="{B7934E57-7577-4BFB-A798-49248178C37A}"/>
              </a:ext>
            </a:extLst>
          </p:cNvPr>
          <p:cNvSpPr txBox="1"/>
          <p:nvPr/>
        </p:nvSpPr>
        <p:spPr>
          <a:xfrm>
            <a:off x="152400" y="1076238"/>
            <a:ext cx="7543800" cy="461665"/>
          </a:xfrm>
          <a:prstGeom prst="rect">
            <a:avLst/>
          </a:prstGeom>
          <a:noFill/>
        </p:spPr>
        <p:txBody>
          <a:bodyPr wrap="square" rtlCol="0">
            <a:spAutoFit/>
          </a:bodyPr>
          <a:lstStyle/>
          <a:p>
            <a:pPr algn="l"/>
            <a:r>
              <a:rPr lang="en-US" b="1" i="1">
                <a:solidFill>
                  <a:schemeClr val="accent4">
                    <a:lumMod val="90000"/>
                    <a:lumOff val="10000"/>
                  </a:schemeClr>
                </a:solidFill>
                <a:latin typeface="Times New Roman" panose="02020603050405020304" pitchFamily="18" charset="0"/>
                <a:cs typeface="Times New Roman" panose="02020603050405020304" pitchFamily="18" charset="0"/>
              </a:rPr>
              <a:t> Thư mục res (Resources)</a:t>
            </a:r>
          </a:p>
        </p:txBody>
      </p:sp>
      <p:sp>
        <p:nvSpPr>
          <p:cNvPr id="10" name="TextBox 9">
            <a:extLst>
              <a:ext uri="{FF2B5EF4-FFF2-40B4-BE49-F238E27FC236}">
                <a16:creationId xmlns:a16="http://schemas.microsoft.com/office/drawing/2014/main" id="{14FEEEE4-0B92-4863-B9B9-DE179D71DD64}"/>
              </a:ext>
            </a:extLst>
          </p:cNvPr>
          <p:cNvSpPr txBox="1"/>
          <p:nvPr/>
        </p:nvSpPr>
        <p:spPr>
          <a:xfrm>
            <a:off x="304800" y="1537903"/>
            <a:ext cx="8336446" cy="4653646"/>
          </a:xfrm>
          <a:prstGeom prst="rect">
            <a:avLst/>
          </a:prstGeom>
          <a:noFill/>
        </p:spPr>
        <p:txBody>
          <a:bodyPr wrap="square" rtlCol="0">
            <a:spAutoFit/>
          </a:bodyPr>
          <a:lstStyle/>
          <a:p>
            <a:pPr algn="l">
              <a:lnSpc>
                <a:spcPct val="150000"/>
              </a:lnSpc>
              <a:buClr>
                <a:srgbClr val="FF0000"/>
              </a:buClr>
            </a:pPr>
            <a:r>
              <a:rPr lang="fr-FR" sz="2000" b="1">
                <a:solidFill>
                  <a:schemeClr val="accent4">
                    <a:lumMod val="90000"/>
                    <a:lumOff val="10000"/>
                  </a:schemeClr>
                </a:solidFill>
                <a:latin typeface="Times New Roman" panose="02020603050405020304" pitchFamily="18" charset="0"/>
                <a:cs typeface="Times New Roman" panose="02020603050405020304" pitchFamily="18" charset="0"/>
              </a:rPr>
              <a:t>T</a:t>
            </a:r>
            <a:r>
              <a:rPr lang="vi-VN"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hư mục drawable (res/drawable)</a:t>
            </a:r>
          </a:p>
          <a:p>
            <a:pPr algn="l">
              <a:lnSpc>
                <a:spcPct val="150000"/>
              </a:lnSpc>
              <a:buClr>
                <a:srgbClr val="FF0000"/>
              </a:buClr>
            </a:pPr>
            <a:r>
              <a:rPr lang="vi-VN" sz="2000" b="0" i="0">
                <a:solidFill>
                  <a:schemeClr val="accent4">
                    <a:lumMod val="90000"/>
                    <a:lumOff val="10000"/>
                  </a:schemeClr>
                </a:solidFill>
                <a:effectLst/>
                <a:latin typeface="Times New Roman" panose="02020603050405020304" pitchFamily="18" charset="0"/>
                <a:cs typeface="Times New Roman" panose="02020603050405020304" pitchFamily="18" charset="0"/>
              </a:rPr>
              <a:t>Nó sẽ chứa các dạng ảnh khác nhau. Tốt nhất là nên thêm tất cả các hình ảnh vào thư mục drawable ngoại trừ các biểu tượng ứng dụng / laucher.</a:t>
            </a:r>
            <a:endParaRPr lang="en-US" sz="2000" b="0" i="0">
              <a:solidFill>
                <a:schemeClr val="accent4">
                  <a:lumMod val="90000"/>
                  <a:lumOff val="10000"/>
                </a:schemeClr>
              </a:solidFill>
              <a:effectLst/>
              <a:latin typeface="Times New Roman" panose="02020603050405020304" pitchFamily="18" charset="0"/>
              <a:cs typeface="Times New Roman" panose="02020603050405020304" pitchFamily="18" charset="0"/>
            </a:endParaRPr>
          </a:p>
          <a:p>
            <a:pPr algn="l">
              <a:lnSpc>
                <a:spcPct val="150000"/>
              </a:lnSpc>
              <a:buClr>
                <a:srgbClr val="FF0000"/>
              </a:buClr>
            </a:pPr>
            <a:r>
              <a:rPr lang="fr-FR" sz="2000" b="1">
                <a:solidFill>
                  <a:schemeClr val="accent4">
                    <a:lumMod val="90000"/>
                    <a:lumOff val="10000"/>
                  </a:schemeClr>
                </a:solidFill>
                <a:latin typeface="Times New Roman" panose="02020603050405020304" pitchFamily="18" charset="0"/>
                <a:cs typeface="Times New Roman" panose="02020603050405020304" pitchFamily="18" charset="0"/>
              </a:rPr>
              <a:t>T</a:t>
            </a:r>
            <a:r>
              <a:rPr lang="vi-VN"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hư mục </a:t>
            </a:r>
            <a:r>
              <a:rPr lang="en-US"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Mipmap</a:t>
            </a:r>
            <a:r>
              <a:rPr lang="vi-VN"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 (res/</a:t>
            </a:r>
            <a:r>
              <a:rPr lang="en-US"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mipmap</a:t>
            </a:r>
            <a:r>
              <a:rPr lang="vi-VN"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a:t>
            </a:r>
          </a:p>
          <a:p>
            <a:pPr algn="l">
              <a:lnSpc>
                <a:spcPct val="150000"/>
              </a:lnSpc>
              <a:buClr>
                <a:srgbClr val="FF0000"/>
              </a:buClr>
            </a:pPr>
            <a:r>
              <a:rPr lang="vi-VN" sz="2000" b="0" i="0">
                <a:solidFill>
                  <a:schemeClr val="accent4">
                    <a:lumMod val="90000"/>
                    <a:lumOff val="10000"/>
                  </a:schemeClr>
                </a:solidFill>
                <a:effectLst/>
                <a:latin typeface="Times New Roman" panose="02020603050405020304" pitchFamily="18" charset="0"/>
                <a:cs typeface="Times New Roman" panose="02020603050405020304" pitchFamily="18" charset="0"/>
              </a:rPr>
              <a:t>Thư mục này sẽ chứa các biểu tượng ứng dụng / laucher được sử dụng để hiển thị trên màn hình chính. Các loại biểu tượng sẽ có tỷ trọng khác nhau như hdpi, mdpi, xhdpi, xxhdpi, xxxhdpi, để sử dụng dựa trên kích thước của thiết bị.</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algn="l">
              <a:lnSpc>
                <a:spcPct val="150000"/>
              </a:lnSpc>
              <a:buClr>
                <a:srgbClr val="FF0000"/>
              </a:buClr>
            </a:pPr>
            <a:r>
              <a:rPr lang="fr-FR"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Thư mục values (res/values)</a:t>
            </a:r>
          </a:p>
          <a:p>
            <a:pPr algn="l">
              <a:lnSpc>
                <a:spcPct val="150000"/>
              </a:lnSpc>
              <a:buClr>
                <a:srgbClr val="FF0000"/>
              </a:buClr>
            </a:pPr>
            <a:r>
              <a:rPr lang="vi-VN" sz="2000" b="0" i="0">
                <a:solidFill>
                  <a:schemeClr val="accent4">
                    <a:lumMod val="90000"/>
                    <a:lumOff val="10000"/>
                  </a:schemeClr>
                </a:solidFill>
                <a:effectLst/>
                <a:latin typeface="Times New Roman" panose="02020603050405020304" pitchFamily="18" charset="0"/>
                <a:cs typeface="Times New Roman" panose="02020603050405020304" pitchFamily="18" charset="0"/>
              </a:rPr>
              <a:t>Thư mục này sẽ chứa một số file XML khác nhau, chẳng hạn như strings, colors, styles </a:t>
            </a:r>
            <a:endParaRPr lang="fr-FR"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249392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1.4.2 CẤU TRÚC PROJECT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40</a:t>
            </a:fld>
            <a:endParaRPr lang="en-US"/>
          </a:p>
        </p:txBody>
      </p:sp>
      <p:sp>
        <p:nvSpPr>
          <p:cNvPr id="6" name="TextBox 5">
            <a:extLst>
              <a:ext uri="{FF2B5EF4-FFF2-40B4-BE49-F238E27FC236}">
                <a16:creationId xmlns:a16="http://schemas.microsoft.com/office/drawing/2014/main" id="{B7934E57-7577-4BFB-A798-49248178C37A}"/>
              </a:ext>
            </a:extLst>
          </p:cNvPr>
          <p:cNvSpPr txBox="1"/>
          <p:nvPr/>
        </p:nvSpPr>
        <p:spPr>
          <a:xfrm>
            <a:off x="152400" y="1076238"/>
            <a:ext cx="7543800" cy="461665"/>
          </a:xfrm>
          <a:prstGeom prst="rect">
            <a:avLst/>
          </a:prstGeom>
          <a:noFill/>
        </p:spPr>
        <p:txBody>
          <a:bodyPr wrap="square" rtlCol="0">
            <a:spAutoFit/>
          </a:bodyPr>
          <a:lstStyle/>
          <a:p>
            <a:pPr algn="l"/>
            <a:r>
              <a:rPr lang="en-US" b="1" i="1">
                <a:solidFill>
                  <a:schemeClr val="accent4">
                    <a:lumMod val="90000"/>
                    <a:lumOff val="10000"/>
                  </a:schemeClr>
                </a:solidFill>
                <a:latin typeface="Times New Roman" panose="02020603050405020304" pitchFamily="18" charset="0"/>
                <a:cs typeface="Times New Roman" panose="02020603050405020304" pitchFamily="18" charset="0"/>
              </a:rPr>
              <a:t> Thư mục res (Resources)</a:t>
            </a:r>
          </a:p>
        </p:txBody>
      </p:sp>
      <p:sp>
        <p:nvSpPr>
          <p:cNvPr id="10" name="TextBox 9">
            <a:extLst>
              <a:ext uri="{FF2B5EF4-FFF2-40B4-BE49-F238E27FC236}">
                <a16:creationId xmlns:a16="http://schemas.microsoft.com/office/drawing/2014/main" id="{14FEEEE4-0B92-4863-B9B9-DE179D71DD64}"/>
              </a:ext>
            </a:extLst>
          </p:cNvPr>
          <p:cNvSpPr txBox="1"/>
          <p:nvPr/>
        </p:nvSpPr>
        <p:spPr>
          <a:xfrm>
            <a:off x="271669" y="1435652"/>
            <a:ext cx="8336446" cy="960328"/>
          </a:xfrm>
          <a:prstGeom prst="rect">
            <a:avLst/>
          </a:prstGeom>
          <a:noFill/>
        </p:spPr>
        <p:txBody>
          <a:bodyPr wrap="square" rtlCol="0">
            <a:spAutoFit/>
          </a:bodyPr>
          <a:lstStyle/>
          <a:p>
            <a:pPr algn="l">
              <a:lnSpc>
                <a:spcPct val="150000"/>
              </a:lnSpc>
              <a:buClr>
                <a:srgbClr val="FF0000"/>
              </a:buClr>
            </a:pPr>
            <a:r>
              <a:rPr lang="fr-FR" sz="2000" b="1">
                <a:solidFill>
                  <a:schemeClr val="accent4">
                    <a:lumMod val="90000"/>
                    <a:lumOff val="10000"/>
                  </a:schemeClr>
                </a:solidFill>
                <a:latin typeface="Times New Roman" panose="02020603050405020304" pitchFamily="18" charset="0"/>
                <a:cs typeface="Times New Roman" panose="02020603050405020304" pitchFamily="18" charset="0"/>
              </a:rPr>
              <a:t>T</a:t>
            </a:r>
            <a:r>
              <a:rPr lang="vi-VN"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hư mục </a:t>
            </a:r>
            <a:r>
              <a:rPr lang="en-US"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layout </a:t>
            </a:r>
            <a:r>
              <a:rPr lang="vi-VN"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(res/</a:t>
            </a:r>
            <a:r>
              <a:rPr lang="en-US"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layout</a:t>
            </a:r>
            <a:r>
              <a:rPr lang="vi-VN" sz="2000" b="1" i="0">
                <a:solidFill>
                  <a:schemeClr val="accent4">
                    <a:lumMod val="90000"/>
                    <a:lumOff val="10000"/>
                  </a:schemeClr>
                </a:solidFill>
                <a:effectLst/>
                <a:latin typeface="Times New Roman" panose="02020603050405020304" pitchFamily="18" charset="0"/>
                <a:cs typeface="Times New Roman" panose="02020603050405020304" pitchFamily="18" charset="0"/>
              </a:rPr>
              <a:t>)</a:t>
            </a:r>
          </a:p>
          <a:p>
            <a:pPr algn="l">
              <a:lnSpc>
                <a:spcPct val="150000"/>
              </a:lnSpc>
              <a:buClr>
                <a:srgbClr val="FF0000"/>
              </a:buCl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Thư mục chứa tất cả các file (.xml) giao diện của hệ thống </a:t>
            </a:r>
          </a:p>
        </p:txBody>
      </p:sp>
      <p:pic>
        <p:nvPicPr>
          <p:cNvPr id="5" name="Picture 4" descr="Graphical user interface, application&#10;&#10;Description automatically generated">
            <a:extLst>
              <a:ext uri="{FF2B5EF4-FFF2-40B4-BE49-F238E27FC236}">
                <a16:creationId xmlns:a16="http://schemas.microsoft.com/office/drawing/2014/main" id="{ABAFA41E-D88F-4DBF-B7C9-B2BA8E7ED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860" y="2438399"/>
            <a:ext cx="7401339" cy="4048247"/>
          </a:xfrm>
          <a:prstGeom prst="rect">
            <a:avLst/>
          </a:prstGeom>
        </p:spPr>
      </p:pic>
    </p:spTree>
    <p:extLst>
      <p:ext uri="{BB962C8B-B14F-4D97-AF65-F5344CB8AC3E}">
        <p14:creationId xmlns:p14="http://schemas.microsoft.com/office/powerpoint/2010/main" val="256970331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1.4.2 CẤU TRÚC PROJECT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41</a:t>
            </a:fld>
            <a:endParaRPr lang="en-US"/>
          </a:p>
        </p:txBody>
      </p:sp>
      <p:sp>
        <p:nvSpPr>
          <p:cNvPr id="6" name="TextBox 5">
            <a:extLst>
              <a:ext uri="{FF2B5EF4-FFF2-40B4-BE49-F238E27FC236}">
                <a16:creationId xmlns:a16="http://schemas.microsoft.com/office/drawing/2014/main" id="{B7934E57-7577-4BFB-A798-49248178C37A}"/>
              </a:ext>
            </a:extLst>
          </p:cNvPr>
          <p:cNvSpPr txBox="1"/>
          <p:nvPr/>
        </p:nvSpPr>
        <p:spPr>
          <a:xfrm>
            <a:off x="152400" y="1066800"/>
            <a:ext cx="7543800" cy="461665"/>
          </a:xfrm>
          <a:prstGeom prst="rect">
            <a:avLst/>
          </a:prstGeom>
          <a:noFill/>
        </p:spPr>
        <p:txBody>
          <a:bodyPr wrap="square" rtlCol="0">
            <a:spAutoFit/>
          </a:bodyPr>
          <a:lstStyle/>
          <a:p>
            <a:pPr algn="l"/>
            <a:r>
              <a:rPr lang="en-US" b="1" i="1">
                <a:solidFill>
                  <a:schemeClr val="accent4">
                    <a:lumMod val="90000"/>
                    <a:lumOff val="10000"/>
                  </a:schemeClr>
                </a:solidFill>
                <a:latin typeface="Times New Roman" panose="02020603050405020304" pitchFamily="18" charset="0"/>
                <a:cs typeface="Times New Roman" panose="02020603050405020304" pitchFamily="18" charset="0"/>
              </a:rPr>
              <a:t> Thư mục Manifests</a:t>
            </a:r>
            <a:endParaRPr lang="vi-VN" b="1" i="0">
              <a:solidFill>
                <a:schemeClr val="accent4">
                  <a:lumMod val="90000"/>
                  <a:lumOff val="10000"/>
                </a:schemeClr>
              </a:solidFill>
              <a:effectLst/>
              <a:latin typeface="Helvetica Neue"/>
            </a:endParaRPr>
          </a:p>
        </p:txBody>
      </p:sp>
      <p:sp>
        <p:nvSpPr>
          <p:cNvPr id="10" name="TextBox 9">
            <a:extLst>
              <a:ext uri="{FF2B5EF4-FFF2-40B4-BE49-F238E27FC236}">
                <a16:creationId xmlns:a16="http://schemas.microsoft.com/office/drawing/2014/main" id="{14FEEEE4-0B92-4863-B9B9-DE179D71DD64}"/>
              </a:ext>
            </a:extLst>
          </p:cNvPr>
          <p:cNvSpPr txBox="1"/>
          <p:nvPr/>
        </p:nvSpPr>
        <p:spPr>
          <a:xfrm>
            <a:off x="304800" y="1537903"/>
            <a:ext cx="8336446" cy="1631216"/>
          </a:xfrm>
          <a:prstGeom prst="rect">
            <a:avLst/>
          </a:prstGeom>
          <a:noFill/>
        </p:spPr>
        <p:txBody>
          <a:bodyPr wrap="square" rtlCol="0">
            <a:spAutoFit/>
          </a:bodyPr>
          <a:lstStyle/>
          <a:p>
            <a:pPr algn="l">
              <a:buClr>
                <a:srgbClr val="FF0000"/>
              </a:buClr>
            </a:pPr>
            <a:r>
              <a:rPr lang="vi-VN" sz="2000" b="0" i="0">
                <a:solidFill>
                  <a:schemeClr val="accent4">
                    <a:lumMod val="90000"/>
                    <a:lumOff val="10000"/>
                  </a:schemeClr>
                </a:solidFill>
                <a:effectLst/>
                <a:latin typeface="Times New Roman" panose="02020603050405020304" pitchFamily="18" charset="0"/>
                <a:cs typeface="Times New Roman" panose="02020603050405020304" pitchFamily="18" charset="0"/>
              </a:rPr>
              <a:t>Thư mục này sẽ chứa một file Manifest ( AndroidManifest.xml ) cho ứng dụng Android . File manifest này sẽ chứa thông tin về ứng dụng , chẳng hạn như android version, access permissions, metadata, v.v. và các component của ứng dụng. File manifest sẽ hoạt động như một trung gian giữa hệ điều hành Android và ứng dụng .</a:t>
            </a:r>
            <a:endParaRPr lang="fr-FR"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Graphical user interface, text, application&#10;&#10;Description automatically generated">
            <a:extLst>
              <a:ext uri="{FF2B5EF4-FFF2-40B4-BE49-F238E27FC236}">
                <a16:creationId xmlns:a16="http://schemas.microsoft.com/office/drawing/2014/main" id="{BB3920EB-514C-43FA-B3D3-7DC2EBC72B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131589"/>
            <a:ext cx="7086600" cy="3337683"/>
          </a:xfrm>
          <a:prstGeom prst="rect">
            <a:avLst/>
          </a:prstGeom>
        </p:spPr>
      </p:pic>
    </p:spTree>
    <p:extLst>
      <p:ext uri="{BB962C8B-B14F-4D97-AF65-F5344CB8AC3E}">
        <p14:creationId xmlns:p14="http://schemas.microsoft.com/office/powerpoint/2010/main" val="413898127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1.5 SỬ DỤNG MÁY ẢO TRONG LTDĐ</a:t>
            </a:r>
            <a:endParaRPr lang="vi-VN" sz="3600" b="1" kern="0">
              <a:solidFill>
                <a:schemeClr val="bg1"/>
              </a:solidFill>
            </a:endParaRPr>
          </a:p>
        </p:txBody>
      </p:sp>
    </p:spTree>
    <p:extLst>
      <p:ext uri="{BB962C8B-B14F-4D97-AF65-F5344CB8AC3E}">
        <p14:creationId xmlns:p14="http://schemas.microsoft.com/office/powerpoint/2010/main" val="298241727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1.5.1 MÁY ẢO ANDROID – AVD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43</a:t>
            </a:fld>
            <a:endParaRPr lang="en-US"/>
          </a:p>
        </p:txBody>
      </p:sp>
      <p:sp>
        <p:nvSpPr>
          <p:cNvPr id="10" name="TextBox 9">
            <a:extLst>
              <a:ext uri="{FF2B5EF4-FFF2-40B4-BE49-F238E27FC236}">
                <a16:creationId xmlns:a16="http://schemas.microsoft.com/office/drawing/2014/main" id="{14FEEEE4-0B92-4863-B9B9-DE179D71DD64}"/>
              </a:ext>
            </a:extLst>
          </p:cNvPr>
          <p:cNvSpPr txBox="1"/>
          <p:nvPr/>
        </p:nvSpPr>
        <p:spPr>
          <a:xfrm>
            <a:off x="192156" y="1143000"/>
            <a:ext cx="7580244" cy="4191981"/>
          </a:xfrm>
          <a:prstGeom prst="rect">
            <a:avLst/>
          </a:prstGeom>
          <a:noFill/>
        </p:spPr>
        <p:txBody>
          <a:bodyPr wrap="square" rtlCol="0">
            <a:spAutoFit/>
          </a:bodyPr>
          <a:lstStyle/>
          <a:p>
            <a:pPr algn="l">
              <a:lnSpc>
                <a:spcPct val="150000"/>
              </a:lnSpc>
              <a:buClr>
                <a:srgbClr val="FF0000"/>
              </a:buClr>
            </a:pPr>
            <a:r>
              <a:rPr lang="en-US" sz="2000" b="1">
                <a:solidFill>
                  <a:schemeClr val="accent4">
                    <a:lumMod val="90000"/>
                    <a:lumOff val="10000"/>
                  </a:schemeClr>
                </a:solidFill>
                <a:latin typeface="Times New Roman" panose="02020603050405020304" pitchFamily="18" charset="0"/>
                <a:cs typeface="Times New Roman" panose="02020603050405020304" pitchFamily="18" charset="0"/>
              </a:rPr>
              <a:t>AVD (android virtual device)</a:t>
            </a:r>
            <a:r>
              <a:rPr lang="vi-VN" sz="2000" b="0" i="0">
                <a:solidFill>
                  <a:schemeClr val="accent4">
                    <a:lumMod val="90000"/>
                    <a:lumOff val="10000"/>
                  </a:schemeClr>
                </a:solidFill>
                <a:effectLst/>
                <a:latin typeface="Times New Roman" panose="02020603050405020304" pitchFamily="18" charset="0"/>
                <a:cs typeface="Times New Roman" panose="02020603050405020304" pitchFamily="18" charset="0"/>
              </a:rPr>
              <a:t> là một máy ảo Android được hỗ trợ chính thức từ Google. </a:t>
            </a:r>
            <a:endParaRPr lang="en-US" sz="2000" b="0" i="0">
              <a:solidFill>
                <a:schemeClr val="accent4">
                  <a:lumMod val="90000"/>
                  <a:lumOff val="10000"/>
                </a:schemeClr>
              </a:solidFill>
              <a:effectLst/>
              <a:latin typeface="Times New Roman" panose="02020603050405020304" pitchFamily="18" charset="0"/>
              <a:cs typeface="Times New Roman" panose="02020603050405020304" pitchFamily="18" charset="0"/>
            </a:endParaRPr>
          </a:p>
          <a:p>
            <a:pPr algn="l">
              <a:lnSpc>
                <a:spcPct val="150000"/>
              </a:lnSpc>
              <a:buClr>
                <a:srgbClr val="FF0000"/>
              </a:buClr>
            </a:pPr>
            <a:r>
              <a:rPr lang="vi-VN" sz="2000" b="0" i="0">
                <a:solidFill>
                  <a:schemeClr val="accent4">
                    <a:lumMod val="90000"/>
                    <a:lumOff val="10000"/>
                  </a:schemeClr>
                </a:solidFill>
                <a:effectLst/>
                <a:latin typeface="Times New Roman" panose="02020603050405020304" pitchFamily="18" charset="0"/>
                <a:cs typeface="Times New Roman" panose="02020603050405020304" pitchFamily="18" charset="0"/>
              </a:rPr>
              <a:t>Vì là bản </a:t>
            </a:r>
            <a:r>
              <a:rPr lang="vi-VN" sz="2000" b="0" i="1">
                <a:solidFill>
                  <a:schemeClr val="accent4">
                    <a:lumMod val="90000"/>
                    <a:lumOff val="10000"/>
                  </a:schemeClr>
                </a:solidFill>
                <a:effectLst/>
                <a:latin typeface="Times New Roman" panose="02020603050405020304" pitchFamily="18" charset="0"/>
                <a:cs typeface="Times New Roman" panose="02020603050405020304" pitchFamily="18" charset="0"/>
              </a:rPr>
              <a:t>“chính chủ”</a:t>
            </a:r>
            <a:r>
              <a:rPr lang="vi-VN" sz="2000" b="0" i="0">
                <a:solidFill>
                  <a:schemeClr val="accent4">
                    <a:lumMod val="90000"/>
                    <a:lumOff val="10000"/>
                  </a:schemeClr>
                </a:solidFill>
                <a:effectLst/>
                <a:latin typeface="Times New Roman" panose="02020603050405020304" pitchFamily="18" charset="0"/>
                <a:cs typeface="Times New Roman" panose="02020603050405020304" pitchFamily="18" charset="0"/>
              </a:rPr>
              <a:t> nên máy ảo này sẽ có tính ổn định cao. Chẳng hạn như nó sẽ tiêu tốn bộ nhớ của máy tính ít hơn các máy ảo khác, nó còn hỗ trợ giả lập tất cả các loại thiết bị, từ điện thoại, máy tính bảng, thiết bị đeo được, và kể cả Android TV nữa đấy. Nhược điểm của máy ảo này là khá ít, khi mà mới đây mình đã thấy AVD có hỗ trợ ứng dụng Google Play, giúp bạn có thể install các ứng dụng có trên store về để mà vọc thoải mái.</a:t>
            </a:r>
            <a:endParaRPr lang="fr-FR"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170304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1.5.2 CÀI ĐẶT MÁY ẢO ANDROID – AVD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44</a:t>
            </a:fld>
            <a:endParaRPr lang="en-US"/>
          </a:p>
        </p:txBody>
      </p:sp>
      <p:sp>
        <p:nvSpPr>
          <p:cNvPr id="10" name="TextBox 9">
            <a:extLst>
              <a:ext uri="{FF2B5EF4-FFF2-40B4-BE49-F238E27FC236}">
                <a16:creationId xmlns:a16="http://schemas.microsoft.com/office/drawing/2014/main" id="{14FEEEE4-0B92-4863-B9B9-DE179D71DD64}"/>
              </a:ext>
            </a:extLst>
          </p:cNvPr>
          <p:cNvSpPr txBox="1"/>
          <p:nvPr/>
        </p:nvSpPr>
        <p:spPr>
          <a:xfrm>
            <a:off x="304800" y="1148055"/>
            <a:ext cx="8336446" cy="707886"/>
          </a:xfrm>
          <a:prstGeom prst="rect">
            <a:avLst/>
          </a:prstGeom>
          <a:noFill/>
        </p:spPr>
        <p:txBody>
          <a:bodyPr wrap="square" rtlCol="0">
            <a:spAutoFit/>
          </a:bodyPr>
          <a:lstStyle/>
          <a:p>
            <a:pPr algn="l">
              <a:buClr>
                <a:srgbClr val="FF0000"/>
              </a:buCl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Mở Android Studio, khởi động AVD bằng cách Tool &gt; Device Manager</a:t>
            </a:r>
          </a:p>
          <a:p>
            <a:pPr algn="l">
              <a:buClr>
                <a:srgbClr val="FF0000"/>
              </a:buClr>
            </a:pPr>
            <a:r>
              <a:rPr lang="vi-VN" sz="2000" b="0">
                <a:solidFill>
                  <a:schemeClr val="accent4">
                    <a:lumMod val="90000"/>
                    <a:lumOff val="10000"/>
                  </a:schemeClr>
                </a:solidFill>
                <a:effectLst/>
                <a:latin typeface="Times New Roman" panose="02020603050405020304" pitchFamily="18" charset="0"/>
                <a:cs typeface="Times New Roman" panose="02020603050405020304" pitchFamily="18" charset="0"/>
              </a:rPr>
              <a:t>Cửa sổ Quản Lý AVD – Android Virtual Device Manager sẽ xuất hiện như sau.</a:t>
            </a:r>
            <a:endParaRPr lang="fr-FR"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7" name="Picture 6" descr="Graphical user interface, text, application&#10;&#10;Description automatically generated">
            <a:extLst>
              <a:ext uri="{FF2B5EF4-FFF2-40B4-BE49-F238E27FC236}">
                <a16:creationId xmlns:a16="http://schemas.microsoft.com/office/drawing/2014/main" id="{98D031C4-C0FF-452C-B6E8-BC1695104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427" y="1879132"/>
            <a:ext cx="5715146" cy="4199892"/>
          </a:xfrm>
          <a:prstGeom prst="rect">
            <a:avLst/>
          </a:prstGeom>
        </p:spPr>
      </p:pic>
    </p:spTree>
    <p:extLst>
      <p:ext uri="{BB962C8B-B14F-4D97-AF65-F5344CB8AC3E}">
        <p14:creationId xmlns:p14="http://schemas.microsoft.com/office/powerpoint/2010/main" val="257998455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1.5.2 CÀI ĐẶT MÁY ẢO ANDROID – AVD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45</a:t>
            </a:fld>
            <a:endParaRPr lang="en-US"/>
          </a:p>
        </p:txBody>
      </p:sp>
      <p:sp>
        <p:nvSpPr>
          <p:cNvPr id="10" name="TextBox 9">
            <a:extLst>
              <a:ext uri="{FF2B5EF4-FFF2-40B4-BE49-F238E27FC236}">
                <a16:creationId xmlns:a16="http://schemas.microsoft.com/office/drawing/2014/main" id="{14FEEEE4-0B92-4863-B9B9-DE179D71DD64}"/>
              </a:ext>
            </a:extLst>
          </p:cNvPr>
          <p:cNvSpPr txBox="1"/>
          <p:nvPr/>
        </p:nvSpPr>
        <p:spPr>
          <a:xfrm>
            <a:off x="33130" y="1064576"/>
            <a:ext cx="8336446" cy="400110"/>
          </a:xfrm>
          <a:prstGeom prst="rect">
            <a:avLst/>
          </a:prstGeom>
          <a:noFill/>
        </p:spPr>
        <p:txBody>
          <a:bodyPr wrap="square" rtlCol="0">
            <a:spAutoFit/>
          </a:bodyPr>
          <a:lstStyle/>
          <a:p>
            <a:pPr algn="l">
              <a:buClr>
                <a:srgbClr val="FF0000"/>
              </a:buCl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Chọn “Create Manager”</a:t>
            </a:r>
            <a:endParaRPr lang="fr-FR"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Graphical user interface&#10;&#10;Description automatically generated">
            <a:extLst>
              <a:ext uri="{FF2B5EF4-FFF2-40B4-BE49-F238E27FC236}">
                <a16:creationId xmlns:a16="http://schemas.microsoft.com/office/drawing/2014/main" id="{5137EDD5-3827-4638-986C-814D4CC66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471382"/>
            <a:ext cx="6172200" cy="4875144"/>
          </a:xfrm>
          <a:prstGeom prst="rect">
            <a:avLst/>
          </a:prstGeom>
        </p:spPr>
      </p:pic>
      <p:sp>
        <p:nvSpPr>
          <p:cNvPr id="11" name="TextBox 10">
            <a:extLst>
              <a:ext uri="{FF2B5EF4-FFF2-40B4-BE49-F238E27FC236}">
                <a16:creationId xmlns:a16="http://schemas.microsoft.com/office/drawing/2014/main" id="{C52C2B8A-A689-4E75-B165-14EFC0422603}"/>
              </a:ext>
            </a:extLst>
          </p:cNvPr>
          <p:cNvSpPr txBox="1"/>
          <p:nvPr/>
        </p:nvSpPr>
        <p:spPr>
          <a:xfrm>
            <a:off x="6447183" y="1351299"/>
            <a:ext cx="2362200" cy="5115311"/>
          </a:xfrm>
          <a:prstGeom prst="rect">
            <a:avLst/>
          </a:prstGeom>
          <a:noFill/>
        </p:spPr>
        <p:txBody>
          <a:bodyPr wrap="square" rtlCol="0">
            <a:spAutoFit/>
          </a:bodyPr>
          <a:lstStyle/>
          <a:p>
            <a:pPr algn="l">
              <a:lnSpc>
                <a:spcPct val="150000"/>
              </a:lnSpc>
              <a:buClr>
                <a:srgbClr val="FF0000"/>
              </a:buCl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Lựa chọn máy ảo có thông số phù hợp với dự án</a:t>
            </a:r>
          </a:p>
          <a:p>
            <a:pPr algn="l">
              <a:lnSpc>
                <a:spcPct val="150000"/>
              </a:lnSpc>
              <a:buClr>
                <a:srgbClr val="FF0000"/>
              </a:buClr>
            </a:pPr>
            <a:r>
              <a:rPr lang="en-US" sz="2000" b="1">
                <a:solidFill>
                  <a:schemeClr val="accent4">
                    <a:lumMod val="90000"/>
                    <a:lumOff val="10000"/>
                  </a:schemeClr>
                </a:solidFill>
                <a:latin typeface="Times New Roman" panose="02020603050405020304" pitchFamily="18" charset="0"/>
                <a:cs typeface="Times New Roman" panose="02020603050405020304" pitchFamily="18" charset="0"/>
              </a:rPr>
              <a:t>Các thông số cần chú ý:</a:t>
            </a: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 </a:t>
            </a:r>
          </a:p>
          <a:p>
            <a:pPr algn="l">
              <a:lnSpc>
                <a:spcPct val="150000"/>
              </a:lnSpc>
              <a:buClr>
                <a:srgbClr val="FF0000"/>
              </a:buCl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a:t>
            </a:r>
            <a:r>
              <a:rPr lang="en-US" sz="1800">
                <a:solidFill>
                  <a:schemeClr val="accent4">
                    <a:lumMod val="90000"/>
                    <a:lumOff val="10000"/>
                  </a:schemeClr>
                </a:solidFill>
                <a:latin typeface="Times New Roman" panose="02020603050405020304" pitchFamily="18" charset="0"/>
                <a:cs typeface="Times New Roman" panose="02020603050405020304" pitchFamily="18" charset="0"/>
              </a:rPr>
              <a:t>Hỗ trợ Google Play</a:t>
            </a:r>
          </a:p>
          <a:p>
            <a:pPr algn="l">
              <a:lnSpc>
                <a:spcPct val="150000"/>
              </a:lnSpc>
              <a:buClr>
                <a:srgbClr val="FF0000"/>
              </a:buClr>
            </a:pPr>
            <a:r>
              <a:rPr lang="en-US" sz="1800">
                <a:solidFill>
                  <a:schemeClr val="accent4">
                    <a:lumMod val="90000"/>
                    <a:lumOff val="10000"/>
                  </a:schemeClr>
                </a:solidFill>
                <a:latin typeface="Times New Roman" panose="02020603050405020304" pitchFamily="18" charset="0"/>
                <a:cs typeface="Times New Roman" panose="02020603050405020304" pitchFamily="18" charset="0"/>
              </a:rPr>
              <a:t>+Kích cỡ màn hình</a:t>
            </a:r>
          </a:p>
          <a:p>
            <a:pPr algn="l">
              <a:lnSpc>
                <a:spcPct val="150000"/>
              </a:lnSpc>
              <a:buClr>
                <a:srgbClr val="FF0000"/>
              </a:buClr>
            </a:pPr>
            <a:r>
              <a:rPr lang="en-US" sz="1800">
                <a:solidFill>
                  <a:schemeClr val="accent4">
                    <a:lumMod val="90000"/>
                    <a:lumOff val="10000"/>
                  </a:schemeClr>
                </a:solidFill>
                <a:latin typeface="Times New Roman" panose="02020603050405020304" pitchFamily="18" charset="0"/>
                <a:cs typeface="Times New Roman" panose="02020603050405020304" pitchFamily="18" charset="0"/>
              </a:rPr>
              <a:t>+ Độ phân giải</a:t>
            </a:r>
          </a:p>
          <a:p>
            <a:pPr algn="l">
              <a:lnSpc>
                <a:spcPct val="150000"/>
              </a:lnSpc>
              <a:buClr>
                <a:srgbClr val="FF0000"/>
              </a:buClr>
            </a:pPr>
            <a:r>
              <a:rPr lang="en-US" sz="1800">
                <a:solidFill>
                  <a:schemeClr val="accent4">
                    <a:lumMod val="90000"/>
                    <a:lumOff val="10000"/>
                  </a:schemeClr>
                </a:solidFill>
                <a:latin typeface="Times New Roman" panose="02020603050405020304" pitchFamily="18" charset="0"/>
                <a:cs typeface="Times New Roman" panose="02020603050405020304" pitchFamily="18" charset="0"/>
              </a:rPr>
              <a:t>+ Mật độ điểm ảnh màn hình</a:t>
            </a:r>
          </a:p>
          <a:p>
            <a:pPr algn="l">
              <a:lnSpc>
                <a:spcPct val="150000"/>
              </a:lnSpc>
              <a:buClr>
                <a:srgbClr val="FF0000"/>
              </a:buCl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Sau đó nhấn “Next” </a:t>
            </a:r>
            <a:endParaRPr lang="fr-FR"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33749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1.5.2 CÀI ĐẶT MÁY ẢO ANDROID – AVD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46</a:t>
            </a:fld>
            <a:endParaRPr lang="en-US"/>
          </a:p>
        </p:txBody>
      </p:sp>
      <p:sp>
        <p:nvSpPr>
          <p:cNvPr id="10" name="TextBox 9">
            <a:extLst>
              <a:ext uri="{FF2B5EF4-FFF2-40B4-BE49-F238E27FC236}">
                <a16:creationId xmlns:a16="http://schemas.microsoft.com/office/drawing/2014/main" id="{14FEEEE4-0B92-4863-B9B9-DE179D71DD64}"/>
              </a:ext>
            </a:extLst>
          </p:cNvPr>
          <p:cNvSpPr txBox="1"/>
          <p:nvPr/>
        </p:nvSpPr>
        <p:spPr>
          <a:xfrm>
            <a:off x="334617" y="1126076"/>
            <a:ext cx="8336446" cy="400110"/>
          </a:xfrm>
          <a:prstGeom prst="rect">
            <a:avLst/>
          </a:prstGeom>
          <a:noFill/>
        </p:spPr>
        <p:txBody>
          <a:bodyPr wrap="square" rtlCol="0">
            <a:spAutoFit/>
          </a:bodyPr>
          <a:lstStyle/>
          <a:p>
            <a:pPr algn="l">
              <a:buClr>
                <a:srgbClr val="FF0000"/>
              </a:buCl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Chọn “Download” để tải máy ảo về</a:t>
            </a:r>
            <a:endParaRPr lang="fr-FR"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9" name="Picture 8" descr="Graphical user interface, application&#10;&#10;Description automatically generated">
            <a:extLst>
              <a:ext uri="{FF2B5EF4-FFF2-40B4-BE49-F238E27FC236}">
                <a16:creationId xmlns:a16="http://schemas.microsoft.com/office/drawing/2014/main" id="{577D6F3D-14EE-49D0-A28B-F19F130CE6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590837"/>
            <a:ext cx="5852334" cy="4671391"/>
          </a:xfrm>
          <a:prstGeom prst="rect">
            <a:avLst/>
          </a:prstGeom>
        </p:spPr>
      </p:pic>
    </p:spTree>
    <p:extLst>
      <p:ext uri="{BB962C8B-B14F-4D97-AF65-F5344CB8AC3E}">
        <p14:creationId xmlns:p14="http://schemas.microsoft.com/office/powerpoint/2010/main" val="383307913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1.5.2 CÀI ĐẶT MÁY ẢO ANDROID – AVD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47</a:t>
            </a:fld>
            <a:endParaRPr lang="en-US"/>
          </a:p>
        </p:txBody>
      </p:sp>
      <p:sp>
        <p:nvSpPr>
          <p:cNvPr id="10" name="TextBox 9">
            <a:extLst>
              <a:ext uri="{FF2B5EF4-FFF2-40B4-BE49-F238E27FC236}">
                <a16:creationId xmlns:a16="http://schemas.microsoft.com/office/drawing/2014/main" id="{14FEEEE4-0B92-4863-B9B9-DE179D71DD64}"/>
              </a:ext>
            </a:extLst>
          </p:cNvPr>
          <p:cNvSpPr txBox="1"/>
          <p:nvPr/>
        </p:nvSpPr>
        <p:spPr>
          <a:xfrm>
            <a:off x="334617" y="1126076"/>
            <a:ext cx="8336446" cy="400110"/>
          </a:xfrm>
          <a:prstGeom prst="rect">
            <a:avLst/>
          </a:prstGeom>
          <a:noFill/>
        </p:spPr>
        <p:txBody>
          <a:bodyPr wrap="square" rtlCol="0">
            <a:spAutoFit/>
          </a:bodyPr>
          <a:lstStyle/>
          <a:p>
            <a:pPr algn="l">
              <a:buClr>
                <a:srgbClr val="FF0000"/>
              </a:buCl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Chờ cho tới khi máy ảo được tải về. Khi máy ảo tải xong ta nhấn “Next”</a:t>
            </a:r>
            <a:endParaRPr lang="fr-FR"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7" name="Picture 6" descr="Text&#10;&#10;Description automatically generated">
            <a:extLst>
              <a:ext uri="{FF2B5EF4-FFF2-40B4-BE49-F238E27FC236}">
                <a16:creationId xmlns:a16="http://schemas.microsoft.com/office/drawing/2014/main" id="{DF56A867-F300-4E50-B4D2-A27310A40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556003"/>
            <a:ext cx="6096000" cy="4839648"/>
          </a:xfrm>
          <a:prstGeom prst="rect">
            <a:avLst/>
          </a:prstGeom>
        </p:spPr>
      </p:pic>
    </p:spTree>
    <p:extLst>
      <p:ext uri="{BB962C8B-B14F-4D97-AF65-F5344CB8AC3E}">
        <p14:creationId xmlns:p14="http://schemas.microsoft.com/office/powerpoint/2010/main" val="207605377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7391400" cy="563563"/>
          </a:xfrm>
        </p:spPr>
        <p:txBody>
          <a:bodyPr vert="horz" wrap="square" lIns="91440" tIns="45720" rIns="91440" bIns="45720" numCol="1" anchor="ctr" anchorCtr="0" compatLnSpc="1">
            <a:prstTxWarp prst="textNoShape">
              <a:avLst/>
            </a:prstTxWarp>
            <a:normAutofit fontScale="90000"/>
          </a:bodyPr>
          <a:lstStyle/>
          <a:p>
            <a:pPr>
              <a:lnSpc>
                <a:spcPct val="90000"/>
              </a:lnSpc>
            </a:pPr>
            <a:r>
              <a:rPr lang="en-US" sz="2800" b="1"/>
              <a:t>1.5.2 CÀI ĐẶT MÁY ẢO ANDROID – AVD</a:t>
            </a:r>
            <a:endParaRPr lang="en-US" sz="2500" b="1">
              <a:latin typeface="+mj-lt"/>
              <a:ea typeface="+mj-ea"/>
              <a:cs typeface="+mj-cs"/>
            </a:endParaRPr>
          </a:p>
        </p:txBody>
      </p:sp>
      <p:sp>
        <p:nvSpPr>
          <p:cNvPr id="10" name="TextBox 9">
            <a:extLst>
              <a:ext uri="{FF2B5EF4-FFF2-40B4-BE49-F238E27FC236}">
                <a16:creationId xmlns:a16="http://schemas.microsoft.com/office/drawing/2014/main" id="{14FEEEE4-0B92-4863-B9B9-DE179D71DD64}"/>
              </a:ext>
            </a:extLst>
          </p:cNvPr>
          <p:cNvSpPr txBox="1"/>
          <p:nvPr/>
        </p:nvSpPr>
        <p:spPr bwMode="auto">
          <a:xfrm>
            <a:off x="453887" y="1295400"/>
            <a:ext cx="3886200" cy="4562475"/>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p>
            <a:pPr algn="l">
              <a:lnSpc>
                <a:spcPct val="150000"/>
              </a:lnSpc>
              <a:spcBef>
                <a:spcPct val="20000"/>
              </a:spcBef>
              <a:buClr>
                <a:srgbClr val="FF0000"/>
              </a:buClr>
            </a:pPr>
            <a:r>
              <a:rPr lang="en-US">
                <a:solidFill>
                  <a:schemeClr val="tx1"/>
                </a:solidFill>
                <a:latin typeface="Times New Roman" panose="02020603050405020304" pitchFamily="18" charset="0"/>
                <a:cs typeface="Times New Roman" panose="02020603050405020304" pitchFamily="18" charset="0"/>
              </a:rPr>
              <a:t>Bước cuối cùng ta có thể thay đổi tên máy ảo, tỉ lệ scale, hiển thị chế độ mặc định đứng hoặc ngang, dung lượng Ram dành cho máy ảo, camera máy ảo,….</a:t>
            </a:r>
          </a:p>
          <a:p>
            <a:pPr algn="l">
              <a:lnSpc>
                <a:spcPct val="150000"/>
              </a:lnSpc>
              <a:spcBef>
                <a:spcPct val="20000"/>
              </a:spcBef>
              <a:buClr>
                <a:srgbClr val="FF0000"/>
              </a:buClr>
            </a:pPr>
            <a:r>
              <a:rPr lang="en-US">
                <a:solidFill>
                  <a:schemeClr val="tx1"/>
                </a:solidFill>
                <a:latin typeface="Times New Roman" panose="02020603050405020304" pitchFamily="18" charset="0"/>
                <a:cs typeface="Times New Roman" panose="02020603050405020304" pitchFamily="18" charset="0"/>
              </a:rPr>
              <a:t>Sau đó nhấn “Finish”</a:t>
            </a:r>
          </a:p>
        </p:txBody>
      </p:sp>
      <p:pic>
        <p:nvPicPr>
          <p:cNvPr id="5" name="Picture 4" descr="Graphical user interface, application&#10;&#10;Description automatically generated">
            <a:extLst>
              <a:ext uri="{FF2B5EF4-FFF2-40B4-BE49-F238E27FC236}">
                <a16:creationId xmlns:a16="http://schemas.microsoft.com/office/drawing/2014/main" id="{1D9178AD-37C0-4CF0-83A3-479B2DEBB9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68687" y="1600200"/>
            <a:ext cx="4362450" cy="3446336"/>
          </a:xfrm>
          <a:prstGeom prst="rect">
            <a:avLst/>
          </a:prstGeom>
          <a:noFill/>
        </p:spPr>
      </p:pic>
      <p:sp>
        <p:nvSpPr>
          <p:cNvPr id="48" name="Date Placeholder 47"/>
          <p:cNvSpPr>
            <a:spLocks noGrp="1"/>
          </p:cNvSpPr>
          <p:nvPr>
            <p:ph type="dt" sz="half" idx="10"/>
          </p:nvPr>
        </p:nvSpPr>
        <p:spPr>
          <a:xfrm>
            <a:off x="457200" y="6519863"/>
            <a:ext cx="2133600" cy="244475"/>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r>
              <a:rPr lang="en-US" sz="1100" kern="1200">
                <a:latin typeface="Arial" charset="0"/>
                <a:ea typeface="+mn-ea"/>
                <a:cs typeface="+mn-cs"/>
              </a:rPr>
              <a:t>Khoa CNTT - UNETI</a:t>
            </a:r>
          </a:p>
        </p:txBody>
      </p:sp>
      <p:sp>
        <p:nvSpPr>
          <p:cNvPr id="3" name="Slide Number Placeholder 2"/>
          <p:cNvSpPr>
            <a:spLocks noGrp="1"/>
          </p:cNvSpPr>
          <p:nvPr>
            <p:ph type="sldNum" sz="quarter" idx="12"/>
          </p:nvPr>
        </p:nvSpPr>
        <p:spPr>
          <a:xfrm>
            <a:off x="8286750" y="6386513"/>
            <a:ext cx="457200" cy="228600"/>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fld id="{38F16FD5-974A-40BB-8233-36E86F2AA732}" type="slidenum">
              <a:rPr lang="en-US" kern="1200">
                <a:latin typeface="+mn-lt"/>
                <a:ea typeface="+mn-ea"/>
                <a:cs typeface="+mn-cs"/>
              </a:rPr>
              <a:pPr>
                <a:lnSpc>
                  <a:spcPct val="90000"/>
                </a:lnSpc>
                <a:spcAft>
                  <a:spcPts val="600"/>
                </a:spcAft>
                <a:defRPr/>
              </a:pPr>
              <a:t>48</a:t>
            </a:fld>
            <a:endParaRPr lang="en-US" kern="1200">
              <a:latin typeface="+mn-lt"/>
              <a:ea typeface="+mn-ea"/>
              <a:cs typeface="+mn-cs"/>
            </a:endParaRPr>
          </a:p>
        </p:txBody>
      </p:sp>
    </p:spTree>
    <p:extLst>
      <p:ext uri="{BB962C8B-B14F-4D97-AF65-F5344CB8AC3E}">
        <p14:creationId xmlns:p14="http://schemas.microsoft.com/office/powerpoint/2010/main" val="154001997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vert="horz" wrap="square" lIns="91440" tIns="45720" rIns="91440" bIns="45720" numCol="1" anchor="ctr" anchorCtr="0" compatLnSpc="1">
            <a:prstTxWarp prst="textNoShape">
              <a:avLst/>
            </a:prstTxWarp>
            <a:normAutofit fontScale="90000"/>
          </a:bodyPr>
          <a:lstStyle/>
          <a:p>
            <a:pPr>
              <a:lnSpc>
                <a:spcPct val="90000"/>
              </a:lnSpc>
            </a:pPr>
            <a:r>
              <a:rPr lang="en-US" sz="2400" b="1"/>
              <a:t>1.5.2 CÀI ĐẶT MÁY ẢO ANDROID – AVD</a:t>
            </a:r>
            <a:endParaRPr lang="en-US" sz="2500" b="1">
              <a:latin typeface="+mj-lt"/>
              <a:ea typeface="+mj-ea"/>
              <a:cs typeface="+mj-cs"/>
            </a:endParaRPr>
          </a:p>
        </p:txBody>
      </p:sp>
      <p:pic>
        <p:nvPicPr>
          <p:cNvPr id="6" name="Picture 5" descr="A screenshot of a cell phone&#10;&#10;Description automatically generated with low confidence">
            <a:extLst>
              <a:ext uri="{FF2B5EF4-FFF2-40B4-BE49-F238E27FC236}">
                <a16:creationId xmlns:a16="http://schemas.microsoft.com/office/drawing/2014/main" id="{9B5923B5-6EA5-468A-873E-2C42AC21A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276" y="1076325"/>
            <a:ext cx="3962447" cy="5248275"/>
          </a:xfrm>
          <a:prstGeom prst="rect">
            <a:avLst/>
          </a:prstGeom>
          <a:noFill/>
        </p:spPr>
      </p:pic>
      <p:sp>
        <p:nvSpPr>
          <p:cNvPr id="10" name="TextBox 9">
            <a:extLst>
              <a:ext uri="{FF2B5EF4-FFF2-40B4-BE49-F238E27FC236}">
                <a16:creationId xmlns:a16="http://schemas.microsoft.com/office/drawing/2014/main" id="{14FEEEE4-0B92-4863-B9B9-DE179D71DD64}"/>
              </a:ext>
            </a:extLst>
          </p:cNvPr>
          <p:cNvSpPr txBox="1"/>
          <p:nvPr/>
        </p:nvSpPr>
        <p:spPr bwMode="auto">
          <a:xfrm>
            <a:off x="4648200" y="1076325"/>
            <a:ext cx="4038600" cy="5248275"/>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p>
            <a:pPr algn="l">
              <a:lnSpc>
                <a:spcPct val="150000"/>
              </a:lnSpc>
              <a:spcBef>
                <a:spcPct val="20000"/>
              </a:spcBef>
              <a:buClr>
                <a:srgbClr val="FF0000"/>
              </a:buClr>
            </a:pPr>
            <a:r>
              <a:rPr lang="en-US">
                <a:solidFill>
                  <a:schemeClr val="tx1"/>
                </a:solidFill>
                <a:latin typeface="Times New Roman" panose="02020603050405020304" pitchFamily="18" charset="0"/>
                <a:cs typeface="Times New Roman" panose="02020603050405020304" pitchFamily="18" charset="0"/>
              </a:rPr>
              <a:t>Sau khi tải xong máy ảo click Run app hoặc Shift + F6 để chạy ứng dụng trên máy ảo</a:t>
            </a:r>
          </a:p>
        </p:txBody>
      </p:sp>
      <p:sp>
        <p:nvSpPr>
          <p:cNvPr id="48" name="Date Placeholder 47"/>
          <p:cNvSpPr>
            <a:spLocks noGrp="1"/>
          </p:cNvSpPr>
          <p:nvPr>
            <p:ph type="dt" sz="half" idx="10"/>
          </p:nvPr>
        </p:nvSpPr>
        <p:spPr>
          <a:xfrm>
            <a:off x="457200" y="6519863"/>
            <a:ext cx="2133600" cy="244475"/>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r>
              <a:rPr lang="en-US" sz="1100" kern="1200">
                <a:latin typeface="Arial" charset="0"/>
                <a:ea typeface="+mn-ea"/>
                <a:cs typeface="+mn-cs"/>
              </a:rPr>
              <a:t>Khoa CNTT - UNETI</a:t>
            </a:r>
          </a:p>
        </p:txBody>
      </p:sp>
      <p:sp>
        <p:nvSpPr>
          <p:cNvPr id="3" name="Slide Number Placeholder 2"/>
          <p:cNvSpPr>
            <a:spLocks noGrp="1"/>
          </p:cNvSpPr>
          <p:nvPr>
            <p:ph type="sldNum" sz="quarter" idx="12"/>
          </p:nvPr>
        </p:nvSpPr>
        <p:spPr>
          <a:xfrm>
            <a:off x="8286750" y="6386513"/>
            <a:ext cx="457200" cy="228600"/>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fld id="{38F16FD5-974A-40BB-8233-36E86F2AA732}" type="slidenum">
              <a:rPr lang="en-US" kern="1200">
                <a:latin typeface="+mn-lt"/>
                <a:ea typeface="+mn-ea"/>
                <a:cs typeface="+mn-cs"/>
              </a:rPr>
              <a:pPr>
                <a:lnSpc>
                  <a:spcPct val="90000"/>
                </a:lnSpc>
                <a:spcAft>
                  <a:spcPts val="600"/>
                </a:spcAft>
                <a:defRPr/>
              </a:pPr>
              <a:t>49</a:t>
            </a:fld>
            <a:endParaRPr lang="en-US" kern="1200">
              <a:latin typeface="+mn-lt"/>
              <a:ea typeface="+mn-ea"/>
              <a:cs typeface="+mn-cs"/>
            </a:endParaRPr>
          </a:p>
        </p:txBody>
      </p:sp>
    </p:spTree>
    <p:extLst>
      <p:ext uri="{BB962C8B-B14F-4D97-AF65-F5344CB8AC3E}">
        <p14:creationId xmlns:p14="http://schemas.microsoft.com/office/powerpoint/2010/main" val="294916380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vert="horz" wrap="square" lIns="91440" tIns="45720" rIns="91440" bIns="45720" numCol="1" anchor="ctr" anchorCtr="0" compatLnSpc="1">
            <a:prstTxWarp prst="textNoShape">
              <a:avLst/>
            </a:prstTxWarp>
            <a:normAutofit fontScale="90000"/>
          </a:bodyPr>
          <a:lstStyle/>
          <a:p>
            <a:pPr>
              <a:lnSpc>
                <a:spcPct val="90000"/>
              </a:lnSpc>
            </a:pPr>
            <a:r>
              <a:rPr lang="en-US" sz="2400" b="1"/>
              <a:t>1.5.3 GIỚI THIỆU MÁY ẢO GENYMOTION</a:t>
            </a:r>
            <a:endParaRPr lang="en-US" sz="2500" b="1">
              <a:latin typeface="+mj-lt"/>
              <a:ea typeface="+mj-ea"/>
              <a:cs typeface="+mj-cs"/>
            </a:endParaRPr>
          </a:p>
        </p:txBody>
      </p:sp>
      <p:sp>
        <p:nvSpPr>
          <p:cNvPr id="10" name="TextBox 9">
            <a:extLst>
              <a:ext uri="{FF2B5EF4-FFF2-40B4-BE49-F238E27FC236}">
                <a16:creationId xmlns:a16="http://schemas.microsoft.com/office/drawing/2014/main" id="{14FEEEE4-0B92-4863-B9B9-DE179D71DD64}"/>
              </a:ext>
            </a:extLst>
          </p:cNvPr>
          <p:cNvSpPr txBox="1"/>
          <p:nvPr/>
        </p:nvSpPr>
        <p:spPr bwMode="auto">
          <a:xfrm>
            <a:off x="190500" y="1143000"/>
            <a:ext cx="4038600" cy="563563"/>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p>
            <a:pPr algn="l">
              <a:spcBef>
                <a:spcPct val="20000"/>
              </a:spcBef>
              <a:buClr>
                <a:srgbClr val="FF0000"/>
              </a:buClr>
            </a:pPr>
            <a:r>
              <a:rPr lang="en-US">
                <a:solidFill>
                  <a:schemeClr val="tx1"/>
                </a:solidFill>
                <a:latin typeface="Times New Roman" panose="02020603050405020304" pitchFamily="18" charset="0"/>
                <a:cs typeface="Times New Roman" panose="02020603050405020304" pitchFamily="18" charset="0"/>
              </a:rPr>
              <a:t>Máy ảo Genymotion</a:t>
            </a:r>
          </a:p>
        </p:txBody>
      </p:sp>
      <p:sp>
        <p:nvSpPr>
          <p:cNvPr id="48" name="Date Placeholder 47"/>
          <p:cNvSpPr>
            <a:spLocks noGrp="1"/>
          </p:cNvSpPr>
          <p:nvPr>
            <p:ph type="dt" sz="half" idx="10"/>
          </p:nvPr>
        </p:nvSpPr>
        <p:spPr>
          <a:xfrm>
            <a:off x="457200" y="6519863"/>
            <a:ext cx="2133600" cy="244475"/>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r>
              <a:rPr lang="en-US" sz="1100" kern="1200">
                <a:latin typeface="Arial" charset="0"/>
                <a:ea typeface="+mn-ea"/>
                <a:cs typeface="+mn-cs"/>
              </a:rPr>
              <a:t>Khoa CNTT - UNETI</a:t>
            </a:r>
          </a:p>
        </p:txBody>
      </p:sp>
      <p:sp>
        <p:nvSpPr>
          <p:cNvPr id="3" name="Slide Number Placeholder 2"/>
          <p:cNvSpPr>
            <a:spLocks noGrp="1"/>
          </p:cNvSpPr>
          <p:nvPr>
            <p:ph type="sldNum" sz="quarter" idx="12"/>
          </p:nvPr>
        </p:nvSpPr>
        <p:spPr>
          <a:xfrm>
            <a:off x="8286750" y="6386513"/>
            <a:ext cx="457200" cy="228600"/>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fld id="{38F16FD5-974A-40BB-8233-36E86F2AA732}" type="slidenum">
              <a:rPr lang="en-US" kern="1200">
                <a:latin typeface="+mn-lt"/>
                <a:ea typeface="+mn-ea"/>
                <a:cs typeface="+mn-cs"/>
              </a:rPr>
              <a:pPr>
                <a:lnSpc>
                  <a:spcPct val="90000"/>
                </a:lnSpc>
                <a:spcAft>
                  <a:spcPts val="600"/>
                </a:spcAft>
                <a:defRPr/>
              </a:pPr>
              <a:t>50</a:t>
            </a:fld>
            <a:endParaRPr lang="en-US" kern="1200">
              <a:latin typeface="+mn-lt"/>
              <a:ea typeface="+mn-ea"/>
              <a:cs typeface="+mn-cs"/>
            </a:endParaRPr>
          </a:p>
        </p:txBody>
      </p:sp>
      <p:sp>
        <p:nvSpPr>
          <p:cNvPr id="7" name="TextBox 6">
            <a:extLst>
              <a:ext uri="{FF2B5EF4-FFF2-40B4-BE49-F238E27FC236}">
                <a16:creationId xmlns:a16="http://schemas.microsoft.com/office/drawing/2014/main" id="{C9BA5DE5-9E27-4A51-AB5B-3825777BA2A6}"/>
              </a:ext>
            </a:extLst>
          </p:cNvPr>
          <p:cNvSpPr txBox="1"/>
          <p:nvPr/>
        </p:nvSpPr>
        <p:spPr bwMode="auto">
          <a:xfrm>
            <a:off x="190500" y="1623218"/>
            <a:ext cx="8763000" cy="4701382"/>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p>
            <a:pPr algn="l">
              <a:spcBef>
                <a:spcPct val="20000"/>
              </a:spcBef>
              <a:buClr>
                <a:srgbClr val="FF0000"/>
              </a:buClr>
            </a:pP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Đối với những thiết bị cấu hình yếu, việc sử dụng máy ảo AVD đôi khi gây quá tải hệ thống, tràn Ram,..</a:t>
            </a:r>
          </a:p>
          <a:p>
            <a:pPr algn="l">
              <a:spcBef>
                <a:spcPct val="20000"/>
              </a:spcBef>
              <a:buClr>
                <a:srgbClr val="FF0000"/>
              </a:buClr>
            </a:pP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Máy ảo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Genymotion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i="0" dirty="0">
                <a:solidFill>
                  <a:schemeClr val="accent4">
                    <a:lumMod val="90000"/>
                    <a:lumOff val="10000"/>
                  </a:schemeClr>
                </a:solidFill>
                <a:effectLst/>
                <a:latin typeface="Times New Roman" panose="02020603050405020304" pitchFamily="18" charset="0"/>
                <a:cs typeface="Times New Roman" panose="02020603050405020304" pitchFamily="18" charset="0"/>
              </a:rPr>
              <a:t>là</a:t>
            </a:r>
            <a:r>
              <a:rPr lang="en-US" b="0" i="0" dirty="0">
                <a:solidFill>
                  <a:schemeClr val="accent4">
                    <a:lumMod val="90000"/>
                    <a:lumOff val="10000"/>
                  </a:schemeClr>
                </a:solidFill>
                <a:effectLst/>
                <a:latin typeface="Times New Roman" panose="02020603050405020304" pitchFamily="18" charset="0"/>
                <a:cs typeface="Times New Roman" panose="02020603050405020304" pitchFamily="18" charset="0"/>
              </a:rPr>
              <a:t> trình giả lập Android phổ biến dựa trên </a:t>
            </a:r>
            <a:r>
              <a:rPr lang="en-US" b="0" i="0" dirty="0" err="1">
                <a:solidFill>
                  <a:schemeClr val="accent4">
                    <a:lumMod val="90000"/>
                    <a:lumOff val="10000"/>
                  </a:schemeClr>
                </a:solidFill>
                <a:effectLst/>
                <a:latin typeface="Times New Roman" panose="02020603050405020304" pitchFamily="18" charset="0"/>
                <a:cs typeface="Times New Roman" panose="02020603050405020304" pitchFamily="18" charset="0"/>
              </a:rPr>
              <a:t>VirtualBox</a:t>
            </a:r>
            <a:r>
              <a:rPr lang="en-US" b="0" i="0" dirty="0">
                <a:solidFill>
                  <a:schemeClr val="accent4">
                    <a:lumMod val="90000"/>
                    <a:lumOff val="10000"/>
                  </a:schemeClr>
                </a:solidFill>
                <a:effectLst/>
                <a:latin typeface="Times New Roman" panose="02020603050405020304" pitchFamily="18" charset="0"/>
                <a:cs typeface="Times New Roman" panose="02020603050405020304" pitchFamily="18" charset="0"/>
              </a:rPr>
              <a:t>.</a:t>
            </a:r>
          </a:p>
          <a:p>
            <a:pPr algn="l">
              <a:spcBef>
                <a:spcPct val="20000"/>
              </a:spcBef>
              <a:buClr>
                <a:srgbClr val="FF0000"/>
              </a:buClr>
            </a:pPr>
            <a:r>
              <a:rPr lang="vi-VN" b="1" i="0" dirty="0">
                <a:solidFill>
                  <a:schemeClr val="accent4">
                    <a:lumMod val="90000"/>
                    <a:lumOff val="10000"/>
                  </a:schemeClr>
                </a:solidFill>
                <a:effectLst/>
                <a:latin typeface="Times New Roman" panose="02020603050405020304" pitchFamily="18" charset="0"/>
                <a:cs typeface="Times New Roman" panose="02020603050405020304" pitchFamily="18" charset="0"/>
              </a:rPr>
              <a:t>Genymotion</a:t>
            </a:r>
            <a:r>
              <a:rPr lang="vi-VN" b="0" i="0" dirty="0">
                <a:solidFill>
                  <a:schemeClr val="accent4">
                    <a:lumMod val="90000"/>
                    <a:lumOff val="10000"/>
                  </a:schemeClr>
                </a:solidFill>
                <a:effectLst/>
                <a:latin typeface="Times New Roman" panose="02020603050405020304" pitchFamily="18" charset="0"/>
                <a:cs typeface="Times New Roman" panose="02020603050405020304" pitchFamily="18" charset="0"/>
              </a:rPr>
              <a:t> cho phép bạn trải nghiệm </a:t>
            </a:r>
            <a:r>
              <a:rPr lang="en-US" b="0" i="0" dirty="0">
                <a:solidFill>
                  <a:schemeClr val="accent4">
                    <a:lumMod val="90000"/>
                    <a:lumOff val="10000"/>
                  </a:schemeClr>
                </a:solidFill>
                <a:effectLst/>
                <a:latin typeface="Times New Roman" panose="02020603050405020304" pitchFamily="18" charset="0"/>
                <a:cs typeface="Times New Roman" panose="02020603050405020304" pitchFamily="18" charset="0"/>
              </a:rPr>
              <a:t>các ứng dụng di động</a:t>
            </a:r>
            <a:r>
              <a:rPr lang="vi-VN" b="0" i="0" dirty="0">
                <a:solidFill>
                  <a:schemeClr val="accent4">
                    <a:lumMod val="90000"/>
                    <a:lumOff val="10000"/>
                  </a:schemeClr>
                </a:solidFill>
                <a:effectLst/>
                <a:latin typeface="Times New Roman" panose="02020603050405020304" pitchFamily="18" charset="0"/>
                <a:cs typeface="Times New Roman" panose="02020603050405020304" pitchFamily="18" charset="0"/>
              </a:rPr>
              <a:t> trên laptop hoặc </a:t>
            </a:r>
            <a:r>
              <a:rPr lang="vi-VN" i="0" dirty="0">
                <a:solidFill>
                  <a:schemeClr val="accent4">
                    <a:lumMod val="90000"/>
                    <a:lumOff val="10000"/>
                  </a:schemeClr>
                </a:solidFill>
                <a:effectLst/>
                <a:latin typeface="Times New Roman" panose="02020603050405020304" pitchFamily="18" charset="0"/>
                <a:cs typeface="Times New Roman" panose="02020603050405020304" pitchFamily="18" charset="0"/>
              </a:rPr>
              <a:t>máy</a:t>
            </a:r>
            <a:r>
              <a:rPr lang="vi-VN" b="0" i="0" dirty="0">
                <a:solidFill>
                  <a:schemeClr val="accent4">
                    <a:lumMod val="90000"/>
                    <a:lumOff val="10000"/>
                  </a:schemeClr>
                </a:solidFill>
                <a:effectLst/>
                <a:latin typeface="Times New Roman" panose="02020603050405020304" pitchFamily="18" charset="0"/>
                <a:cs typeface="Times New Roman" panose="02020603050405020304" pitchFamily="18" charset="0"/>
              </a:rPr>
              <a:t> tính để bàn lớn hơn mà không gặp vấn đề về hiệu suất</a:t>
            </a:r>
            <a:endParaRPr lang="en-US" b="0" i="0" dirty="0">
              <a:solidFill>
                <a:schemeClr val="accent4">
                  <a:lumMod val="90000"/>
                  <a:lumOff val="10000"/>
                </a:schemeClr>
              </a:solidFill>
              <a:effectLst/>
              <a:latin typeface="Times New Roman" panose="02020603050405020304" pitchFamily="18" charset="0"/>
              <a:cs typeface="Times New Roman" panose="02020603050405020304" pitchFamily="18" charset="0"/>
            </a:endParaRPr>
          </a:p>
          <a:p>
            <a:pPr algn="l">
              <a:spcBef>
                <a:spcPct val="20000"/>
              </a:spcBef>
              <a:buClr>
                <a:srgbClr val="FF0000"/>
              </a:buClr>
            </a:pP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Đặc biệt dung lượng của nó thấp hơn đáng kể so với AVD</a:t>
            </a:r>
          </a:p>
          <a:p>
            <a:pPr algn="l">
              <a:spcBef>
                <a:spcPct val="20000"/>
              </a:spcBef>
              <a:buClr>
                <a:srgbClr val="FF0000"/>
              </a:buClr>
            </a:pP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Cấu hình và cài đặt máy ảo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Genymotion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có thể tham khảo tại</a:t>
            </a:r>
          </a:p>
          <a:p>
            <a:pPr algn="l">
              <a:spcBef>
                <a:spcPct val="20000"/>
              </a:spcBef>
              <a:buClr>
                <a:srgbClr val="FF0000"/>
              </a:buClr>
            </a:pPr>
            <a:r>
              <a:rPr lang="en-US" dirty="0">
                <a:solidFill>
                  <a:srgbClr val="202124"/>
                </a:solidFill>
                <a:latin typeface="Times New Roman" panose="02020603050405020304" pitchFamily="18" charset="0"/>
                <a:cs typeface="Times New Roman" panose="02020603050405020304" pitchFamily="18" charset="0"/>
              </a:rPr>
              <a:t>	</a:t>
            </a:r>
            <a:r>
              <a:rPr lang="en-US" dirty="0">
                <a:solidFill>
                  <a:srgbClr val="202124"/>
                </a:solidFill>
                <a:latin typeface="Times New Roman" panose="02020603050405020304" pitchFamily="18" charset="0"/>
                <a:cs typeface="Times New Roman" panose="02020603050405020304" pitchFamily="18" charset="0"/>
                <a:hlinkClick r:id="rId2"/>
              </a:rPr>
              <a:t>https://www.genymotion.com/</a:t>
            </a:r>
            <a:r>
              <a:rPr lang="en-US" dirty="0">
                <a:solidFill>
                  <a:srgbClr val="202124"/>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8146954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51</a:t>
            </a:fld>
            <a:endParaRPr lang="en-US"/>
          </a:p>
        </p:txBody>
      </p:sp>
      <p:sp>
        <p:nvSpPr>
          <p:cNvPr id="9" name="Line 74"/>
          <p:cNvSpPr>
            <a:spLocks noChangeShapeType="1"/>
          </p:cNvSpPr>
          <p:nvPr/>
        </p:nvSpPr>
        <p:spPr bwMode="auto">
          <a:xfrm flipV="1">
            <a:off x="1854573" y="3551556"/>
            <a:ext cx="1000126" cy="2"/>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AutoShape 5"/>
          <p:cNvSpPr>
            <a:spLocks noChangeArrowheads="1"/>
          </p:cNvSpPr>
          <p:nvPr/>
        </p:nvSpPr>
        <p:spPr bwMode="auto">
          <a:xfrm>
            <a:off x="-7564" y="2637157"/>
            <a:ext cx="1905000" cy="1828800"/>
          </a:xfrm>
          <a:prstGeom prst="star8">
            <a:avLst>
              <a:gd name="adj" fmla="val 40139"/>
            </a:avLst>
          </a:prstGeom>
          <a:solidFill>
            <a:srgbClr val="CC3300"/>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800" b="1">
                <a:solidFill>
                  <a:srgbClr val="FFFFFF"/>
                </a:solidFill>
                <a:cs typeface="Tahoma" panose="020B0604030504040204" pitchFamily="34" charset="0"/>
              </a:rPr>
              <a:t>TỔNG QUAN </a:t>
            </a:r>
          </a:p>
          <a:p>
            <a:pPr algn="ctr"/>
            <a:r>
              <a:rPr lang="en-US" altLang="en-US" sz="1800" b="1">
                <a:solidFill>
                  <a:srgbClr val="FFFFFF"/>
                </a:solidFill>
                <a:cs typeface="Tahoma" panose="020B0604030504040204" pitchFamily="34" charset="0"/>
              </a:rPr>
              <a:t>LT ANDROID</a:t>
            </a:r>
          </a:p>
        </p:txBody>
      </p:sp>
      <p:sp>
        <p:nvSpPr>
          <p:cNvPr id="11" name="Text Box 8"/>
          <p:cNvSpPr txBox="1">
            <a:spLocks noChangeArrowheads="1"/>
          </p:cNvSpPr>
          <p:nvPr/>
        </p:nvSpPr>
        <p:spPr bwMode="auto">
          <a:xfrm>
            <a:off x="1479878" y="2938206"/>
            <a:ext cx="1524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rPr>
              <a:t>Môi trường LT</a:t>
            </a:r>
            <a:endParaRPr lang="en-US" altLang="en-US" sz="1600" b="1">
              <a:solidFill>
                <a:srgbClr val="FFFF00"/>
              </a:solidFill>
              <a:latin typeface=".VnArial Narrow" panose="020B7200000000000000" pitchFamily="34" charset="0"/>
            </a:endParaRPr>
          </a:p>
        </p:txBody>
      </p:sp>
      <p:sp>
        <p:nvSpPr>
          <p:cNvPr id="13" name="Text Box 26"/>
          <p:cNvSpPr txBox="1">
            <a:spLocks noChangeArrowheads="1"/>
          </p:cNvSpPr>
          <p:nvPr/>
        </p:nvSpPr>
        <p:spPr bwMode="auto">
          <a:xfrm>
            <a:off x="2808276" y="5054432"/>
            <a:ext cx="17111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solidFill>
                  <a:srgbClr val="993300"/>
                </a:solidFill>
                <a:latin typeface="Verdana" panose="020B0604030504040204" pitchFamily="34" charset="0"/>
                <a:ea typeface="Verdana" panose="020B0604030504040204" pitchFamily="34" charset="0"/>
                <a:cs typeface="Verdana" panose="020B0604030504040204" pitchFamily="34" charset="0"/>
              </a:rPr>
              <a:t>Tạo project</a:t>
            </a:r>
          </a:p>
        </p:txBody>
      </p:sp>
      <p:sp>
        <p:nvSpPr>
          <p:cNvPr id="14" name="Text Box 37"/>
          <p:cNvSpPr txBox="1">
            <a:spLocks noChangeArrowheads="1"/>
          </p:cNvSpPr>
          <p:nvPr/>
        </p:nvSpPr>
        <p:spPr bwMode="auto">
          <a:xfrm>
            <a:off x="929678" y="1717995"/>
            <a:ext cx="13014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cs typeface="Verdana" panose="020B0604030504040204" pitchFamily="34" charset="0"/>
              </a:rPr>
              <a:t>Tổng quan </a:t>
            </a:r>
          </a:p>
        </p:txBody>
      </p:sp>
      <p:sp>
        <p:nvSpPr>
          <p:cNvPr id="16" name="Text Box 41"/>
          <p:cNvSpPr txBox="1">
            <a:spLocks noChangeArrowheads="1"/>
          </p:cNvSpPr>
          <p:nvPr/>
        </p:nvSpPr>
        <p:spPr bwMode="auto">
          <a:xfrm>
            <a:off x="760785" y="4814121"/>
            <a:ext cx="137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latin typeface="Verdana" panose="020B0604030504040204" pitchFamily="34" charset="0"/>
                <a:ea typeface="Verdana" panose="020B0604030504040204" pitchFamily="34" charset="0"/>
              </a:rPr>
              <a:t>Tạo Project </a:t>
            </a:r>
            <a:endParaRPr lang="en-US" altLang="en-US" sz="2000" b="1">
              <a:solidFill>
                <a:srgbClr val="FFFF00"/>
              </a:solidFill>
              <a:latin typeface=".VnArial Narrow" panose="020B7200000000000000" pitchFamily="34" charset="0"/>
            </a:endParaRPr>
          </a:p>
        </p:txBody>
      </p:sp>
      <p:sp>
        <p:nvSpPr>
          <p:cNvPr id="18" name="Text Box 48"/>
          <p:cNvSpPr txBox="1">
            <a:spLocks noChangeArrowheads="1"/>
          </p:cNvSpPr>
          <p:nvPr/>
        </p:nvSpPr>
        <p:spPr bwMode="auto">
          <a:xfrm>
            <a:off x="2583236" y="1036957"/>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Sự phát triển</a:t>
            </a:r>
          </a:p>
        </p:txBody>
      </p:sp>
      <p:sp>
        <p:nvSpPr>
          <p:cNvPr id="19" name="Text Box 50"/>
          <p:cNvSpPr txBox="1">
            <a:spLocks noChangeArrowheads="1"/>
          </p:cNvSpPr>
          <p:nvPr/>
        </p:nvSpPr>
        <p:spPr bwMode="auto">
          <a:xfrm>
            <a:off x="4772384" y="2727148"/>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mj-lt"/>
              </a:rPr>
              <a:t>Có thể lập trình Android trên nhiều HĐH: windown, linux, Macos,..</a:t>
            </a:r>
          </a:p>
        </p:txBody>
      </p:sp>
      <p:sp>
        <p:nvSpPr>
          <p:cNvPr id="20" name="Text Box 56"/>
          <p:cNvSpPr txBox="1">
            <a:spLocks noChangeArrowheads="1"/>
          </p:cNvSpPr>
          <p:nvPr/>
        </p:nvSpPr>
        <p:spPr bwMode="auto">
          <a:xfrm>
            <a:off x="2897563" y="5949976"/>
            <a:ext cx="157124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solidFill>
                  <a:srgbClr val="993300"/>
                </a:solidFill>
                <a:latin typeface="Verdana" panose="020B0604030504040204" pitchFamily="34" charset="0"/>
                <a:ea typeface="Verdana" panose="020B0604030504040204" pitchFamily="34" charset="0"/>
                <a:cs typeface="Verdana" panose="020B0604030504040204" pitchFamily="34" charset="0"/>
              </a:rPr>
              <a:t>Chạy thử</a:t>
            </a:r>
          </a:p>
        </p:txBody>
      </p:sp>
      <p:sp>
        <p:nvSpPr>
          <p:cNvPr id="21" name="Text Box 59"/>
          <p:cNvSpPr txBox="1">
            <a:spLocks noChangeArrowheads="1"/>
          </p:cNvSpPr>
          <p:nvPr/>
        </p:nvSpPr>
        <p:spPr bwMode="auto">
          <a:xfrm>
            <a:off x="2989820" y="4083589"/>
            <a:ext cx="14478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IDE</a:t>
            </a:r>
          </a:p>
        </p:txBody>
      </p:sp>
      <p:sp>
        <p:nvSpPr>
          <p:cNvPr id="22" name="Line 78"/>
          <p:cNvSpPr>
            <a:spLocks noChangeShapeType="1"/>
          </p:cNvSpPr>
          <p:nvPr/>
        </p:nvSpPr>
        <p:spPr bwMode="auto">
          <a:xfrm>
            <a:off x="2901193" y="5410383"/>
            <a:ext cx="0" cy="971136"/>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72"/>
          <p:cNvSpPr>
            <a:spLocks noChangeShapeType="1"/>
          </p:cNvSpPr>
          <p:nvPr/>
        </p:nvSpPr>
        <p:spPr bwMode="auto">
          <a:xfrm flipV="1">
            <a:off x="1592636" y="1717995"/>
            <a:ext cx="1295400" cy="1223962"/>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73"/>
          <p:cNvSpPr>
            <a:spLocks noChangeShapeType="1"/>
          </p:cNvSpPr>
          <p:nvPr/>
        </p:nvSpPr>
        <p:spPr bwMode="auto">
          <a:xfrm>
            <a:off x="1592636" y="4161157"/>
            <a:ext cx="1184684" cy="1695906"/>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76"/>
          <p:cNvSpPr>
            <a:spLocks noChangeShapeType="1"/>
          </p:cNvSpPr>
          <p:nvPr/>
        </p:nvSpPr>
        <p:spPr bwMode="auto">
          <a:xfrm flipV="1">
            <a:off x="2915589" y="1375095"/>
            <a:ext cx="1841102"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Line 81"/>
          <p:cNvSpPr>
            <a:spLocks noChangeShapeType="1"/>
          </p:cNvSpPr>
          <p:nvPr/>
        </p:nvSpPr>
        <p:spPr bwMode="auto">
          <a:xfrm flipV="1">
            <a:off x="2854699" y="5443010"/>
            <a:ext cx="188595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82"/>
          <p:cNvSpPr>
            <a:spLocks noChangeShapeType="1"/>
          </p:cNvSpPr>
          <p:nvPr/>
        </p:nvSpPr>
        <p:spPr bwMode="auto">
          <a:xfrm flipV="1">
            <a:off x="2872727" y="6339237"/>
            <a:ext cx="1917728"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78"/>
          <p:cNvSpPr>
            <a:spLocks noChangeShapeType="1"/>
          </p:cNvSpPr>
          <p:nvPr/>
        </p:nvSpPr>
        <p:spPr bwMode="auto">
          <a:xfrm>
            <a:off x="2965526" y="1375095"/>
            <a:ext cx="0" cy="758505"/>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80"/>
          <p:cNvSpPr>
            <a:spLocks noChangeShapeType="1"/>
          </p:cNvSpPr>
          <p:nvPr/>
        </p:nvSpPr>
        <p:spPr bwMode="auto">
          <a:xfrm flipV="1">
            <a:off x="2950028" y="2098353"/>
            <a:ext cx="184301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Text Box 48"/>
          <p:cNvSpPr txBox="1">
            <a:spLocks noChangeArrowheads="1"/>
          </p:cNvSpPr>
          <p:nvPr/>
        </p:nvSpPr>
        <p:spPr bwMode="auto">
          <a:xfrm>
            <a:off x="2771395" y="1701057"/>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HĐH, Kiến trúc</a:t>
            </a:r>
          </a:p>
        </p:txBody>
      </p:sp>
      <p:sp>
        <p:nvSpPr>
          <p:cNvPr id="36" name="Line 78"/>
          <p:cNvSpPr>
            <a:spLocks noChangeShapeType="1"/>
          </p:cNvSpPr>
          <p:nvPr/>
        </p:nvSpPr>
        <p:spPr bwMode="auto">
          <a:xfrm>
            <a:off x="2946585" y="2826447"/>
            <a:ext cx="0" cy="1727418"/>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79"/>
          <p:cNvSpPr>
            <a:spLocks noChangeShapeType="1"/>
          </p:cNvSpPr>
          <p:nvPr/>
        </p:nvSpPr>
        <p:spPr bwMode="auto">
          <a:xfrm flipV="1">
            <a:off x="2915589" y="2872941"/>
            <a:ext cx="1852414"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Line 80"/>
          <p:cNvSpPr>
            <a:spLocks noChangeShapeType="1"/>
          </p:cNvSpPr>
          <p:nvPr/>
        </p:nvSpPr>
        <p:spPr bwMode="auto">
          <a:xfrm flipV="1">
            <a:off x="2915589" y="3633571"/>
            <a:ext cx="184391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Line 81"/>
          <p:cNvSpPr>
            <a:spLocks noChangeShapeType="1"/>
          </p:cNvSpPr>
          <p:nvPr/>
        </p:nvSpPr>
        <p:spPr bwMode="auto">
          <a:xfrm flipV="1">
            <a:off x="2915589" y="4516975"/>
            <a:ext cx="184391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Text Box 50"/>
          <p:cNvSpPr txBox="1">
            <a:spLocks noChangeArrowheads="1"/>
          </p:cNvSpPr>
          <p:nvPr/>
        </p:nvSpPr>
        <p:spPr bwMode="auto">
          <a:xfrm>
            <a:off x="4790455" y="3447368"/>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l">
              <a:buFont typeface="Wingdings" panose="05000000000000000000" pitchFamily="2" charset="2"/>
              <a:buChar char="Ø"/>
              <a:defRPr/>
            </a:pPr>
            <a:r>
              <a:rPr lang="en-US" altLang="en-US" sz="1600" b="1">
                <a:solidFill>
                  <a:schemeClr val="tx1"/>
                </a:solidFill>
                <a:latin typeface="+mj-lt"/>
              </a:rPr>
              <a:t>Java Development Kit</a:t>
            </a:r>
          </a:p>
          <a:p>
            <a:pPr marL="285750" indent="-285750" algn="l">
              <a:buFont typeface="Wingdings" panose="05000000000000000000" pitchFamily="2" charset="2"/>
              <a:buChar char="Ø"/>
              <a:defRPr/>
            </a:pPr>
            <a:r>
              <a:rPr lang="en-US" altLang="en-US" sz="1600" b="1">
                <a:solidFill>
                  <a:schemeClr val="tx1"/>
                </a:solidFill>
                <a:latin typeface="+mj-lt"/>
              </a:rPr>
              <a:t>Android SDK</a:t>
            </a:r>
          </a:p>
        </p:txBody>
      </p:sp>
      <p:sp>
        <p:nvSpPr>
          <p:cNvPr id="41" name="Text Box 59"/>
          <p:cNvSpPr txBox="1">
            <a:spLocks noChangeArrowheads="1"/>
          </p:cNvSpPr>
          <p:nvPr/>
        </p:nvSpPr>
        <p:spPr bwMode="auto">
          <a:xfrm>
            <a:off x="2788805" y="2422646"/>
            <a:ext cx="1905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altLang="en-US" sz="1600" b="1">
                <a:solidFill>
                  <a:srgbClr val="993300"/>
                </a:solidFill>
                <a:latin typeface="+mj-lt"/>
              </a:rPr>
              <a:t>Hệ điều hành</a:t>
            </a:r>
          </a:p>
        </p:txBody>
      </p:sp>
      <p:sp>
        <p:nvSpPr>
          <p:cNvPr id="42" name="Text Box 59"/>
          <p:cNvSpPr txBox="1">
            <a:spLocks noChangeArrowheads="1"/>
          </p:cNvSpPr>
          <p:nvPr/>
        </p:nvSpPr>
        <p:spPr bwMode="auto">
          <a:xfrm>
            <a:off x="3001878" y="3197956"/>
            <a:ext cx="15701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altLang="en-US" sz="1600" b="1">
                <a:solidFill>
                  <a:srgbClr val="993300"/>
                </a:solidFill>
                <a:latin typeface="+mj-lt"/>
              </a:rPr>
              <a:t>JDK và SDK</a:t>
            </a:r>
          </a:p>
        </p:txBody>
      </p:sp>
      <p:sp>
        <p:nvSpPr>
          <p:cNvPr id="44" name="Text Box 50"/>
          <p:cNvSpPr txBox="1">
            <a:spLocks noChangeArrowheads="1"/>
          </p:cNvSpPr>
          <p:nvPr/>
        </p:nvSpPr>
        <p:spPr bwMode="auto">
          <a:xfrm>
            <a:off x="4790455" y="4203623"/>
            <a:ext cx="4176122" cy="338554"/>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mj-lt"/>
              </a:rPr>
              <a:t>Android Studio, …</a:t>
            </a:r>
          </a:p>
        </p:txBody>
      </p:sp>
      <p:sp>
        <p:nvSpPr>
          <p:cNvPr id="45" name="Text Box 50"/>
          <p:cNvSpPr txBox="1">
            <a:spLocks noChangeArrowheads="1"/>
          </p:cNvSpPr>
          <p:nvPr/>
        </p:nvSpPr>
        <p:spPr bwMode="auto">
          <a:xfrm>
            <a:off x="4773477" y="1138879"/>
            <a:ext cx="4143293"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mj-lt"/>
              </a:rPr>
              <a:t>Android và các ứng dụng đang phát triển nhanh chóng từng ngày</a:t>
            </a:r>
          </a:p>
        </p:txBody>
      </p:sp>
      <p:sp>
        <p:nvSpPr>
          <p:cNvPr id="46" name="Text Box 50"/>
          <p:cNvSpPr txBox="1">
            <a:spLocks noChangeArrowheads="1"/>
          </p:cNvSpPr>
          <p:nvPr/>
        </p:nvSpPr>
        <p:spPr bwMode="auto">
          <a:xfrm>
            <a:off x="4768002" y="1818945"/>
            <a:ext cx="4176122" cy="830997"/>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l">
              <a:buFont typeface="Wingdings" panose="05000000000000000000" pitchFamily="2" charset="2"/>
              <a:buChar char="Ø"/>
              <a:defRPr/>
            </a:pPr>
            <a:r>
              <a:rPr lang="en-US" altLang="en-US" sz="1600" b="1">
                <a:solidFill>
                  <a:schemeClr val="tx1"/>
                </a:solidFill>
                <a:latin typeface="+mj-lt"/>
              </a:rPr>
              <a:t>HĐH Android: di động, hệ thống nhúng….</a:t>
            </a:r>
          </a:p>
          <a:p>
            <a:pPr marL="285750" indent="-285750" algn="l">
              <a:buFont typeface="Wingdings" panose="05000000000000000000" pitchFamily="2" charset="2"/>
              <a:buChar char="Ø"/>
              <a:defRPr/>
            </a:pPr>
            <a:r>
              <a:rPr lang="en-US" altLang="en-US" sz="1600" b="1">
                <a:solidFill>
                  <a:schemeClr val="tx1"/>
                </a:solidFill>
                <a:latin typeface="+mj-lt"/>
              </a:rPr>
              <a:t>Kiến trúc Android</a:t>
            </a:r>
          </a:p>
        </p:txBody>
      </p:sp>
      <p:sp>
        <p:nvSpPr>
          <p:cNvPr id="47" name="Text Box 50"/>
          <p:cNvSpPr txBox="1">
            <a:spLocks noChangeArrowheads="1"/>
          </p:cNvSpPr>
          <p:nvPr/>
        </p:nvSpPr>
        <p:spPr bwMode="auto">
          <a:xfrm>
            <a:off x="4805359" y="4897667"/>
            <a:ext cx="4143293"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l">
              <a:buFont typeface="Wingdings" panose="05000000000000000000" pitchFamily="2" charset="2"/>
              <a:buChar char="Ø"/>
              <a:defRPr/>
            </a:pPr>
            <a:r>
              <a:rPr lang="en-US" altLang="en-US" sz="1600" b="1">
                <a:solidFill>
                  <a:schemeClr val="tx1"/>
                </a:solidFill>
                <a:latin typeface="+mj-lt"/>
              </a:rPr>
              <a:t>Create project</a:t>
            </a:r>
          </a:p>
          <a:p>
            <a:pPr marL="285750" indent="-285750" algn="l">
              <a:buFont typeface="Wingdings" panose="05000000000000000000" pitchFamily="2" charset="2"/>
              <a:buChar char="Ø"/>
              <a:defRPr/>
            </a:pPr>
            <a:r>
              <a:rPr lang="en-US" altLang="en-US" sz="1600" b="1">
                <a:solidFill>
                  <a:schemeClr val="tx1"/>
                </a:solidFill>
                <a:latin typeface="+mj-lt"/>
              </a:rPr>
              <a:t>Cấu trúc thư mục Project</a:t>
            </a:r>
          </a:p>
        </p:txBody>
      </p:sp>
      <p:sp>
        <p:nvSpPr>
          <p:cNvPr id="48" name="Text Box 50"/>
          <p:cNvSpPr txBox="1">
            <a:spLocks noChangeArrowheads="1"/>
          </p:cNvSpPr>
          <p:nvPr/>
        </p:nvSpPr>
        <p:spPr bwMode="auto">
          <a:xfrm>
            <a:off x="4800831" y="5813433"/>
            <a:ext cx="4143293" cy="830997"/>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l">
              <a:buFont typeface="Wingdings" panose="05000000000000000000" pitchFamily="2" charset="2"/>
              <a:buChar char="Ø"/>
              <a:defRPr/>
            </a:pPr>
            <a:r>
              <a:rPr lang="en-US" altLang="en-US" sz="1600" b="1">
                <a:solidFill>
                  <a:schemeClr val="tx1"/>
                </a:solidFill>
                <a:latin typeface="+mj-lt"/>
              </a:rPr>
              <a:t>Cài đặt máy ảo AVD hoặc Genymotion</a:t>
            </a:r>
          </a:p>
          <a:p>
            <a:pPr marL="285750" indent="-285750" algn="l">
              <a:buFont typeface="Wingdings" panose="05000000000000000000" pitchFamily="2" charset="2"/>
              <a:buChar char="Ø"/>
              <a:defRPr/>
            </a:pPr>
            <a:r>
              <a:rPr lang="en-US" altLang="en-US" sz="1600" b="1">
                <a:solidFill>
                  <a:schemeClr val="tx1"/>
                </a:solidFill>
                <a:latin typeface="+mj-lt"/>
              </a:rPr>
              <a:t>Chạy thử chương trình</a:t>
            </a:r>
          </a:p>
        </p:txBody>
      </p:sp>
      <p:sp>
        <p:nvSpPr>
          <p:cNvPr id="49" name="Shape 519"/>
          <p:cNvSpPr txBox="1">
            <a:spLocks/>
          </p:cNvSpPr>
          <p:nvPr/>
        </p:nvSpPr>
        <p:spPr bwMode="white">
          <a:xfrm>
            <a:off x="1041777" y="180655"/>
            <a:ext cx="7924800" cy="941388"/>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b="1" kern="0" err="1"/>
              <a:t>Tổng</a:t>
            </a:r>
            <a:r>
              <a:rPr lang="en-US" b="1" kern="0"/>
              <a:t> </a:t>
            </a:r>
            <a:r>
              <a:rPr lang="en-US" b="1" kern="0" err="1"/>
              <a:t>kết</a:t>
            </a:r>
            <a:endParaRPr lang="vi-VN" b="1" kern="0"/>
          </a:p>
        </p:txBody>
      </p:sp>
    </p:spTree>
    <p:extLst>
      <p:ext uri="{BB962C8B-B14F-4D97-AF65-F5344CB8AC3E}">
        <p14:creationId xmlns:p14="http://schemas.microsoft.com/office/powerpoint/2010/main" val="2405444126"/>
      </p:ext>
    </p:extLst>
  </p:cSld>
  <p:clrMapOvr>
    <a:masterClrMapping/>
  </p:clrMapOvr>
  <p:transition spd="slow"/>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6*min(max(#ppt_w*#ppt_h,.3),1)-7.4)/-.7*#ppt_w"/>
                                          </p:val>
                                        </p:tav>
                                        <p:tav tm="100000">
                                          <p:val>
                                            <p:strVal val="#ppt_w"/>
                                          </p:val>
                                        </p:tav>
                                      </p:tavLst>
                                    </p:anim>
                                    <p:anim calcmode="lin" valueType="num">
                                      <p:cBhvr>
                                        <p:cTn id="8" dur="500" fill="hold"/>
                                        <p:tgtEl>
                                          <p:spTgt spid="10"/>
                                        </p:tgtEl>
                                        <p:attrNameLst>
                                          <p:attrName>ppt_h</p:attrName>
                                        </p:attrNameLst>
                                      </p:cBhvr>
                                      <p:tavLst>
                                        <p:tav tm="0">
                                          <p:val>
                                            <p:strVal val="(6*min(max(#ppt_w*#ppt_h,.3),1)-7.4)/-.7*#ppt_h"/>
                                          </p:val>
                                        </p:tav>
                                        <p:tav tm="100000">
                                          <p:val>
                                            <p:strVal val="#ppt_h"/>
                                          </p:val>
                                        </p:tav>
                                      </p:tavLst>
                                    </p:anim>
                                    <p:anim calcmode="lin" valueType="num">
                                      <p:cBhvr>
                                        <p:cTn id="9" dur="500" fill="hold"/>
                                        <p:tgtEl>
                                          <p:spTgt spid="10"/>
                                        </p:tgtEl>
                                        <p:attrNameLst>
                                          <p:attrName>ppt_x</p:attrName>
                                        </p:attrNameLst>
                                      </p:cBhvr>
                                      <p:tavLst>
                                        <p:tav tm="0">
                                          <p:val>
                                            <p:fltVal val="0.5"/>
                                          </p:val>
                                        </p:tav>
                                        <p:tav tm="100000">
                                          <p:val>
                                            <p:strVal val="#ppt_x"/>
                                          </p:val>
                                        </p:tav>
                                      </p:tavLst>
                                    </p:anim>
                                    <p:anim calcmode="lin" valueType="num">
                                      <p:cBhvr>
                                        <p:cTn id="10" dur="500" fill="hold"/>
                                        <p:tgtEl>
                                          <p:spTgt spid="10"/>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up)">
                                      <p:cBhvr>
                                        <p:cTn id="30" dur="500"/>
                                        <p:tgtEl>
                                          <p:spTgt spid="24"/>
                                        </p:tgtEl>
                                      </p:cBhvr>
                                    </p:animEffect>
                                  </p:childTnLst>
                                </p:cTn>
                              </p:par>
                            </p:childTnLst>
                          </p:cTn>
                        </p:par>
                        <p:par>
                          <p:cTn id="31" fill="hold">
                            <p:stCondLst>
                              <p:cond delay="3000"/>
                            </p:stCondLst>
                            <p:childTnLst>
                              <p:par>
                                <p:cTn id="32" presetID="22" presetClass="entr" presetSubtype="1" fill="hold" nodeType="after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up)">
                                      <p:cBhvr>
                                        <p:cTn id="34" dur="500"/>
                                        <p:tgtEl>
                                          <p:spTgt spid="33"/>
                                        </p:tgtEl>
                                      </p:cBhvr>
                                    </p:animEffect>
                                  </p:childTnLst>
                                </p:cTn>
                              </p:par>
                            </p:childTnLst>
                          </p:cTn>
                        </p:par>
                        <p:par>
                          <p:cTn id="35" fill="hold">
                            <p:stCondLst>
                              <p:cond delay="3500"/>
                            </p:stCondLst>
                            <p:childTnLst>
                              <p:par>
                                <p:cTn id="36" presetID="22" presetClass="entr" presetSubtype="8" fill="hold" nodeType="after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left)">
                                      <p:cBhvr>
                                        <p:cTn id="38" dur="500"/>
                                        <p:tgtEl>
                                          <p:spTgt spid="25"/>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wipe(left)">
                                      <p:cBhvr>
                                        <p:cTn id="46" dur="500"/>
                                        <p:tgtEl>
                                          <p:spTgt spid="34"/>
                                        </p:tgtEl>
                                      </p:cBhvr>
                                    </p:animEffect>
                                  </p:childTnLst>
                                </p:cTn>
                              </p:par>
                            </p:childTnLst>
                          </p:cTn>
                        </p:par>
                        <p:par>
                          <p:cTn id="47" fill="hold">
                            <p:stCondLst>
                              <p:cond delay="5000"/>
                            </p:stCondLst>
                            <p:childTnLst>
                              <p:par>
                                <p:cTn id="48" presetID="22" presetClass="entr" presetSubtype="8" fill="hold" grpId="0" nodeType="after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wipe(left)">
                                      <p:cBhvr>
                                        <p:cTn id="50" dur="500"/>
                                        <p:tgtEl>
                                          <p:spTgt spid="35"/>
                                        </p:tgtEl>
                                      </p:cBhvr>
                                    </p:animEffect>
                                  </p:childTnLst>
                                </p:cTn>
                              </p:par>
                            </p:childTnLst>
                          </p:cTn>
                        </p:par>
                        <p:par>
                          <p:cTn id="51" fill="hold">
                            <p:stCondLst>
                              <p:cond delay="5500"/>
                            </p:stCondLst>
                            <p:childTnLst>
                              <p:par>
                                <p:cTn id="52" presetID="22" presetClass="exit" presetSubtype="8" repeatCount="indefinite" nodeType="afterEffect">
                                  <p:stCondLst>
                                    <p:cond delay="0"/>
                                  </p:stCondLst>
                                  <p:endCondLst>
                                    <p:cond evt="onNext" delay="0">
                                      <p:tgtEl>
                                        <p:sldTgt/>
                                      </p:tgtEl>
                                    </p:cond>
                                  </p:endCondLst>
                                  <p:childTnLst>
                                    <p:animEffect transition="out" filter="wipe(left)">
                                      <p:cBhvr>
                                        <p:cTn id="53" dur="500"/>
                                        <p:tgtEl>
                                          <p:spTgt spid="25"/>
                                        </p:tgtEl>
                                      </p:cBhvr>
                                    </p:animEffect>
                                    <p:set>
                                      <p:cBhvr>
                                        <p:cTn id="54" dur="1" fill="hold">
                                          <p:stCondLst>
                                            <p:cond delay="499"/>
                                          </p:stCondLst>
                                        </p:cTn>
                                        <p:tgtEl>
                                          <p:spTgt spid="2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5" presetClass="entr" presetSubtype="10" fill="hold" grpId="0" nodeType="clickEffect">
                                  <p:stCondLst>
                                    <p:cond delay="0"/>
                                  </p:stCondLst>
                                  <p:childTnLst>
                                    <p:set>
                                      <p:cBhvr>
                                        <p:cTn id="58" dur="1" fill="hold">
                                          <p:stCondLst>
                                            <p:cond delay="0"/>
                                          </p:stCondLst>
                                        </p:cTn>
                                        <p:tgtEl>
                                          <p:spTgt spid="45">
                                            <p:bg/>
                                          </p:spTgt>
                                        </p:tgtEl>
                                        <p:attrNameLst>
                                          <p:attrName>style.visibility</p:attrName>
                                        </p:attrNameLst>
                                      </p:cBhvr>
                                      <p:to>
                                        <p:strVal val="visible"/>
                                      </p:to>
                                    </p:set>
                                    <p:animEffect transition="in" filter="checkerboard(across)">
                                      <p:cBhvr>
                                        <p:cTn id="59" dur="500"/>
                                        <p:tgtEl>
                                          <p:spTgt spid="45">
                                            <p:bg/>
                                          </p:spTgt>
                                        </p:tgtEl>
                                      </p:cBhvr>
                                    </p:animEffect>
                                  </p:childTnLst>
                                </p:cTn>
                              </p:par>
                            </p:childTnLst>
                          </p:cTn>
                        </p:par>
                        <p:par>
                          <p:cTn id="60" fill="hold">
                            <p:stCondLst>
                              <p:cond delay="500"/>
                            </p:stCondLst>
                            <p:childTnLst>
                              <p:par>
                                <p:cTn id="61" presetID="5" presetClass="entr" presetSubtype="10" fill="hold" grpId="0" nodeType="afterEffect">
                                  <p:stCondLst>
                                    <p:cond delay="0"/>
                                  </p:stCondLst>
                                  <p:childTnLst>
                                    <p:set>
                                      <p:cBhvr>
                                        <p:cTn id="62" dur="1" fill="hold">
                                          <p:stCondLst>
                                            <p:cond delay="0"/>
                                          </p:stCondLst>
                                        </p:cTn>
                                        <p:tgtEl>
                                          <p:spTgt spid="45">
                                            <p:txEl>
                                              <p:pRg st="0" end="0"/>
                                            </p:txEl>
                                          </p:spTgt>
                                        </p:tgtEl>
                                        <p:attrNameLst>
                                          <p:attrName>style.visibility</p:attrName>
                                        </p:attrNameLst>
                                      </p:cBhvr>
                                      <p:to>
                                        <p:strVal val="visible"/>
                                      </p:to>
                                    </p:set>
                                    <p:animEffect transition="in" filter="checkerboard(across)">
                                      <p:cBhvr>
                                        <p:cTn id="63" dur="500"/>
                                        <p:tgtEl>
                                          <p:spTgt spid="45">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grpId="0" nodeType="clickEffect">
                                  <p:stCondLst>
                                    <p:cond delay="0"/>
                                  </p:stCondLst>
                                  <p:childTnLst>
                                    <p:set>
                                      <p:cBhvr>
                                        <p:cTn id="67" dur="1" fill="hold">
                                          <p:stCondLst>
                                            <p:cond delay="0"/>
                                          </p:stCondLst>
                                        </p:cTn>
                                        <p:tgtEl>
                                          <p:spTgt spid="46">
                                            <p:bg/>
                                          </p:spTgt>
                                        </p:tgtEl>
                                        <p:attrNameLst>
                                          <p:attrName>style.visibility</p:attrName>
                                        </p:attrNameLst>
                                      </p:cBhvr>
                                      <p:to>
                                        <p:strVal val="visible"/>
                                      </p:to>
                                    </p:set>
                                    <p:animEffect transition="in" filter="checkerboard(across)">
                                      <p:cBhvr>
                                        <p:cTn id="68" dur="500"/>
                                        <p:tgtEl>
                                          <p:spTgt spid="46">
                                            <p:bg/>
                                          </p:spTgt>
                                        </p:tgtEl>
                                      </p:cBhvr>
                                    </p:animEffect>
                                  </p:childTnLst>
                                </p:cTn>
                              </p:par>
                              <p:par>
                                <p:cTn id="69" presetID="5" presetClass="entr" presetSubtype="10" fill="hold" grpId="0" nodeType="withEffect">
                                  <p:stCondLst>
                                    <p:cond delay="0"/>
                                  </p:stCondLst>
                                  <p:childTnLst>
                                    <p:set>
                                      <p:cBhvr>
                                        <p:cTn id="70" dur="1" fill="hold">
                                          <p:stCondLst>
                                            <p:cond delay="0"/>
                                          </p:stCondLst>
                                        </p:cTn>
                                        <p:tgtEl>
                                          <p:spTgt spid="46">
                                            <p:txEl>
                                              <p:pRg st="0" end="0"/>
                                            </p:txEl>
                                          </p:spTgt>
                                        </p:tgtEl>
                                        <p:attrNameLst>
                                          <p:attrName>style.visibility</p:attrName>
                                        </p:attrNameLst>
                                      </p:cBhvr>
                                      <p:to>
                                        <p:strVal val="visible"/>
                                      </p:to>
                                    </p:set>
                                    <p:animEffect transition="in" filter="checkerboard(across)">
                                      <p:cBhvr>
                                        <p:cTn id="71" dur="500"/>
                                        <p:tgtEl>
                                          <p:spTgt spid="46">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5" presetClass="entr" presetSubtype="10" fill="hold" grpId="0" nodeType="clickEffect">
                                  <p:stCondLst>
                                    <p:cond delay="0"/>
                                  </p:stCondLst>
                                  <p:childTnLst>
                                    <p:set>
                                      <p:cBhvr>
                                        <p:cTn id="75" dur="1" fill="hold">
                                          <p:stCondLst>
                                            <p:cond delay="0"/>
                                          </p:stCondLst>
                                        </p:cTn>
                                        <p:tgtEl>
                                          <p:spTgt spid="46">
                                            <p:txEl>
                                              <p:pRg st="1" end="1"/>
                                            </p:txEl>
                                          </p:spTgt>
                                        </p:tgtEl>
                                        <p:attrNameLst>
                                          <p:attrName>style.visibility</p:attrName>
                                        </p:attrNameLst>
                                      </p:cBhvr>
                                      <p:to>
                                        <p:strVal val="visible"/>
                                      </p:to>
                                    </p:set>
                                    <p:animEffect transition="in" filter="checkerboard(across)">
                                      <p:cBhvr>
                                        <p:cTn id="76" dur="500"/>
                                        <p:tgtEl>
                                          <p:spTgt spid="46">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wipe(left)">
                                      <p:cBhvr>
                                        <p:cTn id="81" dur="1100"/>
                                        <p:tgtEl>
                                          <p:spTgt spid="36"/>
                                        </p:tgtEl>
                                      </p:cBhvr>
                                    </p:animEffect>
                                  </p:childTnLst>
                                </p:cTn>
                              </p:par>
                            </p:childTnLst>
                          </p:cTn>
                        </p:par>
                        <p:par>
                          <p:cTn id="82" fill="hold">
                            <p:stCondLst>
                              <p:cond delay="1100"/>
                            </p:stCondLst>
                            <p:childTnLst>
                              <p:par>
                                <p:cTn id="83" presetID="4" presetClass="entr" presetSubtype="32" fill="hold" grpId="0" nodeType="afterEffect">
                                  <p:stCondLst>
                                    <p:cond delay="0"/>
                                  </p:stCondLst>
                                  <p:childTnLst>
                                    <p:set>
                                      <p:cBhvr>
                                        <p:cTn id="84" dur="1" fill="hold">
                                          <p:stCondLst>
                                            <p:cond delay="0"/>
                                          </p:stCondLst>
                                        </p:cTn>
                                        <p:tgtEl>
                                          <p:spTgt spid="41"/>
                                        </p:tgtEl>
                                        <p:attrNameLst>
                                          <p:attrName>style.visibility</p:attrName>
                                        </p:attrNameLst>
                                      </p:cBhvr>
                                      <p:to>
                                        <p:strVal val="visible"/>
                                      </p:to>
                                    </p:set>
                                    <p:animEffect transition="in" filter="box(out)">
                                      <p:cBhvr>
                                        <p:cTn id="85" dur="500"/>
                                        <p:tgtEl>
                                          <p:spTgt spid="41"/>
                                        </p:tgtEl>
                                      </p:cBhvr>
                                    </p:animEffect>
                                  </p:childTnLst>
                                </p:cTn>
                              </p:par>
                            </p:childTnLst>
                          </p:cTn>
                        </p:par>
                        <p:par>
                          <p:cTn id="86" fill="hold">
                            <p:stCondLst>
                              <p:cond delay="1600"/>
                            </p:stCondLst>
                            <p:childTnLst>
                              <p:par>
                                <p:cTn id="87" presetID="22" presetClass="entr" presetSubtype="8" fill="hold" nodeType="afterEffect">
                                  <p:stCondLst>
                                    <p:cond delay="0"/>
                                  </p:stCondLst>
                                  <p:childTnLst>
                                    <p:set>
                                      <p:cBhvr>
                                        <p:cTn id="88" dur="1" fill="hold">
                                          <p:stCondLst>
                                            <p:cond delay="0"/>
                                          </p:stCondLst>
                                        </p:cTn>
                                        <p:tgtEl>
                                          <p:spTgt spid="37"/>
                                        </p:tgtEl>
                                        <p:attrNameLst>
                                          <p:attrName>style.visibility</p:attrName>
                                        </p:attrNameLst>
                                      </p:cBhvr>
                                      <p:to>
                                        <p:strVal val="visible"/>
                                      </p:to>
                                    </p:set>
                                    <p:animEffect transition="in" filter="wipe(left)">
                                      <p:cBhvr>
                                        <p:cTn id="89" dur="500"/>
                                        <p:tgtEl>
                                          <p:spTgt spid="37"/>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wipe(left)">
                                      <p:cBhvr>
                                        <p:cTn id="94" dur="500"/>
                                        <p:tgtEl>
                                          <p:spTgt spid="38"/>
                                        </p:tgtEl>
                                      </p:cBhvr>
                                    </p:animEffect>
                                  </p:childTnLst>
                                </p:cTn>
                              </p:par>
                            </p:childTnLst>
                          </p:cTn>
                        </p:par>
                        <p:par>
                          <p:cTn id="95" fill="hold">
                            <p:stCondLst>
                              <p:cond delay="500"/>
                            </p:stCondLst>
                            <p:childTnLst>
                              <p:par>
                                <p:cTn id="96" presetID="4" presetClass="entr" presetSubtype="32" fill="hold" grpId="0" nodeType="afterEffect">
                                  <p:stCondLst>
                                    <p:cond delay="0"/>
                                  </p:stCondLst>
                                  <p:childTnLst>
                                    <p:set>
                                      <p:cBhvr>
                                        <p:cTn id="97" dur="1" fill="hold">
                                          <p:stCondLst>
                                            <p:cond delay="0"/>
                                          </p:stCondLst>
                                        </p:cTn>
                                        <p:tgtEl>
                                          <p:spTgt spid="42"/>
                                        </p:tgtEl>
                                        <p:attrNameLst>
                                          <p:attrName>style.visibility</p:attrName>
                                        </p:attrNameLst>
                                      </p:cBhvr>
                                      <p:to>
                                        <p:strVal val="visible"/>
                                      </p:to>
                                    </p:set>
                                    <p:animEffect transition="in" filter="box(out)">
                                      <p:cBhvr>
                                        <p:cTn id="98" dur="500"/>
                                        <p:tgtEl>
                                          <p:spTgt spid="42"/>
                                        </p:tgtEl>
                                      </p:cBhvr>
                                    </p:animEffect>
                                  </p:childTnLst>
                                </p:cTn>
                              </p:par>
                            </p:childTnLst>
                          </p:cTn>
                        </p:par>
                        <p:par>
                          <p:cTn id="99" fill="hold">
                            <p:stCondLst>
                              <p:cond delay="1000"/>
                            </p:stCondLst>
                            <p:childTnLst>
                              <p:par>
                                <p:cTn id="100" presetID="22" presetClass="entr" presetSubtype="8" fill="hold" nodeType="after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wipe(left)">
                                      <p:cBhvr>
                                        <p:cTn id="102" dur="500"/>
                                        <p:tgtEl>
                                          <p:spTgt spid="39"/>
                                        </p:tgtEl>
                                      </p:cBhvr>
                                    </p:animEffect>
                                  </p:childTnLst>
                                </p:cTn>
                              </p:par>
                            </p:childTnLst>
                          </p:cTn>
                        </p:par>
                        <p:par>
                          <p:cTn id="103" fill="hold">
                            <p:stCondLst>
                              <p:cond delay="1500"/>
                            </p:stCondLst>
                            <p:childTnLst>
                              <p:par>
                                <p:cTn id="104" presetID="4" presetClass="entr" presetSubtype="32" fill="hold" grpId="0" nodeType="after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box(out)">
                                      <p:cBhvr>
                                        <p:cTn id="106" dur="500"/>
                                        <p:tgtEl>
                                          <p:spTgt spid="21"/>
                                        </p:tgtEl>
                                      </p:cBhvr>
                                    </p:animEffect>
                                  </p:childTnLst>
                                </p:cTn>
                              </p:par>
                              <p:par>
                                <p:cTn id="107" presetID="22" presetClass="exit" presetSubtype="8" repeatCount="indefinite" nodeType="withEffect">
                                  <p:stCondLst>
                                    <p:cond delay="0"/>
                                  </p:stCondLst>
                                  <p:endCondLst>
                                    <p:cond evt="onNext" delay="0">
                                      <p:tgtEl>
                                        <p:sldTgt/>
                                      </p:tgtEl>
                                    </p:cond>
                                  </p:endCondLst>
                                  <p:childTnLst>
                                    <p:animEffect transition="out" filter="wipe(left)">
                                      <p:cBhvr>
                                        <p:cTn id="108" dur="500"/>
                                        <p:tgtEl>
                                          <p:spTgt spid="37"/>
                                        </p:tgtEl>
                                      </p:cBhvr>
                                    </p:animEffect>
                                    <p:set>
                                      <p:cBhvr>
                                        <p:cTn id="109" dur="1" fill="hold">
                                          <p:stCondLst>
                                            <p:cond delay="499"/>
                                          </p:stCondLst>
                                        </p:cTn>
                                        <p:tgtEl>
                                          <p:spTgt spid="37"/>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5" presetClass="entr" presetSubtype="10" fill="hold" grpId="0" nodeType="clickEffect">
                                  <p:stCondLst>
                                    <p:cond delay="0"/>
                                  </p:stCondLst>
                                  <p:childTnLst>
                                    <p:set>
                                      <p:cBhvr>
                                        <p:cTn id="113" dur="1" fill="hold">
                                          <p:stCondLst>
                                            <p:cond delay="0"/>
                                          </p:stCondLst>
                                        </p:cTn>
                                        <p:tgtEl>
                                          <p:spTgt spid="19">
                                            <p:bg/>
                                          </p:spTgt>
                                        </p:tgtEl>
                                        <p:attrNameLst>
                                          <p:attrName>style.visibility</p:attrName>
                                        </p:attrNameLst>
                                      </p:cBhvr>
                                      <p:to>
                                        <p:strVal val="visible"/>
                                      </p:to>
                                    </p:set>
                                    <p:animEffect transition="in" filter="checkerboard(across)">
                                      <p:cBhvr>
                                        <p:cTn id="114" dur="500"/>
                                        <p:tgtEl>
                                          <p:spTgt spid="19">
                                            <p:bg/>
                                          </p:spTgt>
                                        </p:tgtEl>
                                      </p:cBhvr>
                                    </p:animEffect>
                                  </p:childTnLst>
                                </p:cTn>
                              </p:par>
                              <p:par>
                                <p:cTn id="115" presetID="5" presetClass="entr" presetSubtype="10" fill="hold" grpId="0" nodeType="withEffect">
                                  <p:stCondLst>
                                    <p:cond delay="0"/>
                                  </p:stCondLst>
                                  <p:childTnLst>
                                    <p:set>
                                      <p:cBhvr>
                                        <p:cTn id="116" dur="1" fill="hold">
                                          <p:stCondLst>
                                            <p:cond delay="0"/>
                                          </p:stCondLst>
                                        </p:cTn>
                                        <p:tgtEl>
                                          <p:spTgt spid="19">
                                            <p:txEl>
                                              <p:pRg st="0" end="0"/>
                                            </p:txEl>
                                          </p:spTgt>
                                        </p:tgtEl>
                                        <p:attrNameLst>
                                          <p:attrName>style.visibility</p:attrName>
                                        </p:attrNameLst>
                                      </p:cBhvr>
                                      <p:to>
                                        <p:strVal val="visible"/>
                                      </p:to>
                                    </p:set>
                                    <p:animEffect transition="in" filter="checkerboard(across)">
                                      <p:cBhvr>
                                        <p:cTn id="117" dur="500"/>
                                        <p:tgtEl>
                                          <p:spTgt spid="19">
                                            <p:txEl>
                                              <p:pRg st="0" end="0"/>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xit" presetSubtype="8" repeatCount="indefinite" nodeType="clickEffect">
                                  <p:stCondLst>
                                    <p:cond delay="0"/>
                                  </p:stCondLst>
                                  <p:endCondLst>
                                    <p:cond evt="onNext" delay="0">
                                      <p:tgtEl>
                                        <p:sldTgt/>
                                      </p:tgtEl>
                                    </p:cond>
                                  </p:endCondLst>
                                  <p:childTnLst>
                                    <p:animEffect transition="out" filter="wipe(left)">
                                      <p:cBhvr>
                                        <p:cTn id="121" dur="500"/>
                                        <p:tgtEl>
                                          <p:spTgt spid="38"/>
                                        </p:tgtEl>
                                      </p:cBhvr>
                                    </p:animEffect>
                                    <p:set>
                                      <p:cBhvr>
                                        <p:cTn id="122" dur="1" fill="hold">
                                          <p:stCondLst>
                                            <p:cond delay="499"/>
                                          </p:stCondLst>
                                        </p:cTn>
                                        <p:tgtEl>
                                          <p:spTgt spid="38"/>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5" presetClass="entr" presetSubtype="10" fill="hold" grpId="0" nodeType="clickEffect">
                                  <p:stCondLst>
                                    <p:cond delay="0"/>
                                  </p:stCondLst>
                                  <p:childTnLst>
                                    <p:set>
                                      <p:cBhvr>
                                        <p:cTn id="126" dur="1" fill="hold">
                                          <p:stCondLst>
                                            <p:cond delay="0"/>
                                          </p:stCondLst>
                                        </p:cTn>
                                        <p:tgtEl>
                                          <p:spTgt spid="40">
                                            <p:bg/>
                                          </p:spTgt>
                                        </p:tgtEl>
                                        <p:attrNameLst>
                                          <p:attrName>style.visibility</p:attrName>
                                        </p:attrNameLst>
                                      </p:cBhvr>
                                      <p:to>
                                        <p:strVal val="visible"/>
                                      </p:to>
                                    </p:set>
                                    <p:animEffect transition="in" filter="checkerboard(across)">
                                      <p:cBhvr>
                                        <p:cTn id="127" dur="500"/>
                                        <p:tgtEl>
                                          <p:spTgt spid="40">
                                            <p:bg/>
                                          </p:spTgt>
                                        </p:tgtEl>
                                      </p:cBhvr>
                                    </p:animEffect>
                                  </p:childTnLst>
                                </p:cTn>
                              </p:par>
                              <p:par>
                                <p:cTn id="128" presetID="5" presetClass="entr" presetSubtype="10" fill="hold" grpId="0" nodeType="withEffect">
                                  <p:stCondLst>
                                    <p:cond delay="0"/>
                                  </p:stCondLst>
                                  <p:childTnLst>
                                    <p:set>
                                      <p:cBhvr>
                                        <p:cTn id="129" dur="1" fill="hold">
                                          <p:stCondLst>
                                            <p:cond delay="0"/>
                                          </p:stCondLst>
                                        </p:cTn>
                                        <p:tgtEl>
                                          <p:spTgt spid="40">
                                            <p:txEl>
                                              <p:pRg st="0" end="0"/>
                                            </p:txEl>
                                          </p:spTgt>
                                        </p:tgtEl>
                                        <p:attrNameLst>
                                          <p:attrName>style.visibility</p:attrName>
                                        </p:attrNameLst>
                                      </p:cBhvr>
                                      <p:to>
                                        <p:strVal val="visible"/>
                                      </p:to>
                                    </p:set>
                                    <p:animEffect transition="in" filter="checkerboard(across)">
                                      <p:cBhvr>
                                        <p:cTn id="130" dur="500"/>
                                        <p:tgtEl>
                                          <p:spTgt spid="40">
                                            <p:txEl>
                                              <p:pRg st="0" end="0"/>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5" presetClass="entr" presetSubtype="10" fill="hold" grpId="0" nodeType="clickEffect">
                                  <p:stCondLst>
                                    <p:cond delay="0"/>
                                  </p:stCondLst>
                                  <p:childTnLst>
                                    <p:set>
                                      <p:cBhvr>
                                        <p:cTn id="134" dur="1" fill="hold">
                                          <p:stCondLst>
                                            <p:cond delay="0"/>
                                          </p:stCondLst>
                                        </p:cTn>
                                        <p:tgtEl>
                                          <p:spTgt spid="40">
                                            <p:txEl>
                                              <p:pRg st="1" end="1"/>
                                            </p:txEl>
                                          </p:spTgt>
                                        </p:tgtEl>
                                        <p:attrNameLst>
                                          <p:attrName>style.visibility</p:attrName>
                                        </p:attrNameLst>
                                      </p:cBhvr>
                                      <p:to>
                                        <p:strVal val="visible"/>
                                      </p:to>
                                    </p:set>
                                    <p:animEffect transition="in" filter="checkerboard(across)">
                                      <p:cBhvr>
                                        <p:cTn id="135" dur="500"/>
                                        <p:tgtEl>
                                          <p:spTgt spid="40">
                                            <p:txEl>
                                              <p:pRg st="1" end="1"/>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xit" presetSubtype="8" repeatCount="indefinite" nodeType="clickEffect">
                                  <p:stCondLst>
                                    <p:cond delay="0"/>
                                  </p:stCondLst>
                                  <p:endCondLst>
                                    <p:cond evt="onNext" delay="0">
                                      <p:tgtEl>
                                        <p:sldTgt/>
                                      </p:tgtEl>
                                    </p:cond>
                                  </p:endCondLst>
                                  <p:childTnLst>
                                    <p:animEffect transition="out" filter="wipe(left)">
                                      <p:cBhvr>
                                        <p:cTn id="139" dur="500"/>
                                        <p:tgtEl>
                                          <p:spTgt spid="39"/>
                                        </p:tgtEl>
                                      </p:cBhvr>
                                    </p:animEffect>
                                    <p:set>
                                      <p:cBhvr>
                                        <p:cTn id="140" dur="1" fill="hold">
                                          <p:stCondLst>
                                            <p:cond delay="499"/>
                                          </p:stCondLst>
                                        </p:cTn>
                                        <p:tgtEl>
                                          <p:spTgt spid="39"/>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5" presetClass="entr" presetSubtype="10" fill="hold" grpId="0" nodeType="clickEffect">
                                  <p:stCondLst>
                                    <p:cond delay="0"/>
                                  </p:stCondLst>
                                  <p:childTnLst>
                                    <p:set>
                                      <p:cBhvr>
                                        <p:cTn id="144" dur="1" fill="hold">
                                          <p:stCondLst>
                                            <p:cond delay="0"/>
                                          </p:stCondLst>
                                        </p:cTn>
                                        <p:tgtEl>
                                          <p:spTgt spid="44">
                                            <p:bg/>
                                          </p:spTgt>
                                        </p:tgtEl>
                                        <p:attrNameLst>
                                          <p:attrName>style.visibility</p:attrName>
                                        </p:attrNameLst>
                                      </p:cBhvr>
                                      <p:to>
                                        <p:strVal val="visible"/>
                                      </p:to>
                                    </p:set>
                                    <p:animEffect transition="in" filter="checkerboard(across)">
                                      <p:cBhvr>
                                        <p:cTn id="145" dur="500"/>
                                        <p:tgtEl>
                                          <p:spTgt spid="44">
                                            <p:bg/>
                                          </p:spTgt>
                                        </p:tgtEl>
                                      </p:cBhvr>
                                    </p:animEffect>
                                  </p:childTnLst>
                                </p:cTn>
                              </p:par>
                              <p:par>
                                <p:cTn id="146" presetID="5" presetClass="entr" presetSubtype="10" fill="hold" grpId="0" nodeType="withEffect">
                                  <p:stCondLst>
                                    <p:cond delay="0"/>
                                  </p:stCondLst>
                                  <p:childTnLst>
                                    <p:set>
                                      <p:cBhvr>
                                        <p:cTn id="147" dur="1" fill="hold">
                                          <p:stCondLst>
                                            <p:cond delay="0"/>
                                          </p:stCondLst>
                                        </p:cTn>
                                        <p:tgtEl>
                                          <p:spTgt spid="44">
                                            <p:txEl>
                                              <p:pRg st="0" end="0"/>
                                            </p:txEl>
                                          </p:spTgt>
                                        </p:tgtEl>
                                        <p:attrNameLst>
                                          <p:attrName>style.visibility</p:attrName>
                                        </p:attrNameLst>
                                      </p:cBhvr>
                                      <p:to>
                                        <p:strVal val="visible"/>
                                      </p:to>
                                    </p:set>
                                    <p:animEffect transition="in" filter="checkerboard(across)">
                                      <p:cBhvr>
                                        <p:cTn id="148" dur="500"/>
                                        <p:tgtEl>
                                          <p:spTgt spid="44">
                                            <p:txEl>
                                              <p:pRg st="0" end="0"/>
                                            </p:txEl>
                                          </p:spTgt>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22"/>
                                        </p:tgtEl>
                                        <p:attrNameLst>
                                          <p:attrName>style.visibility</p:attrName>
                                        </p:attrNameLst>
                                      </p:cBhvr>
                                      <p:to>
                                        <p:strVal val="visible"/>
                                      </p:to>
                                    </p:set>
                                    <p:animEffect transition="in" filter="wipe(left)">
                                      <p:cBhvr>
                                        <p:cTn id="153" dur="1100"/>
                                        <p:tgtEl>
                                          <p:spTgt spid="22"/>
                                        </p:tgtEl>
                                      </p:cBhvr>
                                    </p:animEffec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0" nodeType="clickEffect">
                                  <p:stCondLst>
                                    <p:cond delay="0"/>
                                  </p:stCondLst>
                                  <p:childTnLst>
                                    <p:set>
                                      <p:cBhvr>
                                        <p:cTn id="157" dur="1" fill="hold">
                                          <p:stCondLst>
                                            <p:cond delay="499"/>
                                          </p:stCondLst>
                                        </p:cTn>
                                        <p:tgtEl>
                                          <p:spTgt spid="13"/>
                                        </p:tgtEl>
                                        <p:attrNameLst>
                                          <p:attrName>style.visibility</p:attrName>
                                        </p:attrNameLst>
                                      </p:cBhvr>
                                      <p:to>
                                        <p:strVal val="visible"/>
                                      </p:to>
                                    </p:set>
                                  </p:childTnLst>
                                </p:cTn>
                              </p:par>
                              <p:par>
                                <p:cTn id="158" presetID="22" presetClass="entr" presetSubtype="8" fill="hold" nodeType="withEffect">
                                  <p:stCondLst>
                                    <p:cond delay="0"/>
                                  </p:stCondLst>
                                  <p:childTnLst>
                                    <p:set>
                                      <p:cBhvr>
                                        <p:cTn id="159" dur="1" fill="hold">
                                          <p:stCondLst>
                                            <p:cond delay="0"/>
                                          </p:stCondLst>
                                        </p:cTn>
                                        <p:tgtEl>
                                          <p:spTgt spid="28"/>
                                        </p:tgtEl>
                                        <p:attrNameLst>
                                          <p:attrName>style.visibility</p:attrName>
                                        </p:attrNameLst>
                                      </p:cBhvr>
                                      <p:to>
                                        <p:strVal val="visible"/>
                                      </p:to>
                                    </p:set>
                                    <p:animEffect transition="in" filter="wipe(left)">
                                      <p:cBhvr>
                                        <p:cTn id="160" dur="500"/>
                                        <p:tgtEl>
                                          <p:spTgt spid="28"/>
                                        </p:tgtEl>
                                      </p:cBhvr>
                                    </p:animEffec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499"/>
                                          </p:stCondLst>
                                        </p:cTn>
                                        <p:tgtEl>
                                          <p:spTgt spid="20"/>
                                        </p:tgtEl>
                                        <p:attrNameLst>
                                          <p:attrName>style.visibility</p:attrName>
                                        </p:attrNameLst>
                                      </p:cBhvr>
                                      <p:to>
                                        <p:strVal val="visible"/>
                                      </p:to>
                                    </p:set>
                                  </p:childTnLst>
                                </p:cTn>
                              </p:par>
                              <p:par>
                                <p:cTn id="165" presetID="22" presetClass="entr" presetSubtype="8" fill="hold" nodeType="withEffect">
                                  <p:stCondLst>
                                    <p:cond delay="0"/>
                                  </p:stCondLst>
                                  <p:childTnLst>
                                    <p:set>
                                      <p:cBhvr>
                                        <p:cTn id="166" dur="1" fill="hold">
                                          <p:stCondLst>
                                            <p:cond delay="0"/>
                                          </p:stCondLst>
                                        </p:cTn>
                                        <p:tgtEl>
                                          <p:spTgt spid="29"/>
                                        </p:tgtEl>
                                        <p:attrNameLst>
                                          <p:attrName>style.visibility</p:attrName>
                                        </p:attrNameLst>
                                      </p:cBhvr>
                                      <p:to>
                                        <p:strVal val="visible"/>
                                      </p:to>
                                    </p:set>
                                    <p:animEffect transition="in" filter="wipe(left)">
                                      <p:cBhvr>
                                        <p:cTn id="167" dur="500"/>
                                        <p:tgtEl>
                                          <p:spTgt spid="29"/>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xit" presetSubtype="8" repeatCount="indefinite" nodeType="clickEffect">
                                  <p:stCondLst>
                                    <p:cond delay="0"/>
                                  </p:stCondLst>
                                  <p:endCondLst>
                                    <p:cond evt="onNext" delay="0">
                                      <p:tgtEl>
                                        <p:sldTgt/>
                                      </p:tgtEl>
                                    </p:cond>
                                  </p:endCondLst>
                                  <p:childTnLst>
                                    <p:animEffect transition="out" filter="wipe(left)">
                                      <p:cBhvr>
                                        <p:cTn id="171" dur="500"/>
                                        <p:tgtEl>
                                          <p:spTgt spid="28"/>
                                        </p:tgtEl>
                                      </p:cBhvr>
                                    </p:animEffect>
                                    <p:set>
                                      <p:cBhvr>
                                        <p:cTn id="172" dur="1" fill="hold">
                                          <p:stCondLst>
                                            <p:cond delay="499"/>
                                          </p:stCondLst>
                                        </p:cTn>
                                        <p:tgtEl>
                                          <p:spTgt spid="28"/>
                                        </p:tgtEl>
                                        <p:attrNameLst>
                                          <p:attrName>style.visibility</p:attrName>
                                        </p:attrNameLst>
                                      </p:cBhvr>
                                      <p:to>
                                        <p:strVal val="hidden"/>
                                      </p:to>
                                    </p:set>
                                  </p:childTnLst>
                                </p:cTn>
                              </p:par>
                            </p:childTnLst>
                          </p:cTn>
                        </p:par>
                      </p:childTnLst>
                    </p:cTn>
                  </p:par>
                  <p:par>
                    <p:cTn id="173" fill="hold">
                      <p:stCondLst>
                        <p:cond delay="indefinite"/>
                      </p:stCondLst>
                      <p:childTnLst>
                        <p:par>
                          <p:cTn id="174" fill="hold">
                            <p:stCondLst>
                              <p:cond delay="0"/>
                            </p:stCondLst>
                            <p:childTnLst>
                              <p:par>
                                <p:cTn id="175" presetID="5" presetClass="entr" presetSubtype="10" fill="hold" grpId="0" nodeType="clickEffect">
                                  <p:stCondLst>
                                    <p:cond delay="0"/>
                                  </p:stCondLst>
                                  <p:childTnLst>
                                    <p:set>
                                      <p:cBhvr>
                                        <p:cTn id="176" dur="1" fill="hold">
                                          <p:stCondLst>
                                            <p:cond delay="0"/>
                                          </p:stCondLst>
                                        </p:cTn>
                                        <p:tgtEl>
                                          <p:spTgt spid="47">
                                            <p:bg/>
                                          </p:spTgt>
                                        </p:tgtEl>
                                        <p:attrNameLst>
                                          <p:attrName>style.visibility</p:attrName>
                                        </p:attrNameLst>
                                      </p:cBhvr>
                                      <p:to>
                                        <p:strVal val="visible"/>
                                      </p:to>
                                    </p:set>
                                    <p:animEffect transition="in" filter="checkerboard(across)">
                                      <p:cBhvr>
                                        <p:cTn id="177" dur="500"/>
                                        <p:tgtEl>
                                          <p:spTgt spid="47">
                                            <p:bg/>
                                          </p:spTgt>
                                        </p:tgtEl>
                                      </p:cBhvr>
                                    </p:animEffect>
                                  </p:childTnLst>
                                </p:cTn>
                              </p:par>
                            </p:childTnLst>
                          </p:cTn>
                        </p:par>
                        <p:par>
                          <p:cTn id="178" fill="hold">
                            <p:stCondLst>
                              <p:cond delay="500"/>
                            </p:stCondLst>
                            <p:childTnLst>
                              <p:par>
                                <p:cTn id="179" presetID="5" presetClass="entr" presetSubtype="10" fill="hold" grpId="0" nodeType="afterEffect">
                                  <p:stCondLst>
                                    <p:cond delay="0"/>
                                  </p:stCondLst>
                                  <p:childTnLst>
                                    <p:set>
                                      <p:cBhvr>
                                        <p:cTn id="180" dur="1" fill="hold">
                                          <p:stCondLst>
                                            <p:cond delay="0"/>
                                          </p:stCondLst>
                                        </p:cTn>
                                        <p:tgtEl>
                                          <p:spTgt spid="47">
                                            <p:txEl>
                                              <p:pRg st="0" end="0"/>
                                            </p:txEl>
                                          </p:spTgt>
                                        </p:tgtEl>
                                        <p:attrNameLst>
                                          <p:attrName>style.visibility</p:attrName>
                                        </p:attrNameLst>
                                      </p:cBhvr>
                                      <p:to>
                                        <p:strVal val="visible"/>
                                      </p:to>
                                    </p:set>
                                    <p:animEffect transition="in" filter="checkerboard(across)">
                                      <p:cBhvr>
                                        <p:cTn id="181" dur="500"/>
                                        <p:tgtEl>
                                          <p:spTgt spid="47">
                                            <p:txEl>
                                              <p:pRg st="0" end="0"/>
                                            </p:txEl>
                                          </p:spTgt>
                                        </p:tgtEl>
                                      </p:cBhvr>
                                    </p:animEffect>
                                  </p:childTnLst>
                                </p:cTn>
                              </p:par>
                            </p:childTnLst>
                          </p:cTn>
                        </p:par>
                      </p:childTnLst>
                    </p:cTn>
                  </p:par>
                  <p:par>
                    <p:cTn id="182" fill="hold">
                      <p:stCondLst>
                        <p:cond delay="indefinite"/>
                      </p:stCondLst>
                      <p:childTnLst>
                        <p:par>
                          <p:cTn id="183" fill="hold">
                            <p:stCondLst>
                              <p:cond delay="0"/>
                            </p:stCondLst>
                            <p:childTnLst>
                              <p:par>
                                <p:cTn id="184" presetID="5" presetClass="entr" presetSubtype="10" fill="hold" grpId="0" nodeType="clickEffect">
                                  <p:stCondLst>
                                    <p:cond delay="0"/>
                                  </p:stCondLst>
                                  <p:childTnLst>
                                    <p:set>
                                      <p:cBhvr>
                                        <p:cTn id="185" dur="1" fill="hold">
                                          <p:stCondLst>
                                            <p:cond delay="0"/>
                                          </p:stCondLst>
                                        </p:cTn>
                                        <p:tgtEl>
                                          <p:spTgt spid="47">
                                            <p:txEl>
                                              <p:pRg st="1" end="1"/>
                                            </p:txEl>
                                          </p:spTgt>
                                        </p:tgtEl>
                                        <p:attrNameLst>
                                          <p:attrName>style.visibility</p:attrName>
                                        </p:attrNameLst>
                                      </p:cBhvr>
                                      <p:to>
                                        <p:strVal val="visible"/>
                                      </p:to>
                                    </p:set>
                                    <p:animEffect transition="in" filter="checkerboard(across)">
                                      <p:cBhvr>
                                        <p:cTn id="186" dur="500"/>
                                        <p:tgtEl>
                                          <p:spTgt spid="47">
                                            <p:txEl>
                                              <p:pRg st="1" end="1"/>
                                            </p:txEl>
                                          </p:spTgt>
                                        </p:tgtEl>
                                      </p:cBhvr>
                                    </p:animEffect>
                                  </p:childTnLst>
                                </p:cTn>
                              </p:par>
                            </p:childTnLst>
                          </p:cTn>
                        </p:par>
                      </p:childTnLst>
                    </p:cTn>
                  </p:par>
                  <p:par>
                    <p:cTn id="187" fill="hold">
                      <p:stCondLst>
                        <p:cond delay="indefinite"/>
                      </p:stCondLst>
                      <p:childTnLst>
                        <p:par>
                          <p:cTn id="188" fill="hold">
                            <p:stCondLst>
                              <p:cond delay="0"/>
                            </p:stCondLst>
                            <p:childTnLst>
                              <p:par>
                                <p:cTn id="189" presetID="22" presetClass="exit" presetSubtype="8" repeatCount="indefinite" nodeType="clickEffect">
                                  <p:stCondLst>
                                    <p:cond delay="0"/>
                                  </p:stCondLst>
                                  <p:endCondLst>
                                    <p:cond evt="onNext" delay="0">
                                      <p:tgtEl>
                                        <p:sldTgt/>
                                      </p:tgtEl>
                                    </p:cond>
                                  </p:endCondLst>
                                  <p:childTnLst>
                                    <p:animEffect transition="out" filter="wipe(left)">
                                      <p:cBhvr>
                                        <p:cTn id="190" dur="500"/>
                                        <p:tgtEl>
                                          <p:spTgt spid="29"/>
                                        </p:tgtEl>
                                      </p:cBhvr>
                                    </p:animEffect>
                                    <p:set>
                                      <p:cBhvr>
                                        <p:cTn id="191" dur="1" fill="hold">
                                          <p:stCondLst>
                                            <p:cond delay="499"/>
                                          </p:stCondLst>
                                        </p:cTn>
                                        <p:tgtEl>
                                          <p:spTgt spid="29"/>
                                        </p:tgtEl>
                                        <p:attrNameLst>
                                          <p:attrName>style.visibility</p:attrName>
                                        </p:attrNameLst>
                                      </p:cBhvr>
                                      <p:to>
                                        <p:strVal val="hidden"/>
                                      </p:to>
                                    </p:set>
                                  </p:childTnLst>
                                </p:cTn>
                              </p:par>
                            </p:childTnLst>
                          </p:cTn>
                        </p:par>
                      </p:childTnLst>
                    </p:cTn>
                  </p:par>
                  <p:par>
                    <p:cTn id="192" fill="hold">
                      <p:stCondLst>
                        <p:cond delay="indefinite"/>
                      </p:stCondLst>
                      <p:childTnLst>
                        <p:par>
                          <p:cTn id="193" fill="hold">
                            <p:stCondLst>
                              <p:cond delay="0"/>
                            </p:stCondLst>
                            <p:childTnLst>
                              <p:par>
                                <p:cTn id="194" presetID="5" presetClass="entr" presetSubtype="10" fill="hold" grpId="0" nodeType="clickEffect">
                                  <p:stCondLst>
                                    <p:cond delay="0"/>
                                  </p:stCondLst>
                                  <p:childTnLst>
                                    <p:set>
                                      <p:cBhvr>
                                        <p:cTn id="195" dur="1" fill="hold">
                                          <p:stCondLst>
                                            <p:cond delay="0"/>
                                          </p:stCondLst>
                                        </p:cTn>
                                        <p:tgtEl>
                                          <p:spTgt spid="48">
                                            <p:bg/>
                                          </p:spTgt>
                                        </p:tgtEl>
                                        <p:attrNameLst>
                                          <p:attrName>style.visibility</p:attrName>
                                        </p:attrNameLst>
                                      </p:cBhvr>
                                      <p:to>
                                        <p:strVal val="visible"/>
                                      </p:to>
                                    </p:set>
                                    <p:animEffect transition="in" filter="checkerboard(across)">
                                      <p:cBhvr>
                                        <p:cTn id="196" dur="500"/>
                                        <p:tgtEl>
                                          <p:spTgt spid="48">
                                            <p:bg/>
                                          </p:spTgt>
                                        </p:tgtEl>
                                      </p:cBhvr>
                                    </p:animEffect>
                                  </p:childTnLst>
                                </p:cTn>
                              </p:par>
                            </p:childTnLst>
                          </p:cTn>
                        </p:par>
                        <p:par>
                          <p:cTn id="197" fill="hold">
                            <p:stCondLst>
                              <p:cond delay="500"/>
                            </p:stCondLst>
                            <p:childTnLst>
                              <p:par>
                                <p:cTn id="198" presetID="5" presetClass="entr" presetSubtype="10" fill="hold" grpId="0" nodeType="afterEffect">
                                  <p:stCondLst>
                                    <p:cond delay="0"/>
                                  </p:stCondLst>
                                  <p:childTnLst>
                                    <p:set>
                                      <p:cBhvr>
                                        <p:cTn id="199" dur="1" fill="hold">
                                          <p:stCondLst>
                                            <p:cond delay="0"/>
                                          </p:stCondLst>
                                        </p:cTn>
                                        <p:tgtEl>
                                          <p:spTgt spid="48">
                                            <p:txEl>
                                              <p:pRg st="0" end="0"/>
                                            </p:txEl>
                                          </p:spTgt>
                                        </p:tgtEl>
                                        <p:attrNameLst>
                                          <p:attrName>style.visibility</p:attrName>
                                        </p:attrNameLst>
                                      </p:cBhvr>
                                      <p:to>
                                        <p:strVal val="visible"/>
                                      </p:to>
                                    </p:set>
                                    <p:animEffect transition="in" filter="checkerboard(across)">
                                      <p:cBhvr>
                                        <p:cTn id="200" dur="500"/>
                                        <p:tgtEl>
                                          <p:spTgt spid="48">
                                            <p:txEl>
                                              <p:pRg st="0" end="0"/>
                                            </p:txEl>
                                          </p:spTgt>
                                        </p:tgtEl>
                                      </p:cBhvr>
                                    </p:animEffect>
                                  </p:childTnLst>
                                </p:cTn>
                              </p:par>
                            </p:childTnLst>
                          </p:cTn>
                        </p:par>
                      </p:childTnLst>
                    </p:cTn>
                  </p:par>
                  <p:par>
                    <p:cTn id="201" fill="hold">
                      <p:stCondLst>
                        <p:cond delay="indefinite"/>
                      </p:stCondLst>
                      <p:childTnLst>
                        <p:par>
                          <p:cTn id="202" fill="hold">
                            <p:stCondLst>
                              <p:cond delay="0"/>
                            </p:stCondLst>
                            <p:childTnLst>
                              <p:par>
                                <p:cTn id="203" presetID="5" presetClass="entr" presetSubtype="10" fill="hold" grpId="0" nodeType="clickEffect">
                                  <p:stCondLst>
                                    <p:cond delay="0"/>
                                  </p:stCondLst>
                                  <p:childTnLst>
                                    <p:set>
                                      <p:cBhvr>
                                        <p:cTn id="204" dur="1" fill="hold">
                                          <p:stCondLst>
                                            <p:cond delay="0"/>
                                          </p:stCondLst>
                                        </p:cTn>
                                        <p:tgtEl>
                                          <p:spTgt spid="48">
                                            <p:txEl>
                                              <p:pRg st="1" end="1"/>
                                            </p:txEl>
                                          </p:spTgt>
                                        </p:tgtEl>
                                        <p:attrNameLst>
                                          <p:attrName>style.visibility</p:attrName>
                                        </p:attrNameLst>
                                      </p:cBhvr>
                                      <p:to>
                                        <p:strVal val="visible"/>
                                      </p:to>
                                    </p:set>
                                    <p:animEffect transition="in" filter="checkerboard(across)">
                                      <p:cBhvr>
                                        <p:cTn id="205" dur="500"/>
                                        <p:tgtEl>
                                          <p:spTgt spid="4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utoUpdateAnimBg="0"/>
      <p:bldP spid="13" grpId="0" autoUpdateAnimBg="0"/>
      <p:bldP spid="14" grpId="0" autoUpdateAnimBg="0"/>
      <p:bldP spid="18" grpId="0" autoUpdateAnimBg="0"/>
      <p:bldP spid="19" grpId="0" uiExpand="1" build="p" animBg="1"/>
      <p:bldP spid="20" grpId="0" autoUpdateAnimBg="0"/>
      <p:bldP spid="21" grpId="0" autoUpdateAnimBg="0"/>
      <p:bldP spid="34" grpId="0" animBg="1"/>
      <p:bldP spid="35" grpId="0" autoUpdateAnimBg="0"/>
      <p:bldP spid="40" grpId="0" uiExpand="1" build="p" animBg="1"/>
      <p:bldP spid="41" grpId="0" autoUpdateAnimBg="0"/>
      <p:bldP spid="42" grpId="0" autoUpdateAnimBg="0"/>
      <p:bldP spid="44" grpId="0" uiExpand="1" build="p" animBg="1"/>
      <p:bldP spid="45" grpId="0" uiExpand="1" build="p" animBg="1"/>
      <p:bldP spid="46" grpId="0" uiExpand="1" build="p" animBg="1"/>
      <p:bldP spid="47" grpId="0" uiExpand="1" build="p" animBg="1"/>
      <p:bldP spid="48" grpId="0" uiExpand="1" build="p"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52</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Câu</a:t>
            </a:r>
            <a:r>
              <a:rPr lang="en-US" sz="2800" b="1" kern="0"/>
              <a:t> </a:t>
            </a:r>
            <a:r>
              <a:rPr lang="en-US" sz="2800" b="1" kern="0" err="1"/>
              <a:t>hỏi</a:t>
            </a:r>
            <a:r>
              <a:rPr lang="en-US" sz="2800" b="1" kern="0"/>
              <a:t> </a:t>
            </a:r>
            <a:r>
              <a:rPr lang="en-US" sz="2800" b="1" kern="0" err="1"/>
              <a:t>lý</a:t>
            </a:r>
            <a:r>
              <a:rPr lang="en-US" sz="2800" b="1" kern="0"/>
              <a:t> </a:t>
            </a:r>
            <a:r>
              <a:rPr lang="en-US" sz="2800" b="1" kern="0" err="1"/>
              <a:t>thuyết</a:t>
            </a:r>
            <a:endParaRPr lang="vi-VN" sz="2800" b="1" kern="0"/>
          </a:p>
        </p:txBody>
      </p:sp>
      <p:sp>
        <p:nvSpPr>
          <p:cNvPr id="5" name="Shape 1331"/>
          <p:cNvSpPr>
            <a:spLocks noGrp="1"/>
          </p:cNvSpPr>
          <p:nvPr>
            <p:ph type="body" idx="4294967295"/>
          </p:nvPr>
        </p:nvSpPr>
        <p:spPr>
          <a:xfrm>
            <a:off x="606244" y="1371600"/>
            <a:ext cx="7865404" cy="4572002"/>
          </a:xfrm>
          <a:prstGeom prst="rect">
            <a:avLst/>
          </a:prstGeom>
          <a:extLst>
            <a:ext uri="{C572A759-6A51-4108-AA02-DFA0A04FC94B}">
              <ma14:wrappingTextBoxFlag xmlns="" xmlns:ma14="http://schemas.microsoft.com/office/mac/drawingml/2011/main" val="1"/>
            </a:ext>
          </a:extLst>
        </p:spPr>
        <p:txBody>
          <a:bodyPr>
            <a:normAutofit/>
          </a:bodyPr>
          <a:lstStyle/>
          <a:p>
            <a:pPr marL="514350" indent="-514350">
              <a:buFontTx/>
              <a:buAutoNum type="arabicPeriod"/>
            </a:pPr>
            <a:r>
              <a:t>Hãy </a:t>
            </a:r>
            <a:r>
              <a:rPr lang="en-US"/>
              <a:t>nêu những thành tựu, sự phát triển của Android trong chiều dài lịch sử đến nay?</a:t>
            </a:r>
            <a:endParaRPr/>
          </a:p>
          <a:p>
            <a:pPr marL="514350" indent="-514350">
              <a:buFontTx/>
              <a:buAutoNum type="arabicPeriod"/>
            </a:pPr>
            <a:r>
              <a:rPr lang="en-US"/>
              <a:t>Lập trình Android là gì? Nêu môi trường cần thiết để lập trình Android</a:t>
            </a:r>
            <a:endParaRPr/>
          </a:p>
          <a:p>
            <a:pPr marL="514350" indent="-514350">
              <a:buFontTx/>
              <a:buAutoNum type="arabicPeriod"/>
            </a:pPr>
            <a:r>
              <a:rPr lang="en-US"/>
              <a:t>Sự khác nhau của máy ảo AVD và Genymotion</a:t>
            </a:r>
            <a:endParaRPr/>
          </a:p>
          <a:p>
            <a:pPr marL="514350" indent="-514350">
              <a:buFontTx/>
              <a:buAutoNum type="arabicPeriod"/>
            </a:pPr>
            <a:r>
              <a:rPr lang="en-US"/>
              <a:t>Nêu cấu trúc của cây thư mục project Android</a:t>
            </a:r>
            <a:endParaRPr/>
          </a:p>
        </p:txBody>
      </p:sp>
    </p:spTree>
    <p:extLst>
      <p:ext uri="{BB962C8B-B14F-4D97-AF65-F5344CB8AC3E}">
        <p14:creationId xmlns:p14="http://schemas.microsoft.com/office/powerpoint/2010/main" val="3243880880"/>
      </p:ext>
    </p:extLst>
  </p:cSld>
  <p:clrMapOvr>
    <a:masterClrMapping/>
  </p:clrMapOvr>
  <p:transition spd="slow"/>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53</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Bài</a:t>
            </a:r>
            <a:r>
              <a:rPr lang="en-US" sz="2800" b="1" kern="0"/>
              <a:t> </a:t>
            </a:r>
            <a:r>
              <a:rPr lang="en-US" sz="2800" b="1" kern="0" err="1"/>
              <a:t>tập</a:t>
            </a:r>
            <a:endParaRPr lang="vi-VN" sz="2800" b="1" kern="0"/>
          </a:p>
        </p:txBody>
      </p:sp>
      <p:sp>
        <p:nvSpPr>
          <p:cNvPr id="6" name="Shape 1336"/>
          <p:cNvSpPr>
            <a:spLocks noGrp="1"/>
          </p:cNvSpPr>
          <p:nvPr>
            <p:ph type="body" idx="4294967295"/>
          </p:nvPr>
        </p:nvSpPr>
        <p:spPr>
          <a:xfrm>
            <a:off x="576546" y="1169988"/>
            <a:ext cx="7772400" cy="5305426"/>
          </a:xfrm>
          <a:prstGeom prst="rect">
            <a:avLst/>
          </a:prstGeom>
          <a:extLst>
            <a:ext uri="{C572A759-6A51-4108-AA02-DFA0A04FC94B}">
              <ma14:wrappingTextBoxFlag xmlns="" xmlns:ma14="http://schemas.microsoft.com/office/mac/drawingml/2011/main" val="1"/>
            </a:ext>
          </a:extLst>
        </p:spPr>
        <p:txBody>
          <a:bodyPr>
            <a:normAutofit fontScale="92500" lnSpcReduction="20000"/>
          </a:bodyPr>
          <a:lstStyle/>
          <a:p>
            <a:pPr marL="0" indent="0" defTabSz="886968">
              <a:lnSpc>
                <a:spcPct val="140000"/>
              </a:lnSpc>
              <a:spcBef>
                <a:spcPts val="0"/>
              </a:spcBef>
              <a:buNone/>
              <a:defRPr sz="2716"/>
            </a:pPr>
            <a:r>
              <a:rPr lang="en-US" dirty="0"/>
              <a:t>Tạo một Project Android hiển thị chữ “Hello World</a:t>
            </a:r>
            <a:r>
              <a:rPr lang="en-US" dirty="0" smtClean="0"/>
              <a:t>” màu đỏ, kích thước 20sp</a:t>
            </a:r>
          </a:p>
          <a:p>
            <a:pPr marL="0" indent="0" defTabSz="886968">
              <a:lnSpc>
                <a:spcPct val="140000"/>
              </a:lnSpc>
              <a:spcBef>
                <a:spcPts val="0"/>
              </a:spcBef>
              <a:buNone/>
              <a:defRPr sz="2716"/>
            </a:pPr>
            <a:r>
              <a:rPr lang="en-US" dirty="0" smtClean="0"/>
              <a:t>Tạo thêm một text “goodbye” màu xanh kích thước 30 </a:t>
            </a:r>
            <a:r>
              <a:rPr lang="en-US" dirty="0" err="1" smtClean="0"/>
              <a:t>sp</a:t>
            </a:r>
            <a:r>
              <a:rPr lang="en-US" dirty="0" smtClean="0"/>
              <a:t>, tô đậm, nghiêng</a:t>
            </a:r>
          </a:p>
          <a:p>
            <a:pPr marL="0" indent="0" defTabSz="886968">
              <a:lnSpc>
                <a:spcPct val="140000"/>
              </a:lnSpc>
              <a:spcBef>
                <a:spcPts val="0"/>
              </a:spcBef>
              <a:buNone/>
              <a:defRPr sz="2716"/>
            </a:pPr>
            <a:r>
              <a:rPr lang="en-US" dirty="0" smtClean="0"/>
              <a:t>Dùng string.xml và color.xml để định nghĩa màu và chữ</a:t>
            </a:r>
            <a:endParaRPr dirty="0"/>
          </a:p>
          <a:p>
            <a:pPr marL="0" indent="0" defTabSz="886968">
              <a:lnSpc>
                <a:spcPct val="140000"/>
              </a:lnSpc>
              <a:spcBef>
                <a:spcPts val="0"/>
              </a:spcBef>
              <a:buNone/>
              <a:defRPr sz="2716"/>
            </a:pPr>
            <a:r>
              <a:rPr lang="en-US" dirty="0" smtClean="0"/>
              <a:t>a)Sử </a:t>
            </a:r>
            <a:r>
              <a:rPr lang="en-US" dirty="0"/>
              <a:t>dụng máy ảo AVD chạy thử chương trình.</a:t>
            </a:r>
          </a:p>
          <a:p>
            <a:pPr marL="0" indent="0" defTabSz="886968">
              <a:lnSpc>
                <a:spcPct val="140000"/>
              </a:lnSpc>
              <a:spcBef>
                <a:spcPts val="0"/>
              </a:spcBef>
              <a:buNone/>
              <a:defRPr sz="2716"/>
            </a:pPr>
            <a:r>
              <a:rPr lang="en-US" dirty="0" smtClean="0">
                <a:solidFill>
                  <a:srgbClr val="FF0000"/>
                </a:solidFill>
              </a:rPr>
              <a:t>b)Sử </a:t>
            </a:r>
            <a:r>
              <a:rPr lang="en-US" dirty="0">
                <a:solidFill>
                  <a:srgbClr val="FF0000"/>
                </a:solidFill>
              </a:rPr>
              <a:t>dụng </a:t>
            </a:r>
            <a:r>
              <a:rPr lang="en-US" dirty="0" err="1">
                <a:solidFill>
                  <a:srgbClr val="FF0000"/>
                </a:solidFill>
              </a:rPr>
              <a:t>Genymotion</a:t>
            </a:r>
            <a:r>
              <a:rPr lang="en-US" dirty="0">
                <a:solidFill>
                  <a:srgbClr val="FF0000"/>
                </a:solidFill>
              </a:rPr>
              <a:t> để chạy thử chương trình</a:t>
            </a:r>
          </a:p>
          <a:p>
            <a:pPr marL="0" indent="0" defTabSz="886968">
              <a:lnSpc>
                <a:spcPct val="140000"/>
              </a:lnSpc>
              <a:spcBef>
                <a:spcPts val="0"/>
              </a:spcBef>
              <a:buNone/>
              <a:defRPr sz="2716"/>
            </a:pPr>
            <a:r>
              <a:rPr lang="en-US" dirty="0" smtClean="0"/>
              <a:t>c)Sử </a:t>
            </a:r>
            <a:r>
              <a:rPr lang="en-US" dirty="0"/>
              <a:t>dụng thiết bị thật để chạy thử chương trình</a:t>
            </a:r>
            <a:endParaRPr dirty="0"/>
          </a:p>
        </p:txBody>
      </p:sp>
    </p:spTree>
    <p:extLst>
      <p:ext uri="{BB962C8B-B14F-4D97-AF65-F5344CB8AC3E}">
        <p14:creationId xmlns:p14="http://schemas.microsoft.com/office/powerpoint/2010/main" val="2202967167"/>
      </p:ext>
    </p:extLst>
  </p:cSld>
  <p:clrMapOvr>
    <a:masterClrMapping/>
  </p:clrMapOvr>
  <p:transition spd="slow"/>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NKNOELEADERBOARD" val="659384857"/>
</p:tagLst>
</file>

<file path=ppt/theme/theme1.xml><?xml version="1.0" encoding="utf-8"?>
<a:theme xmlns:a="http://schemas.openxmlformats.org/drawingml/2006/main" name="cdb2004146l">
  <a:themeElements>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cdb2004146l">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cdb2004146l 1">
        <a:dk1>
          <a:srgbClr val="48806B"/>
        </a:dk1>
        <a:lt1>
          <a:srgbClr val="FFFFFF"/>
        </a:lt1>
        <a:dk2>
          <a:srgbClr val="77956D"/>
        </a:dk2>
        <a:lt2>
          <a:srgbClr val="C0C0C0"/>
        </a:lt2>
        <a:accent1>
          <a:srgbClr val="6BB9C3"/>
        </a:accent1>
        <a:accent2>
          <a:srgbClr val="E7BA15"/>
        </a:accent2>
        <a:accent3>
          <a:srgbClr val="FFFFFF"/>
        </a:accent3>
        <a:accent4>
          <a:srgbClr val="3C6C5A"/>
        </a:accent4>
        <a:accent5>
          <a:srgbClr val="BAD9DE"/>
        </a:accent5>
        <a:accent6>
          <a:srgbClr val="D1A812"/>
        </a:accent6>
        <a:hlink>
          <a:srgbClr val="76C14D"/>
        </a:hlink>
        <a:folHlink>
          <a:srgbClr val="B0C29C"/>
        </a:folHlink>
      </a:clrScheme>
      <a:clrMap bg1="lt1" tx1="dk1" bg2="lt2" tx2="dk2" accent1="accent1" accent2="accent2" accent3="accent3" accent4="accent4" accent5="accent5" accent6="accent6" hlink="hlink" folHlink="folHlink"/>
    </a:extraClrScheme>
    <a:extraClrScheme>
      <a:clrScheme name="cdb2004146l 2">
        <a:dk1>
          <a:srgbClr val="5F5F5F"/>
        </a:dk1>
        <a:lt1>
          <a:srgbClr val="FFFFFF"/>
        </a:lt1>
        <a:dk2>
          <a:srgbClr val="8D8D8D"/>
        </a:dk2>
        <a:lt2>
          <a:srgbClr val="C0C0C0"/>
        </a:lt2>
        <a:accent1>
          <a:srgbClr val="8EC072"/>
        </a:accent1>
        <a:accent2>
          <a:srgbClr val="5DB8CD"/>
        </a:accent2>
        <a:accent3>
          <a:srgbClr val="FFFFFF"/>
        </a:accent3>
        <a:accent4>
          <a:srgbClr val="505050"/>
        </a:accent4>
        <a:accent5>
          <a:srgbClr val="C6DCBC"/>
        </a:accent5>
        <a:accent6>
          <a:srgbClr val="53A6BA"/>
        </a:accent6>
        <a:hlink>
          <a:srgbClr val="D68B40"/>
        </a:hlink>
        <a:folHlink>
          <a:srgbClr val="D5D179"/>
        </a:folHlink>
      </a:clrScheme>
      <a:clrMap bg1="lt1" tx1="dk1" bg2="lt2" tx2="dk2" accent1="accent1" accent2="accent2" accent3="accent3" accent4="accent4" accent5="accent5" accent6="accent6" hlink="hlink" folHlink="folHlink"/>
    </a:extraClrScheme>
    <a:extraClrScheme>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cdb2004146l</Template>
  <TotalTime>24196</TotalTime>
  <Words>3169</Words>
  <Application>Microsoft Office PowerPoint</Application>
  <PresentationFormat>On-screen Show (4:3)</PresentationFormat>
  <Paragraphs>390</Paragraphs>
  <Slides>53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Gulim</vt:lpstr>
      <vt:lpstr>.VnArial Narrow</vt:lpstr>
      <vt:lpstr>Arial</vt:lpstr>
      <vt:lpstr>Helvetica Neue</vt:lpstr>
      <vt:lpstr>Tahoma</vt:lpstr>
      <vt:lpstr>Times New Roman</vt:lpstr>
      <vt:lpstr>Verdana</vt:lpstr>
      <vt:lpstr>Wingdings</vt:lpstr>
      <vt:lpstr>cdb2004146l</vt:lpstr>
      <vt:lpstr>PowerPoint Presentation</vt:lpstr>
      <vt:lpstr>Chương 1 – Tổng quan về lập trình Android</vt:lpstr>
      <vt:lpstr>PowerPoint Presentation</vt:lpstr>
      <vt:lpstr>1.1.1 THIẾT BỊ DI ĐỘNG VÀ CỐ ĐỊNH</vt:lpstr>
      <vt:lpstr>1.1.2 CHỨC NĂNG MỚI CỦA ƯDDĐ</vt:lpstr>
      <vt:lpstr>1.1.3 NỀN TẢNG CHO ƯDDĐ</vt:lpstr>
      <vt:lpstr>1.1.4 THỊ PHẦN CÁC NỀN TẢNG TOÀN CẦU</vt:lpstr>
      <vt:lpstr>1.1.4 THỊ PHẦN CÁC NỀN TẢNG TOÀN CẦU</vt:lpstr>
      <vt:lpstr>1.1.4 THỊ PHẦN CÁC NỀN TẢNG TOÀN CẦU</vt:lpstr>
      <vt:lpstr>1.1.5 CƠ HỘI CHO LẬP TRÌNH VIÊN</vt:lpstr>
      <vt:lpstr>PowerPoint Presentation</vt:lpstr>
      <vt:lpstr>1.2.1 TỔNG QUAN HỆ ĐIỀU HÀNH ANDROID</vt:lpstr>
      <vt:lpstr>1.2.1 TỔNG QUAN HỆ ĐIỀU HÀNH ANDROID</vt:lpstr>
      <vt:lpstr>1.2.2 LỊCH SỬ PHÁT TRIỂN HĐH ANDROID</vt:lpstr>
      <vt:lpstr>1.2.2 LỊCH SỬ PHÁT TRIỂN HĐH ANDROID</vt:lpstr>
      <vt:lpstr>1.2.3 LẬP TRÌNH ANDROID – KIẾN TRÚC OS</vt:lpstr>
      <vt:lpstr>1.2.3 LẬP TRÌNH ANDROID – KIẾN TRÚC OS</vt:lpstr>
      <vt:lpstr>1.2.3 LẬP TRÌNH ANDROID – KIẾN TRÚC OS</vt:lpstr>
      <vt:lpstr>1.2.3 LẬP TRÌNH ANDROID – KIẾN TRÚC OS</vt:lpstr>
      <vt:lpstr>1.2.3 LẬP TRÌNH ANDROID – KIẾN TRÚC OS</vt:lpstr>
      <vt:lpstr>1.2.3 LẬP TRÌNH ANDROID – KIẾN TRÚC OS</vt:lpstr>
      <vt:lpstr>1.2.3 LẬP TRÌNH ANDROID – KIẾN TRÚC OS</vt:lpstr>
      <vt:lpstr>PowerPoint Presentation</vt:lpstr>
      <vt:lpstr>1.3.1 MÔI TRƯỜNG LẬP TRÌNH ANDROID</vt:lpstr>
      <vt:lpstr>1.3.1 MÔI TRƯỜNG LẬP TRÌNH ANDROID</vt:lpstr>
      <vt:lpstr>1.3.1 MÔI TRƯỜNG LẬP TRÌNH ANDROID</vt:lpstr>
      <vt:lpstr>1.3.1 MÔI TRƯỜNG LẬP TRÌNH ANDROID</vt:lpstr>
      <vt:lpstr>1.3.2 MỘT SỐ IDE CHO PHÁT TRIỂN ANDROID</vt:lpstr>
      <vt:lpstr>1.3.2 MỘT SỐ IDE CHO PHÁT TRIỂN ANDROID</vt:lpstr>
      <vt:lpstr>1.3.2 MỘT SỐ IDE CHO PHÁT TRIỂN ANDROID</vt:lpstr>
      <vt:lpstr>PowerPoint Presentation</vt:lpstr>
      <vt:lpstr>1.4.1 TẠO PROJECT ANDROID CƠ BẢN</vt:lpstr>
      <vt:lpstr>1.4.1 TẠO PROJECT ANDROID CƠ BẢN</vt:lpstr>
      <vt:lpstr>1.4.1 TẠO PROJECT ANDROID CƠ BẢN</vt:lpstr>
      <vt:lpstr>1.4.1 TẠO PROJECT ANDROID CƠ BẢN</vt:lpstr>
      <vt:lpstr>1.4.2 CẤU TRÚC PROJECT ANDROID</vt:lpstr>
      <vt:lpstr>1.4.2 CẤU TRÚC PROJECT ANDROID</vt:lpstr>
      <vt:lpstr>1.4.2 CẤU TRÚC PROJECT ANDROID</vt:lpstr>
      <vt:lpstr>1.4.2 CẤU TRÚC PROJECT ANDROID</vt:lpstr>
      <vt:lpstr>1.4.2 CẤU TRÚC PROJECT ANDROID</vt:lpstr>
      <vt:lpstr>1.4.2 CẤU TRÚC PROJECT ANDROID</vt:lpstr>
      <vt:lpstr>PowerPoint Presentation</vt:lpstr>
      <vt:lpstr>1.5.1 MÁY ẢO ANDROID – AVD</vt:lpstr>
      <vt:lpstr>1.5.2 CÀI ĐẶT MÁY ẢO ANDROID – AVD</vt:lpstr>
      <vt:lpstr>1.5.2 CÀI ĐẶT MÁY ẢO ANDROID – AVD</vt:lpstr>
      <vt:lpstr>1.5.2 CÀI ĐẶT MÁY ẢO ANDROID – AVD</vt:lpstr>
      <vt:lpstr>1.5.2 CÀI ĐẶT MÁY ẢO ANDROID – AVD</vt:lpstr>
      <vt:lpstr>1.5.2 CÀI ĐẶT MÁY ẢO ANDROID – AVD</vt:lpstr>
      <vt:lpstr>1.5.2 CÀI ĐẶT MÁY ẢO ANDROID – AVD</vt:lpstr>
      <vt:lpstr>1.5.3 GIỚI THIỆU MÁY ẢO GENYMOTION</vt:lpstr>
      <vt:lpstr>PowerPoint Presentation</vt:lpstr>
      <vt:lpstr>PowerPoint Presentation</vt:lpstr>
      <vt:lpstr>PowerPoint Presentation</vt:lpstr>
    </vt:vector>
  </TitlesOfParts>
  <Company>WORKGROUP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VPN</dc:title>
  <dc:creator>LATDAT</dc:creator>
  <cp:lastModifiedBy>Admin</cp:lastModifiedBy>
  <cp:revision>1414</cp:revision>
  <dcterms:created xsi:type="dcterms:W3CDTF">2011-02-25T01:16:23Z</dcterms:created>
  <dcterms:modified xsi:type="dcterms:W3CDTF">2023-06-08T02:54:05Z</dcterms:modified>
</cp:coreProperties>
</file>