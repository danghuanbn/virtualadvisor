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349" r:id="rId3"/>
    <p:sldId id="565" r:id="rId4"/>
    <p:sldId id="470" r:id="rId5"/>
    <p:sldId id="645" r:id="rId6"/>
    <p:sldId id="646" r:id="rId7"/>
    <p:sldId id="647" r:id="rId8"/>
    <p:sldId id="648" r:id="rId9"/>
    <p:sldId id="649" r:id="rId10"/>
    <p:sldId id="651" r:id="rId11"/>
    <p:sldId id="652" r:id="rId12"/>
    <p:sldId id="653" r:id="rId13"/>
    <p:sldId id="654" r:id="rId14"/>
    <p:sldId id="655" r:id="rId15"/>
    <p:sldId id="656" r:id="rId16"/>
    <p:sldId id="657" r:id="rId17"/>
    <p:sldId id="579" r:id="rId18"/>
    <p:sldId id="517" r:id="rId19"/>
    <p:sldId id="518" r:id="rId20"/>
  </p:sldIdLst>
  <p:sldSz cx="9144000" cy="6858000" type="screen4x3"/>
  <p:notesSz cx="6858000" cy="9144000"/>
  <p:custDataLst>
    <p:tags r:id="rId23"/>
  </p:custData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3F6"/>
    <a:srgbClr val="CC0000"/>
    <a:srgbClr val="FF0066"/>
    <a:srgbClr val="000000"/>
    <a:srgbClr val="63C4D7"/>
    <a:srgbClr val="FFCCCC"/>
    <a:srgbClr val="FF99CC"/>
    <a:srgbClr val="CC00FF"/>
    <a:srgbClr val="FF7C8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18" autoAdjust="0"/>
    <p:restoredTop sz="89844" autoAdjust="0"/>
  </p:normalViewPr>
  <p:slideViewPr>
    <p:cSldViewPr>
      <p:cViewPr varScale="1">
        <p:scale>
          <a:sx n="76" d="100"/>
          <a:sy n="76" d="100"/>
        </p:scale>
        <p:origin x="132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18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8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6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69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E2B97F0-33F1-4001-BBE2-6DA117D757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8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222506-91B9-4608-A17B-3DCA2CD2D5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649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gray">
          <a:xfrm>
            <a:off x="8004175" y="0"/>
            <a:ext cx="1139825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4638675"/>
            <a:ext cx="9144000" cy="2219325"/>
          </a:xfrm>
          <a:prstGeom prst="rect">
            <a:avLst/>
          </a:prstGeom>
          <a:solidFill>
            <a:schemeClr val="folHlink">
              <a:alpha val="31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gray">
          <a:xfrm>
            <a:off x="0" y="2149475"/>
            <a:ext cx="9144000" cy="24987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gray">
          <a:xfrm>
            <a:off x="-9525" y="2138363"/>
            <a:ext cx="8015288" cy="22717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049" y="2"/>
              </a:cxn>
              <a:cxn ang="0">
                <a:pos x="5048" y="1458"/>
              </a:cxn>
              <a:cxn ang="0">
                <a:pos x="0" y="1471"/>
              </a:cxn>
              <a:cxn ang="0">
                <a:pos x="0" y="0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3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AutoShape 21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AutoShape 22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AutoShape 23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304800" y="228600"/>
            <a:ext cx="1447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800" b="1">
                <a:solidFill>
                  <a:schemeClr val="tx2"/>
                </a:solidFill>
                <a:latin typeface="Verdana" pitchFamily="34" charset="0"/>
              </a:rPr>
              <a:t>LOGO</a:t>
            </a:r>
          </a:p>
        </p:txBody>
      </p:sp>
      <p:grpSp>
        <p:nvGrpSpPr>
          <p:cNvPr id="12" name="Group 116"/>
          <p:cNvGrpSpPr>
            <a:grpSpLocks/>
          </p:cNvGrpSpPr>
          <p:nvPr/>
        </p:nvGrpSpPr>
        <p:grpSpPr bwMode="auto">
          <a:xfrm>
            <a:off x="190500" y="2324100"/>
            <a:ext cx="3276600" cy="3314700"/>
            <a:chOff x="120" y="1464"/>
            <a:chExt cx="2064" cy="2088"/>
          </a:xfrm>
        </p:grpSpPr>
        <p:sp>
          <p:nvSpPr>
            <p:cNvPr id="13" name="AutoShape 113" descr="gdd01"/>
            <p:cNvSpPr>
              <a:spLocks noChangeArrowheads="1"/>
            </p:cNvSpPr>
            <p:nvPr userDrawn="1"/>
          </p:nvSpPr>
          <p:spPr bwMode="gray">
            <a:xfrm>
              <a:off x="120" y="1992"/>
              <a:ext cx="1104" cy="1008"/>
            </a:xfrm>
            <a:prstGeom prst="hexagon">
              <a:avLst>
                <a:gd name="adj" fmla="val 27381"/>
                <a:gd name="vf" fmla="val 115470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 sz="18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endParaRPr>
            </a:p>
          </p:txBody>
        </p:sp>
        <p:sp>
          <p:nvSpPr>
            <p:cNvPr id="14" name="AutoShape 114" descr="gdd04"/>
            <p:cNvSpPr>
              <a:spLocks noChangeArrowheads="1"/>
            </p:cNvSpPr>
            <p:nvPr userDrawn="1"/>
          </p:nvSpPr>
          <p:spPr bwMode="gray">
            <a:xfrm>
              <a:off x="1032" y="1464"/>
              <a:ext cx="1152" cy="1008"/>
            </a:xfrm>
            <a:prstGeom prst="hexagon">
              <a:avLst>
                <a:gd name="adj" fmla="val 28571"/>
                <a:gd name="vf" fmla="val 115470"/>
              </a:avLst>
            </a:prstGeom>
            <a:blipFill dpi="0" rotWithShape="1">
              <a:blip r:embed="rId3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 sz="18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endParaRPr>
            </a:p>
          </p:txBody>
        </p:sp>
        <p:sp>
          <p:nvSpPr>
            <p:cNvPr id="15" name="AutoShape 115" descr="gdd03"/>
            <p:cNvSpPr>
              <a:spLocks noChangeArrowheads="1"/>
            </p:cNvSpPr>
            <p:nvPr userDrawn="1"/>
          </p:nvSpPr>
          <p:spPr bwMode="gray">
            <a:xfrm>
              <a:off x="1008" y="2544"/>
              <a:ext cx="1152" cy="1008"/>
            </a:xfrm>
            <a:prstGeom prst="hexagon">
              <a:avLst>
                <a:gd name="adj" fmla="val 28571"/>
                <a:gd name="vf" fmla="val 115470"/>
              </a:avLst>
            </a:prstGeom>
            <a:blipFill dpi="0" rotWithShape="1">
              <a:blip r:embed="rId4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 sz="18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endParaRPr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143000" y="990600"/>
            <a:ext cx="6705600" cy="1012825"/>
          </a:xfrm>
        </p:spPr>
        <p:txBody>
          <a:bodyPr/>
          <a:lstStyle>
            <a:lvl1pPr algn="ctr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3505200" y="2971800"/>
            <a:ext cx="4343400" cy="6858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352800" y="6553200"/>
            <a:ext cx="2133600" cy="152400"/>
          </a:xfrm>
        </p:spPr>
        <p:txBody>
          <a:bodyPr/>
          <a:lstStyle>
            <a:lvl1pPr algn="r"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" y="6477000"/>
            <a:ext cx="2590800" cy="228600"/>
          </a:xfrm>
        </p:spPr>
        <p:txBody>
          <a:bodyPr/>
          <a:lstStyle>
            <a:lvl1pPr algn="ctr">
              <a:defRPr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0550" y="6467475"/>
            <a:ext cx="533400" cy="244475"/>
          </a:xfrm>
        </p:spPr>
        <p:txBody>
          <a:bodyPr/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fld id="{C6D4949A-6AB1-4FC2-9B68-AD4CBDC615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16FD5-974A-40BB-8233-36E86F2AA7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sz="1400">
                <a:solidFill>
                  <a:srgbClr val="002060"/>
                </a:solidFill>
              </a:defRPr>
            </a:lvl1pPr>
          </a:lstStyle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10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A5E583-F5BB-4A7C-968E-806973EDB1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ADD87-5DE4-4FC8-9754-98A33C5556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AD1ED-0F27-4714-8A61-3EA2C1E881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A908F-56BE-4858-AD2D-1A4CAAE951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36BFC-504A-480F-875D-D2CFCCA5FF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C38E81-E6E1-4595-9BE0-D4ED4704EB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6259F6-250F-48F2-A908-7B59FD901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13BACE-ADF4-4A55-8B8C-495A02FEA0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B9936B-AF50-4F83-B203-9D59168E1E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/>
          </p:cNvSpPr>
          <p:nvPr>
            <p:ph type="sldNum" sz="quarter" idx="2"/>
          </p:nvPr>
        </p:nvSpPr>
        <p:spPr>
          <a:xfrm>
            <a:off x="8226244" y="6475414"/>
            <a:ext cx="245404" cy="22698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6475414"/>
            <a:ext cx="3294530" cy="234668"/>
          </a:xfrm>
        </p:spPr>
        <p:txBody>
          <a:bodyPr/>
          <a:lstStyle>
            <a:lvl1pPr marL="0" indent="0">
              <a:buNone/>
              <a:defRPr sz="14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 err="1"/>
              <a:t>Khoa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- </a:t>
            </a:r>
            <a:r>
              <a:rPr lang="en-US" dirty="0" err="1"/>
              <a:t>Uneti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66929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/>
          <p:cNvSpPr>
            <a:spLocks/>
          </p:cNvSpPr>
          <p:nvPr/>
        </p:nvSpPr>
        <p:spPr bwMode="gray">
          <a:xfrm>
            <a:off x="-9525" y="344488"/>
            <a:ext cx="8194675" cy="6334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049" y="2"/>
              </a:cxn>
              <a:cxn ang="0">
                <a:pos x="5048" y="1458"/>
              </a:cxn>
              <a:cxn ang="0">
                <a:pos x="0" y="1471"/>
              </a:cxn>
              <a:cxn ang="0">
                <a:pos x="0" y="0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027" name="Group 16"/>
          <p:cNvGrpSpPr>
            <a:grpSpLocks/>
          </p:cNvGrpSpPr>
          <p:nvPr/>
        </p:nvGrpSpPr>
        <p:grpSpPr bwMode="auto"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1041" name="Rectangle 17"/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" name="Rectangle 18"/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43" name="AutoShape 19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44" name="AutoShape 20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45" name="AutoShape 21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19863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81600" y="6477000"/>
            <a:ext cx="2895600" cy="23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86750" y="6386513"/>
            <a:ext cx="457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+mn-lt"/>
              </a:defRPr>
            </a:lvl1pPr>
          </a:lstStyle>
          <a:p>
            <a:pPr>
              <a:defRPr/>
            </a:pPr>
            <a:fld id="{3DD6941D-3DCA-4DBC-80FB-7A196F783D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5" name="Group 22"/>
          <p:cNvGrpSpPr>
            <a:grpSpLocks/>
          </p:cNvGrpSpPr>
          <p:nvPr/>
        </p:nvGrpSpPr>
        <p:grpSpPr bwMode="auto">
          <a:xfrm>
            <a:off x="152400" y="228600"/>
            <a:ext cx="838200" cy="838200"/>
            <a:chOff x="18" y="144"/>
            <a:chExt cx="510" cy="480"/>
          </a:xfrm>
        </p:grpSpPr>
        <p:sp>
          <p:nvSpPr>
            <p:cNvPr id="1047" name="AutoShape 23"/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0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8" name="AutoShape 24"/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0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9" name="AutoShape 25"/>
            <p:cNvSpPr>
              <a:spLocks noChangeArrowheads="1"/>
            </p:cNvSpPr>
            <p:nvPr userDrawn="1"/>
          </p:nvSpPr>
          <p:spPr bwMode="gray">
            <a:xfrm>
              <a:off x="240" y="384"/>
              <a:ext cx="288" cy="240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3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143000" y="381000"/>
            <a:ext cx="6705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33" r:id="rId2"/>
    <p:sldLayoutId id="2147483965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967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304800" y="152400"/>
            <a:ext cx="1447800" cy="914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 bwMode="gray">
          <a:xfrm>
            <a:off x="-76200" y="228600"/>
            <a:ext cx="10210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/>
          <a:p>
            <a:pPr>
              <a:defRPr/>
            </a:pPr>
            <a:r>
              <a:rPr lang="en-US" sz="1800" b="1" ker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TRƯỜNG ĐẠI HỌC KINH TẾ KỸ THUẬT CÔNG NGHIỆP</a:t>
            </a:r>
          </a:p>
          <a:p>
            <a:pPr>
              <a:defRPr/>
            </a:pPr>
            <a:r>
              <a:rPr lang="en-US" sz="1800" b="1" kern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Khoa</a:t>
            </a:r>
            <a:r>
              <a:rPr lang="en-US" sz="1800" b="1" ker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800" b="1" kern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Công</a:t>
            </a:r>
            <a:r>
              <a:rPr lang="en-US" sz="1800" b="1" ker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800" b="1" kern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Nghệ</a:t>
            </a:r>
            <a:r>
              <a:rPr lang="en-US" sz="1800" b="1" ker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800" b="1" kern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Thông</a:t>
            </a:r>
            <a:r>
              <a:rPr lang="en-US" sz="1800" b="1" ker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Tin</a:t>
            </a:r>
          </a:p>
          <a:p>
            <a:pPr>
              <a:defRPr/>
            </a:pPr>
            <a:r>
              <a:rPr lang="en-US" sz="1800" b="1" ker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-------</a:t>
            </a:r>
            <a:r>
              <a:rPr lang="en-US" sz="1800" b="1" kern="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/>
              </a:rPr>
              <a:t></a:t>
            </a:r>
            <a:r>
              <a:rPr lang="en-US" sz="1800" b="1" ker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------</a:t>
            </a:r>
          </a:p>
        </p:txBody>
      </p:sp>
      <p:pic>
        <p:nvPicPr>
          <p:cNvPr id="4106" name="Picture 2" descr="C:\Users\Admin\Downloads\logo-uneti201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4478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gray">
          <a:xfrm>
            <a:off x="2133600" y="1219200"/>
            <a:ext cx="6705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LẬP TR</a:t>
            </a:r>
            <a:r>
              <a:rPr lang="en-US" sz="4000" b="1" ker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ÌNH DI ĐỘNG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Shape 43"/>
          <p:cNvSpPr txBox="1">
            <a:spLocks/>
          </p:cNvSpPr>
          <p:nvPr/>
        </p:nvSpPr>
        <p:spPr bwMode="auto">
          <a:xfrm>
            <a:off x="3048000" y="2165888"/>
            <a:ext cx="5334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ctr">
              <a:spcBef>
                <a:spcPts val="900"/>
              </a:spcBef>
              <a:buFont typeface="Wingdings" pitchFamily="2" charset="2"/>
              <a:buNone/>
              <a:defRPr sz="4000" b="1">
                <a:solidFill>
                  <a:srgbClr val="260026"/>
                </a:solidFill>
              </a:defRPr>
            </a:pPr>
            <a:r>
              <a:rPr lang="vi-VN" sz="3600" b="1" kern="0">
                <a:solidFill>
                  <a:schemeClr val="bg1"/>
                </a:solidFill>
              </a:rPr>
              <a:t>CHƯƠNG </a:t>
            </a:r>
            <a:r>
              <a:rPr lang="en-US" sz="3600" b="1" kern="0">
                <a:solidFill>
                  <a:schemeClr val="bg1"/>
                </a:solidFill>
              </a:rPr>
              <a:t>7: JSON, JSON parser, Webservice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81000"/>
            <a:ext cx="8458200" cy="563563"/>
          </a:xfrm>
        </p:spPr>
        <p:txBody>
          <a:bodyPr/>
          <a:lstStyle/>
          <a:p>
            <a:r>
              <a:rPr lang="en-US" sz="2400" b="1" err="1"/>
              <a:t>Chương</a:t>
            </a:r>
            <a:r>
              <a:rPr lang="en-US" sz="2400" b="1"/>
              <a:t> 7 – JSON, JSON parser, Webservice</a:t>
            </a:r>
          </a:p>
        </p:txBody>
      </p:sp>
      <p:sp>
        <p:nvSpPr>
          <p:cNvPr id="19" name="Line 13"/>
          <p:cNvSpPr>
            <a:spLocks noChangeShapeType="1"/>
          </p:cNvSpPr>
          <p:nvPr/>
        </p:nvSpPr>
        <p:spPr bwMode="gray">
          <a:xfrm>
            <a:off x="2008652" y="411739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gray">
          <a:xfrm rot="3419336">
            <a:off x="1724489" y="3541131"/>
            <a:ext cx="479425" cy="5207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31" name="Text Box 15"/>
          <p:cNvSpPr txBox="1">
            <a:spLocks noChangeArrowheads="1"/>
          </p:cNvSpPr>
          <p:nvPr/>
        </p:nvSpPr>
        <p:spPr bwMode="gray">
          <a:xfrm>
            <a:off x="1650725" y="3583993"/>
            <a:ext cx="61266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FFFF"/>
                </a:solidFill>
              </a:rPr>
              <a:t>1.3</a:t>
            </a:r>
          </a:p>
        </p:txBody>
      </p:sp>
      <p:sp>
        <p:nvSpPr>
          <p:cNvPr id="32" name="Line 16"/>
          <p:cNvSpPr>
            <a:spLocks noChangeShapeType="1"/>
          </p:cNvSpPr>
          <p:nvPr/>
        </p:nvSpPr>
        <p:spPr bwMode="gray">
          <a:xfrm>
            <a:off x="2028530" y="2492415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17"/>
          <p:cNvSpPr>
            <a:spLocks noChangeArrowheads="1"/>
          </p:cNvSpPr>
          <p:nvPr/>
        </p:nvSpPr>
        <p:spPr bwMode="gray">
          <a:xfrm rot="3419336">
            <a:off x="1744367" y="1916153"/>
            <a:ext cx="479425" cy="5207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34" name="Text Box 18"/>
          <p:cNvSpPr txBox="1">
            <a:spLocks noChangeArrowheads="1"/>
          </p:cNvSpPr>
          <p:nvPr/>
        </p:nvSpPr>
        <p:spPr bwMode="gray">
          <a:xfrm>
            <a:off x="2497777" y="4365585"/>
            <a:ext cx="6063815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200" b="1">
                <a:solidFill>
                  <a:schemeClr val="tx2"/>
                </a:solidFill>
              </a:rPr>
              <a:t> GỬI VÀ NHẬN DỮ LIỆU TỪ WEB SERVICE</a:t>
            </a:r>
          </a:p>
        </p:txBody>
      </p:sp>
      <p:sp>
        <p:nvSpPr>
          <p:cNvPr id="35" name="Text Box 19"/>
          <p:cNvSpPr txBox="1">
            <a:spLocks noChangeArrowheads="1"/>
          </p:cNvSpPr>
          <p:nvPr/>
        </p:nvSpPr>
        <p:spPr bwMode="gray">
          <a:xfrm>
            <a:off x="1670603" y="1959015"/>
            <a:ext cx="61266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FFFF"/>
                </a:solidFill>
              </a:rPr>
              <a:t>1.1</a:t>
            </a:r>
          </a:p>
        </p:txBody>
      </p:sp>
      <p:sp>
        <p:nvSpPr>
          <p:cNvPr id="36" name="Line 20"/>
          <p:cNvSpPr>
            <a:spLocks noChangeShapeType="1"/>
          </p:cNvSpPr>
          <p:nvPr/>
        </p:nvSpPr>
        <p:spPr bwMode="gray">
          <a:xfrm>
            <a:off x="1946708" y="4923867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21"/>
          <p:cNvSpPr>
            <a:spLocks noChangeArrowheads="1"/>
          </p:cNvSpPr>
          <p:nvPr/>
        </p:nvSpPr>
        <p:spPr bwMode="gray">
          <a:xfrm rot="3419336">
            <a:off x="1662545" y="4347605"/>
            <a:ext cx="479425" cy="5207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38" name="Text Box 22"/>
          <p:cNvSpPr txBox="1">
            <a:spLocks noChangeArrowheads="1"/>
          </p:cNvSpPr>
          <p:nvPr/>
        </p:nvSpPr>
        <p:spPr bwMode="gray">
          <a:xfrm>
            <a:off x="1588781" y="4390467"/>
            <a:ext cx="61266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FFFF"/>
                </a:solidFill>
              </a:rPr>
              <a:t>1.4</a:t>
            </a:r>
          </a:p>
        </p:txBody>
      </p:sp>
      <p:sp>
        <p:nvSpPr>
          <p:cNvPr id="39" name="Line 23"/>
          <p:cNvSpPr>
            <a:spLocks noChangeShapeType="1"/>
          </p:cNvSpPr>
          <p:nvPr/>
        </p:nvSpPr>
        <p:spPr bwMode="gray">
          <a:xfrm>
            <a:off x="1981061" y="3326406"/>
            <a:ext cx="4799012" cy="1587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Rectangle 24"/>
          <p:cNvSpPr>
            <a:spLocks noChangeArrowheads="1"/>
          </p:cNvSpPr>
          <p:nvPr/>
        </p:nvSpPr>
        <p:spPr bwMode="gray">
          <a:xfrm rot="3419336">
            <a:off x="1695310" y="2751731"/>
            <a:ext cx="479425" cy="5207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41" name="Text Box 25"/>
          <p:cNvSpPr txBox="1">
            <a:spLocks noChangeArrowheads="1"/>
          </p:cNvSpPr>
          <p:nvPr/>
        </p:nvSpPr>
        <p:spPr bwMode="gray">
          <a:xfrm>
            <a:off x="1621546" y="2794593"/>
            <a:ext cx="61266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FFFF"/>
                </a:solidFill>
              </a:rPr>
              <a:t>1.2</a:t>
            </a:r>
          </a:p>
        </p:txBody>
      </p:sp>
      <p:sp>
        <p:nvSpPr>
          <p:cNvPr id="42" name="Text Box 29"/>
          <p:cNvSpPr txBox="1">
            <a:spLocks noChangeArrowheads="1"/>
          </p:cNvSpPr>
          <p:nvPr/>
        </p:nvSpPr>
        <p:spPr bwMode="gray">
          <a:xfrm>
            <a:off x="2551769" y="2892133"/>
            <a:ext cx="2151295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200" b="1">
                <a:solidFill>
                  <a:schemeClr val="tx2"/>
                </a:solidFill>
              </a:rPr>
              <a:t>WEB SERVICE</a:t>
            </a:r>
          </a:p>
        </p:txBody>
      </p:sp>
      <p:sp>
        <p:nvSpPr>
          <p:cNvPr id="43" name="Text Box 30"/>
          <p:cNvSpPr txBox="1">
            <a:spLocks noChangeArrowheads="1"/>
          </p:cNvSpPr>
          <p:nvPr/>
        </p:nvSpPr>
        <p:spPr bwMode="gray">
          <a:xfrm>
            <a:off x="2511029" y="3610306"/>
            <a:ext cx="3496470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200" b="1">
                <a:solidFill>
                  <a:schemeClr val="tx2"/>
                </a:solidFill>
              </a:rPr>
              <a:t> THƯ VIỆN TƯƠNG TÁC</a:t>
            </a:r>
          </a:p>
        </p:txBody>
      </p:sp>
      <p:sp>
        <p:nvSpPr>
          <p:cNvPr id="44" name="Text Box 18">
            <a:extLst>
              <a:ext uri="{FF2B5EF4-FFF2-40B4-BE49-F238E27FC236}">
                <a16:creationId xmlns:a16="http://schemas.microsoft.com/office/drawing/2014/main" id="{3B08D919-B9F7-4532-A6DF-0637E33C4F5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332996" y="1996657"/>
            <a:ext cx="7038215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200" b="1">
                <a:solidFill>
                  <a:schemeClr val="tx2"/>
                </a:solidFill>
              </a:rPr>
              <a:t>   JSON PARSER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0" grpId="0" animBg="1"/>
      <p:bldP spid="31" grpId="0"/>
      <p:bldP spid="32" grpId="0" animBg="1"/>
      <p:bldP spid="33" grpId="0" animBg="1"/>
      <p:bldP spid="34" grpId="0"/>
      <p:bldP spid="35" grpId="0"/>
      <p:bldP spid="36" grpId="0" animBg="1"/>
      <p:bldP spid="37" grpId="0" animBg="1"/>
      <p:bldP spid="38" grpId="0"/>
      <p:bldP spid="39" grpId="0" animBg="1"/>
      <p:bldP spid="40" grpId="0" animBg="1"/>
      <p:bldP spid="41" grpId="0"/>
      <p:bldP spid="42" grpId="0"/>
      <p:bldP spid="43" grpId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304800" y="152400"/>
            <a:ext cx="1447800" cy="914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4106" name="Picture 2" descr="C:\Users\Admin\Downloads\logo-uneti201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4478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hape 43"/>
          <p:cNvSpPr txBox="1">
            <a:spLocks/>
          </p:cNvSpPr>
          <p:nvPr/>
        </p:nvSpPr>
        <p:spPr bwMode="auto">
          <a:xfrm>
            <a:off x="3581400" y="2209800"/>
            <a:ext cx="5307496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spcBef>
                <a:spcPts val="900"/>
              </a:spcBef>
              <a:buFont typeface="Wingdings" pitchFamily="2" charset="2"/>
              <a:buNone/>
              <a:defRPr sz="4000" b="1">
                <a:solidFill>
                  <a:srgbClr val="260026"/>
                </a:solidFill>
              </a:defRPr>
            </a:pPr>
            <a:r>
              <a:rPr lang="en-US" sz="3600" b="1" kern="0">
                <a:solidFill>
                  <a:schemeClr val="bg1"/>
                </a:solidFill>
              </a:rPr>
              <a:t>1.1 JSON PARSER</a:t>
            </a:r>
            <a:endParaRPr lang="vi-VN" sz="3600" b="1" ker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57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z="2300" b="1"/>
              <a:t>1.1.1 KHÁI NIỆM JSON</a:t>
            </a:r>
          </a:p>
        </p:txBody>
      </p:sp>
      <p:sp>
        <p:nvSpPr>
          <p:cNvPr id="48" name="Date Placeholder 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7B393-5FE7-4B91-BF5C-D18FFB821917}"/>
              </a:ext>
            </a:extLst>
          </p:cNvPr>
          <p:cNvSpPr txBox="1"/>
          <p:nvPr/>
        </p:nvSpPr>
        <p:spPr>
          <a:xfrm>
            <a:off x="304800" y="1222675"/>
            <a:ext cx="4267200" cy="4376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vi-VN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 được xây dựng dựa trên hai cấu trúc chính:</a:t>
            </a:r>
            <a:endParaRPr lang="en-US" dirty="0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cặp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name/value,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cặp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object, record, struct, dictionary, hash table, keyed list...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array, vector, list hay sequence.</a:t>
            </a:r>
          </a:p>
        </p:txBody>
      </p:sp>
      <p:pic>
        <p:nvPicPr>
          <p:cNvPr id="9" name="Picture 8" descr="Text, letter&#10;&#10;Description automatically generated">
            <a:extLst>
              <a:ext uri="{FF2B5EF4-FFF2-40B4-BE49-F238E27FC236}">
                <a16:creationId xmlns:a16="http://schemas.microsoft.com/office/drawing/2014/main" id="{0C27D51C-A589-1C74-3526-D8283A129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222675"/>
            <a:ext cx="4012096" cy="497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1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z="2300" b="1"/>
              <a:t>1.1.1 KHÁI NIỆM JSON</a:t>
            </a:r>
          </a:p>
        </p:txBody>
      </p:sp>
      <p:sp>
        <p:nvSpPr>
          <p:cNvPr id="48" name="Date Placeholder 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7B393-5FE7-4B91-BF5C-D18FFB821917}"/>
              </a:ext>
            </a:extLst>
          </p:cNvPr>
          <p:cNvSpPr txBox="1"/>
          <p:nvPr/>
        </p:nvSpPr>
        <p:spPr>
          <a:xfrm>
            <a:off x="304800" y="1222675"/>
            <a:ext cx="8077200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 đối tượng Object chứa các cặp giá trị string/value không cần thứ tự, được bao trong cặp “{}”, các giá trị bên trong  định dạng “string:value”, chia cách nhau bởi dấu “,”. Value có thể là chuỗi, số, true- false, null...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 có thể chứa các giá trị Object lồng nhau, nhiều tầng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đối tượng nằm trong mảng JSON được khai báo phía trong tên thực thể này,có các thuộc tính theo dạng “key”:”value” và nằm trong một khối riêng biệt,cách nhau bởi dấu phẩy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978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z="2300" b="1"/>
              <a:t>1.1.1 KHÁI NIỆM JSON</a:t>
            </a:r>
          </a:p>
        </p:txBody>
      </p:sp>
      <p:sp>
        <p:nvSpPr>
          <p:cNvPr id="48" name="Date Placeholder 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7B393-5FE7-4B91-BF5C-D18FFB821917}"/>
              </a:ext>
            </a:extLst>
          </p:cNvPr>
          <p:cNvSpPr txBox="1"/>
          <p:nvPr/>
        </p:nvSpPr>
        <p:spPr>
          <a:xfrm>
            <a:off x="304800" y="1222675"/>
            <a:ext cx="8077200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Android, việc quản lý JSON được thông qua 4 lớp chính: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JSONObject</a:t>
            </a: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Đối tượng quản lý JSON dạng một Object.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JSONArray</a:t>
            </a: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Đối tượng quản lý JSON dạng tập hợp các Object hoặc Array.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JSONStringer</a:t>
            </a: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Đối tượng chuyển dữ liệu JSON thành dạng chuỗi.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JSONTokener</a:t>
            </a: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Chuyển đổi đối tượng JSON, mã hoá chuỗi thành đối tượng tương ứng.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469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z="2300" b="1"/>
              <a:t>1.1.1 KHÁI NIỆM JSON</a:t>
            </a:r>
          </a:p>
        </p:txBody>
      </p:sp>
      <p:sp>
        <p:nvSpPr>
          <p:cNvPr id="48" name="Date Placeholder 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7B393-5FE7-4B91-BF5C-D18FFB821917}"/>
              </a:ext>
            </a:extLst>
          </p:cNvPr>
          <p:cNvSpPr txBox="1"/>
          <p:nvPr/>
        </p:nvSpPr>
        <p:spPr>
          <a:xfrm>
            <a:off x="304800" y="1222675"/>
            <a:ext cx="8077200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Android, việc quản lý JSON được thông qua 4 lớp chính: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JSONObject</a:t>
            </a: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Đối tượng quản lý JSON dạng một Object.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JSONArray</a:t>
            </a: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Đối tượng quản lý JSON dạng tập hợp các Object hoặc Array.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JSONStringer</a:t>
            </a: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Đối tượng chuyển dữ liệu JSON thành dạng chuỗi.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JSONTokener</a:t>
            </a: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Chuyển đổi đối tượng JSON, mã hoá chuỗi thành đối tượng tương ứng.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157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z="2300" b="1"/>
              <a:t>1.1.1 KHÁI NIỆM JSON</a:t>
            </a:r>
          </a:p>
        </p:txBody>
      </p:sp>
      <p:sp>
        <p:nvSpPr>
          <p:cNvPr id="48" name="Date Placeholder 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7B393-5FE7-4B91-BF5C-D18FFB821917}"/>
              </a:ext>
            </a:extLst>
          </p:cNvPr>
          <p:cNvSpPr txBox="1"/>
          <p:nvPr/>
        </p:nvSpPr>
        <p:spPr>
          <a:xfrm>
            <a:off x="304800" y="1222675"/>
            <a:ext cx="7391400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android,</a:t>
            </a: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 bao gồm rất nhiều thành phần: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 i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Array([):</a:t>
            </a: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Trong JSON,một mảng đối tượng được khởi tạo mới với cặp ngoặc vuông [].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 i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Object({): </a:t>
            </a: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 đối tượng JSON được khai báo bằng cách đưa vào trong cặp ngoặc nhọn {}. Một JSONObject biểu diễn dữ liệu dưới dạng các cặp key:value. JSONObject có  thể bao gồm cả những JSONObject nhỏ hơn nằm trong nó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639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z="2300" b="1"/>
              <a:t>1.1.1 KHÁI NIỆM JSON</a:t>
            </a:r>
          </a:p>
        </p:txBody>
      </p:sp>
      <p:sp>
        <p:nvSpPr>
          <p:cNvPr id="48" name="Date Placeholder 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7B393-5FE7-4B91-BF5C-D18FFB821917}"/>
              </a:ext>
            </a:extLst>
          </p:cNvPr>
          <p:cNvSpPr txBox="1"/>
          <p:nvPr/>
        </p:nvSpPr>
        <p:spPr>
          <a:xfrm>
            <a:off x="304800" y="1222675"/>
            <a:ext cx="7696200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android,</a:t>
            </a: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 bao gồm rất nhiều thành phần: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giá trị không được phép là NaN, vô cùng hoặc các dạng nằm ngoài những dạng nói trên.</a:t>
            </a:r>
            <a:endParaRPr lang="en-US" i="1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Key: Một JSONObject chứa các key dưới dạng chuỗi. Một cặp key-value sẽ tạo nên một JSONObject</a:t>
            </a:r>
            <a:endParaRPr lang="en-US" i="1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Value: Mỗi key sẽ có cho nó một value tương ứng,các giá trị này có thể nằm ở dạng nguyên thủy (integer,float,String,..)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148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z="2300" b="1"/>
              <a:t>1.1.2 JSON PARSER</a:t>
            </a:r>
          </a:p>
        </p:txBody>
      </p:sp>
      <p:sp>
        <p:nvSpPr>
          <p:cNvPr id="48" name="Date Placeholder 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7B393-5FE7-4B91-BF5C-D18FFB821917}"/>
              </a:ext>
            </a:extLst>
          </p:cNvPr>
          <p:cNvSpPr txBox="1"/>
          <p:nvPr/>
        </p:nvSpPr>
        <p:spPr>
          <a:xfrm>
            <a:off x="304800" y="1222675"/>
            <a:ext cx="7696200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vi-VN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android,</a:t>
            </a: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có thể truy xuất giá trị trong JSON qua các đối tượng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JSONArray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JSONObject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 đối tượng này có sẵn trong lớp org.json</a:t>
            </a:r>
          </a:p>
          <a:p>
            <a:pPr algn="l">
              <a:lnSpc>
                <a:spcPct val="150000"/>
              </a:lnSpc>
              <a:buClr>
                <a:srgbClr val="FF0000"/>
              </a:buClr>
            </a:pP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 đó ta có thể truy xuất các giá trị qua các phương thức: getString(“key"), getJSONArray(“key"),  getJSONObject(“key"), getDouble(“key”),…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10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z="2300" b="1"/>
              <a:t>1.1.2 JSON PARSER</a:t>
            </a:r>
          </a:p>
        </p:txBody>
      </p:sp>
      <p:sp>
        <p:nvSpPr>
          <p:cNvPr id="48" name="Date Placeholder 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7B393-5FE7-4B91-BF5C-D18FFB821917}"/>
              </a:ext>
            </a:extLst>
          </p:cNvPr>
          <p:cNvSpPr txBox="1"/>
          <p:nvPr/>
        </p:nvSpPr>
        <p:spPr>
          <a:xfrm>
            <a:off x="304800" y="1222675"/>
            <a:ext cx="7696200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dụ: Cho đoạn JSON sau, hãy truy xuất giá trị tương ứng trong JSON và in ra màn hình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BA8483C-0818-65EA-3972-AA01A3FFC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408832"/>
            <a:ext cx="4428463" cy="423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64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z="2300" b="1"/>
              <a:t>1.1.2 JSON PARSER</a:t>
            </a:r>
          </a:p>
        </p:txBody>
      </p:sp>
      <p:sp>
        <p:nvSpPr>
          <p:cNvPr id="48" name="Date Placeholder 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7B393-5FE7-4B91-BF5C-D18FFB821917}"/>
              </a:ext>
            </a:extLst>
          </p:cNvPr>
          <p:cNvSpPr txBox="1"/>
          <p:nvPr/>
        </p:nvSpPr>
        <p:spPr>
          <a:xfrm>
            <a:off x="304800" y="1222675"/>
            <a:ext cx="7696200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 1</a:t>
            </a: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Đứa JSON vào 1 cuỗi string. Sau này ta sẽ xử lý lấy JSON từ đọc file .json hoặc call API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65315075-25F3-90B5-51FA-57BE0CB20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05409"/>
            <a:ext cx="5029200" cy="395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404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z="2300" b="1"/>
              <a:t>1.1.2 JSON PARSER</a:t>
            </a:r>
          </a:p>
        </p:txBody>
      </p:sp>
      <p:sp>
        <p:nvSpPr>
          <p:cNvPr id="48" name="Date Placeholder 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7B393-5FE7-4B91-BF5C-D18FFB821917}"/>
              </a:ext>
            </a:extLst>
          </p:cNvPr>
          <p:cNvSpPr txBox="1"/>
          <p:nvPr/>
        </p:nvSpPr>
        <p:spPr>
          <a:xfrm>
            <a:off x="190500" y="1066800"/>
            <a:ext cx="8610600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 2</a:t>
            </a: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Khởi tạo một JSONObject để parser toàn bộ JSON qua 1 Object. Chú ý: nếu JSON là Array thì ta dùng JSONArray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87290-80AC-9CEE-B4ED-442920DCF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44" y="2202740"/>
            <a:ext cx="7842912" cy="5635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5A71B8-DD9B-CAC8-C74D-79902BFC0498}"/>
              </a:ext>
            </a:extLst>
          </p:cNvPr>
          <p:cNvSpPr txBox="1"/>
          <p:nvPr/>
        </p:nvSpPr>
        <p:spPr>
          <a:xfrm>
            <a:off x="190500" y="2753609"/>
            <a:ext cx="8610600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 3</a:t>
            </a: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Lấy giá trị tương ứng thông qua các phương thức getString(“key"), getDouble(“key”),… </a:t>
            </a:r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20A18570-D5AE-31DE-088C-7E60FD4874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24" y="3909945"/>
            <a:ext cx="4847751" cy="247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72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z="2300" b="1"/>
              <a:t>1.1.2 JSON PARSER</a:t>
            </a:r>
          </a:p>
        </p:txBody>
      </p:sp>
      <p:sp>
        <p:nvSpPr>
          <p:cNvPr id="48" name="Date Placeholder 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7B393-5FE7-4B91-BF5C-D18FFB821917}"/>
              </a:ext>
            </a:extLst>
          </p:cNvPr>
          <p:cNvSpPr txBox="1"/>
          <p:nvPr/>
        </p:nvSpPr>
        <p:spPr>
          <a:xfrm>
            <a:off x="190500" y="1066800"/>
            <a:ext cx="8610600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 4</a:t>
            </a: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Thiết kế giao diện đơn giản để nhận JSON</a:t>
            </a:r>
          </a:p>
        </p:txBody>
      </p:sp>
      <p:pic>
        <p:nvPicPr>
          <p:cNvPr id="6" name="Picture 5" descr="Graphical user interface, text, application, Teams&#10;&#10;Description automatically generated">
            <a:extLst>
              <a:ext uri="{FF2B5EF4-FFF2-40B4-BE49-F238E27FC236}">
                <a16:creationId xmlns:a16="http://schemas.microsoft.com/office/drawing/2014/main" id="{E675C830-181E-2426-DC5D-806F19EFC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22" y="1610324"/>
            <a:ext cx="3475021" cy="47095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7B12CE-1062-7768-B385-AC72B3D04859}"/>
              </a:ext>
            </a:extLst>
          </p:cNvPr>
          <p:cNvSpPr txBox="1"/>
          <p:nvPr/>
        </p:nvSpPr>
        <p:spPr>
          <a:xfrm>
            <a:off x="167309" y="1769004"/>
            <a:ext cx="8610600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 5</a:t>
            </a: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Khai báo, ánh xạ các View</a:t>
            </a:r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C2F60AB5-7ED4-C556-C7D3-1EF42AAB5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0" y="2641541"/>
            <a:ext cx="5330926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88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z="2300" b="1"/>
              <a:t>1.1.2 JSON PARSER</a:t>
            </a:r>
          </a:p>
        </p:txBody>
      </p:sp>
      <p:sp>
        <p:nvSpPr>
          <p:cNvPr id="48" name="Date Placeholder 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7B393-5FE7-4B91-BF5C-D18FFB821917}"/>
              </a:ext>
            </a:extLst>
          </p:cNvPr>
          <p:cNvSpPr txBox="1"/>
          <p:nvPr/>
        </p:nvSpPr>
        <p:spPr>
          <a:xfrm>
            <a:off x="190500" y="1066800"/>
            <a:ext cx="8610600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 6</a:t>
            </a:r>
            <a:r>
              <a:rPr lang="en-US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Lấy giá trị từ JSON hiển thị lên View</a:t>
            </a:r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76A844C2-A6AE-6C2B-1B5F-152A96966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380" y="1769004"/>
            <a:ext cx="5768840" cy="43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88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z="2300" b="1"/>
              <a:t>1.1.2 JSON PARSER</a:t>
            </a:r>
          </a:p>
        </p:txBody>
      </p:sp>
      <p:sp>
        <p:nvSpPr>
          <p:cNvPr id="48" name="Date Placeholder 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Khoa CNTT - UNETI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16FD5-974A-40BB-8233-36E86F2AA732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7B393-5FE7-4B91-BF5C-D18FFB821917}"/>
              </a:ext>
            </a:extLst>
          </p:cNvPr>
          <p:cNvSpPr txBox="1"/>
          <p:nvPr/>
        </p:nvSpPr>
        <p:spPr>
          <a:xfrm>
            <a:off x="4572000" y="1048498"/>
            <a:ext cx="2095500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quả:</a:t>
            </a:r>
            <a:endParaRPr lang="en-US">
              <a:solidFill>
                <a:schemeClr val="accent4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4338DF5-EFEF-AE77-9977-DC93F2185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189877"/>
            <a:ext cx="2612287" cy="51755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58F2AC-8F32-105B-7D36-9C89F0888E65}"/>
              </a:ext>
            </a:extLst>
          </p:cNvPr>
          <p:cNvSpPr txBox="1"/>
          <p:nvPr/>
        </p:nvSpPr>
        <p:spPr>
          <a:xfrm>
            <a:off x="126725" y="1045185"/>
            <a:ext cx="3649317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b="1">
                <a:solidFill>
                  <a:schemeClr val="accent4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 ý: </a:t>
            </a:r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 làm việc với JSON ta phải cấp quyền truy cập INTERNET cho ứng dụng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133F0F01-99F3-2AB7-4AFB-8D9171C8D6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25" y="3594047"/>
            <a:ext cx="5973840" cy="166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88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304800" y="152400"/>
            <a:ext cx="1447800" cy="914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4106" name="Picture 2" descr="C:\Users\Admin\Downloads\logo-uneti201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4478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hape 43"/>
          <p:cNvSpPr txBox="1">
            <a:spLocks/>
          </p:cNvSpPr>
          <p:nvPr/>
        </p:nvSpPr>
        <p:spPr bwMode="auto">
          <a:xfrm>
            <a:off x="3581400" y="2209800"/>
            <a:ext cx="5307496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spcBef>
                <a:spcPts val="900"/>
              </a:spcBef>
              <a:buFont typeface="Wingdings" pitchFamily="2" charset="2"/>
              <a:buNone/>
              <a:defRPr sz="4000" b="1">
                <a:solidFill>
                  <a:srgbClr val="260026"/>
                </a:solidFill>
              </a:defRPr>
            </a:pPr>
            <a:r>
              <a:rPr lang="en-US" sz="3600" b="1" kern="0">
                <a:solidFill>
                  <a:schemeClr val="bg1"/>
                </a:solidFill>
              </a:rPr>
              <a:t>1.2 WEB SERVICE</a:t>
            </a:r>
            <a:endParaRPr lang="vi-VN" sz="3600" b="1" ker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209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  <p:sp>
        <p:nvSpPr>
          <p:cNvPr id="7" name="Shape 519"/>
          <p:cNvSpPr txBox="1">
            <a:spLocks/>
          </p:cNvSpPr>
          <p:nvPr/>
        </p:nvSpPr>
        <p:spPr bwMode="white">
          <a:xfrm>
            <a:off x="1084878" y="228600"/>
            <a:ext cx="7924800" cy="94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en-US" sz="2800" b="1" kern="0" err="1"/>
              <a:t>Câu</a:t>
            </a:r>
            <a:r>
              <a:rPr lang="en-US" sz="2800" b="1" kern="0"/>
              <a:t> </a:t>
            </a:r>
            <a:r>
              <a:rPr lang="en-US" sz="2800" b="1" kern="0" err="1"/>
              <a:t>hỏi</a:t>
            </a:r>
            <a:r>
              <a:rPr lang="en-US" sz="2800" b="1" kern="0"/>
              <a:t> </a:t>
            </a:r>
            <a:r>
              <a:rPr lang="en-US" sz="2800" b="1" kern="0" err="1"/>
              <a:t>lý</a:t>
            </a:r>
            <a:r>
              <a:rPr lang="en-US" sz="2800" b="1" kern="0"/>
              <a:t> </a:t>
            </a:r>
            <a:r>
              <a:rPr lang="en-US" sz="2800" b="1" kern="0" err="1"/>
              <a:t>thuyết</a:t>
            </a:r>
            <a:endParaRPr lang="vi-VN" sz="2800" b="1" kern="0"/>
          </a:p>
        </p:txBody>
      </p:sp>
      <p:sp>
        <p:nvSpPr>
          <p:cNvPr id="5" name="Shape 1331"/>
          <p:cNvSpPr>
            <a:spLocks noGrp="1"/>
          </p:cNvSpPr>
          <p:nvPr>
            <p:ph type="body" idx="4294967295"/>
          </p:nvPr>
        </p:nvSpPr>
        <p:spPr>
          <a:xfrm>
            <a:off x="483542" y="1536700"/>
            <a:ext cx="7865404" cy="45720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>
            <a:normAutofit/>
          </a:bodyPr>
          <a:lstStyle/>
          <a:p>
            <a:pPr marL="514350" indent="-514350">
              <a:buFontTx/>
              <a:buAutoNum type="arabicPeriod"/>
            </a:pPr>
            <a:r>
              <a:rPr lang="en-US"/>
              <a:t>Nêu ưu và nhược điểm của mô hình web service</a:t>
            </a:r>
          </a:p>
          <a:p>
            <a:pPr marL="514350" indent="-514350">
              <a:buFontTx/>
              <a:buAutoNum type="arabicPeriod"/>
            </a:pPr>
            <a:r>
              <a:rPr lang="en-US"/>
              <a:t>Tại sao JSON là kiểu dữ liệu được sử dụng nhiều nhất trong các ứng dụng đa nền tảng?</a:t>
            </a:r>
          </a:p>
        </p:txBody>
      </p:sp>
    </p:spTree>
    <p:extLst>
      <p:ext uri="{BB962C8B-B14F-4D97-AF65-F5344CB8AC3E}">
        <p14:creationId xmlns:p14="http://schemas.microsoft.com/office/powerpoint/2010/main" val="3243880880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19"/>
          <p:cNvSpPr txBox="1">
            <a:spLocks/>
          </p:cNvSpPr>
          <p:nvPr/>
        </p:nvSpPr>
        <p:spPr bwMode="white">
          <a:xfrm>
            <a:off x="1143000" y="381000"/>
            <a:ext cx="6705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kern="0">
                <a:latin typeface="+mj-lt"/>
                <a:ea typeface="+mj-ea"/>
                <a:cs typeface="+mj-cs"/>
              </a:rPr>
              <a:t>Bài tập</a:t>
            </a:r>
          </a:p>
        </p:txBody>
      </p:sp>
      <p:sp>
        <p:nvSpPr>
          <p:cNvPr id="6" name="Shape 1336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514350" indent="-514350" defTabSz="886968">
              <a:buFont typeface="+mj-lt"/>
              <a:buAutoNum type="arabicPeriod"/>
              <a:defRPr sz="2716"/>
            </a:pPr>
            <a:r>
              <a:rPr lang="en-US" sz="2716"/>
              <a:t>Cho đoạn JSON sau, xây dựng ứng dụng đọc nội dung JSON rồi hiển thị lên màn hình</a:t>
            </a:r>
          </a:p>
        </p:txBody>
      </p:sp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5B2178BF-6E39-4ABA-124E-11CC884A9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069699"/>
            <a:ext cx="4343400" cy="5485453"/>
          </a:xfrm>
          <a:prstGeom prst="rect">
            <a:avLst/>
          </a:prstGeom>
          <a:noFill/>
        </p:spPr>
      </p:pic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9EFACEDC-B0A3-949C-F6FE-1093B212EB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100" kern="1200">
                <a:latin typeface="Arial" charset="0"/>
                <a:ea typeface="+mn-ea"/>
                <a:cs typeface="+mn-cs"/>
              </a:rPr>
              <a:t>Khoa CNTT - UNETI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286750" y="6386513"/>
            <a:ext cx="457200" cy="2286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86CB4B4D-7CA3-9044-876B-883B54F8677D}" type="slidenum">
              <a:rPr lang="en-US" kern="1200">
                <a:latin typeface="+mn-lt"/>
                <a:ea typeface="+mn-ea"/>
                <a:cs typeface="+mn-cs"/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19</a:t>
            </a:fld>
            <a:endParaRPr lang="en-US" kern="120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967167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659384857"/>
</p:tagLst>
</file>

<file path=ppt/theme/theme1.xml><?xml version="1.0" encoding="utf-8"?>
<a:theme xmlns:a="http://schemas.openxmlformats.org/drawingml/2006/main" name="cdb2004146l">
  <a:themeElements>
    <a:clrScheme name="cdb2004146l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cdb2004146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68415" tIns="34208" rIns="68415" bIns="34208" numCol="1" anchor="t" anchorCtr="0" compatLnSpc="1">
        <a:prstTxWarp prst="textNoShape">
          <a:avLst/>
        </a:prstTxWarp>
        <a:spAutoFit/>
      </a:bodyPr>
      <a:lstStyle>
        <a:defPPr marL="0" marR="0" indent="0" algn="ctr" defTabSz="6842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68415" tIns="34208" rIns="68415" bIns="34208" numCol="1" anchor="t" anchorCtr="0" compatLnSpc="1">
        <a:prstTxWarp prst="textNoShape">
          <a:avLst/>
        </a:prstTxWarp>
        <a:spAutoFit/>
      </a:bodyPr>
      <a:lstStyle>
        <a:defPPr marL="0" marR="0" indent="0" algn="ctr" defTabSz="6842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db2004146l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46l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46l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cdb2004146l</Template>
  <TotalTime>26635</TotalTime>
  <Words>922</Words>
  <Application>Microsoft Office PowerPoint</Application>
  <PresentationFormat>On-screen Show (4:3)</PresentationFormat>
  <Paragraphs>102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Times New Roman</vt:lpstr>
      <vt:lpstr>Verdana</vt:lpstr>
      <vt:lpstr>Wingdings</vt:lpstr>
      <vt:lpstr>cdb2004146l</vt:lpstr>
      <vt:lpstr>PowerPoint Presentation</vt:lpstr>
      <vt:lpstr>Chương 7 – JSON, JSON parser, Webservice</vt:lpstr>
      <vt:lpstr>PowerPoint Presentation</vt:lpstr>
      <vt:lpstr>1.1.1 KHÁI NIỆM JSON</vt:lpstr>
      <vt:lpstr>1.1.1 KHÁI NIỆM JSON</vt:lpstr>
      <vt:lpstr>1.1.1 KHÁI NIỆM JSON</vt:lpstr>
      <vt:lpstr>1.1.1 KHÁI NIỆM JSON</vt:lpstr>
      <vt:lpstr>1.1.1 KHÁI NIỆM JSON</vt:lpstr>
      <vt:lpstr>1.1.1 KHÁI NIỆM JSON</vt:lpstr>
      <vt:lpstr>1.1.2 JSON PARSER</vt:lpstr>
      <vt:lpstr>1.1.2 JSON PARSER</vt:lpstr>
      <vt:lpstr>1.1.2 JSON PARSER</vt:lpstr>
      <vt:lpstr>1.1.2 JSON PARSER</vt:lpstr>
      <vt:lpstr>1.1.2 JSON PARSER</vt:lpstr>
      <vt:lpstr>1.1.2 JSON PARSER</vt:lpstr>
      <vt:lpstr>1.1.2 JSON PARSER</vt:lpstr>
      <vt:lpstr>PowerPoint Presentation</vt:lpstr>
      <vt:lpstr>PowerPoint Presentation</vt:lpstr>
      <vt:lpstr>PowerPoint Presentation</vt:lpstr>
    </vt:vector>
  </TitlesOfParts>
  <Company>WORKGROUP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tài: VPN</dc:title>
  <dc:creator>LATDAT</dc:creator>
  <cp:lastModifiedBy>Admin</cp:lastModifiedBy>
  <cp:revision>1429</cp:revision>
  <dcterms:created xsi:type="dcterms:W3CDTF">2011-02-25T01:16:23Z</dcterms:created>
  <dcterms:modified xsi:type="dcterms:W3CDTF">2023-07-11T07:59:42Z</dcterms:modified>
</cp:coreProperties>
</file>