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5"/>
  </p:notesMasterIdLst>
  <p:handoutMasterIdLst>
    <p:handoutMasterId r:id="rId36"/>
  </p:handoutMasterIdLst>
  <p:sldIdLst>
    <p:sldId id="256" r:id="rId2"/>
    <p:sldId id="349" r:id="rId3"/>
    <p:sldId id="565" r:id="rId4"/>
    <p:sldId id="470" r:id="rId5"/>
    <p:sldId id="566" r:id="rId6"/>
    <p:sldId id="567" r:id="rId7"/>
    <p:sldId id="568" r:id="rId8"/>
    <p:sldId id="569" r:id="rId9"/>
    <p:sldId id="570" r:id="rId10"/>
    <p:sldId id="571" r:id="rId11"/>
    <p:sldId id="572" r:id="rId12"/>
    <p:sldId id="573" r:id="rId13"/>
    <p:sldId id="574" r:id="rId14"/>
    <p:sldId id="575" r:id="rId15"/>
    <p:sldId id="576" r:id="rId16"/>
    <p:sldId id="577" r:id="rId17"/>
    <p:sldId id="579" r:id="rId18"/>
    <p:sldId id="578" r:id="rId19"/>
    <p:sldId id="580" r:id="rId20"/>
    <p:sldId id="581" r:id="rId21"/>
    <p:sldId id="582" r:id="rId22"/>
    <p:sldId id="584" r:id="rId23"/>
    <p:sldId id="583" r:id="rId24"/>
    <p:sldId id="585" r:id="rId25"/>
    <p:sldId id="586" r:id="rId26"/>
    <p:sldId id="587" r:id="rId27"/>
    <p:sldId id="588" r:id="rId28"/>
    <p:sldId id="589" r:id="rId29"/>
    <p:sldId id="590" r:id="rId30"/>
    <p:sldId id="516" r:id="rId31"/>
    <p:sldId id="517" r:id="rId32"/>
    <p:sldId id="518" r:id="rId33"/>
    <p:sldId id="607" r:id="rId34"/>
  </p:sldIdLst>
  <p:sldSz cx="9144000" cy="6858000" type="screen4x3"/>
  <p:notesSz cx="6858000" cy="9144000"/>
  <p:custDataLst>
    <p:tags r:id="rId37"/>
  </p:custDataLst>
  <p:defaultTextStyle>
    <a:defPPr>
      <a:defRPr lang="en-US"/>
    </a:defPPr>
    <a:lvl1pPr algn="ctr" rtl="0" eaLnBrk="0" fontAlgn="base" hangingPunct="0">
      <a:spcBef>
        <a:spcPct val="0"/>
      </a:spcBef>
      <a:spcAft>
        <a:spcPct val="0"/>
      </a:spcAft>
      <a:defRPr sz="2400" kern="1200">
        <a:solidFill>
          <a:schemeClr val="bg1"/>
        </a:solidFill>
        <a:latin typeface="Arial" charset="0"/>
        <a:ea typeface="+mn-ea"/>
        <a:cs typeface="+mn-cs"/>
      </a:defRPr>
    </a:lvl1pPr>
    <a:lvl2pPr marL="457200" algn="ctr" rtl="0" eaLnBrk="0" fontAlgn="base" hangingPunct="0">
      <a:spcBef>
        <a:spcPct val="0"/>
      </a:spcBef>
      <a:spcAft>
        <a:spcPct val="0"/>
      </a:spcAft>
      <a:defRPr sz="2400" kern="1200">
        <a:solidFill>
          <a:schemeClr val="bg1"/>
        </a:solidFill>
        <a:latin typeface="Arial" charset="0"/>
        <a:ea typeface="+mn-ea"/>
        <a:cs typeface="+mn-cs"/>
      </a:defRPr>
    </a:lvl2pPr>
    <a:lvl3pPr marL="914400" algn="ctr" rtl="0" eaLnBrk="0" fontAlgn="base" hangingPunct="0">
      <a:spcBef>
        <a:spcPct val="0"/>
      </a:spcBef>
      <a:spcAft>
        <a:spcPct val="0"/>
      </a:spcAft>
      <a:defRPr sz="2400" kern="1200">
        <a:solidFill>
          <a:schemeClr val="bg1"/>
        </a:solidFill>
        <a:latin typeface="Arial" charset="0"/>
        <a:ea typeface="+mn-ea"/>
        <a:cs typeface="+mn-cs"/>
      </a:defRPr>
    </a:lvl3pPr>
    <a:lvl4pPr marL="1371600" algn="ctr" rtl="0" eaLnBrk="0" fontAlgn="base" hangingPunct="0">
      <a:spcBef>
        <a:spcPct val="0"/>
      </a:spcBef>
      <a:spcAft>
        <a:spcPct val="0"/>
      </a:spcAft>
      <a:defRPr sz="2400" kern="1200">
        <a:solidFill>
          <a:schemeClr val="bg1"/>
        </a:solidFill>
        <a:latin typeface="Arial" charset="0"/>
        <a:ea typeface="+mn-ea"/>
        <a:cs typeface="+mn-cs"/>
      </a:defRPr>
    </a:lvl4pPr>
    <a:lvl5pPr marL="1828800" algn="ctr" rtl="0" eaLnBrk="0" fontAlgn="base" hangingPunct="0">
      <a:spcBef>
        <a:spcPct val="0"/>
      </a:spcBef>
      <a:spcAft>
        <a:spcPct val="0"/>
      </a:spcAft>
      <a:defRPr sz="2400" kern="1200">
        <a:solidFill>
          <a:schemeClr val="bg1"/>
        </a:solidFill>
        <a:latin typeface="Arial" charset="0"/>
        <a:ea typeface="+mn-ea"/>
        <a:cs typeface="+mn-cs"/>
      </a:defRPr>
    </a:lvl5pPr>
    <a:lvl6pPr marL="2286000" algn="l" defTabSz="914400" rtl="0" eaLnBrk="1" latinLnBrk="0" hangingPunct="1">
      <a:defRPr sz="2400" kern="1200">
        <a:solidFill>
          <a:schemeClr val="bg1"/>
        </a:solidFill>
        <a:latin typeface="Arial" charset="0"/>
        <a:ea typeface="+mn-ea"/>
        <a:cs typeface="+mn-cs"/>
      </a:defRPr>
    </a:lvl6pPr>
    <a:lvl7pPr marL="2743200" algn="l" defTabSz="914400" rtl="0" eaLnBrk="1" latinLnBrk="0" hangingPunct="1">
      <a:defRPr sz="2400" kern="1200">
        <a:solidFill>
          <a:schemeClr val="bg1"/>
        </a:solidFill>
        <a:latin typeface="Arial" charset="0"/>
        <a:ea typeface="+mn-ea"/>
        <a:cs typeface="+mn-cs"/>
      </a:defRPr>
    </a:lvl7pPr>
    <a:lvl8pPr marL="3200400" algn="l" defTabSz="914400" rtl="0" eaLnBrk="1" latinLnBrk="0" hangingPunct="1">
      <a:defRPr sz="2400" kern="1200">
        <a:solidFill>
          <a:schemeClr val="bg1"/>
        </a:solidFill>
        <a:latin typeface="Arial" charset="0"/>
        <a:ea typeface="+mn-ea"/>
        <a:cs typeface="+mn-cs"/>
      </a:defRPr>
    </a:lvl8pPr>
    <a:lvl9pPr marL="3657600" algn="l" defTabSz="914400" rtl="0" eaLnBrk="1" latinLnBrk="0" hangingPunct="1">
      <a:defRPr sz="2400" kern="1200">
        <a:solidFill>
          <a:schemeClr val="bg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0000"/>
    <a:srgbClr val="63C4D7"/>
    <a:srgbClr val="FFCCCC"/>
    <a:srgbClr val="FF99CC"/>
    <a:srgbClr val="CC00FF"/>
    <a:srgbClr val="FF7C80"/>
    <a:srgbClr val="0033CC"/>
    <a:srgbClr val="0000FF"/>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89844" autoAdjust="0"/>
  </p:normalViewPr>
  <p:slideViewPr>
    <p:cSldViewPr>
      <p:cViewPr varScale="1">
        <p:scale>
          <a:sx n="76" d="100"/>
          <a:sy n="76" d="100"/>
        </p:scale>
        <p:origin x="1310" y="67"/>
      </p:cViewPr>
      <p:guideLst>
        <p:guide orient="horz" pos="2160"/>
        <p:guide pos="2880"/>
      </p:guideLst>
    </p:cSldViewPr>
  </p:slideViewPr>
  <p:outlineViewPr>
    <p:cViewPr>
      <p:scale>
        <a:sx n="33" d="100"/>
        <a:sy n="33" d="100"/>
      </p:scale>
      <p:origin x="0" y="7182"/>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2880"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69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6691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defRPr>
            </a:lvl1pPr>
          </a:lstStyle>
          <a:p>
            <a:pPr>
              <a:defRPr/>
            </a:pPr>
            <a:endParaRPr lang="en-US"/>
          </a:p>
        </p:txBody>
      </p:sp>
      <p:sp>
        <p:nvSpPr>
          <p:cNvPr id="16691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6691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9E2B97F0-33F1-4001-BBE2-6DA117D757A1}" type="slidenum">
              <a:rPr lang="en-US"/>
              <a:pPr>
                <a:defRPr/>
              </a:pPr>
              <a:t>‹#›</a:t>
            </a:fld>
            <a:endParaRPr lang="en-US"/>
          </a:p>
        </p:txBody>
      </p:sp>
    </p:spTree>
    <p:extLst>
      <p:ext uri="{BB962C8B-B14F-4D97-AF65-F5344CB8AC3E}">
        <p14:creationId xmlns:p14="http://schemas.microsoft.com/office/powerpoint/2010/main" val="1476888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33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defRPr>
            </a:lvl1pPr>
          </a:lstStyle>
          <a:p>
            <a:pPr>
              <a:defRPr/>
            </a:pPr>
            <a:endParaRPr lang="en-US"/>
          </a:p>
        </p:txBody>
      </p:sp>
      <p:sp>
        <p:nvSpPr>
          <p:cNvPr id="430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33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33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03222506-91B9-4608-A17B-3DCA2CD2D529}" type="slidenum">
              <a:rPr lang="en-US"/>
              <a:pPr>
                <a:defRPr/>
              </a:pPr>
              <a:t>‹#›</a:t>
            </a:fld>
            <a:endParaRPr lang="en-US"/>
          </a:p>
        </p:txBody>
      </p:sp>
    </p:spTree>
    <p:extLst>
      <p:ext uri="{BB962C8B-B14F-4D97-AF65-F5344CB8AC3E}">
        <p14:creationId xmlns:p14="http://schemas.microsoft.com/office/powerpoint/2010/main" val="40677649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a:spLocks noChangeArrowheads="1"/>
          </p:cNvSpPr>
          <p:nvPr/>
        </p:nvSpPr>
        <p:spPr bwMode="gray">
          <a:xfrm>
            <a:off x="8004175" y="0"/>
            <a:ext cx="1139825" cy="6858000"/>
          </a:xfrm>
          <a:prstGeom prst="rect">
            <a:avLst/>
          </a:prstGeom>
          <a:solidFill>
            <a:schemeClr val="bg2">
              <a:alpha val="39999"/>
            </a:schemeClr>
          </a:solidFill>
          <a:ln w="9525">
            <a:noFill/>
            <a:miter lim="800000"/>
            <a:headEnd/>
            <a:tailEnd/>
          </a:ln>
          <a:effectLst/>
        </p:spPr>
        <p:txBody>
          <a:bodyPr wrap="none" anchor="ctr"/>
          <a:lstStyle/>
          <a:p>
            <a:pPr>
              <a:defRPr/>
            </a:pPr>
            <a:endParaRPr lang="en-US"/>
          </a:p>
        </p:txBody>
      </p:sp>
      <p:sp>
        <p:nvSpPr>
          <p:cNvPr id="5" name="Rectangle 4"/>
          <p:cNvSpPr>
            <a:spLocks noChangeArrowheads="1"/>
          </p:cNvSpPr>
          <p:nvPr/>
        </p:nvSpPr>
        <p:spPr bwMode="white">
          <a:xfrm>
            <a:off x="0" y="4638675"/>
            <a:ext cx="9144000" cy="2219325"/>
          </a:xfrm>
          <a:prstGeom prst="rect">
            <a:avLst/>
          </a:prstGeom>
          <a:solidFill>
            <a:schemeClr val="folHlink">
              <a:alpha val="31000"/>
            </a:schemeClr>
          </a:solidFill>
          <a:ln w="9525">
            <a:noFill/>
            <a:miter lim="800000"/>
            <a:headEnd/>
            <a:tailEnd/>
          </a:ln>
          <a:effectLst/>
        </p:spPr>
        <p:txBody>
          <a:bodyPr wrap="none" anchor="ctr"/>
          <a:lstStyle/>
          <a:p>
            <a:pPr>
              <a:defRPr/>
            </a:pPr>
            <a:endParaRPr lang="en-US"/>
          </a:p>
        </p:txBody>
      </p:sp>
      <p:sp>
        <p:nvSpPr>
          <p:cNvPr id="6" name="Rectangle 5"/>
          <p:cNvSpPr>
            <a:spLocks noChangeArrowheads="1"/>
          </p:cNvSpPr>
          <p:nvPr/>
        </p:nvSpPr>
        <p:spPr bwMode="gray">
          <a:xfrm>
            <a:off x="0" y="2149475"/>
            <a:ext cx="9144000" cy="2498725"/>
          </a:xfrm>
          <a:prstGeom prst="rect">
            <a:avLst/>
          </a:prstGeom>
          <a:solidFill>
            <a:schemeClr val="tx1"/>
          </a:solidFill>
          <a:ln w="9525">
            <a:noFill/>
            <a:miter lim="800000"/>
            <a:headEnd/>
            <a:tailEnd/>
          </a:ln>
          <a:effectLst/>
        </p:spPr>
        <p:txBody>
          <a:bodyPr wrap="none" anchor="ctr"/>
          <a:lstStyle/>
          <a:p>
            <a:pPr>
              <a:defRPr/>
            </a:pPr>
            <a:endParaRPr lang="en-US"/>
          </a:p>
        </p:txBody>
      </p:sp>
      <p:sp>
        <p:nvSpPr>
          <p:cNvPr id="7" name="Freeform 6"/>
          <p:cNvSpPr>
            <a:spLocks/>
          </p:cNvSpPr>
          <p:nvPr/>
        </p:nvSpPr>
        <p:spPr bwMode="gray">
          <a:xfrm>
            <a:off x="-9525" y="2138363"/>
            <a:ext cx="8015288" cy="2271712"/>
          </a:xfrm>
          <a:custGeom>
            <a:avLst/>
            <a:gdLst/>
            <a:ahLst/>
            <a:cxnLst>
              <a:cxn ang="0">
                <a:pos x="0" y="0"/>
              </a:cxn>
              <a:cxn ang="0">
                <a:pos x="5049" y="2"/>
              </a:cxn>
              <a:cxn ang="0">
                <a:pos x="5048" y="1458"/>
              </a:cxn>
              <a:cxn ang="0">
                <a:pos x="0" y="1471"/>
              </a:cxn>
              <a:cxn ang="0">
                <a:pos x="0" y="0"/>
              </a:cxn>
            </a:cxnLst>
            <a:rect l="0" t="0" r="r" b="b"/>
            <a:pathLst>
              <a:path w="5049" h="1471">
                <a:moveTo>
                  <a:pt x="0" y="0"/>
                </a:moveTo>
                <a:lnTo>
                  <a:pt x="5049" y="2"/>
                </a:lnTo>
                <a:lnTo>
                  <a:pt x="5048" y="1458"/>
                </a:lnTo>
                <a:lnTo>
                  <a:pt x="0" y="1471"/>
                </a:lnTo>
                <a:lnTo>
                  <a:pt x="0" y="0"/>
                </a:lnTo>
                <a:close/>
              </a:path>
            </a:pathLst>
          </a:custGeom>
          <a:solidFill>
            <a:schemeClr val="folHlink">
              <a:alpha val="73000"/>
            </a:schemeClr>
          </a:solidFill>
          <a:ln w="9525">
            <a:noFill/>
            <a:round/>
            <a:headEnd/>
            <a:tailEnd/>
          </a:ln>
          <a:effectLst/>
        </p:spPr>
        <p:txBody>
          <a:bodyPr/>
          <a:lstStyle/>
          <a:p>
            <a:pPr>
              <a:defRPr/>
            </a:pPr>
            <a:endParaRPr lang="en-US"/>
          </a:p>
        </p:txBody>
      </p:sp>
      <p:sp>
        <p:nvSpPr>
          <p:cNvPr id="8" name="AutoShape 21"/>
          <p:cNvSpPr>
            <a:spLocks noChangeArrowheads="1"/>
          </p:cNvSpPr>
          <p:nvPr/>
        </p:nvSpPr>
        <p:spPr bwMode="gray">
          <a:xfrm>
            <a:off x="7696200" y="594360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9" name="AutoShape 22"/>
          <p:cNvSpPr>
            <a:spLocks noChangeArrowheads="1"/>
          </p:cNvSpPr>
          <p:nvPr/>
        </p:nvSpPr>
        <p:spPr bwMode="gray">
          <a:xfrm>
            <a:off x="8229600" y="563880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10" name="AutoShape 23"/>
          <p:cNvSpPr>
            <a:spLocks noChangeArrowheads="1"/>
          </p:cNvSpPr>
          <p:nvPr/>
        </p:nvSpPr>
        <p:spPr bwMode="gray">
          <a:xfrm>
            <a:off x="8220075" y="622935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11" name="Text Box 14"/>
          <p:cNvSpPr txBox="1">
            <a:spLocks noChangeArrowheads="1"/>
          </p:cNvSpPr>
          <p:nvPr/>
        </p:nvSpPr>
        <p:spPr bwMode="auto">
          <a:xfrm>
            <a:off x="304800" y="228600"/>
            <a:ext cx="1447800" cy="519113"/>
          </a:xfrm>
          <a:prstGeom prst="rect">
            <a:avLst/>
          </a:prstGeom>
          <a:noFill/>
          <a:ln w="9525">
            <a:noFill/>
            <a:miter lim="800000"/>
            <a:headEnd/>
            <a:tailEnd/>
          </a:ln>
          <a:effectLst/>
        </p:spPr>
        <p:txBody>
          <a:bodyPr>
            <a:spAutoFit/>
          </a:bodyPr>
          <a:lstStyle/>
          <a:p>
            <a:pPr eaLnBrk="1" hangingPunct="1">
              <a:defRPr/>
            </a:pPr>
            <a:r>
              <a:rPr lang="en-US" sz="2800" b="1">
                <a:solidFill>
                  <a:schemeClr val="tx2"/>
                </a:solidFill>
                <a:latin typeface="Verdana" pitchFamily="34" charset="0"/>
              </a:rPr>
              <a:t>LOGO</a:t>
            </a:r>
          </a:p>
        </p:txBody>
      </p:sp>
      <p:grpSp>
        <p:nvGrpSpPr>
          <p:cNvPr id="12" name="Group 116"/>
          <p:cNvGrpSpPr>
            <a:grpSpLocks/>
          </p:cNvGrpSpPr>
          <p:nvPr/>
        </p:nvGrpSpPr>
        <p:grpSpPr bwMode="auto">
          <a:xfrm>
            <a:off x="190500" y="2324100"/>
            <a:ext cx="3276600" cy="3314700"/>
            <a:chOff x="120" y="1464"/>
            <a:chExt cx="2064" cy="2088"/>
          </a:xfrm>
        </p:grpSpPr>
        <p:sp>
          <p:nvSpPr>
            <p:cNvPr id="13" name="AutoShape 113" descr="gdd01"/>
            <p:cNvSpPr>
              <a:spLocks noChangeArrowheads="1"/>
            </p:cNvSpPr>
            <p:nvPr userDrawn="1"/>
          </p:nvSpPr>
          <p:spPr bwMode="gray">
            <a:xfrm>
              <a:off x="120" y="1992"/>
              <a:ext cx="1104" cy="1008"/>
            </a:xfrm>
            <a:prstGeom prst="hexagon">
              <a:avLst>
                <a:gd name="adj" fmla="val 27381"/>
                <a:gd name="vf" fmla="val 115470"/>
              </a:avLst>
            </a:prstGeom>
            <a:blipFill dpi="0" rotWithShape="1">
              <a:blip r:embed="rId2"/>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sp>
          <p:nvSpPr>
            <p:cNvPr id="14" name="AutoShape 114" descr="gdd04"/>
            <p:cNvSpPr>
              <a:spLocks noChangeArrowheads="1"/>
            </p:cNvSpPr>
            <p:nvPr userDrawn="1"/>
          </p:nvSpPr>
          <p:spPr bwMode="gray">
            <a:xfrm>
              <a:off x="1032" y="1464"/>
              <a:ext cx="1152" cy="1008"/>
            </a:xfrm>
            <a:prstGeom prst="hexagon">
              <a:avLst>
                <a:gd name="adj" fmla="val 28571"/>
                <a:gd name="vf" fmla="val 115470"/>
              </a:avLst>
            </a:prstGeom>
            <a:blipFill dpi="0" rotWithShape="1">
              <a:blip r:embed="rId3"/>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sp>
          <p:nvSpPr>
            <p:cNvPr id="15" name="AutoShape 115" descr="gdd03"/>
            <p:cNvSpPr>
              <a:spLocks noChangeArrowheads="1"/>
            </p:cNvSpPr>
            <p:nvPr userDrawn="1"/>
          </p:nvSpPr>
          <p:spPr bwMode="gray">
            <a:xfrm>
              <a:off x="1008" y="2544"/>
              <a:ext cx="1152" cy="1008"/>
            </a:xfrm>
            <a:prstGeom prst="hexagon">
              <a:avLst>
                <a:gd name="adj" fmla="val 28571"/>
                <a:gd name="vf" fmla="val 115470"/>
              </a:avLst>
            </a:prstGeom>
            <a:blipFill dpi="0" rotWithShape="1">
              <a:blip r:embed="rId4"/>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grpSp>
      <p:sp>
        <p:nvSpPr>
          <p:cNvPr id="3074" name="Rectangle 2"/>
          <p:cNvSpPr>
            <a:spLocks noGrp="1" noChangeArrowheads="1"/>
          </p:cNvSpPr>
          <p:nvPr>
            <p:ph type="ctrTitle"/>
          </p:nvPr>
        </p:nvSpPr>
        <p:spPr bwMode="gray">
          <a:xfrm>
            <a:off x="1143000" y="990600"/>
            <a:ext cx="6705600" cy="1012825"/>
          </a:xfrm>
        </p:spPr>
        <p:txBody>
          <a:bodyPr/>
          <a:lstStyle>
            <a:lvl1pPr algn="ctr">
              <a:defRPr sz="3600" b="1">
                <a:solidFill>
                  <a:schemeClr val="tx2"/>
                </a:solidFill>
              </a:defRPr>
            </a:lvl1pPr>
          </a:lstStyle>
          <a:p>
            <a:r>
              <a:rPr lang="en-US"/>
              <a:t>Click to edit Master title style</a:t>
            </a:r>
          </a:p>
        </p:txBody>
      </p:sp>
      <p:sp>
        <p:nvSpPr>
          <p:cNvPr id="3075" name="Rectangle 3"/>
          <p:cNvSpPr>
            <a:spLocks noGrp="1" noChangeArrowheads="1"/>
          </p:cNvSpPr>
          <p:nvPr>
            <p:ph type="subTitle" idx="1"/>
          </p:nvPr>
        </p:nvSpPr>
        <p:spPr bwMode="white">
          <a:xfrm>
            <a:off x="3505200" y="2971800"/>
            <a:ext cx="4343400" cy="685800"/>
          </a:xfrm>
        </p:spPr>
        <p:txBody>
          <a:bodyPr/>
          <a:lstStyle>
            <a:lvl1pPr marL="0" indent="0" algn="r">
              <a:buFont typeface="Wingdings" pitchFamily="2" charset="2"/>
              <a:buNone/>
              <a:defRPr sz="1600">
                <a:solidFill>
                  <a:schemeClr val="bg1"/>
                </a:solidFill>
              </a:defRPr>
            </a:lvl1pPr>
          </a:lstStyle>
          <a:p>
            <a:r>
              <a:rPr lang="en-US"/>
              <a:t>Click to edit Master subtitle style</a:t>
            </a:r>
          </a:p>
        </p:txBody>
      </p:sp>
      <p:sp>
        <p:nvSpPr>
          <p:cNvPr id="16" name="Rectangle 4"/>
          <p:cNvSpPr>
            <a:spLocks noGrp="1" noChangeArrowheads="1"/>
          </p:cNvSpPr>
          <p:nvPr>
            <p:ph type="dt" sz="half" idx="10"/>
          </p:nvPr>
        </p:nvSpPr>
        <p:spPr>
          <a:xfrm>
            <a:off x="3352800" y="6553200"/>
            <a:ext cx="2133600" cy="152400"/>
          </a:xfrm>
        </p:spPr>
        <p:txBody>
          <a:bodyPr/>
          <a:lstStyle>
            <a:lvl1pPr algn="r">
              <a:defRPr sz="1000">
                <a:solidFill>
                  <a:schemeClr val="tx2"/>
                </a:solidFill>
                <a:latin typeface="+mn-lt"/>
              </a:defRPr>
            </a:lvl1pPr>
          </a:lstStyle>
          <a:p>
            <a:pPr>
              <a:defRPr/>
            </a:pPr>
            <a:r>
              <a:rPr lang="en-US"/>
              <a:t>Khoa CNTT - UNETI</a:t>
            </a:r>
          </a:p>
        </p:txBody>
      </p:sp>
      <p:sp>
        <p:nvSpPr>
          <p:cNvPr id="17" name="Rectangle 5"/>
          <p:cNvSpPr>
            <a:spLocks noGrp="1" noChangeArrowheads="1"/>
          </p:cNvSpPr>
          <p:nvPr>
            <p:ph type="ftr" sz="quarter" idx="11"/>
          </p:nvPr>
        </p:nvSpPr>
        <p:spPr>
          <a:xfrm>
            <a:off x="304800" y="6477000"/>
            <a:ext cx="2590800" cy="228600"/>
          </a:xfrm>
        </p:spPr>
        <p:txBody>
          <a:bodyPr/>
          <a:lstStyle>
            <a:lvl1pPr algn="ctr">
              <a:defRPr sz="1200">
                <a:solidFill>
                  <a:schemeClr val="tx2"/>
                </a:solidFill>
                <a:latin typeface="Arial" charset="0"/>
              </a:defRPr>
            </a:lvl1pPr>
          </a:lstStyle>
          <a:p>
            <a:pPr>
              <a:defRPr/>
            </a:pPr>
            <a:endParaRPr lang="en-US"/>
          </a:p>
        </p:txBody>
      </p:sp>
      <p:sp>
        <p:nvSpPr>
          <p:cNvPr id="18" name="Rectangle 6"/>
          <p:cNvSpPr>
            <a:spLocks noGrp="1" noChangeArrowheads="1"/>
          </p:cNvSpPr>
          <p:nvPr>
            <p:ph type="sldNum" sz="quarter" idx="12"/>
          </p:nvPr>
        </p:nvSpPr>
        <p:spPr>
          <a:xfrm>
            <a:off x="8210550" y="6467475"/>
            <a:ext cx="533400" cy="244475"/>
          </a:xfrm>
        </p:spPr>
        <p:txBody>
          <a:bodyPr/>
          <a:lstStyle>
            <a:lvl1pPr>
              <a:defRPr sz="1200">
                <a:latin typeface="Arial" charset="0"/>
              </a:defRPr>
            </a:lvl1pPr>
          </a:lstStyle>
          <a:p>
            <a:pPr>
              <a:defRPr/>
            </a:pPr>
            <a:fld id="{C6D4949A-6AB1-4FC2-9B68-AD4CBDC61541}"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6"/>
          <p:cNvSpPr>
            <a:spLocks noGrp="1" noChangeArrowheads="1"/>
          </p:cNvSpPr>
          <p:nvPr>
            <p:ph type="sldNum" sz="quarter" idx="12"/>
          </p:nvPr>
        </p:nvSpPr>
        <p:spPr>
          <a:ln/>
        </p:spPr>
        <p:txBody>
          <a:bodyPr/>
          <a:lstStyle>
            <a:lvl1pPr>
              <a:defRPr/>
            </a:lvl1pPr>
          </a:lstStyle>
          <a:p>
            <a:pPr>
              <a:defRPr/>
            </a:pPr>
            <a:fld id="{38F16FD5-974A-40BB-8233-36E86F2AA73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2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6"/>
          <p:cNvSpPr>
            <a:spLocks noGrp="1" noChangeArrowheads="1"/>
          </p:cNvSpPr>
          <p:nvPr>
            <p:ph type="sldNum" sz="quarter" idx="12"/>
          </p:nvPr>
        </p:nvSpPr>
        <p:spPr>
          <a:ln/>
        </p:spPr>
        <p:txBody>
          <a:bodyPr/>
          <a:lstStyle>
            <a:lvl1pPr>
              <a:defRPr sz="1400">
                <a:solidFill>
                  <a:srgbClr val="002060"/>
                </a:solidFill>
              </a:defRPr>
            </a:lvl1pPr>
          </a:lstStyle>
          <a:p>
            <a:pPr>
              <a:defRPr/>
            </a:pPr>
            <a:fld id="{38F16FD5-974A-40BB-8233-36E86F2AA732}" type="slidenum">
              <a:rPr lang="en-US" smtClean="0"/>
              <a:pPr>
                <a:defRPr/>
              </a:pPr>
              <a:t>‹#›</a:t>
            </a:fld>
            <a:endParaRPr lang="en-US"/>
          </a:p>
        </p:txBody>
      </p:sp>
    </p:spTree>
    <p:extLst>
      <p:ext uri="{BB962C8B-B14F-4D97-AF65-F5344CB8AC3E}">
        <p14:creationId xmlns:p14="http://schemas.microsoft.com/office/powerpoint/2010/main" val="2416010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FA5E583-F5BB-4A7C-968E-806973EDB114}"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6EADD87-5DE4-4FC8-9754-98A33C5556A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09FAD1ED-0F27-4714-8A61-3EA2C1E8813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CB3A908F-56BE-4858-AD2D-1A4CAAE951CC}"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1136BFC-504A-480F-875D-D2CFCCA5FFC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CC38E81-E6E1-4595-9BE0-D4ED4704EBC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76259F6-250F-48F2-A908-7B59FD9010F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513BACE-ADF4-4A55-8B8C-495A02FEA026}"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943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81000"/>
            <a:ext cx="6019800" cy="5943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5B9936B-AF50-4F83-B203-9D59168E1E35}"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sp>
        <p:nvSpPr>
          <p:cNvPr id="17" name="Shape 17"/>
          <p:cNvSpPr>
            <a:spLocks noGrp="1"/>
          </p:cNvSpPr>
          <p:nvPr>
            <p:ph type="sldNum" sz="quarter" idx="2"/>
          </p:nvPr>
        </p:nvSpPr>
        <p:spPr>
          <a:xfrm>
            <a:off x="8226244" y="6475414"/>
            <a:ext cx="245404" cy="226986"/>
          </a:xfrm>
          <a:prstGeom prst="rect">
            <a:avLst/>
          </a:prstGeom>
        </p:spPr>
        <p:txBody>
          <a:bodyPr/>
          <a:lstStyle/>
          <a:p>
            <a:fld id="{86CB4B4D-7CA3-9044-876B-883B54F8677D}" type="slidenum">
              <a:rPr/>
              <a:t>‹#›</a:t>
            </a:fld>
            <a:endParaRPr/>
          </a:p>
        </p:txBody>
      </p:sp>
      <p:sp>
        <p:nvSpPr>
          <p:cNvPr id="3" name="Text Placeholder 2"/>
          <p:cNvSpPr>
            <a:spLocks noGrp="1"/>
          </p:cNvSpPr>
          <p:nvPr>
            <p:ph type="body" sz="quarter" idx="10" hasCustomPrompt="1"/>
          </p:nvPr>
        </p:nvSpPr>
        <p:spPr>
          <a:xfrm>
            <a:off x="914399" y="6475414"/>
            <a:ext cx="3294530" cy="234668"/>
          </a:xfrm>
        </p:spPr>
        <p:txBody>
          <a:bodyPr/>
          <a:lstStyle>
            <a:lvl1pPr marL="0" indent="0">
              <a:buNone/>
              <a:defRPr sz="1400" baseline="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err="1"/>
              <a:t>Khoa</a:t>
            </a:r>
            <a:r>
              <a:rPr lang="en-US" dirty="0"/>
              <a:t> </a:t>
            </a:r>
            <a:r>
              <a:rPr lang="en-US" dirty="0" err="1"/>
              <a:t>Công</a:t>
            </a:r>
            <a:r>
              <a:rPr lang="en-US" dirty="0"/>
              <a:t> </a:t>
            </a:r>
            <a:r>
              <a:rPr lang="en-US" dirty="0" err="1"/>
              <a:t>nghệ</a:t>
            </a:r>
            <a:r>
              <a:rPr lang="en-US" dirty="0"/>
              <a:t> </a:t>
            </a:r>
            <a:r>
              <a:rPr lang="en-US" dirty="0" err="1"/>
              <a:t>thông</a:t>
            </a:r>
            <a:r>
              <a:rPr lang="en-US" dirty="0"/>
              <a:t> tin - </a:t>
            </a:r>
            <a:r>
              <a:rPr lang="en-US" dirty="0" err="1"/>
              <a:t>Uneti</a:t>
            </a:r>
            <a:endParaRPr lang="en-US" dirty="0"/>
          </a:p>
        </p:txBody>
      </p:sp>
    </p:spTree>
    <p:extLst>
      <p:ext uri="{BB962C8B-B14F-4D97-AF65-F5344CB8AC3E}">
        <p14:creationId xmlns:p14="http://schemas.microsoft.com/office/powerpoint/2010/main" val="253966929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Freeform 15"/>
          <p:cNvSpPr>
            <a:spLocks/>
          </p:cNvSpPr>
          <p:nvPr/>
        </p:nvSpPr>
        <p:spPr bwMode="gray">
          <a:xfrm>
            <a:off x="-9525" y="344488"/>
            <a:ext cx="8194675" cy="633412"/>
          </a:xfrm>
          <a:custGeom>
            <a:avLst/>
            <a:gdLst/>
            <a:ahLst/>
            <a:cxnLst>
              <a:cxn ang="0">
                <a:pos x="0" y="0"/>
              </a:cxn>
              <a:cxn ang="0">
                <a:pos x="5049" y="2"/>
              </a:cxn>
              <a:cxn ang="0">
                <a:pos x="5048" y="1458"/>
              </a:cxn>
              <a:cxn ang="0">
                <a:pos x="0" y="1471"/>
              </a:cxn>
              <a:cxn ang="0">
                <a:pos x="0" y="0"/>
              </a:cxn>
            </a:cxnLst>
            <a:rect l="0" t="0" r="r" b="b"/>
            <a:pathLst>
              <a:path w="5049" h="1471">
                <a:moveTo>
                  <a:pt x="0" y="0"/>
                </a:moveTo>
                <a:lnTo>
                  <a:pt x="5049" y="2"/>
                </a:lnTo>
                <a:lnTo>
                  <a:pt x="5048" y="1458"/>
                </a:lnTo>
                <a:lnTo>
                  <a:pt x="0" y="1471"/>
                </a:lnTo>
                <a:lnTo>
                  <a:pt x="0" y="0"/>
                </a:lnTo>
                <a:close/>
              </a:path>
            </a:pathLst>
          </a:custGeom>
          <a:solidFill>
            <a:schemeClr val="tx2"/>
          </a:solidFill>
          <a:ln w="9525">
            <a:noFill/>
            <a:round/>
            <a:headEnd/>
            <a:tailEnd/>
          </a:ln>
          <a:effectLst/>
        </p:spPr>
        <p:txBody>
          <a:bodyPr/>
          <a:lstStyle/>
          <a:p>
            <a:pPr>
              <a:defRPr/>
            </a:pPr>
            <a:endParaRPr lang="en-US"/>
          </a:p>
        </p:txBody>
      </p:sp>
      <p:grpSp>
        <p:nvGrpSpPr>
          <p:cNvPr id="1027" name="Group 16"/>
          <p:cNvGrpSpPr>
            <a:grpSpLocks/>
          </p:cNvGrpSpPr>
          <p:nvPr/>
        </p:nvGrpSpPr>
        <p:grpSpPr bwMode="auto">
          <a:xfrm>
            <a:off x="8153400" y="0"/>
            <a:ext cx="990600" cy="6858000"/>
            <a:chOff x="5040" y="0"/>
            <a:chExt cx="720" cy="4320"/>
          </a:xfrm>
        </p:grpSpPr>
        <p:sp>
          <p:nvSpPr>
            <p:cNvPr id="1041" name="Rectangle 17"/>
            <p:cNvSpPr>
              <a:spLocks noChangeArrowheads="1"/>
            </p:cNvSpPr>
            <p:nvPr/>
          </p:nvSpPr>
          <p:spPr bwMode="gray">
            <a:xfrm>
              <a:off x="5042" y="0"/>
              <a:ext cx="718" cy="4320"/>
            </a:xfrm>
            <a:prstGeom prst="rect">
              <a:avLst/>
            </a:prstGeom>
            <a:solidFill>
              <a:schemeClr val="folHlink">
                <a:alpha val="39999"/>
              </a:schemeClr>
            </a:solidFill>
            <a:ln w="9525">
              <a:noFill/>
              <a:miter lim="800000"/>
              <a:headEnd/>
              <a:tailEnd/>
            </a:ln>
            <a:effectLst/>
          </p:spPr>
          <p:txBody>
            <a:bodyPr wrap="none" anchor="ctr"/>
            <a:lstStyle/>
            <a:p>
              <a:pPr>
                <a:defRPr/>
              </a:pPr>
              <a:endParaRPr lang="en-US"/>
            </a:p>
          </p:txBody>
        </p:sp>
        <p:sp>
          <p:nvSpPr>
            <p:cNvPr id="1042" name="Rectangle 18"/>
            <p:cNvSpPr>
              <a:spLocks noChangeArrowheads="1"/>
            </p:cNvSpPr>
            <p:nvPr/>
          </p:nvSpPr>
          <p:spPr bwMode="gray">
            <a:xfrm>
              <a:off x="5040" y="219"/>
              <a:ext cx="720" cy="393"/>
            </a:xfrm>
            <a:prstGeom prst="rect">
              <a:avLst/>
            </a:prstGeom>
            <a:solidFill>
              <a:schemeClr val="tx1"/>
            </a:solidFill>
            <a:ln w="9525">
              <a:noFill/>
              <a:miter lim="800000"/>
              <a:headEnd/>
              <a:tailEnd/>
            </a:ln>
            <a:effectLst/>
          </p:spPr>
          <p:txBody>
            <a:bodyPr wrap="none" anchor="ctr"/>
            <a:lstStyle/>
            <a:p>
              <a:pPr>
                <a:defRPr/>
              </a:pPr>
              <a:endParaRPr lang="en-US"/>
            </a:p>
          </p:txBody>
        </p:sp>
      </p:grpSp>
      <p:sp>
        <p:nvSpPr>
          <p:cNvPr id="1043" name="AutoShape 19"/>
          <p:cNvSpPr>
            <a:spLocks noChangeArrowheads="1"/>
          </p:cNvSpPr>
          <p:nvPr/>
        </p:nvSpPr>
        <p:spPr bwMode="gray">
          <a:xfrm>
            <a:off x="7696200" y="594360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44" name="AutoShape 20"/>
          <p:cNvSpPr>
            <a:spLocks noChangeArrowheads="1"/>
          </p:cNvSpPr>
          <p:nvPr/>
        </p:nvSpPr>
        <p:spPr bwMode="gray">
          <a:xfrm>
            <a:off x="8229600" y="563880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45" name="AutoShape 21"/>
          <p:cNvSpPr>
            <a:spLocks noChangeArrowheads="1"/>
          </p:cNvSpPr>
          <p:nvPr/>
        </p:nvSpPr>
        <p:spPr bwMode="gray">
          <a:xfrm>
            <a:off x="8220075" y="622935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31" name="Rectangle 3"/>
          <p:cNvSpPr>
            <a:spLocks noGrp="1" noChangeArrowheads="1"/>
          </p:cNvSpPr>
          <p:nvPr>
            <p:ph type="body" idx="1"/>
          </p:nvPr>
        </p:nvSpPr>
        <p:spPr bwMode="auto">
          <a:xfrm>
            <a:off x="457200" y="1076325"/>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519863"/>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a:solidFill>
                  <a:schemeClr val="tx1"/>
                </a:solidFill>
              </a:defRPr>
            </a:lvl1pPr>
          </a:lstStyle>
          <a:p>
            <a:pPr>
              <a:defRPr/>
            </a:pPr>
            <a:r>
              <a:rPr lang="en-US"/>
              <a:t>Khoa CNTT - UNETI</a:t>
            </a:r>
          </a:p>
        </p:txBody>
      </p:sp>
      <p:sp>
        <p:nvSpPr>
          <p:cNvPr id="1029" name="Rectangle 5"/>
          <p:cNvSpPr>
            <a:spLocks noGrp="1" noChangeArrowheads="1"/>
          </p:cNvSpPr>
          <p:nvPr>
            <p:ph type="ftr" sz="quarter" idx="3"/>
          </p:nvPr>
        </p:nvSpPr>
        <p:spPr bwMode="auto">
          <a:xfrm>
            <a:off x="5181600" y="6477000"/>
            <a:ext cx="2895600" cy="233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solidFill>
                  <a:schemeClr val="tx1"/>
                </a:solidFill>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8286750" y="6386513"/>
            <a:ext cx="4572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mn-lt"/>
              </a:defRPr>
            </a:lvl1pPr>
          </a:lstStyle>
          <a:p>
            <a:pPr>
              <a:defRPr/>
            </a:pPr>
            <a:fld id="{3DD6941D-3DCA-4DBC-80FB-7A196F783DA7}" type="slidenum">
              <a:rPr lang="en-US"/>
              <a:pPr>
                <a:defRPr/>
              </a:pPr>
              <a:t>‹#›</a:t>
            </a:fld>
            <a:endParaRPr lang="en-US"/>
          </a:p>
        </p:txBody>
      </p:sp>
      <p:grpSp>
        <p:nvGrpSpPr>
          <p:cNvPr id="1035" name="Group 22"/>
          <p:cNvGrpSpPr>
            <a:grpSpLocks/>
          </p:cNvGrpSpPr>
          <p:nvPr/>
        </p:nvGrpSpPr>
        <p:grpSpPr bwMode="auto">
          <a:xfrm>
            <a:off x="152400" y="228600"/>
            <a:ext cx="838200" cy="838200"/>
            <a:chOff x="18" y="144"/>
            <a:chExt cx="510" cy="480"/>
          </a:xfrm>
        </p:grpSpPr>
        <p:sp>
          <p:nvSpPr>
            <p:cNvPr id="1047" name="AutoShape 23"/>
            <p:cNvSpPr>
              <a:spLocks noChangeArrowheads="1"/>
            </p:cNvSpPr>
            <p:nvPr userDrawn="1"/>
          </p:nvSpPr>
          <p:spPr bwMode="gray">
            <a:xfrm>
              <a:off x="18" y="258"/>
              <a:ext cx="288" cy="240"/>
            </a:xfrm>
            <a:prstGeom prst="hexagon">
              <a:avLst>
                <a:gd name="adj" fmla="val 30000"/>
                <a:gd name="vf" fmla="val 115470"/>
              </a:avLst>
            </a:prstGeom>
            <a:solidFill>
              <a:schemeClr val="hlink"/>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sp>
          <p:nvSpPr>
            <p:cNvPr id="1048" name="AutoShape 24"/>
            <p:cNvSpPr>
              <a:spLocks noChangeArrowheads="1"/>
            </p:cNvSpPr>
            <p:nvPr userDrawn="1"/>
          </p:nvSpPr>
          <p:spPr bwMode="gray">
            <a:xfrm>
              <a:off x="240" y="144"/>
              <a:ext cx="288" cy="240"/>
            </a:xfrm>
            <a:prstGeom prst="hexagon">
              <a:avLst>
                <a:gd name="adj" fmla="val 30000"/>
                <a:gd name="vf" fmla="val 115470"/>
              </a:avLst>
            </a:prstGeom>
            <a:solidFill>
              <a:schemeClr val="accent2"/>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sp>
          <p:nvSpPr>
            <p:cNvPr id="1049" name="AutoShape 25"/>
            <p:cNvSpPr>
              <a:spLocks noChangeArrowheads="1"/>
            </p:cNvSpPr>
            <p:nvPr userDrawn="1"/>
          </p:nvSpPr>
          <p:spPr bwMode="gray">
            <a:xfrm>
              <a:off x="240" y="384"/>
              <a:ext cx="288" cy="240"/>
            </a:xfrm>
            <a:prstGeom prst="hexagon">
              <a:avLst>
                <a:gd name="adj" fmla="val 30000"/>
                <a:gd name="vf" fmla="val 115470"/>
              </a:avLst>
            </a:prstGeom>
            <a:solidFill>
              <a:schemeClr val="accent1"/>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grpSp>
      <p:sp>
        <p:nvSpPr>
          <p:cNvPr id="1036" name="Rectangle 2"/>
          <p:cNvSpPr>
            <a:spLocks noGrp="1" noChangeArrowheads="1"/>
          </p:cNvSpPr>
          <p:nvPr>
            <p:ph type="title"/>
          </p:nvPr>
        </p:nvSpPr>
        <p:spPr bwMode="white">
          <a:xfrm>
            <a:off x="1143000" y="381000"/>
            <a:ext cx="6705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3843" r:id="rId1"/>
    <p:sldLayoutId id="2147483833" r:id="rId2"/>
    <p:sldLayoutId id="2147483965"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967" r:id="rId13"/>
  </p:sldLayoutIdLst>
  <p:hf hdr="0" ftr="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p:titleStyle>
    <p:body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sp>
        <p:nvSpPr>
          <p:cNvPr id="6" name="Title 1"/>
          <p:cNvSpPr txBox="1">
            <a:spLocks/>
          </p:cNvSpPr>
          <p:nvPr/>
        </p:nvSpPr>
        <p:spPr bwMode="gray">
          <a:xfrm>
            <a:off x="-76200" y="228600"/>
            <a:ext cx="10210800" cy="762000"/>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chor="ctr"/>
          <a:lstStyle/>
          <a:p>
            <a:pPr>
              <a:defRPr/>
            </a:pPr>
            <a:r>
              <a:rPr lang="en-US" sz="1800" b="1" kern="0">
                <a:solidFill>
                  <a:schemeClr val="tx1"/>
                </a:solidFill>
                <a:latin typeface="+mj-lt"/>
                <a:ea typeface="+mj-ea"/>
                <a:cs typeface="+mj-cs"/>
              </a:rPr>
              <a:t>TRƯỜNG ĐẠI HỌC KINH TẾ KỸ THUẬT CÔNG NGHIỆP</a:t>
            </a:r>
          </a:p>
          <a:p>
            <a:pPr>
              <a:defRPr/>
            </a:pPr>
            <a:r>
              <a:rPr lang="en-US" sz="1800" b="1" kern="0" err="1">
                <a:solidFill>
                  <a:schemeClr val="tx1"/>
                </a:solidFill>
                <a:latin typeface="+mj-lt"/>
                <a:ea typeface="+mj-ea"/>
                <a:cs typeface="+mj-cs"/>
              </a:rPr>
              <a:t>Khoa</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Công</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Nghệ</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Thông</a:t>
            </a:r>
            <a:r>
              <a:rPr lang="en-US" sz="1800" b="1" kern="0">
                <a:solidFill>
                  <a:schemeClr val="tx1"/>
                </a:solidFill>
                <a:latin typeface="+mj-lt"/>
                <a:ea typeface="+mj-ea"/>
                <a:cs typeface="+mj-cs"/>
              </a:rPr>
              <a:t> Tin</a:t>
            </a:r>
          </a:p>
          <a:p>
            <a:pPr>
              <a:defRPr/>
            </a:pPr>
            <a:r>
              <a:rPr lang="en-US" sz="1800" b="1" kern="0">
                <a:solidFill>
                  <a:schemeClr val="tx1"/>
                </a:solidFill>
                <a:latin typeface="+mj-lt"/>
                <a:ea typeface="+mj-ea"/>
                <a:cs typeface="+mj-cs"/>
              </a:rPr>
              <a:t>-------</a:t>
            </a:r>
            <a:r>
              <a:rPr lang="en-US" sz="1800" b="1" kern="0">
                <a:solidFill>
                  <a:schemeClr val="tx1"/>
                </a:solidFill>
                <a:latin typeface="+mj-lt"/>
                <a:ea typeface="+mj-ea"/>
                <a:cs typeface="+mj-cs"/>
                <a:sym typeface="Wingdings"/>
              </a:rPr>
              <a:t></a:t>
            </a:r>
            <a:r>
              <a:rPr lang="en-US" sz="1800" b="1" kern="0">
                <a:solidFill>
                  <a:schemeClr val="tx1"/>
                </a:solidFill>
                <a:latin typeface="+mj-lt"/>
                <a:ea typeface="+mj-ea"/>
                <a:cs typeface="+mj-cs"/>
              </a:rPr>
              <a:t>------</a:t>
            </a:r>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8" name="Rectangle 2"/>
          <p:cNvSpPr txBox="1">
            <a:spLocks noChangeArrowheads="1"/>
          </p:cNvSpPr>
          <p:nvPr/>
        </p:nvSpPr>
        <p:spPr bwMode="gray">
          <a:xfrm>
            <a:off x="2133600" y="1219200"/>
            <a:ext cx="67056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000" b="1" i="0" u="none" strike="noStrike" kern="0" cap="none" spc="0" normalizeH="0" baseline="0" noProof="0">
                <a:ln>
                  <a:noFill/>
                </a:ln>
                <a:solidFill>
                  <a:srgbClr val="FF0000"/>
                </a:solidFill>
                <a:effectLst/>
                <a:uLnTx/>
                <a:uFillTx/>
                <a:latin typeface="+mj-lt"/>
                <a:ea typeface="+mj-ea"/>
                <a:cs typeface="+mj-cs"/>
              </a:rPr>
              <a:t>LẬP TR</a:t>
            </a:r>
            <a:r>
              <a:rPr lang="en-US" sz="4000" b="1" kern="0">
                <a:solidFill>
                  <a:srgbClr val="FF0000"/>
                </a:solidFill>
                <a:latin typeface="+mj-lt"/>
                <a:ea typeface="+mj-ea"/>
                <a:cs typeface="+mj-cs"/>
              </a:rPr>
              <a:t>ÌNH DI ĐỘNG</a:t>
            </a:r>
            <a:endParaRPr kumimoji="0" lang="en-US" sz="4000" b="1" i="0" u="none" strike="noStrike" kern="0" cap="none" spc="0" normalizeH="0" baseline="0" noProof="0">
              <a:ln>
                <a:noFill/>
              </a:ln>
              <a:solidFill>
                <a:srgbClr val="FF0000"/>
              </a:solidFill>
              <a:effectLst/>
              <a:uLnTx/>
              <a:uFillTx/>
              <a:latin typeface="+mj-lt"/>
              <a:ea typeface="+mj-ea"/>
              <a:cs typeface="+mj-cs"/>
            </a:endParaRPr>
          </a:p>
        </p:txBody>
      </p:sp>
      <p:sp>
        <p:nvSpPr>
          <p:cNvPr id="7" name="Shape 43"/>
          <p:cNvSpPr txBox="1">
            <a:spLocks/>
          </p:cNvSpPr>
          <p:nvPr/>
        </p:nvSpPr>
        <p:spPr bwMode="auto">
          <a:xfrm>
            <a:off x="3048000" y="2165888"/>
            <a:ext cx="5334000" cy="2209800"/>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lgn="ctr">
              <a:spcBef>
                <a:spcPts val="900"/>
              </a:spcBef>
              <a:buFont typeface="Wingdings" pitchFamily="2" charset="2"/>
              <a:buNone/>
              <a:defRPr sz="4000" b="1">
                <a:solidFill>
                  <a:srgbClr val="260026"/>
                </a:solidFill>
              </a:defRPr>
            </a:pPr>
            <a:r>
              <a:rPr lang="vi-VN" sz="3600" b="1" kern="0">
                <a:solidFill>
                  <a:schemeClr val="bg1"/>
                </a:solidFill>
              </a:rPr>
              <a:t>CHƯƠNG </a:t>
            </a:r>
            <a:r>
              <a:rPr lang="en-US" sz="3600" b="1" kern="0">
                <a:solidFill>
                  <a:schemeClr val="bg1"/>
                </a:solidFill>
              </a:rPr>
              <a:t>5: INTENT VÀ SERVICE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81000"/>
            <a:ext cx="8458200" cy="563563"/>
          </a:xfrm>
        </p:spPr>
        <p:txBody>
          <a:bodyPr/>
          <a:lstStyle/>
          <a:p>
            <a:r>
              <a:rPr lang="en-US" sz="2400" b="1" err="1"/>
              <a:t>Chương</a:t>
            </a:r>
            <a:r>
              <a:rPr lang="en-US" sz="2400" b="1"/>
              <a:t> 5 – Intent và Service</a:t>
            </a:r>
          </a:p>
        </p:txBody>
      </p:sp>
      <p:sp>
        <p:nvSpPr>
          <p:cNvPr id="19" name="Line 13"/>
          <p:cNvSpPr>
            <a:spLocks noChangeShapeType="1"/>
          </p:cNvSpPr>
          <p:nvPr/>
        </p:nvSpPr>
        <p:spPr bwMode="gray">
          <a:xfrm>
            <a:off x="2008652" y="4117393"/>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30" name="Rectangle 14"/>
          <p:cNvSpPr>
            <a:spLocks noChangeArrowheads="1"/>
          </p:cNvSpPr>
          <p:nvPr/>
        </p:nvSpPr>
        <p:spPr bwMode="gray">
          <a:xfrm rot="3419336">
            <a:off x="1724489" y="3541131"/>
            <a:ext cx="479425" cy="520700"/>
          </a:xfrm>
          <a:prstGeom prst="rect">
            <a:avLst/>
          </a:prstGeom>
          <a:gradFill rotWithShape="1">
            <a:gsLst>
              <a:gs pos="0">
                <a:schemeClr val="folHlink"/>
              </a:gs>
              <a:gs pos="100000">
                <a:schemeClr val="folHlink">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folHlink"/>
            </a:extrusionClr>
          </a:sp3d>
        </p:spPr>
        <p:txBody>
          <a:bodyPr wrap="none" anchor="ctr">
            <a:flatTx/>
          </a:bodyPr>
          <a:lstStyle/>
          <a:p>
            <a:endParaRPr lang="en-US"/>
          </a:p>
        </p:txBody>
      </p:sp>
      <p:sp>
        <p:nvSpPr>
          <p:cNvPr id="31" name="Text Box 15"/>
          <p:cNvSpPr txBox="1">
            <a:spLocks noChangeArrowheads="1"/>
          </p:cNvSpPr>
          <p:nvPr/>
        </p:nvSpPr>
        <p:spPr bwMode="gray">
          <a:xfrm>
            <a:off x="1650725" y="3583993"/>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1.3</a:t>
            </a:r>
          </a:p>
        </p:txBody>
      </p:sp>
      <p:sp>
        <p:nvSpPr>
          <p:cNvPr id="32" name="Line 16"/>
          <p:cNvSpPr>
            <a:spLocks noChangeShapeType="1"/>
          </p:cNvSpPr>
          <p:nvPr/>
        </p:nvSpPr>
        <p:spPr bwMode="gray">
          <a:xfrm>
            <a:off x="2028530" y="2492415"/>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33" name="Rectangle 17"/>
          <p:cNvSpPr>
            <a:spLocks noChangeArrowheads="1"/>
          </p:cNvSpPr>
          <p:nvPr/>
        </p:nvSpPr>
        <p:spPr bwMode="gray">
          <a:xfrm rot="3419336">
            <a:off x="1744367" y="1916153"/>
            <a:ext cx="479425" cy="520700"/>
          </a:xfrm>
          <a:prstGeom prst="rect">
            <a:avLst/>
          </a:prstGeom>
          <a:gradFill rotWithShape="1">
            <a:gsLst>
              <a:gs pos="0">
                <a:schemeClr val="accent1"/>
              </a:gs>
              <a:gs pos="100000">
                <a:schemeClr val="accent1">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accent1"/>
            </a:extrusionClr>
          </a:sp3d>
        </p:spPr>
        <p:txBody>
          <a:bodyPr wrap="none" anchor="ctr">
            <a:flatTx/>
          </a:bodyPr>
          <a:lstStyle/>
          <a:p>
            <a:endParaRPr lang="en-US"/>
          </a:p>
        </p:txBody>
      </p:sp>
      <p:sp>
        <p:nvSpPr>
          <p:cNvPr id="35" name="Text Box 19"/>
          <p:cNvSpPr txBox="1">
            <a:spLocks noChangeArrowheads="1"/>
          </p:cNvSpPr>
          <p:nvPr/>
        </p:nvSpPr>
        <p:spPr bwMode="gray">
          <a:xfrm>
            <a:off x="1670603" y="1959015"/>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1.1</a:t>
            </a:r>
          </a:p>
        </p:txBody>
      </p:sp>
      <p:sp>
        <p:nvSpPr>
          <p:cNvPr id="39" name="Line 23"/>
          <p:cNvSpPr>
            <a:spLocks noChangeShapeType="1"/>
          </p:cNvSpPr>
          <p:nvPr/>
        </p:nvSpPr>
        <p:spPr bwMode="gray">
          <a:xfrm>
            <a:off x="1981061" y="3326406"/>
            <a:ext cx="4799012" cy="1587"/>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40" name="Rectangle 24"/>
          <p:cNvSpPr>
            <a:spLocks noChangeArrowheads="1"/>
          </p:cNvSpPr>
          <p:nvPr/>
        </p:nvSpPr>
        <p:spPr bwMode="gray">
          <a:xfrm rot="3419336">
            <a:off x="1695310" y="2751731"/>
            <a:ext cx="479425" cy="520700"/>
          </a:xfrm>
          <a:prstGeom prst="rect">
            <a:avLst/>
          </a:prstGeom>
          <a:gradFill rotWithShape="1">
            <a:gsLst>
              <a:gs pos="0">
                <a:schemeClr val="hlink"/>
              </a:gs>
              <a:gs pos="100000">
                <a:schemeClr val="hlink">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hlink"/>
            </a:extrusionClr>
          </a:sp3d>
        </p:spPr>
        <p:txBody>
          <a:bodyPr wrap="none" anchor="ctr">
            <a:flatTx/>
          </a:bodyPr>
          <a:lstStyle/>
          <a:p>
            <a:endParaRPr lang="en-US"/>
          </a:p>
        </p:txBody>
      </p:sp>
      <p:sp>
        <p:nvSpPr>
          <p:cNvPr id="41" name="Text Box 25"/>
          <p:cNvSpPr txBox="1">
            <a:spLocks noChangeArrowheads="1"/>
          </p:cNvSpPr>
          <p:nvPr/>
        </p:nvSpPr>
        <p:spPr bwMode="gray">
          <a:xfrm>
            <a:off x="1621546" y="2794593"/>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1.2</a:t>
            </a:r>
          </a:p>
        </p:txBody>
      </p:sp>
      <p:sp>
        <p:nvSpPr>
          <p:cNvPr id="42" name="Text Box 29"/>
          <p:cNvSpPr txBox="1">
            <a:spLocks noChangeArrowheads="1"/>
          </p:cNvSpPr>
          <p:nvPr/>
        </p:nvSpPr>
        <p:spPr bwMode="gray">
          <a:xfrm>
            <a:off x="2551769" y="2892133"/>
            <a:ext cx="5309467" cy="430887"/>
          </a:xfrm>
          <a:prstGeom prst="rect">
            <a:avLst/>
          </a:prstGeom>
          <a:noFill/>
          <a:ln w="9525" algn="ctr">
            <a:noFill/>
            <a:miter lim="800000"/>
            <a:headEnd/>
            <a:tailEnd/>
          </a:ln>
          <a:effectLst/>
        </p:spPr>
        <p:txBody>
          <a:bodyPr wrap="none">
            <a:spAutoFit/>
          </a:bodyPr>
          <a:lstStyle/>
          <a:p>
            <a:pPr algn="l" eaLnBrk="0" hangingPunct="0"/>
            <a:r>
              <a:rPr lang="en-US" sz="2200" b="1" dirty="0">
                <a:solidFill>
                  <a:schemeClr val="tx2"/>
                </a:solidFill>
              </a:rPr>
              <a:t>SỬ DỤNG INTENT TRAO ĐỔI DỮ LIỆU</a:t>
            </a:r>
          </a:p>
        </p:txBody>
      </p:sp>
      <p:sp>
        <p:nvSpPr>
          <p:cNvPr id="43" name="Text Box 30"/>
          <p:cNvSpPr txBox="1">
            <a:spLocks noChangeArrowheads="1"/>
          </p:cNvSpPr>
          <p:nvPr/>
        </p:nvSpPr>
        <p:spPr bwMode="gray">
          <a:xfrm>
            <a:off x="2511029" y="3610306"/>
            <a:ext cx="3849131" cy="430887"/>
          </a:xfrm>
          <a:prstGeom prst="rect">
            <a:avLst/>
          </a:prstGeom>
          <a:noFill/>
          <a:ln w="9525" algn="ctr">
            <a:noFill/>
            <a:miter lim="800000"/>
            <a:headEnd/>
            <a:tailEnd/>
          </a:ln>
          <a:effectLst/>
        </p:spPr>
        <p:txBody>
          <a:bodyPr wrap="none">
            <a:spAutoFit/>
          </a:bodyPr>
          <a:lstStyle/>
          <a:p>
            <a:pPr algn="l"/>
            <a:r>
              <a:rPr lang="en-US" sz="2200" b="1">
                <a:solidFill>
                  <a:schemeClr val="tx2"/>
                </a:solidFill>
              </a:rPr>
              <a:t> BROADCAST RECEIVERS </a:t>
            </a:r>
          </a:p>
        </p:txBody>
      </p:sp>
      <p:sp>
        <p:nvSpPr>
          <p:cNvPr id="44" name="Text Box 18">
            <a:extLst>
              <a:ext uri="{FF2B5EF4-FFF2-40B4-BE49-F238E27FC236}">
                <a16:creationId xmlns:a16="http://schemas.microsoft.com/office/drawing/2014/main" id="{3B08D919-B9F7-4532-A6DF-0637E33C4F56}"/>
              </a:ext>
            </a:extLst>
          </p:cNvPr>
          <p:cNvSpPr txBox="1">
            <a:spLocks noChangeArrowheads="1"/>
          </p:cNvSpPr>
          <p:nvPr/>
        </p:nvSpPr>
        <p:spPr bwMode="gray">
          <a:xfrm>
            <a:off x="2332996" y="1996657"/>
            <a:ext cx="7038215" cy="430887"/>
          </a:xfrm>
          <a:prstGeom prst="rect">
            <a:avLst/>
          </a:prstGeom>
          <a:noFill/>
          <a:ln w="9525" algn="ctr">
            <a:noFill/>
            <a:miter lim="800000"/>
            <a:headEnd/>
            <a:tailEnd/>
          </a:ln>
          <a:effectLst/>
        </p:spPr>
        <p:txBody>
          <a:bodyPr wrap="square">
            <a:spAutoFit/>
          </a:bodyPr>
          <a:lstStyle/>
          <a:p>
            <a:pPr algn="l" eaLnBrk="0" hangingPunct="0"/>
            <a:r>
              <a:rPr lang="en-US" sz="2200" b="1" dirty="0">
                <a:solidFill>
                  <a:schemeClr val="tx2"/>
                </a:solidFill>
              </a:rPr>
              <a:t>   TỔNG QUAN INTENT</a:t>
            </a:r>
          </a:p>
        </p:txBody>
      </p:sp>
      <p:sp>
        <p:nvSpPr>
          <p:cNvPr id="3" name="Date Placeholder 2"/>
          <p:cNvSpPr>
            <a:spLocks noGrp="1"/>
          </p:cNvSpPr>
          <p:nvPr>
            <p:ph type="dt" sz="half" idx="10"/>
          </p:nvPr>
        </p:nvSpPr>
        <p:spPr/>
        <p:txBody>
          <a:bodyPr/>
          <a:lstStyle/>
          <a:p>
            <a:pPr>
              <a:defRPr/>
            </a:pPr>
            <a:r>
              <a:rPr lang="en-US"/>
              <a:t>Khoa CNTT - UNETI</a:t>
            </a:r>
          </a:p>
        </p:txBody>
      </p:sp>
      <p:sp>
        <p:nvSpPr>
          <p:cNvPr id="4" name="Slide Number Placeholder 3"/>
          <p:cNvSpPr>
            <a:spLocks noGrp="1"/>
          </p:cNvSpPr>
          <p:nvPr>
            <p:ph type="sldNum" sz="quarter" idx="12"/>
          </p:nvPr>
        </p:nvSpPr>
        <p:spPr/>
        <p:txBody>
          <a:bodyPr/>
          <a:lstStyle/>
          <a:p>
            <a:pPr>
              <a:defRPr/>
            </a:pPr>
            <a:fld id="{38F16FD5-974A-40BB-8233-36E86F2AA732}" type="slidenum">
              <a:rPr lang="en-US" smtClean="0"/>
              <a:pPr>
                <a:defRPr/>
              </a:pPr>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ppt_x"/>
                                          </p:val>
                                        </p:tav>
                                        <p:tav tm="100000">
                                          <p:val>
                                            <p:strVal val="#ppt_x"/>
                                          </p:val>
                                        </p:tav>
                                      </p:tavLst>
                                    </p:anim>
                                    <p:anim calcmode="lin" valueType="num">
                                      <p:cBhvr additive="base">
                                        <p:cTn id="8" dur="500" fill="hold"/>
                                        <p:tgtEl>
                                          <p:spTgt spid="4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ppt_x"/>
                                          </p:val>
                                        </p:tav>
                                        <p:tav tm="100000">
                                          <p:val>
                                            <p:strVal val="#ppt_x"/>
                                          </p:val>
                                        </p:tav>
                                      </p:tavLst>
                                    </p:anim>
                                    <p:anim calcmode="lin" valueType="num">
                                      <p:cBhvr additive="base">
                                        <p:cTn id="12" dur="500" fill="hold"/>
                                        <p:tgtEl>
                                          <p:spTgt spid="3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ppt_x"/>
                                          </p:val>
                                        </p:tav>
                                        <p:tav tm="100000">
                                          <p:val>
                                            <p:strVal val="#ppt_x"/>
                                          </p:val>
                                        </p:tav>
                                      </p:tavLst>
                                    </p:anim>
                                    <p:anim calcmode="lin" valueType="num">
                                      <p:cBhvr additive="base">
                                        <p:cTn id="2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anim calcmode="lin" valueType="num">
                                      <p:cBhvr additive="base">
                                        <p:cTn id="25" dur="500" fill="hold"/>
                                        <p:tgtEl>
                                          <p:spTgt spid="41"/>
                                        </p:tgtEl>
                                        <p:attrNameLst>
                                          <p:attrName>ppt_x</p:attrName>
                                        </p:attrNameLst>
                                      </p:cBhvr>
                                      <p:tavLst>
                                        <p:tav tm="0">
                                          <p:val>
                                            <p:strVal val="#ppt_x"/>
                                          </p:val>
                                        </p:tav>
                                        <p:tav tm="100000">
                                          <p:val>
                                            <p:strVal val="#ppt_x"/>
                                          </p:val>
                                        </p:tav>
                                      </p:tavLst>
                                    </p:anim>
                                    <p:anim calcmode="lin" valueType="num">
                                      <p:cBhvr additive="base">
                                        <p:cTn id="26" dur="500" fill="hold"/>
                                        <p:tgtEl>
                                          <p:spTgt spid="4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anim calcmode="lin" valueType="num">
                                      <p:cBhvr additive="base">
                                        <p:cTn id="29" dur="500" fill="hold"/>
                                        <p:tgtEl>
                                          <p:spTgt spid="40"/>
                                        </p:tgtEl>
                                        <p:attrNameLst>
                                          <p:attrName>ppt_x</p:attrName>
                                        </p:attrNameLst>
                                      </p:cBhvr>
                                      <p:tavLst>
                                        <p:tav tm="0">
                                          <p:val>
                                            <p:strVal val="#ppt_x"/>
                                          </p:val>
                                        </p:tav>
                                        <p:tav tm="100000">
                                          <p:val>
                                            <p:strVal val="#ppt_x"/>
                                          </p:val>
                                        </p:tav>
                                      </p:tavLst>
                                    </p:anim>
                                    <p:anim calcmode="lin" valueType="num">
                                      <p:cBhvr additive="base">
                                        <p:cTn id="30" dur="500" fill="hold"/>
                                        <p:tgtEl>
                                          <p:spTgt spid="4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anim calcmode="lin" valueType="num">
                                      <p:cBhvr additive="base">
                                        <p:cTn id="33" dur="500" fill="hold"/>
                                        <p:tgtEl>
                                          <p:spTgt spid="42"/>
                                        </p:tgtEl>
                                        <p:attrNameLst>
                                          <p:attrName>ppt_x</p:attrName>
                                        </p:attrNameLst>
                                      </p:cBhvr>
                                      <p:tavLst>
                                        <p:tav tm="0">
                                          <p:val>
                                            <p:strVal val="#ppt_x"/>
                                          </p:val>
                                        </p:tav>
                                        <p:tav tm="100000">
                                          <p:val>
                                            <p:strVal val="#ppt_x"/>
                                          </p:val>
                                        </p:tav>
                                      </p:tavLst>
                                    </p:anim>
                                    <p:anim calcmode="lin" valueType="num">
                                      <p:cBhvr additive="base">
                                        <p:cTn id="34" dur="500" fill="hold"/>
                                        <p:tgtEl>
                                          <p:spTgt spid="4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additive="base">
                                        <p:cTn id="37" dur="500" fill="hold"/>
                                        <p:tgtEl>
                                          <p:spTgt spid="39"/>
                                        </p:tgtEl>
                                        <p:attrNameLst>
                                          <p:attrName>ppt_x</p:attrName>
                                        </p:attrNameLst>
                                      </p:cBhvr>
                                      <p:tavLst>
                                        <p:tav tm="0">
                                          <p:val>
                                            <p:strVal val="#ppt_x"/>
                                          </p:val>
                                        </p:tav>
                                        <p:tav tm="100000">
                                          <p:val>
                                            <p:strVal val="#ppt_x"/>
                                          </p:val>
                                        </p:tav>
                                      </p:tavLst>
                                    </p:anim>
                                    <p:anim calcmode="lin" valueType="num">
                                      <p:cBhvr additive="base">
                                        <p:cTn id="3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additive="base">
                                        <p:cTn id="43" dur="500" fill="hold"/>
                                        <p:tgtEl>
                                          <p:spTgt spid="31"/>
                                        </p:tgtEl>
                                        <p:attrNameLst>
                                          <p:attrName>ppt_x</p:attrName>
                                        </p:attrNameLst>
                                      </p:cBhvr>
                                      <p:tavLst>
                                        <p:tav tm="0">
                                          <p:val>
                                            <p:strVal val="#ppt_x"/>
                                          </p:val>
                                        </p:tav>
                                        <p:tav tm="100000">
                                          <p:val>
                                            <p:strVal val="#ppt_x"/>
                                          </p:val>
                                        </p:tav>
                                      </p:tavLst>
                                    </p:anim>
                                    <p:anim calcmode="lin" valueType="num">
                                      <p:cBhvr additive="base">
                                        <p:cTn id="44" dur="500" fill="hold"/>
                                        <p:tgtEl>
                                          <p:spTgt spid="3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additive="base">
                                        <p:cTn id="47" dur="500" fill="hold"/>
                                        <p:tgtEl>
                                          <p:spTgt spid="30"/>
                                        </p:tgtEl>
                                        <p:attrNameLst>
                                          <p:attrName>ppt_x</p:attrName>
                                        </p:attrNameLst>
                                      </p:cBhvr>
                                      <p:tavLst>
                                        <p:tav tm="0">
                                          <p:val>
                                            <p:strVal val="#ppt_x"/>
                                          </p:val>
                                        </p:tav>
                                        <p:tav tm="100000">
                                          <p:val>
                                            <p:strVal val="#ppt_x"/>
                                          </p:val>
                                        </p:tav>
                                      </p:tavLst>
                                    </p:anim>
                                    <p:anim calcmode="lin" valueType="num">
                                      <p:cBhvr additive="base">
                                        <p:cTn id="48" dur="500" fill="hold"/>
                                        <p:tgtEl>
                                          <p:spTgt spid="3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 calcmode="lin" valueType="num">
                                      <p:cBhvr additive="base">
                                        <p:cTn id="51" dur="500" fill="hold"/>
                                        <p:tgtEl>
                                          <p:spTgt spid="43"/>
                                        </p:tgtEl>
                                        <p:attrNameLst>
                                          <p:attrName>ppt_x</p:attrName>
                                        </p:attrNameLst>
                                      </p:cBhvr>
                                      <p:tavLst>
                                        <p:tav tm="0">
                                          <p:val>
                                            <p:strVal val="#ppt_x"/>
                                          </p:val>
                                        </p:tav>
                                        <p:tav tm="100000">
                                          <p:val>
                                            <p:strVal val="#ppt_x"/>
                                          </p:val>
                                        </p:tav>
                                      </p:tavLst>
                                    </p:anim>
                                    <p:anim calcmode="lin" valueType="num">
                                      <p:cBhvr additive="base">
                                        <p:cTn id="52" dur="500" fill="hold"/>
                                        <p:tgtEl>
                                          <p:spTgt spid="4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0" grpId="0" animBg="1"/>
      <p:bldP spid="31" grpId="0"/>
      <p:bldP spid="32" grpId="0" animBg="1"/>
      <p:bldP spid="33" grpId="0" animBg="1"/>
      <p:bldP spid="35" grpId="0"/>
      <p:bldP spid="39" grpId="0" animBg="1"/>
      <p:bldP spid="40" grpId="0" animBg="1"/>
      <p:bldP spid="41" grpId="0"/>
      <p:bldP spid="42" grpId="0"/>
      <p:bldP spid="43" grpId="0"/>
      <p:bldP spid="4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1.1 TỔNG QUAN INTENT</a:t>
            </a:r>
            <a:endParaRPr lang="vi-VN" sz="3600" b="1" kern="0">
              <a:solidFill>
                <a:schemeClr val="bg1"/>
              </a:solidFill>
            </a:endParaRPr>
          </a:p>
        </p:txBody>
      </p:sp>
    </p:spTree>
    <p:extLst>
      <p:ext uri="{BB962C8B-B14F-4D97-AF65-F5344CB8AC3E}">
        <p14:creationId xmlns:p14="http://schemas.microsoft.com/office/powerpoint/2010/main" val="3037575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1.1.1 INTENT &amp; INTENT SERVICE</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190500" y="1066800"/>
            <a:ext cx="8763000" cy="3903954"/>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b="1" dirty="0">
                <a:solidFill>
                  <a:schemeClr val="accent6">
                    <a:lumMod val="50000"/>
                  </a:schemeClr>
                </a:solidFill>
                <a:latin typeface="Times New Roman" panose="02020603050405020304" pitchFamily="18" charset="0"/>
                <a:cs typeface="Times New Roman" panose="02020603050405020304" pitchFamily="18" charset="0"/>
              </a:rPr>
              <a:t>Intent</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là</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chuẩn</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giao</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tiếp</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giữa</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các</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thành</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phần</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trong</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Android OS (activity, service, provider, receiver)</a:t>
            </a:r>
          </a:p>
          <a:p>
            <a:pPr marL="342900" indent="-342900" algn="l">
              <a:lnSpc>
                <a:spcPct val="150000"/>
              </a:lnSpc>
              <a:buClr>
                <a:srgbClr val="FF0000"/>
              </a:buClr>
              <a:buFont typeface="Arial" panose="020B0604020202020204" pitchFamily="34" charset="0"/>
              <a:buChar char="•"/>
            </a:pPr>
            <a:r>
              <a:rPr lang="vi-VN" b="1" dirty="0">
                <a:solidFill>
                  <a:schemeClr val="accent6">
                    <a:lumMod val="50000"/>
                  </a:schemeClr>
                </a:solidFill>
                <a:latin typeface="Times New Roman" panose="02020603050405020304" pitchFamily="18" charset="0"/>
                <a:cs typeface="Times New Roman" panose="02020603050405020304" pitchFamily="18" charset="0"/>
              </a:rPr>
              <a:t>Intent giống một lá thư</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 các thông tin cần thiết được đóng gói bên trong một intent (địa chỉ + nội dung)</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b="1" dirty="0">
                <a:solidFill>
                  <a:schemeClr val="accent6">
                    <a:lumMod val="50000"/>
                  </a:schemeClr>
                </a:solidFill>
                <a:latin typeface="Times New Roman" panose="02020603050405020304" pitchFamily="18" charset="0"/>
                <a:cs typeface="Times New Roman" panose="02020603050405020304" pitchFamily="18" charset="0"/>
              </a:rPr>
              <a:t>Intent service </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là dịch vụ hệ thống, vai trò như người đưa thư: chuyển intent tới thành phần nhận phù hợp nhất (chiếu theo địa chỉ ghi trong intent)</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Diagram&#10;&#10;Description automatically generated">
            <a:extLst>
              <a:ext uri="{FF2B5EF4-FFF2-40B4-BE49-F238E27FC236}">
                <a16:creationId xmlns:a16="http://schemas.microsoft.com/office/drawing/2014/main" id="{34F78021-EA42-4B77-B5AB-025FE297B6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0139" y="4724400"/>
            <a:ext cx="5973811" cy="1467893"/>
          </a:xfrm>
          <a:prstGeom prst="rect">
            <a:avLst/>
          </a:prstGeom>
        </p:spPr>
      </p:pic>
    </p:spTree>
    <p:extLst>
      <p:ext uri="{BB962C8B-B14F-4D97-AF65-F5344CB8AC3E}">
        <p14:creationId xmlns:p14="http://schemas.microsoft.com/office/powerpoint/2010/main" val="3781611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1.1.1 INTENT &amp; INTENT SERVICE</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5</a:t>
            </a:fld>
            <a:endParaRPr lang="en-US"/>
          </a:p>
        </p:txBody>
      </p:sp>
      <p:pic>
        <p:nvPicPr>
          <p:cNvPr id="6" name="Picture 5">
            <a:extLst>
              <a:ext uri="{FF2B5EF4-FFF2-40B4-BE49-F238E27FC236}">
                <a16:creationId xmlns:a16="http://schemas.microsoft.com/office/drawing/2014/main" id="{D0B2743D-9730-4DBE-8F94-2E54D48168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092" y="1503087"/>
            <a:ext cx="8757815" cy="4876800"/>
          </a:xfrm>
          <a:prstGeom prst="rect">
            <a:avLst/>
          </a:prstGeom>
        </p:spPr>
      </p:pic>
      <p:sp>
        <p:nvSpPr>
          <p:cNvPr id="9" name="TextBox 8">
            <a:extLst>
              <a:ext uri="{FF2B5EF4-FFF2-40B4-BE49-F238E27FC236}">
                <a16:creationId xmlns:a16="http://schemas.microsoft.com/office/drawing/2014/main" id="{3EFE9D89-3FEF-4DB7-9DF1-BDA4D7BE31E3}"/>
              </a:ext>
            </a:extLst>
          </p:cNvPr>
          <p:cNvSpPr txBox="1"/>
          <p:nvPr/>
        </p:nvSpPr>
        <p:spPr>
          <a:xfrm>
            <a:off x="0" y="951189"/>
            <a:ext cx="87630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Ví dụ sử dụng Intent</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4793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1.1.1 INTENT &amp; INTENT SERVICE</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6</a:t>
            </a:fld>
            <a:endParaRPr lang="en-US"/>
          </a:p>
        </p:txBody>
      </p:sp>
      <p:sp>
        <p:nvSpPr>
          <p:cNvPr id="9" name="TextBox 8">
            <a:extLst>
              <a:ext uri="{FF2B5EF4-FFF2-40B4-BE49-F238E27FC236}">
                <a16:creationId xmlns:a16="http://schemas.microsoft.com/office/drawing/2014/main" id="{3EFE9D89-3FEF-4DB7-9DF1-BDA4D7BE31E3}"/>
              </a:ext>
            </a:extLst>
          </p:cNvPr>
          <p:cNvSpPr txBox="1"/>
          <p:nvPr/>
        </p:nvSpPr>
        <p:spPr>
          <a:xfrm>
            <a:off x="0" y="951189"/>
            <a:ext cx="8763000" cy="57996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Dùng Intent và nhận dữ liệu trả về</a:t>
            </a:r>
          </a:p>
        </p:txBody>
      </p:sp>
      <p:pic>
        <p:nvPicPr>
          <p:cNvPr id="5" name="Picture 4">
            <a:extLst>
              <a:ext uri="{FF2B5EF4-FFF2-40B4-BE49-F238E27FC236}">
                <a16:creationId xmlns:a16="http://schemas.microsoft.com/office/drawing/2014/main" id="{A3EA132D-8B5E-4879-AC3C-D03518B95D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509713"/>
            <a:ext cx="8740126" cy="4876800"/>
          </a:xfrm>
          <a:prstGeom prst="rect">
            <a:avLst/>
          </a:prstGeom>
        </p:spPr>
      </p:pic>
    </p:spTree>
    <p:extLst>
      <p:ext uri="{BB962C8B-B14F-4D97-AF65-F5344CB8AC3E}">
        <p14:creationId xmlns:p14="http://schemas.microsoft.com/office/powerpoint/2010/main" val="393671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1.1.2 INTENT FILTER (Bộ lọc Intent)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7</a:t>
            </a:fld>
            <a:endParaRPr lang="en-US"/>
          </a:p>
        </p:txBody>
      </p:sp>
      <p:sp>
        <p:nvSpPr>
          <p:cNvPr id="9" name="TextBox 8">
            <a:extLst>
              <a:ext uri="{FF2B5EF4-FFF2-40B4-BE49-F238E27FC236}">
                <a16:creationId xmlns:a16="http://schemas.microsoft.com/office/drawing/2014/main" id="{3EFE9D89-3FEF-4DB7-9DF1-BDA4D7BE31E3}"/>
              </a:ext>
            </a:extLst>
          </p:cNvPr>
          <p:cNvSpPr txBox="1"/>
          <p:nvPr/>
        </p:nvSpPr>
        <p:spPr>
          <a:xfrm>
            <a:off x="152400" y="1143000"/>
            <a:ext cx="8001000" cy="4745979"/>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Activity, Service và Broadcast receiver sử dụng intent filter để thông báo cho hệ thống biết các dạng intent mà nó có thể xử lý</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Phân giải intent (intent resolution): khi nhận được một intent, hệ thống tiến hành chọn activity phù hợp nhất với intent đó theo ưu tiên sau</a:t>
            </a:r>
            <a:r>
              <a:rPr lang="en-US">
                <a:solidFill>
                  <a:schemeClr val="accent4">
                    <a:lumMod val="90000"/>
                    <a:lumOff val="10000"/>
                  </a:schemeClr>
                </a:solidFill>
                <a:latin typeface="Times New Roman" panose="02020603050405020304" pitchFamily="18" charset="0"/>
                <a:cs typeface="Times New Roman" panose="02020603050405020304" pitchFamily="18" charset="0"/>
              </a:rPr>
              <a:t>:</a:t>
            </a:r>
          </a:p>
          <a:p>
            <a:pPr marL="800100" lvl="1" indent="-342900" algn="l">
              <a:lnSpc>
                <a:spcPct val="150000"/>
              </a:lnSpc>
              <a:buClr>
                <a:srgbClr val="FF0000"/>
              </a:buClr>
              <a:buFont typeface="Wingdings" panose="05000000000000000000" pitchFamily="2" charset="2"/>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Action trong intent</a:t>
            </a:r>
          </a:p>
          <a:p>
            <a:pPr marL="800100" lvl="1" indent="-342900" algn="l">
              <a:lnSpc>
                <a:spcPct val="150000"/>
              </a:lnSpc>
              <a:buClr>
                <a:srgbClr val="FF0000"/>
              </a:buClr>
              <a:buFont typeface="Wingdings" panose="05000000000000000000" pitchFamily="2" charset="2"/>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Chuỗi tham số (URI trong phần data)</a:t>
            </a:r>
          </a:p>
          <a:p>
            <a:pPr marL="800100" lvl="1" indent="-342900" algn="l">
              <a:lnSpc>
                <a:spcPct val="150000"/>
              </a:lnSpc>
              <a:buClr>
                <a:srgbClr val="FF0000"/>
              </a:buClr>
              <a:buFont typeface="Wingdings" panose="05000000000000000000" pitchFamily="2" charset="2"/>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Category của intent</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1301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1.1.2 INTENT FILTER (Bộ lọc Intent)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8</a:t>
            </a:fld>
            <a:endParaRPr lang="en-US"/>
          </a:p>
        </p:txBody>
      </p:sp>
      <p:sp>
        <p:nvSpPr>
          <p:cNvPr id="9" name="TextBox 8">
            <a:extLst>
              <a:ext uri="{FF2B5EF4-FFF2-40B4-BE49-F238E27FC236}">
                <a16:creationId xmlns:a16="http://schemas.microsoft.com/office/drawing/2014/main" id="{3EFE9D89-3FEF-4DB7-9DF1-BDA4D7BE31E3}"/>
              </a:ext>
            </a:extLst>
          </p:cNvPr>
          <p:cNvSpPr txBox="1"/>
          <p:nvPr/>
        </p:nvSpPr>
        <p:spPr>
          <a:xfrm>
            <a:off x="0" y="2940399"/>
            <a:ext cx="4876800" cy="2795958"/>
          </a:xfrm>
          <a:prstGeom prst="rect">
            <a:avLst/>
          </a:prstGeom>
          <a:noFill/>
        </p:spPr>
        <p:txBody>
          <a:bodyPr wrap="square" rtlCol="0">
            <a:spAutoFit/>
          </a:bodyPr>
          <a:lstStyle/>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Đoạn mã XML trên đăng kí với hệ thống một activity “lắng nghe” việc</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a:solidFill>
                  <a:schemeClr val="accent4">
                    <a:lumMod val="90000"/>
                    <a:lumOff val="10000"/>
                  </a:schemeClr>
                </a:solidFill>
                <a:latin typeface="Times New Roman" panose="02020603050405020304" pitchFamily="18" charset="0"/>
                <a:cs typeface="Times New Roman" panose="02020603050405020304" pitchFamily="18" charset="0"/>
              </a:rPr>
              <a:t>người dùng muốn thực hiện cuộc gọi bằng cách chỉ định thuộc tính action trong intent-filter</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Text&#10;&#10;Description automatically generated">
            <a:extLst>
              <a:ext uri="{FF2B5EF4-FFF2-40B4-BE49-F238E27FC236}">
                <a16:creationId xmlns:a16="http://schemas.microsoft.com/office/drawing/2014/main" id="{D0C6C132-33F0-401E-9161-7C45C7D485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376" y="1252436"/>
            <a:ext cx="7603723" cy="1687963"/>
          </a:xfrm>
          <a:prstGeom prst="rect">
            <a:avLst/>
          </a:prstGeom>
        </p:spPr>
      </p:pic>
      <p:pic>
        <p:nvPicPr>
          <p:cNvPr id="7" name="Picture 6" descr="Graphical user interface, application&#10;&#10;Description automatically generated">
            <a:extLst>
              <a:ext uri="{FF2B5EF4-FFF2-40B4-BE49-F238E27FC236}">
                <a16:creationId xmlns:a16="http://schemas.microsoft.com/office/drawing/2014/main" id="{D2E7C2F3-0308-40E3-A01A-34B5EF047F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1552" y="2492271"/>
            <a:ext cx="2726923" cy="3984729"/>
          </a:xfrm>
          <a:prstGeom prst="rect">
            <a:avLst/>
          </a:prstGeom>
        </p:spPr>
      </p:pic>
    </p:spTree>
    <p:extLst>
      <p:ext uri="{BB962C8B-B14F-4D97-AF65-F5344CB8AC3E}">
        <p14:creationId xmlns:p14="http://schemas.microsoft.com/office/powerpoint/2010/main" val="3389561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1.1.3 PHÂN LOẠI INTENT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9</a:t>
            </a:fld>
            <a:endParaRPr lang="en-US"/>
          </a:p>
        </p:txBody>
      </p:sp>
      <p:sp>
        <p:nvSpPr>
          <p:cNvPr id="9" name="TextBox 8">
            <a:extLst>
              <a:ext uri="{FF2B5EF4-FFF2-40B4-BE49-F238E27FC236}">
                <a16:creationId xmlns:a16="http://schemas.microsoft.com/office/drawing/2014/main" id="{3EFE9D89-3FEF-4DB7-9DF1-BDA4D7BE31E3}"/>
              </a:ext>
            </a:extLst>
          </p:cNvPr>
          <p:cNvSpPr txBox="1"/>
          <p:nvPr/>
        </p:nvSpPr>
        <p:spPr>
          <a:xfrm>
            <a:off x="190500" y="1107691"/>
            <a:ext cx="8763000" cy="4642618"/>
          </a:xfrm>
          <a:prstGeom prst="rect">
            <a:avLst/>
          </a:prstGeom>
          <a:noFill/>
        </p:spPr>
        <p:txBody>
          <a:bodyPr wrap="square" rtlCol="0">
            <a:spAutoFit/>
          </a:bodyPr>
          <a:lstStyle/>
          <a:p>
            <a:pPr algn="just">
              <a:lnSpc>
                <a:spcPct val="150000"/>
              </a:lnSpc>
              <a:buClr>
                <a:srgbClr val="FF0000"/>
              </a:buCl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Intent tường minh</a:t>
            </a:r>
          </a:p>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Sử dụng thành phần component để chỉ định rõ đối tượng sẽ thực thi</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Sử dụng</a:t>
            </a:r>
            <a:r>
              <a:rPr lang="en-US">
                <a:solidFill>
                  <a:schemeClr val="accent4">
                    <a:lumMod val="90000"/>
                    <a:lumOff val="10000"/>
                  </a:schemeClr>
                </a:solidFill>
                <a:latin typeface="Times New Roman" panose="02020603050405020304" pitchFamily="18" charset="0"/>
                <a:cs typeface="Times New Roman" panose="02020603050405020304" pitchFamily="18" charset="0"/>
              </a:rPr>
              <a:t> các</a:t>
            </a:r>
            <a:r>
              <a:rPr lang="vi-VN">
                <a:solidFill>
                  <a:schemeClr val="accent4">
                    <a:lumMod val="90000"/>
                    <a:lumOff val="10000"/>
                  </a:schemeClr>
                </a:solidFill>
                <a:latin typeface="Times New Roman" panose="02020603050405020304" pitchFamily="18" charset="0"/>
                <a:cs typeface="Times New Roman" panose="02020603050405020304" pitchFamily="18" charset="0"/>
              </a:rPr>
              <a:t> phương thức:</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just">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setComponent(ComponentName)</a:t>
            </a:r>
          </a:p>
          <a:p>
            <a:pPr marL="800100" lvl="1" indent="-342900" algn="just">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setClass(Context, Class)</a:t>
            </a:r>
          </a:p>
          <a:p>
            <a:pPr marL="800100" lvl="1" indent="-342900" algn="just">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setClassName(Context, String)</a:t>
            </a:r>
          </a:p>
          <a:p>
            <a:pPr marL="800100" lvl="1" indent="-342900" algn="just">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setClassName(string, string)</a:t>
            </a:r>
          </a:p>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Chỉ được dùng để gọi các activity trong cùng một ứng dụng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Dữ liệu trao đổi nên chuyển vào phần extras</a:t>
            </a:r>
          </a:p>
        </p:txBody>
      </p:sp>
    </p:spTree>
    <p:extLst>
      <p:ext uri="{BB962C8B-B14F-4D97-AF65-F5344CB8AC3E}">
        <p14:creationId xmlns:p14="http://schemas.microsoft.com/office/powerpoint/2010/main" val="3670019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1.1.3 PHÂN LOẠI INTENT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10</a:t>
            </a:fld>
            <a:endParaRPr lang="en-US"/>
          </a:p>
        </p:txBody>
      </p:sp>
      <p:pic>
        <p:nvPicPr>
          <p:cNvPr id="5" name="Picture 4" descr="Graphical user interface, text, application&#10;&#10;Description automatically generated">
            <a:extLst>
              <a:ext uri="{FF2B5EF4-FFF2-40B4-BE49-F238E27FC236}">
                <a16:creationId xmlns:a16="http://schemas.microsoft.com/office/drawing/2014/main" id="{6A8C89E7-F448-4CD7-930E-C0A769FE1B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838" y="1514810"/>
            <a:ext cx="8140912" cy="4835260"/>
          </a:xfrm>
          <a:prstGeom prst="rect">
            <a:avLst/>
          </a:prstGeom>
        </p:spPr>
      </p:pic>
      <p:sp>
        <p:nvSpPr>
          <p:cNvPr id="8" name="TextBox 7">
            <a:extLst>
              <a:ext uri="{FF2B5EF4-FFF2-40B4-BE49-F238E27FC236}">
                <a16:creationId xmlns:a16="http://schemas.microsoft.com/office/drawing/2014/main" id="{1BBC320A-098D-4974-BCA9-61B6D6987940}"/>
              </a:ext>
            </a:extLst>
          </p:cNvPr>
          <p:cNvSpPr txBox="1"/>
          <p:nvPr/>
        </p:nvSpPr>
        <p:spPr>
          <a:xfrm>
            <a:off x="145838" y="981006"/>
            <a:ext cx="8763000" cy="579967"/>
          </a:xfrm>
          <a:prstGeom prst="rect">
            <a:avLst/>
          </a:prstGeom>
          <a:noFill/>
        </p:spPr>
        <p:txBody>
          <a:bodyPr wrap="square" rtlCol="0">
            <a:spAutoFit/>
          </a:bodyPr>
          <a:lstStyle/>
          <a:p>
            <a:pPr algn="just">
              <a:lnSpc>
                <a:spcPct val="150000"/>
              </a:lnSpc>
              <a:buClr>
                <a:srgbClr val="FF0000"/>
              </a:buCl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Intent tường minh</a:t>
            </a:r>
          </a:p>
        </p:txBody>
      </p:sp>
    </p:spTree>
    <p:extLst>
      <p:ext uri="{BB962C8B-B14F-4D97-AF65-F5344CB8AC3E}">
        <p14:creationId xmlns:p14="http://schemas.microsoft.com/office/powerpoint/2010/main" val="2438917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1.1.3 PHÂN LOẠI INTENT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11</a:t>
            </a:fld>
            <a:endParaRPr lang="en-US"/>
          </a:p>
        </p:txBody>
      </p:sp>
      <p:sp>
        <p:nvSpPr>
          <p:cNvPr id="6" name="TextBox 5">
            <a:extLst>
              <a:ext uri="{FF2B5EF4-FFF2-40B4-BE49-F238E27FC236}">
                <a16:creationId xmlns:a16="http://schemas.microsoft.com/office/drawing/2014/main" id="{38C710BF-ACDC-4CDE-AA6D-ABF3D69C6947}"/>
              </a:ext>
            </a:extLst>
          </p:cNvPr>
          <p:cNvSpPr txBox="1"/>
          <p:nvPr/>
        </p:nvSpPr>
        <p:spPr>
          <a:xfrm>
            <a:off x="190500" y="1202683"/>
            <a:ext cx="8763000" cy="4745979"/>
          </a:xfrm>
          <a:prstGeom prst="rect">
            <a:avLst/>
          </a:prstGeom>
          <a:noFill/>
        </p:spPr>
        <p:txBody>
          <a:bodyPr wrap="square" rtlCol="0">
            <a:spAutoFit/>
          </a:bodyPr>
          <a:lstStyle/>
          <a:p>
            <a:pPr algn="just">
              <a:lnSpc>
                <a:spcPct val="150000"/>
              </a:lnSpc>
              <a:buClr>
                <a:srgbClr val="FF0000"/>
              </a:buCl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Intent không tường minh</a:t>
            </a:r>
          </a:p>
          <a:p>
            <a:pPr marL="342900" indent="-342900" algn="just">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Dùng các thành phần action, category,…</a:t>
            </a:r>
          </a:p>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Hệ thống tự động xác định đối tượng phù hợp nhất để đáp ứng với Intent đó (theo nguyên tắc “phân giải intent” đã trình bày ở slide </a:t>
            </a:r>
            <a:r>
              <a:rPr lang="en-US">
                <a:solidFill>
                  <a:schemeClr val="accent4">
                    <a:lumMod val="90000"/>
                    <a:lumOff val="10000"/>
                  </a:schemeClr>
                </a:solidFill>
                <a:latin typeface="Times New Roman" panose="02020603050405020304" pitchFamily="18" charset="0"/>
                <a:cs typeface="Times New Roman" panose="02020603050405020304" pitchFamily="18" charset="0"/>
              </a:rPr>
              <a:t>8</a:t>
            </a:r>
            <a:r>
              <a:rPr lang="vi-VN">
                <a:solidFill>
                  <a:schemeClr val="accent4">
                    <a:lumMod val="90000"/>
                    <a:lumOff val="10000"/>
                  </a:schemeClr>
                </a:solidFill>
                <a:latin typeface="Times New Roman" panose="02020603050405020304" pitchFamily="18" charset="0"/>
                <a:cs typeface="Times New Roman" panose="02020603050405020304" pitchFamily="18" charset="0"/>
              </a:rPr>
              <a:t>)</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Dùng để giao tiếp với các dịch vụ hệ thống hoặc dịch vụ do bên thứ ba cung cấp:</a:t>
            </a:r>
          </a:p>
          <a:p>
            <a:pPr marL="800100" lvl="1" indent="-342900" algn="just">
              <a:lnSpc>
                <a:spcPct val="150000"/>
              </a:lnSpc>
              <a:buClr>
                <a:srgbClr val="FF0000"/>
              </a:buClr>
              <a:buFont typeface="Wingdings" panose="05000000000000000000" pitchFamily="2" charset="2"/>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Gọi activity: startActivity / startActivityForResult</a:t>
            </a:r>
          </a:p>
          <a:p>
            <a:pPr marL="800100" lvl="1" indent="-342900" algn="just">
              <a:lnSpc>
                <a:spcPct val="150000"/>
              </a:lnSpc>
              <a:buClr>
                <a:srgbClr val="FF0000"/>
              </a:buClr>
              <a:buFont typeface="Wingdings" panose="05000000000000000000" pitchFamily="2" charset="2"/>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Gọi service: startService / bindService</a:t>
            </a:r>
          </a:p>
          <a:p>
            <a:pPr marL="800100" lvl="1" indent="-342900" algn="just">
              <a:lnSpc>
                <a:spcPct val="150000"/>
              </a:lnSpc>
              <a:buClr>
                <a:srgbClr val="FF0000"/>
              </a:buClr>
              <a:buFont typeface="Wingdings" panose="05000000000000000000" pitchFamily="2" charset="2"/>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Gửi boardcast: sendBoardcast / sendOrderedBoardcast / setStickyBoardcast</a:t>
            </a:r>
          </a:p>
        </p:txBody>
      </p:sp>
    </p:spTree>
    <p:extLst>
      <p:ext uri="{BB962C8B-B14F-4D97-AF65-F5344CB8AC3E}">
        <p14:creationId xmlns:p14="http://schemas.microsoft.com/office/powerpoint/2010/main" val="4002179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1.1.3 PHÂN LOẠI INTENT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12</a:t>
            </a:fld>
            <a:endParaRPr lang="en-US"/>
          </a:p>
        </p:txBody>
      </p:sp>
      <p:sp>
        <p:nvSpPr>
          <p:cNvPr id="6" name="TextBox 5">
            <a:extLst>
              <a:ext uri="{FF2B5EF4-FFF2-40B4-BE49-F238E27FC236}">
                <a16:creationId xmlns:a16="http://schemas.microsoft.com/office/drawing/2014/main" id="{38C710BF-ACDC-4CDE-AA6D-ABF3D69C6947}"/>
              </a:ext>
            </a:extLst>
          </p:cNvPr>
          <p:cNvSpPr txBox="1"/>
          <p:nvPr/>
        </p:nvSpPr>
        <p:spPr>
          <a:xfrm>
            <a:off x="152400" y="971067"/>
            <a:ext cx="8763000" cy="579967"/>
          </a:xfrm>
          <a:prstGeom prst="rect">
            <a:avLst/>
          </a:prstGeom>
          <a:noFill/>
        </p:spPr>
        <p:txBody>
          <a:bodyPr wrap="square" rtlCol="0">
            <a:spAutoFit/>
          </a:bodyPr>
          <a:lstStyle/>
          <a:p>
            <a:pPr algn="just">
              <a:lnSpc>
                <a:spcPct val="150000"/>
              </a:lnSpc>
              <a:buClr>
                <a:srgbClr val="FF0000"/>
              </a:buCl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Một số trường hợp sử dụng Intent không tường minh</a:t>
            </a:r>
          </a:p>
        </p:txBody>
      </p:sp>
      <p:pic>
        <p:nvPicPr>
          <p:cNvPr id="5" name="Picture 4" descr="Table&#10;&#10;Description automatically generated">
            <a:extLst>
              <a:ext uri="{FF2B5EF4-FFF2-40B4-BE49-F238E27FC236}">
                <a16:creationId xmlns:a16="http://schemas.microsoft.com/office/drawing/2014/main" id="{D940EE12-6910-41BB-B5D7-D8E56368D2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10" y="1541095"/>
            <a:ext cx="8990579" cy="4261940"/>
          </a:xfrm>
          <a:prstGeom prst="rect">
            <a:avLst/>
          </a:prstGeom>
        </p:spPr>
      </p:pic>
    </p:spTree>
    <p:extLst>
      <p:ext uri="{BB962C8B-B14F-4D97-AF65-F5344CB8AC3E}">
        <p14:creationId xmlns:p14="http://schemas.microsoft.com/office/powerpoint/2010/main" val="4215894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1.1.3 PHÂN LOẠI INTENT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13</a:t>
            </a:fld>
            <a:endParaRPr lang="en-US"/>
          </a:p>
        </p:txBody>
      </p:sp>
      <p:sp>
        <p:nvSpPr>
          <p:cNvPr id="6" name="TextBox 5">
            <a:extLst>
              <a:ext uri="{FF2B5EF4-FFF2-40B4-BE49-F238E27FC236}">
                <a16:creationId xmlns:a16="http://schemas.microsoft.com/office/drawing/2014/main" id="{38C710BF-ACDC-4CDE-AA6D-ABF3D69C6947}"/>
              </a:ext>
            </a:extLst>
          </p:cNvPr>
          <p:cNvSpPr txBox="1"/>
          <p:nvPr/>
        </p:nvSpPr>
        <p:spPr>
          <a:xfrm>
            <a:off x="152400" y="971067"/>
            <a:ext cx="8763000" cy="579967"/>
          </a:xfrm>
          <a:prstGeom prst="rect">
            <a:avLst/>
          </a:prstGeom>
          <a:noFill/>
        </p:spPr>
        <p:txBody>
          <a:bodyPr wrap="square" rtlCol="0">
            <a:spAutoFit/>
          </a:bodyPr>
          <a:lstStyle/>
          <a:p>
            <a:pPr algn="just">
              <a:lnSpc>
                <a:spcPct val="150000"/>
              </a:lnSpc>
              <a:buClr>
                <a:srgbClr val="FF0000"/>
              </a:buCl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Các Action được định nghĩa sẵn</a:t>
            </a:r>
          </a:p>
        </p:txBody>
      </p:sp>
      <p:pic>
        <p:nvPicPr>
          <p:cNvPr id="7" name="Picture 6" descr="A picture containing text&#10;&#10;Description automatically generated">
            <a:extLst>
              <a:ext uri="{FF2B5EF4-FFF2-40B4-BE49-F238E27FC236}">
                <a16:creationId xmlns:a16="http://schemas.microsoft.com/office/drawing/2014/main" id="{1240374E-B34F-472A-B007-1E9B14373F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501566"/>
            <a:ext cx="7891670" cy="4927789"/>
          </a:xfrm>
          <a:prstGeom prst="rect">
            <a:avLst/>
          </a:prstGeom>
        </p:spPr>
      </p:pic>
    </p:spTree>
    <p:extLst>
      <p:ext uri="{BB962C8B-B14F-4D97-AF65-F5344CB8AC3E}">
        <p14:creationId xmlns:p14="http://schemas.microsoft.com/office/powerpoint/2010/main" val="1197801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1.1.4 CÁC THÀNH PHẦN CỦA INTENT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14</a:t>
            </a:fld>
            <a:endParaRPr lang="en-US"/>
          </a:p>
        </p:txBody>
      </p:sp>
      <p:pic>
        <p:nvPicPr>
          <p:cNvPr id="5" name="Picture 4" descr="Table&#10;&#10;Description automatically generated">
            <a:extLst>
              <a:ext uri="{FF2B5EF4-FFF2-40B4-BE49-F238E27FC236}">
                <a16:creationId xmlns:a16="http://schemas.microsoft.com/office/drawing/2014/main" id="{9377DABE-18DC-4A1C-8F77-730E2636A5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17" y="1333500"/>
            <a:ext cx="8944314" cy="4191000"/>
          </a:xfrm>
          <a:prstGeom prst="rect">
            <a:avLst/>
          </a:prstGeom>
        </p:spPr>
      </p:pic>
    </p:spTree>
    <p:extLst>
      <p:ext uri="{BB962C8B-B14F-4D97-AF65-F5344CB8AC3E}">
        <p14:creationId xmlns:p14="http://schemas.microsoft.com/office/powerpoint/2010/main" val="651200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1.1.4 CÁC THÀNH PHẦN CỦA INTENT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15</a:t>
            </a:fld>
            <a:endParaRPr lang="en-US"/>
          </a:p>
        </p:txBody>
      </p:sp>
      <p:sp>
        <p:nvSpPr>
          <p:cNvPr id="6" name="TextBox 5">
            <a:extLst>
              <a:ext uri="{FF2B5EF4-FFF2-40B4-BE49-F238E27FC236}">
                <a16:creationId xmlns:a16="http://schemas.microsoft.com/office/drawing/2014/main" id="{45857836-7D3B-4746-9775-8D08912A1566}"/>
              </a:ext>
            </a:extLst>
          </p:cNvPr>
          <p:cNvSpPr txBox="1"/>
          <p:nvPr/>
        </p:nvSpPr>
        <p:spPr>
          <a:xfrm>
            <a:off x="190500" y="1112767"/>
            <a:ext cx="8763000" cy="5011949"/>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b="1">
                <a:solidFill>
                  <a:schemeClr val="accent6">
                    <a:lumMod val="50000"/>
                  </a:schemeClr>
                </a:solidFill>
                <a:latin typeface="Times New Roman" panose="02020603050405020304" pitchFamily="18" charset="0"/>
                <a:cs typeface="Times New Roman" panose="02020603050405020304" pitchFamily="18" charset="0"/>
              </a:rPr>
              <a:t>Component name</a:t>
            </a:r>
            <a:r>
              <a:rPr lang="en-US">
                <a:solidFill>
                  <a:schemeClr val="accent4">
                    <a:lumMod val="90000"/>
                    <a:lumOff val="10000"/>
                  </a:schemeClr>
                </a:solidFill>
                <a:latin typeface="Times New Roman" panose="02020603050405020304" pitchFamily="18" charset="0"/>
                <a:cs typeface="Times New Roman" panose="02020603050405020304" pitchFamily="18" charset="0"/>
              </a:rPr>
              <a:t>: tên class xử lí intent (ví dụ: “com.example.project.app.MyActivity1”)</a:t>
            </a:r>
          </a:p>
          <a:p>
            <a:pPr marL="342900" indent="-342900" algn="l">
              <a:lnSpc>
                <a:spcPct val="150000"/>
              </a:lnSpc>
              <a:buClr>
                <a:srgbClr val="FF0000"/>
              </a:buClr>
              <a:buFont typeface="Arial" panose="020B0604020202020204" pitchFamily="34" charset="0"/>
              <a:buChar char="•"/>
            </a:pPr>
            <a:r>
              <a:rPr lang="en-US" b="1">
                <a:solidFill>
                  <a:schemeClr val="accent6">
                    <a:lumMod val="50000"/>
                  </a:schemeClr>
                </a:solidFill>
                <a:latin typeface="Times New Roman" panose="02020603050405020304" pitchFamily="18" charset="0"/>
                <a:cs typeface="Times New Roman" panose="02020603050405020304" pitchFamily="18" charset="0"/>
              </a:rPr>
              <a:t>Action</a:t>
            </a:r>
            <a:r>
              <a:rPr lang="en-US">
                <a:solidFill>
                  <a:schemeClr val="accent4">
                    <a:lumMod val="90000"/>
                    <a:lumOff val="10000"/>
                  </a:schemeClr>
                </a:solidFill>
                <a:latin typeface="Times New Roman" panose="02020603050405020304" pitchFamily="18" charset="0"/>
                <a:cs typeface="Times New Roman" panose="02020603050405020304" pitchFamily="18" charset="0"/>
              </a:rPr>
              <a:t>: tên các hành động mà intent yêu cầu thực hiện (ví dụ: action_view, action_call,…)</a:t>
            </a:r>
          </a:p>
          <a:p>
            <a:pPr marL="342900" indent="-342900" algn="l">
              <a:lnSpc>
                <a:spcPct val="150000"/>
              </a:lnSpc>
              <a:buClr>
                <a:srgbClr val="FF0000"/>
              </a:buClr>
              <a:buFont typeface="Arial" panose="020B0604020202020204" pitchFamily="34" charset="0"/>
              <a:buChar char="•"/>
            </a:pPr>
            <a:r>
              <a:rPr lang="vi-VN" b="1">
                <a:solidFill>
                  <a:schemeClr val="accent6">
                    <a:lumMod val="50000"/>
                  </a:schemeClr>
                </a:solidFill>
                <a:latin typeface="Times New Roman" panose="02020603050405020304" pitchFamily="18" charset="0"/>
                <a:cs typeface="Times New Roman" panose="02020603050405020304" pitchFamily="18" charset="0"/>
              </a:rPr>
              <a:t>Data</a:t>
            </a:r>
            <a:r>
              <a:rPr lang="vi-VN">
                <a:solidFill>
                  <a:schemeClr val="accent4">
                    <a:lumMod val="90000"/>
                    <a:lumOff val="10000"/>
                  </a:schemeClr>
                </a:solidFill>
                <a:latin typeface="Times New Roman" panose="02020603050405020304" pitchFamily="18" charset="0"/>
                <a:cs typeface="Times New Roman" panose="02020603050405020304" pitchFamily="18" charset="0"/>
              </a:rPr>
              <a:t>: dữ liệu yêu cầu được xử lí, dữ liệu này thường được biểu diễn dưới dạng URI (ví dụ: "tel:216-555-1234", "http://uneti.edu.vn",…)</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Wingdings" panose="05000000000000000000" pitchFamily="2" charset="2"/>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Trường hợp dữ liệu phức tạp hoặc không cố định, người ta thường đẩy vào phần extras</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8901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1.1.4 CÁC THÀNH PHẦN CỦA INTENT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16</a:t>
            </a:fld>
            <a:endParaRPr lang="en-US"/>
          </a:p>
        </p:txBody>
      </p:sp>
      <p:sp>
        <p:nvSpPr>
          <p:cNvPr id="6" name="TextBox 5">
            <a:extLst>
              <a:ext uri="{FF2B5EF4-FFF2-40B4-BE49-F238E27FC236}">
                <a16:creationId xmlns:a16="http://schemas.microsoft.com/office/drawing/2014/main" id="{45857836-7D3B-4746-9775-8D08912A1566}"/>
              </a:ext>
            </a:extLst>
          </p:cNvPr>
          <p:cNvSpPr txBox="1"/>
          <p:nvPr/>
        </p:nvSpPr>
        <p:spPr>
          <a:xfrm>
            <a:off x="228600" y="1200024"/>
            <a:ext cx="8191500" cy="4457952"/>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b="1">
                <a:solidFill>
                  <a:schemeClr val="accent6">
                    <a:lumMod val="50000"/>
                  </a:schemeClr>
                </a:solidFill>
                <a:latin typeface="Times New Roman" panose="02020603050405020304" pitchFamily="18" charset="0"/>
                <a:cs typeface="Times New Roman" panose="02020603050405020304" pitchFamily="18" charset="0"/>
              </a:rPr>
              <a:t>Type</a:t>
            </a:r>
            <a:r>
              <a:rPr lang="vi-VN">
                <a:solidFill>
                  <a:schemeClr val="accent4">
                    <a:lumMod val="90000"/>
                    <a:lumOff val="10000"/>
                  </a:schemeClr>
                </a:solidFill>
                <a:latin typeface="Times New Roman" panose="02020603050405020304" pitchFamily="18" charset="0"/>
                <a:cs typeface="Times New Roman" panose="02020603050405020304" pitchFamily="18" charset="0"/>
              </a:rPr>
              <a:t>: định dạng kiểu dữ liệu của data (dùng chuẩn MIME), thường được tự xác định bởi hệ thống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en-US" b="1">
                <a:solidFill>
                  <a:schemeClr val="accent6">
                    <a:lumMod val="50000"/>
                  </a:schemeClr>
                </a:solidFill>
                <a:latin typeface="Times New Roman" panose="02020603050405020304" pitchFamily="18" charset="0"/>
                <a:cs typeface="Times New Roman" panose="02020603050405020304" pitchFamily="18" charset="0"/>
              </a:rPr>
              <a:t>Category</a:t>
            </a:r>
            <a:r>
              <a:rPr lang="en-US">
                <a:solidFill>
                  <a:schemeClr val="accent4">
                    <a:lumMod val="90000"/>
                    <a:lumOff val="10000"/>
                  </a:schemeClr>
                </a:solidFill>
                <a:latin typeface="Times New Roman" panose="02020603050405020304" pitchFamily="18" charset="0"/>
                <a:cs typeface="Times New Roman" panose="02020603050405020304" pitchFamily="18" charset="0"/>
              </a:rPr>
              <a:t>: bổ sung thông tin cho các action của intent (ví dụ: nếu một activity có thuộc tính category là CATEGORY_LAUNCHER nghĩa là activity đó có thể khởi chạy cấp ứng dụng)</a:t>
            </a:r>
          </a:p>
          <a:p>
            <a:pPr marL="342900" indent="-342900" algn="l">
              <a:lnSpc>
                <a:spcPct val="150000"/>
              </a:lnSpc>
              <a:buClr>
                <a:srgbClr val="FF0000"/>
              </a:buClr>
              <a:buFont typeface="Arial" panose="020B0604020202020204" pitchFamily="34" charset="0"/>
              <a:buChar char="•"/>
            </a:pPr>
            <a:r>
              <a:rPr lang="vi-VN" b="1">
                <a:solidFill>
                  <a:schemeClr val="accent6">
                    <a:lumMod val="50000"/>
                  </a:schemeClr>
                </a:solidFill>
                <a:latin typeface="Times New Roman" panose="02020603050405020304" pitchFamily="18" charset="0"/>
                <a:cs typeface="Times New Roman" panose="02020603050405020304" pitchFamily="18" charset="0"/>
              </a:rPr>
              <a:t>Extras</a:t>
            </a:r>
            <a:r>
              <a:rPr lang="vi-VN">
                <a:solidFill>
                  <a:schemeClr val="accent4">
                    <a:lumMod val="90000"/>
                    <a:lumOff val="10000"/>
                  </a:schemeClr>
                </a:solidFill>
                <a:latin typeface="Times New Roman" panose="02020603050405020304" pitchFamily="18" charset="0"/>
                <a:cs typeface="Times New Roman" panose="02020603050405020304" pitchFamily="18" charset="0"/>
              </a:rPr>
              <a:t>: dữ liệu bổ sung nếu vùng Data là chưa đủ, extras sử dụng cấu trúc bundle gồm các cặp (key, value)</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4162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1.2 SỬ DỤNG INTENT TRAO ĐỔI DỮ LIỆU</a:t>
            </a:r>
            <a:endParaRPr lang="vi-VN" sz="3600" b="1" kern="0">
              <a:solidFill>
                <a:schemeClr val="bg1"/>
              </a:solidFill>
            </a:endParaRPr>
          </a:p>
        </p:txBody>
      </p:sp>
    </p:spTree>
    <p:extLst>
      <p:ext uri="{BB962C8B-B14F-4D97-AF65-F5344CB8AC3E}">
        <p14:creationId xmlns:p14="http://schemas.microsoft.com/office/powerpoint/2010/main" val="709753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 Sử dụng intent trao đổi dữ liệu</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18</a:t>
            </a:fld>
            <a:endParaRPr lang="en-US"/>
          </a:p>
        </p:txBody>
      </p:sp>
      <p:sp>
        <p:nvSpPr>
          <p:cNvPr id="6" name="TextBox 5">
            <a:extLst>
              <a:ext uri="{FF2B5EF4-FFF2-40B4-BE49-F238E27FC236}">
                <a16:creationId xmlns:a16="http://schemas.microsoft.com/office/drawing/2014/main" id="{45857836-7D3B-4746-9775-8D08912A1566}"/>
              </a:ext>
            </a:extLst>
          </p:cNvPr>
          <p:cNvSpPr txBox="1"/>
          <p:nvPr/>
        </p:nvSpPr>
        <p:spPr>
          <a:xfrm>
            <a:off x="152400" y="957229"/>
            <a:ext cx="8191500" cy="5565947"/>
          </a:xfrm>
          <a:prstGeom prst="rect">
            <a:avLst/>
          </a:prstGeom>
          <a:noFill/>
        </p:spPr>
        <p:txBody>
          <a:bodyPr wrap="square" rtlCol="0">
            <a:spAutoFit/>
          </a:bodyPr>
          <a:lstStyle/>
          <a:p>
            <a:pPr algn="l">
              <a:lnSpc>
                <a:spcPct val="150000"/>
              </a:lnSpc>
              <a:buClr>
                <a:srgbClr val="FF0000"/>
              </a:buCl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Sử dụng Intent để trao đổi dữ liệu giữa các Activity</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Dữ liệu được đóng gói vào intent</a:t>
            </a:r>
            <a:r>
              <a:rPr lang="en-US">
                <a:solidFill>
                  <a:schemeClr val="accent4">
                    <a:lumMod val="90000"/>
                    <a:lumOff val="10000"/>
                  </a:schemeClr>
                </a:solidFill>
                <a:latin typeface="Times New Roman" panose="02020603050405020304" pitchFamily="18" charset="0"/>
                <a:cs typeface="Times New Roman" panose="02020603050405020304" pitchFamily="18" charset="0"/>
              </a:rPr>
              <a:t>:</a:t>
            </a:r>
          </a:p>
          <a:p>
            <a:pPr marL="800100" lvl="1" indent="-342900" algn="l">
              <a:lnSpc>
                <a:spcPct val="150000"/>
              </a:lnSpc>
              <a:buClr>
                <a:srgbClr val="FF0000"/>
              </a:buClr>
              <a:buFont typeface="Wingdings" panose="05000000000000000000" pitchFamily="2" charset="2"/>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Lựa chọn dữ liệu đưa vào intent phù hợp</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Wingdings" panose="05000000000000000000" pitchFamily="2" charset="2"/>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Có chuẩn trao đổi dữ liệu chung để dễ xử lý</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Sau đó gọi activity phù hợp để xử lý</a:t>
            </a:r>
          </a:p>
          <a:p>
            <a:pPr marL="800100" lvl="1" indent="-342900" algn="l">
              <a:lnSpc>
                <a:spcPct val="150000"/>
              </a:lnSpc>
              <a:buClr>
                <a:srgbClr val="FF0000"/>
              </a:buClr>
              <a:buFont typeface="Wingdings" panose="05000000000000000000" pitchFamily="2" charset="2"/>
              <a:buChar char="§"/>
            </a:pPr>
            <a:r>
              <a:rPr lang="en-US" sz="2000" b="1">
                <a:solidFill>
                  <a:schemeClr val="accent6">
                    <a:lumMod val="50000"/>
                  </a:schemeClr>
                </a:solidFill>
                <a:latin typeface="Times New Roman" panose="02020603050405020304" pitchFamily="18" charset="0"/>
                <a:cs typeface="Times New Roman" panose="02020603050405020304" pitchFamily="18" charset="0"/>
              </a:rPr>
              <a:t>startActivity(myIntent);</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Nếu muốn nhận kết quả trả về thì dung</a:t>
            </a:r>
          </a:p>
          <a:p>
            <a:pPr marL="800100" lvl="1" indent="-342900" algn="l">
              <a:lnSpc>
                <a:spcPct val="150000"/>
              </a:lnSpc>
              <a:buClr>
                <a:srgbClr val="FF0000"/>
              </a:buClr>
              <a:buFont typeface="Wingdings" panose="05000000000000000000" pitchFamily="2" charset="2"/>
              <a:buChar char="§"/>
            </a:pPr>
            <a:r>
              <a:rPr lang="en-US" sz="2000" b="1">
                <a:solidFill>
                  <a:schemeClr val="accent6">
                    <a:lumMod val="50000"/>
                  </a:schemeClr>
                </a:solidFill>
                <a:latin typeface="Times New Roman" panose="02020603050405020304" pitchFamily="18" charset="0"/>
                <a:cs typeface="Times New Roman" panose="02020603050405020304" pitchFamily="18" charset="0"/>
              </a:rPr>
              <a:t>startActivityForResult(myIntent, CODE);</a:t>
            </a:r>
          </a:p>
          <a:p>
            <a:pPr marL="800100" lvl="1" indent="-342900" algn="l">
              <a:lnSpc>
                <a:spcPct val="150000"/>
              </a:lnSpc>
              <a:buClr>
                <a:srgbClr val="FF0000"/>
              </a:buClr>
              <a:buFont typeface="Wingdings" panose="05000000000000000000" pitchFamily="2" charset="2"/>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Trong đó CODE là một số nguyên, dùng để phân biệt kết quả trả về giữa các activity khác nhau</a:t>
            </a:r>
          </a:p>
          <a:p>
            <a:pPr marL="800100" lvl="1" indent="-342900" algn="l">
              <a:lnSpc>
                <a:spcPct val="150000"/>
              </a:lnSpc>
              <a:buClr>
                <a:srgbClr val="FF0000"/>
              </a:buClr>
              <a:buFont typeface="Wingdings" panose="05000000000000000000" pitchFamily="2" charset="2"/>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Xử lý bằng cách viết lại hàm </a:t>
            </a:r>
            <a:r>
              <a:rPr lang="en-US" sz="2000" b="1">
                <a:solidFill>
                  <a:schemeClr val="accent6">
                    <a:lumMod val="50000"/>
                  </a:schemeClr>
                </a:solidFill>
                <a:latin typeface="Times New Roman" panose="02020603050405020304" pitchFamily="18" charset="0"/>
                <a:cs typeface="Times New Roman" panose="02020603050405020304" pitchFamily="18" charset="0"/>
              </a:rPr>
              <a:t>onActivityResult</a:t>
            </a:r>
            <a:endParaRPr lang="en-US" b="1">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0340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 Sử dụng intent trao đổi dữ liệu</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19</a:t>
            </a:fld>
            <a:endParaRPr lang="en-US"/>
          </a:p>
        </p:txBody>
      </p:sp>
      <p:sp>
        <p:nvSpPr>
          <p:cNvPr id="6" name="TextBox 5">
            <a:extLst>
              <a:ext uri="{FF2B5EF4-FFF2-40B4-BE49-F238E27FC236}">
                <a16:creationId xmlns:a16="http://schemas.microsoft.com/office/drawing/2014/main" id="{45857836-7D3B-4746-9775-8D08912A1566}"/>
              </a:ext>
            </a:extLst>
          </p:cNvPr>
          <p:cNvSpPr txBox="1"/>
          <p:nvPr/>
        </p:nvSpPr>
        <p:spPr>
          <a:xfrm>
            <a:off x="152400" y="981006"/>
            <a:ext cx="8001000" cy="5022978"/>
          </a:xfrm>
          <a:prstGeom prst="rect">
            <a:avLst/>
          </a:prstGeom>
          <a:noFill/>
        </p:spPr>
        <p:txBody>
          <a:bodyPr wrap="square" rtlCol="0">
            <a:spAutoFit/>
          </a:bodyPr>
          <a:lstStyle/>
          <a:p>
            <a:pPr algn="l">
              <a:lnSpc>
                <a:spcPct val="150000"/>
              </a:lnSpc>
              <a:buClr>
                <a:srgbClr val="FF0000"/>
              </a:buCl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Sử dụng Intent để trao đổi dữ liệu giữa các Activity</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Về phía bên activity nhận, lấy intent gửi cho mình bằng </a:t>
            </a:r>
            <a:r>
              <a:rPr lang="vi-VN" b="1">
                <a:solidFill>
                  <a:schemeClr val="accent6">
                    <a:lumMod val="50000"/>
                  </a:schemeClr>
                </a:solidFill>
                <a:latin typeface="Times New Roman" panose="02020603050405020304" pitchFamily="18" charset="0"/>
                <a:cs typeface="Times New Roman" panose="02020603050405020304" pitchFamily="18" charset="0"/>
              </a:rPr>
              <a:t>getIntent()</a:t>
            </a:r>
            <a:endParaRPr lang="en-US" b="1">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Nếu cần trả về kết quả nào đó cho activity trước</a:t>
            </a:r>
            <a:endParaRPr lang="en-US">
              <a:solidFill>
                <a:schemeClr val="accent6">
                  <a:lumMod val="5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Wingdings" panose="05000000000000000000" pitchFamily="2" charset="2"/>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Thông báo thất bại: </a:t>
            </a:r>
            <a:r>
              <a:rPr lang="en-US" sz="2000" b="1">
                <a:solidFill>
                  <a:schemeClr val="accent4">
                    <a:lumMod val="90000"/>
                    <a:lumOff val="10000"/>
                  </a:schemeClr>
                </a:solidFill>
                <a:latin typeface="Times New Roman" panose="02020603050405020304" pitchFamily="18" charset="0"/>
                <a:cs typeface="Times New Roman" panose="02020603050405020304" pitchFamily="18" charset="0"/>
              </a:rPr>
              <a:t>setResult(RESULT_CANCELED);</a:t>
            </a:r>
          </a:p>
          <a:p>
            <a:pPr marL="800100" lvl="1" indent="-342900" algn="l">
              <a:lnSpc>
                <a:spcPct val="150000"/>
              </a:lnSpc>
              <a:buClr>
                <a:srgbClr val="FF0000"/>
              </a:buClr>
              <a:buFont typeface="Wingdings" panose="05000000000000000000" pitchFamily="2" charset="2"/>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Thông báo thành công: </a:t>
            </a:r>
            <a:r>
              <a:rPr lang="en-US" sz="2000" b="1">
                <a:solidFill>
                  <a:schemeClr val="accent4">
                    <a:lumMod val="90000"/>
                    <a:lumOff val="10000"/>
                  </a:schemeClr>
                </a:solidFill>
                <a:latin typeface="Times New Roman" panose="02020603050405020304" pitchFamily="18" charset="0"/>
                <a:cs typeface="Times New Roman" panose="02020603050405020304" pitchFamily="18" charset="0"/>
              </a:rPr>
              <a:t>setResult(RESULT_OK, x);</a:t>
            </a:r>
          </a:p>
          <a:p>
            <a:pPr marL="800100" lvl="1" indent="-342900" algn="l">
              <a:lnSpc>
                <a:spcPct val="150000"/>
              </a:lnSpc>
              <a:buClr>
                <a:srgbClr val="FF0000"/>
              </a:buClr>
              <a:buFont typeface="Wingdings" panose="05000000000000000000" pitchFamily="2" charset="2"/>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Với x là intent mà sẽ trả ngược lại cho activity gọi (tất nhiên là cần đưa dữ liệu vào x trước khi setResult, việc đưa dữ liệu sử dụng các hàm putExtra)</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Wingdings" panose="05000000000000000000" pitchFamily="2" charset="2"/>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Chú ý trường hợp dữ liệu phức tạp: putSerializable</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8346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 Sử dụng intent trao đổi dữ liệu</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20</a:t>
            </a:fld>
            <a:endParaRPr lang="en-US"/>
          </a:p>
        </p:txBody>
      </p:sp>
      <p:pic>
        <p:nvPicPr>
          <p:cNvPr id="5" name="Picture 4" descr="Graphical user interface, text, application&#10;&#10;Description automatically generated">
            <a:extLst>
              <a:ext uri="{FF2B5EF4-FFF2-40B4-BE49-F238E27FC236}">
                <a16:creationId xmlns:a16="http://schemas.microsoft.com/office/drawing/2014/main" id="{4BF077B2-2F19-4839-80B2-9266A86E20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740" y="1140551"/>
            <a:ext cx="6873836" cy="4397121"/>
          </a:xfrm>
          <a:prstGeom prst="rect">
            <a:avLst/>
          </a:prstGeom>
        </p:spPr>
      </p:pic>
      <p:sp>
        <p:nvSpPr>
          <p:cNvPr id="8" name="TextBox 7">
            <a:extLst>
              <a:ext uri="{FF2B5EF4-FFF2-40B4-BE49-F238E27FC236}">
                <a16:creationId xmlns:a16="http://schemas.microsoft.com/office/drawing/2014/main" id="{E4CE7AF0-CACC-4621-9006-F1943BC9DFA2}"/>
              </a:ext>
            </a:extLst>
          </p:cNvPr>
          <p:cNvSpPr txBox="1"/>
          <p:nvPr/>
        </p:nvSpPr>
        <p:spPr>
          <a:xfrm>
            <a:off x="194740" y="5466774"/>
            <a:ext cx="8001000" cy="919739"/>
          </a:xfrm>
          <a:prstGeom prst="rect">
            <a:avLst/>
          </a:prstGeom>
          <a:noFill/>
        </p:spPr>
        <p:txBody>
          <a:bodyPr wrap="square" rtlCol="0">
            <a:spAutoFit/>
          </a:bodyPr>
          <a:lstStyle/>
          <a:p>
            <a:pPr algn="l">
              <a:lnSpc>
                <a:spcPct val="150000"/>
              </a:lnSpc>
              <a:buClr>
                <a:srgbClr val="FF0000"/>
              </a:buClr>
            </a:pPr>
            <a:r>
              <a:rPr lang="en-US" sz="2000" b="1">
                <a:solidFill>
                  <a:schemeClr val="accent4">
                    <a:lumMod val="90000"/>
                    <a:lumOff val="10000"/>
                  </a:schemeClr>
                </a:solidFill>
                <a:latin typeface="Times New Roman" panose="02020603050405020304" pitchFamily="18" charset="0"/>
                <a:cs typeface="Times New Roman" panose="02020603050405020304" pitchFamily="18" charset="0"/>
              </a:rPr>
              <a:t>Đoạn mã minh họa việc gọi activity nhập liệu và xử lý kết quả trả về</a:t>
            </a:r>
          </a:p>
          <a:p>
            <a:pPr>
              <a:lnSpc>
                <a:spcPct val="150000"/>
              </a:lnSpc>
              <a:buClr>
                <a:srgbClr val="FF0000"/>
              </a:buClr>
            </a:pPr>
            <a:r>
              <a:rPr lang="vi-VN" sz="1800" b="1">
                <a:solidFill>
                  <a:schemeClr val="accent6">
                    <a:lumMod val="50000"/>
                  </a:schemeClr>
                </a:solidFill>
                <a:latin typeface="Times New Roman" panose="02020603050405020304" pitchFamily="18" charset="0"/>
                <a:cs typeface="Times New Roman" panose="02020603050405020304" pitchFamily="18" charset="0"/>
              </a:rPr>
              <a:t>onActivityResult</a:t>
            </a:r>
            <a:r>
              <a:rPr lang="vi-VN" sz="1800">
                <a:solidFill>
                  <a:schemeClr val="accent4">
                    <a:lumMod val="90000"/>
                    <a:lumOff val="10000"/>
                  </a:schemeClr>
                </a:solidFill>
                <a:latin typeface="Times New Roman" panose="02020603050405020304" pitchFamily="18" charset="0"/>
                <a:cs typeface="Times New Roman" panose="02020603050405020304" pitchFamily="18" charset="0"/>
              </a:rPr>
              <a:t>: được tự động gọi khi activity nhập liệu kết thúc</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4858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 Sử dụng intent trao đổi dữ liệu</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21</a:t>
            </a:fld>
            <a:endParaRPr lang="en-US"/>
          </a:p>
        </p:txBody>
      </p:sp>
      <p:sp>
        <p:nvSpPr>
          <p:cNvPr id="8" name="TextBox 7">
            <a:extLst>
              <a:ext uri="{FF2B5EF4-FFF2-40B4-BE49-F238E27FC236}">
                <a16:creationId xmlns:a16="http://schemas.microsoft.com/office/drawing/2014/main" id="{E4CE7AF0-CACC-4621-9006-F1943BC9DFA2}"/>
              </a:ext>
            </a:extLst>
          </p:cNvPr>
          <p:cNvSpPr txBox="1"/>
          <p:nvPr/>
        </p:nvSpPr>
        <p:spPr>
          <a:xfrm>
            <a:off x="285750" y="5559535"/>
            <a:ext cx="8001000" cy="960328"/>
          </a:xfrm>
          <a:prstGeom prst="rect">
            <a:avLst/>
          </a:prstGeom>
          <a:noFill/>
        </p:spPr>
        <p:txBody>
          <a:bodyPr wrap="square" rtlCol="0">
            <a:spAutoFit/>
          </a:bodyPr>
          <a:lstStyle/>
          <a:p>
            <a:pPr algn="l">
              <a:lnSpc>
                <a:spcPct val="150000"/>
              </a:lnSpc>
              <a:buClr>
                <a:srgbClr val="FF0000"/>
              </a:buClr>
            </a:pPr>
            <a:r>
              <a:rPr lang="en-US" sz="2000" b="1">
                <a:solidFill>
                  <a:schemeClr val="accent4">
                    <a:lumMod val="90000"/>
                    <a:lumOff val="10000"/>
                  </a:schemeClr>
                </a:solidFill>
                <a:latin typeface="Times New Roman" panose="02020603050405020304" pitchFamily="18" charset="0"/>
                <a:cs typeface="Times New Roman" panose="02020603050405020304" pitchFamily="18" charset="0"/>
              </a:rPr>
              <a:t>Xử lý ở phía activity nhập liệu</a:t>
            </a:r>
          </a:p>
          <a:p>
            <a:pPr>
              <a:lnSpc>
                <a:spcPct val="150000"/>
              </a:lnSpc>
              <a:buClr>
                <a:srgbClr val="FF0000"/>
              </a:buCl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Dùng </a:t>
            </a:r>
            <a:r>
              <a:rPr lang="en-US" sz="2000">
                <a:solidFill>
                  <a:schemeClr val="accent6">
                    <a:lumMod val="50000"/>
                  </a:schemeClr>
                </a:solidFill>
                <a:latin typeface="Times New Roman" panose="02020603050405020304" pitchFamily="18" charset="0"/>
                <a:cs typeface="Times New Roman" panose="02020603050405020304" pitchFamily="18" charset="0"/>
              </a:rPr>
              <a:t>setResult</a:t>
            </a: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 để thiết lập dữ liệu trả về cho activity cha</a:t>
            </a:r>
          </a:p>
        </p:txBody>
      </p:sp>
      <p:pic>
        <p:nvPicPr>
          <p:cNvPr id="6" name="Picture 5" descr="Text&#10;&#10;Description automatically generated">
            <a:extLst>
              <a:ext uri="{FF2B5EF4-FFF2-40B4-BE49-F238E27FC236}">
                <a16:creationId xmlns:a16="http://schemas.microsoft.com/office/drawing/2014/main" id="{A0B68537-3B21-48A7-9236-AD5F4868E4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322" y="1204241"/>
            <a:ext cx="5887278" cy="4387385"/>
          </a:xfrm>
          <a:prstGeom prst="rect">
            <a:avLst/>
          </a:prstGeom>
        </p:spPr>
      </p:pic>
    </p:spTree>
    <p:extLst>
      <p:ext uri="{BB962C8B-B14F-4D97-AF65-F5344CB8AC3E}">
        <p14:creationId xmlns:p14="http://schemas.microsoft.com/office/powerpoint/2010/main" val="3390813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1.3 BROADCAST RECEIVERS </a:t>
            </a:r>
            <a:endParaRPr lang="vi-VN" sz="3600" b="1" kern="0">
              <a:solidFill>
                <a:schemeClr val="bg1"/>
              </a:solidFill>
            </a:endParaRPr>
          </a:p>
        </p:txBody>
      </p:sp>
    </p:spTree>
    <p:extLst>
      <p:ext uri="{BB962C8B-B14F-4D97-AF65-F5344CB8AC3E}">
        <p14:creationId xmlns:p14="http://schemas.microsoft.com/office/powerpoint/2010/main" val="2107371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TỔNG QUAN BROADCAST RECEIVERS </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23</a:t>
            </a:fld>
            <a:endParaRPr lang="en-US"/>
          </a:p>
        </p:txBody>
      </p:sp>
      <p:sp>
        <p:nvSpPr>
          <p:cNvPr id="7" name="TextBox 6">
            <a:extLst>
              <a:ext uri="{FF2B5EF4-FFF2-40B4-BE49-F238E27FC236}">
                <a16:creationId xmlns:a16="http://schemas.microsoft.com/office/drawing/2014/main" id="{B0C46661-79A5-4343-88CA-FE4E17655AD1}"/>
              </a:ext>
            </a:extLst>
          </p:cNvPr>
          <p:cNvSpPr txBox="1"/>
          <p:nvPr/>
        </p:nvSpPr>
        <p:spPr>
          <a:xfrm>
            <a:off x="152400" y="981006"/>
            <a:ext cx="8686800" cy="5288948"/>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b="1">
                <a:solidFill>
                  <a:schemeClr val="accent4">
                    <a:lumMod val="90000"/>
                    <a:lumOff val="10000"/>
                  </a:schemeClr>
                </a:solidFill>
                <a:latin typeface="Times New Roman" panose="02020603050405020304" pitchFamily="18" charset="0"/>
                <a:cs typeface="Times New Roman" panose="02020603050405020304" pitchFamily="18" charset="0"/>
              </a:rPr>
              <a:t>Broadcast receiver</a:t>
            </a:r>
            <a:r>
              <a:rPr lang="vi-VN">
                <a:solidFill>
                  <a:schemeClr val="accent4">
                    <a:lumMod val="90000"/>
                    <a:lumOff val="10000"/>
                  </a:schemeClr>
                </a:solidFill>
                <a:latin typeface="Times New Roman" panose="02020603050405020304" pitchFamily="18" charset="0"/>
                <a:cs typeface="Times New Roman" panose="02020603050405020304" pitchFamily="18" charset="0"/>
              </a:rPr>
              <a:t> (gọi tắt là receiver): là một trong bốn loại thành phần cơ bản của ứng dụng android</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Receiver là một class java nhận và xử lý các sự kiện mà hệ thống (hoặc ứng dụng nào đó) phát ra</a:t>
            </a:r>
          </a:p>
          <a:p>
            <a:pPr marL="800100" lvl="1" indent="-342900" algn="l">
              <a:lnSpc>
                <a:spcPct val="150000"/>
              </a:lnSpc>
              <a:buClr>
                <a:srgbClr val="FF0000"/>
              </a:buClr>
              <a:buFont typeface="Wingdings" panose="05000000000000000000" pitchFamily="2" charset="2"/>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VD: tín hiệu báo mất wifi, tín hiệu báo cuộc gọi đến,…</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Khi hệ thống phát đi sự kiện, có 2 cơ chế phát:</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Wingdings" panose="05000000000000000000" pitchFamily="2" charset="2"/>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Không thứ tự: mọi receiver đủ điều kiện đều nhận được</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Wingdings" panose="05000000000000000000" pitchFamily="2" charset="2"/>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Có thứ tự: receiver nào ưu tiên hơn thì nhận trước và có thể điều chỉnh thông tin tín hiệu đến các receiver sau</a:t>
            </a: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Cơ chế này khá giống xử lý ngắt (interrupt) trong HĐH</a:t>
            </a: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6232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TỔNG QUAN BROADCAST RECEIVERS </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24</a:t>
            </a:fld>
            <a:endParaRPr lang="en-US"/>
          </a:p>
        </p:txBody>
      </p:sp>
      <p:sp>
        <p:nvSpPr>
          <p:cNvPr id="6" name="TextBox 5">
            <a:extLst>
              <a:ext uri="{FF2B5EF4-FFF2-40B4-BE49-F238E27FC236}">
                <a16:creationId xmlns:a16="http://schemas.microsoft.com/office/drawing/2014/main" id="{862C397D-8BC7-44AC-841D-2DB7FCCB2BD5}"/>
              </a:ext>
            </a:extLst>
          </p:cNvPr>
          <p:cNvSpPr txBox="1"/>
          <p:nvPr/>
        </p:nvSpPr>
        <p:spPr>
          <a:xfrm>
            <a:off x="152400" y="981006"/>
            <a:ext cx="8686800" cy="5565947"/>
          </a:xfrm>
          <a:prstGeom prst="rect">
            <a:avLst/>
          </a:prstGeom>
          <a:noFill/>
        </p:spPr>
        <p:txBody>
          <a:bodyPr wrap="square" rtlCol="0">
            <a:spAutoFit/>
          </a:bodyPr>
          <a:lstStyle/>
          <a:p>
            <a:pPr algn="l">
              <a:lnSpc>
                <a:spcPct val="150000"/>
              </a:lnSpc>
              <a:buClr>
                <a:srgbClr val="FF0000"/>
              </a:buCl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Một số broadcast thông dụng</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Báo hệ thống khởi động xong</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Báo có package mới cài vào hoặc xóa đi</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Báo tắt máy</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Báo cắm sạc</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Báo rút sạc</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Thông báo cắm thẻ nhớ</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Thông báo rút thẻ nhớ</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Thông báo tin nhắn tới</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Thông báo có cuộc gọi đi/đến</a:t>
            </a:r>
          </a:p>
        </p:txBody>
      </p:sp>
    </p:spTree>
    <p:extLst>
      <p:ext uri="{BB962C8B-B14F-4D97-AF65-F5344CB8AC3E}">
        <p14:creationId xmlns:p14="http://schemas.microsoft.com/office/powerpoint/2010/main" val="13609552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VÒNG ĐỜI BROADCAST RECEIVERS </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25</a:t>
            </a:fld>
            <a:endParaRPr lang="en-US"/>
          </a:p>
        </p:txBody>
      </p:sp>
      <p:sp>
        <p:nvSpPr>
          <p:cNvPr id="6" name="TextBox 5">
            <a:extLst>
              <a:ext uri="{FF2B5EF4-FFF2-40B4-BE49-F238E27FC236}">
                <a16:creationId xmlns:a16="http://schemas.microsoft.com/office/drawing/2014/main" id="{862C397D-8BC7-44AC-841D-2DB7FCCB2BD5}"/>
              </a:ext>
            </a:extLst>
          </p:cNvPr>
          <p:cNvSpPr txBox="1"/>
          <p:nvPr/>
        </p:nvSpPr>
        <p:spPr>
          <a:xfrm>
            <a:off x="152400" y="981006"/>
            <a:ext cx="8686800" cy="5207644"/>
          </a:xfrm>
          <a:prstGeom prst="rect">
            <a:avLst/>
          </a:prstGeom>
          <a:noFill/>
        </p:spPr>
        <p:txBody>
          <a:bodyPr wrap="square" rtlCol="0">
            <a:spAutoFit/>
          </a:bodyPr>
          <a:lstStyle/>
          <a:p>
            <a:pPr algn="l">
              <a:lnSpc>
                <a:spcPct val="150000"/>
              </a:lnSpc>
              <a:buClr>
                <a:srgbClr val="FF0000"/>
              </a:buCl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1. </a:t>
            </a:r>
            <a:r>
              <a:rPr lang="vi-VN" b="1">
                <a:solidFill>
                  <a:schemeClr val="accent4">
                    <a:lumMod val="90000"/>
                    <a:lumOff val="10000"/>
                  </a:schemeClr>
                </a:solidFill>
                <a:latin typeface="Times New Roman" panose="02020603050405020304" pitchFamily="18" charset="0"/>
                <a:cs typeface="Times New Roman" panose="02020603050405020304" pitchFamily="18" charset="0"/>
              </a:rPr>
              <a:t>Khi ứng dụng được cài lên thiết bị:</a:t>
            </a:r>
            <a:endParaRPr lang="en-US" b="1">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Hệ thống đọc file AndroidManifest.xml để xem receiver đăng ký xử lý những sự kiện nào</a:t>
            </a:r>
          </a:p>
          <a:p>
            <a:pPr marL="800100" lvl="1"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Cho receiver vào danh sách các receiver cài trên thiết bị</a:t>
            </a:r>
          </a:p>
          <a:p>
            <a:pPr algn="l">
              <a:lnSpc>
                <a:spcPct val="150000"/>
              </a:lnSpc>
              <a:buClr>
                <a:srgbClr val="FF0000"/>
              </a:buClr>
            </a:pPr>
            <a:r>
              <a:rPr lang="en-US" b="1">
                <a:solidFill>
                  <a:schemeClr val="accent4">
                    <a:lumMod val="90000"/>
                    <a:lumOff val="10000"/>
                  </a:schemeClr>
                </a:solidFill>
                <a:latin typeface="Times New Roman" panose="02020603050405020304" pitchFamily="18" charset="0"/>
                <a:cs typeface="Times New Roman" panose="02020603050405020304" pitchFamily="18" charset="0"/>
              </a:rPr>
              <a:t>2. Khi xảy ra sự kiện:</a:t>
            </a:r>
          </a:p>
          <a:p>
            <a:pPr marL="800100" lvl="1"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Hệ thống tạo một intent chứa thông tin về sự kiện</a:t>
            </a:r>
          </a:p>
          <a:p>
            <a:pPr marL="800100" lvl="1"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Gửi intent đó đến các receiver đăng ký xử lý sự kiện</a:t>
            </a:r>
          </a:p>
          <a:p>
            <a:pPr marL="1257300" lvl="2" indent="-342900" algn="l">
              <a:lnSpc>
                <a:spcPct val="150000"/>
              </a:lnSpc>
              <a:buClr>
                <a:srgbClr val="FF0000"/>
              </a:buClr>
              <a:buFont typeface="Wingdings" panose="05000000000000000000" pitchFamily="2" charset="2"/>
              <a:buChar char="§"/>
            </a:pPr>
            <a:r>
              <a:rPr lang="en-US" sz="1800">
                <a:solidFill>
                  <a:schemeClr val="accent4">
                    <a:lumMod val="90000"/>
                    <a:lumOff val="10000"/>
                  </a:schemeClr>
                </a:solidFill>
                <a:latin typeface="Times New Roman" panose="02020603050405020304" pitchFamily="18" charset="0"/>
                <a:cs typeface="Times New Roman" panose="02020603050405020304" pitchFamily="18" charset="0"/>
              </a:rPr>
              <a:t>Nếu sự kiện không thứ tự: gửi đồng loạt đến tất cả receiver</a:t>
            </a:r>
          </a:p>
          <a:p>
            <a:pPr marL="1257300" lvl="2" indent="-342900" algn="l">
              <a:lnSpc>
                <a:spcPct val="150000"/>
              </a:lnSpc>
              <a:buClr>
                <a:srgbClr val="FF0000"/>
              </a:buClr>
              <a:buFont typeface="Wingdings" panose="05000000000000000000" pitchFamily="2" charset="2"/>
              <a:buChar char="§"/>
            </a:pPr>
            <a:r>
              <a:rPr lang="vi-VN" sz="1800">
                <a:solidFill>
                  <a:schemeClr val="accent4">
                    <a:lumMod val="90000"/>
                    <a:lumOff val="10000"/>
                  </a:schemeClr>
                </a:solidFill>
                <a:latin typeface="Times New Roman" panose="02020603050405020304" pitchFamily="18" charset="0"/>
                <a:cs typeface="Times New Roman" panose="02020603050405020304" pitchFamily="18" charset="0"/>
              </a:rPr>
              <a:t>Nếu sự kiện có thứ tự: gửi lần lượt đến từng receiver</a:t>
            </a:r>
            <a:endParaRPr lang="en-US" sz="18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Khi intent được gửi đến receiver: hệ thống gọi hàm onReceive để xử lý intent đó</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931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VÒNG ĐỜI BROADCAST RECEIVERS </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26</a:t>
            </a:fld>
            <a:endParaRPr lang="en-US"/>
          </a:p>
        </p:txBody>
      </p:sp>
      <p:sp>
        <p:nvSpPr>
          <p:cNvPr id="7" name="TextBox 6">
            <a:extLst>
              <a:ext uri="{FF2B5EF4-FFF2-40B4-BE49-F238E27FC236}">
                <a16:creationId xmlns:a16="http://schemas.microsoft.com/office/drawing/2014/main" id="{6F9DBA22-25B9-4823-9D5B-6FBA6A101B65}"/>
              </a:ext>
            </a:extLst>
          </p:cNvPr>
          <p:cNvSpPr txBox="1"/>
          <p:nvPr/>
        </p:nvSpPr>
        <p:spPr>
          <a:xfrm>
            <a:off x="152400" y="1159563"/>
            <a:ext cx="7467600" cy="5011949"/>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Broadcast receiver hoạt động vô cùng đơn giản</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Chỉ cần viết duy nhất phương thức </a:t>
            </a:r>
            <a:r>
              <a:rPr lang="vi-VN" sz="2000" b="1">
                <a:solidFill>
                  <a:schemeClr val="accent6">
                    <a:lumMod val="50000"/>
                  </a:schemeClr>
                </a:solidFill>
                <a:latin typeface="Times New Roman" panose="02020603050405020304" pitchFamily="18" charset="0"/>
                <a:cs typeface="Times New Roman" panose="02020603050405020304" pitchFamily="18" charset="0"/>
              </a:rPr>
              <a:t>onReceive</a:t>
            </a:r>
            <a:endParaRPr lang="en-US" sz="2000" b="1">
              <a:solidFill>
                <a:schemeClr val="accent6">
                  <a:lumMod val="5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Khi có sự kiện mà broadcast receiver đã đăng ký nhận được phát đi, thì phương thức </a:t>
            </a:r>
            <a:r>
              <a:rPr lang="vi-VN" sz="2000" b="1">
                <a:solidFill>
                  <a:schemeClr val="accent6">
                    <a:lumMod val="50000"/>
                  </a:schemeClr>
                </a:solidFill>
                <a:latin typeface="Times New Roman" panose="02020603050405020304" pitchFamily="18" charset="0"/>
                <a:cs typeface="Times New Roman" panose="02020603050405020304" pitchFamily="18" charset="0"/>
              </a:rPr>
              <a:t>onReceive</a:t>
            </a: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 của broadcast receiver đó sẽ được gọi</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Sau khi thực thi xong phương thức này, lifecycle của</a:t>
            </a: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receiver kết thúc</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Trường hợp broadcast có thứ tự, ta có thể gọi hàm </a:t>
            </a:r>
            <a:r>
              <a:rPr lang="vi-VN" b="1">
                <a:solidFill>
                  <a:schemeClr val="accent6">
                    <a:lumMod val="50000"/>
                  </a:schemeClr>
                </a:solidFill>
                <a:latin typeface="Times New Roman" panose="02020603050405020304" pitchFamily="18" charset="0"/>
                <a:cs typeface="Times New Roman" panose="02020603050405020304" pitchFamily="18" charset="0"/>
              </a:rPr>
              <a:t>abortBroadcast</a:t>
            </a:r>
            <a:r>
              <a:rPr lang="vi-VN">
                <a:solidFill>
                  <a:schemeClr val="accent4">
                    <a:lumMod val="90000"/>
                    <a:lumOff val="10000"/>
                  </a:schemeClr>
                </a:solidFill>
                <a:latin typeface="Times New Roman" panose="02020603050405020304" pitchFamily="18" charset="0"/>
                <a:cs typeface="Times New Roman" panose="02020603050405020304" pitchFamily="18" charset="0"/>
              </a:rPr>
              <a:t> trong khi </a:t>
            </a:r>
            <a:r>
              <a:rPr lang="vi-VN" b="1">
                <a:solidFill>
                  <a:schemeClr val="accent6">
                    <a:lumMod val="50000"/>
                  </a:schemeClr>
                </a:solidFill>
                <a:latin typeface="Times New Roman" panose="02020603050405020304" pitchFamily="18" charset="0"/>
                <a:cs typeface="Times New Roman" panose="02020603050405020304" pitchFamily="18" charset="0"/>
              </a:rPr>
              <a:t>onReceive</a:t>
            </a:r>
            <a:r>
              <a:rPr lang="vi-VN">
                <a:solidFill>
                  <a:schemeClr val="accent4">
                    <a:lumMod val="90000"/>
                    <a:lumOff val="10000"/>
                  </a:schemeClr>
                </a:solidFill>
                <a:latin typeface="Times New Roman" panose="02020603050405020304" pitchFamily="18" charset="0"/>
                <a:cs typeface="Times New Roman" panose="02020603050405020304" pitchFamily="18" charset="0"/>
              </a:rPr>
              <a:t> đang chạy để ngăn không cho các receiver sau nhận broadcast</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45833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VÒNG ĐỜI BROADCAST RECEIVERS </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27</a:t>
            </a:fld>
            <a:endParaRPr lang="en-US"/>
          </a:p>
        </p:txBody>
      </p:sp>
      <p:sp>
        <p:nvSpPr>
          <p:cNvPr id="7" name="TextBox 6">
            <a:extLst>
              <a:ext uri="{FF2B5EF4-FFF2-40B4-BE49-F238E27FC236}">
                <a16:creationId xmlns:a16="http://schemas.microsoft.com/office/drawing/2014/main" id="{6F9DBA22-25B9-4823-9D5B-6FBA6A101B65}"/>
              </a:ext>
            </a:extLst>
          </p:cNvPr>
          <p:cNvSpPr txBox="1"/>
          <p:nvPr/>
        </p:nvSpPr>
        <p:spPr>
          <a:xfrm>
            <a:off x="152400" y="971067"/>
            <a:ext cx="8686800" cy="556594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Ngay khi onReceive kết thúc, hệ thống coi như receiver đã không còn hoạt động và có thể hủy tiến trình chứa receiver này bất cứ lúc nào, vì thế:</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Tránh xử lý các code quá lâu trong onReceive</a:t>
            </a:r>
          </a:p>
          <a:p>
            <a:pPr marL="800100" lvl="1" indent="-342900" algn="l">
              <a:lnSpc>
                <a:spcPct val="150000"/>
              </a:lnSpc>
              <a:buClr>
                <a:srgbClr val="FF0000"/>
              </a:buClr>
              <a:buFont typeface="Arial" panose="020B0604020202020204" pitchFamily="34" charset="0"/>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Không có xử lý bất đồng bộ, chờ callback… trong receiver (cụ thể như hiển thị Dialog, kết nối service…)</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Nếu cứ cố dùng, hệ thống sẽ thông báo ứng dụng bị waiting quá lâu, có force close hay không, đây là lỗi nên tránh vì đa số người dùng sẽ chọn YES</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Độ ưu tiên của receiver nên từ -1000 đến 1000</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DC7D2A4-3478-4F5D-AEDE-9D04FD3E2F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5938800"/>
            <a:ext cx="6782388" cy="502964"/>
          </a:xfrm>
          <a:prstGeom prst="rect">
            <a:avLst/>
          </a:prstGeom>
        </p:spPr>
      </p:pic>
    </p:spTree>
    <p:extLst>
      <p:ext uri="{BB962C8B-B14F-4D97-AF65-F5344CB8AC3E}">
        <p14:creationId xmlns:p14="http://schemas.microsoft.com/office/powerpoint/2010/main" val="16960609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229600" cy="563563"/>
          </a:xfrm>
        </p:spPr>
        <p:txBody>
          <a:bodyPr/>
          <a:lstStyle/>
          <a:p>
            <a:r>
              <a:rPr lang="en-US" sz="2000" b="1"/>
              <a:t>1.3.3 VÍ DỤ SỬ DỤNG BROADCAST RECEIVERS </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28</a:t>
            </a:fld>
            <a:endParaRPr lang="en-US"/>
          </a:p>
        </p:txBody>
      </p:sp>
      <p:sp>
        <p:nvSpPr>
          <p:cNvPr id="7" name="TextBox 6">
            <a:extLst>
              <a:ext uri="{FF2B5EF4-FFF2-40B4-BE49-F238E27FC236}">
                <a16:creationId xmlns:a16="http://schemas.microsoft.com/office/drawing/2014/main" id="{6F9DBA22-25B9-4823-9D5B-6FBA6A101B65}"/>
              </a:ext>
            </a:extLst>
          </p:cNvPr>
          <p:cNvSpPr txBox="1"/>
          <p:nvPr/>
        </p:nvSpPr>
        <p:spPr>
          <a:xfrm>
            <a:off x="73715" y="944563"/>
            <a:ext cx="8686800" cy="1133965"/>
          </a:xfrm>
          <a:prstGeom prst="rect">
            <a:avLst/>
          </a:prstGeom>
          <a:noFill/>
        </p:spPr>
        <p:txBody>
          <a:bodyPr wrap="square" rtlCol="0">
            <a:spAutoFit/>
          </a:bodyPr>
          <a:lstStyle/>
          <a:p>
            <a:pPr algn="l">
              <a:lnSpc>
                <a:spcPct val="150000"/>
              </a:lnSpc>
              <a:buClr>
                <a:srgbClr val="FF0000"/>
              </a:buClr>
            </a:pPr>
            <a:r>
              <a:rPr lang="vi-VN" b="1">
                <a:solidFill>
                  <a:schemeClr val="accent4">
                    <a:lumMod val="90000"/>
                    <a:lumOff val="10000"/>
                  </a:schemeClr>
                </a:solidFill>
                <a:latin typeface="Times New Roman" panose="02020603050405020304" pitchFamily="18" charset="0"/>
                <a:cs typeface="Times New Roman" panose="02020603050405020304" pitchFamily="18" charset="0"/>
              </a:rPr>
              <a:t>Tạo ứng dụng hiển thị % pin còn lại của thiết bị</a:t>
            </a:r>
            <a:endParaRPr lang="en-US" b="1">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endParaRPr lang="en-US" b="1">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6" name="Picture 5" descr="A picture containing table&#10;&#10;Description automatically generated">
            <a:extLst>
              <a:ext uri="{FF2B5EF4-FFF2-40B4-BE49-F238E27FC236}">
                <a16:creationId xmlns:a16="http://schemas.microsoft.com/office/drawing/2014/main" id="{0A2C9052-F2F7-47EE-8F3B-B9CA3A5FAF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4704" y="1508126"/>
            <a:ext cx="4621696" cy="4977684"/>
          </a:xfrm>
          <a:prstGeom prst="rect">
            <a:avLst/>
          </a:prstGeom>
        </p:spPr>
      </p:pic>
    </p:spTree>
    <p:extLst>
      <p:ext uri="{BB962C8B-B14F-4D97-AF65-F5344CB8AC3E}">
        <p14:creationId xmlns:p14="http://schemas.microsoft.com/office/powerpoint/2010/main" val="286778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229600" cy="563563"/>
          </a:xfrm>
        </p:spPr>
        <p:txBody>
          <a:bodyPr/>
          <a:lstStyle/>
          <a:p>
            <a:r>
              <a:rPr lang="en-US" sz="2000" b="1"/>
              <a:t>1.3.3 VÍ DỤ SỬ DỤNG BROADCAST RECEIVERS </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29</a:t>
            </a:fld>
            <a:endParaRPr lang="en-US"/>
          </a:p>
        </p:txBody>
      </p:sp>
      <p:sp>
        <p:nvSpPr>
          <p:cNvPr id="7" name="TextBox 6">
            <a:extLst>
              <a:ext uri="{FF2B5EF4-FFF2-40B4-BE49-F238E27FC236}">
                <a16:creationId xmlns:a16="http://schemas.microsoft.com/office/drawing/2014/main" id="{6F9DBA22-25B9-4823-9D5B-6FBA6A101B65}"/>
              </a:ext>
            </a:extLst>
          </p:cNvPr>
          <p:cNvSpPr txBox="1"/>
          <p:nvPr/>
        </p:nvSpPr>
        <p:spPr>
          <a:xfrm>
            <a:off x="73715" y="944563"/>
            <a:ext cx="8686800" cy="1133965"/>
          </a:xfrm>
          <a:prstGeom prst="rect">
            <a:avLst/>
          </a:prstGeom>
          <a:noFill/>
        </p:spPr>
        <p:txBody>
          <a:bodyPr wrap="square" rtlCol="0">
            <a:spAutoFit/>
          </a:bodyPr>
          <a:lstStyle/>
          <a:p>
            <a:pPr algn="l">
              <a:lnSpc>
                <a:spcPct val="150000"/>
              </a:lnSpc>
              <a:buClr>
                <a:srgbClr val="FF0000"/>
              </a:buClr>
            </a:pPr>
            <a:r>
              <a:rPr lang="vi-VN" b="1">
                <a:solidFill>
                  <a:schemeClr val="accent4">
                    <a:lumMod val="90000"/>
                    <a:lumOff val="10000"/>
                  </a:schemeClr>
                </a:solidFill>
                <a:latin typeface="Times New Roman" panose="02020603050405020304" pitchFamily="18" charset="0"/>
                <a:cs typeface="Times New Roman" panose="02020603050405020304" pitchFamily="18" charset="0"/>
              </a:rPr>
              <a:t>Tạo ứng dụng hiển thị % pin còn lại của thiết bị</a:t>
            </a:r>
            <a:endParaRPr lang="en-US" b="1">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endParaRPr lang="en-US" b="1">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Graphical user interface, text, application, email&#10;&#10;Description automatically generated">
            <a:extLst>
              <a:ext uri="{FF2B5EF4-FFF2-40B4-BE49-F238E27FC236}">
                <a16:creationId xmlns:a16="http://schemas.microsoft.com/office/drawing/2014/main" id="{22D37727-65CE-417C-94C8-46D6EE37A8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524512"/>
            <a:ext cx="5639289" cy="5090601"/>
          </a:xfrm>
          <a:prstGeom prst="rect">
            <a:avLst/>
          </a:prstGeom>
        </p:spPr>
      </p:pic>
      <p:pic>
        <p:nvPicPr>
          <p:cNvPr id="9" name="Picture 8" descr="A screenshot of a phone&#10;&#10;Description automatically generated with low confidence">
            <a:extLst>
              <a:ext uri="{FF2B5EF4-FFF2-40B4-BE49-F238E27FC236}">
                <a16:creationId xmlns:a16="http://schemas.microsoft.com/office/drawing/2014/main" id="{AC1C7DE0-3C68-4F49-9FF3-581A5A4C20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600" y="2984807"/>
            <a:ext cx="1767993" cy="3589331"/>
          </a:xfrm>
          <a:prstGeom prst="rect">
            <a:avLst/>
          </a:prstGeom>
        </p:spPr>
      </p:pic>
    </p:spTree>
    <p:extLst>
      <p:ext uri="{BB962C8B-B14F-4D97-AF65-F5344CB8AC3E}">
        <p14:creationId xmlns:p14="http://schemas.microsoft.com/office/powerpoint/2010/main" val="27864798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30</a:t>
            </a:fld>
            <a:endParaRPr lang="en-US"/>
          </a:p>
        </p:txBody>
      </p:sp>
      <p:sp>
        <p:nvSpPr>
          <p:cNvPr id="10" name="AutoShape 5"/>
          <p:cNvSpPr>
            <a:spLocks noChangeArrowheads="1"/>
          </p:cNvSpPr>
          <p:nvPr/>
        </p:nvSpPr>
        <p:spPr bwMode="auto">
          <a:xfrm>
            <a:off x="-7564" y="2637157"/>
            <a:ext cx="1905000" cy="1828800"/>
          </a:xfrm>
          <a:prstGeom prst="star8">
            <a:avLst>
              <a:gd name="adj" fmla="val 40139"/>
            </a:avLst>
          </a:prstGeom>
          <a:solidFill>
            <a:srgbClr val="CC3300"/>
          </a:solidFill>
          <a:ln w="952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1800" b="1">
                <a:solidFill>
                  <a:srgbClr val="FFFFFF"/>
                </a:solidFill>
                <a:cs typeface="Tahoma" panose="020B0604030504040204" pitchFamily="34" charset="0"/>
              </a:rPr>
              <a:t>INTENT VÀ</a:t>
            </a:r>
          </a:p>
          <a:p>
            <a:pPr algn="ctr"/>
            <a:r>
              <a:rPr lang="en-US" altLang="en-US" sz="1800" b="1">
                <a:solidFill>
                  <a:srgbClr val="FFFFFF"/>
                </a:solidFill>
                <a:cs typeface="Tahoma" panose="020B0604030504040204" pitchFamily="34" charset="0"/>
              </a:rPr>
              <a:t>SERVICE</a:t>
            </a:r>
          </a:p>
        </p:txBody>
      </p:sp>
      <p:sp>
        <p:nvSpPr>
          <p:cNvPr id="14" name="Text Box 37"/>
          <p:cNvSpPr txBox="1">
            <a:spLocks noChangeArrowheads="1"/>
          </p:cNvSpPr>
          <p:nvPr/>
        </p:nvSpPr>
        <p:spPr bwMode="auto">
          <a:xfrm>
            <a:off x="1157576" y="1976949"/>
            <a:ext cx="130141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600" b="1">
                <a:latin typeface="Verdana" panose="020B0604030504040204" pitchFamily="34" charset="0"/>
                <a:ea typeface="Verdana" panose="020B0604030504040204" pitchFamily="34" charset="0"/>
                <a:cs typeface="Verdana" panose="020B0604030504040204" pitchFamily="34" charset="0"/>
              </a:rPr>
              <a:t>Intent</a:t>
            </a:r>
          </a:p>
        </p:txBody>
      </p:sp>
      <p:sp>
        <p:nvSpPr>
          <p:cNvPr id="18" name="Text Box 48"/>
          <p:cNvSpPr txBox="1">
            <a:spLocks noChangeArrowheads="1"/>
          </p:cNvSpPr>
          <p:nvPr/>
        </p:nvSpPr>
        <p:spPr bwMode="auto">
          <a:xfrm>
            <a:off x="2583236" y="1036957"/>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Tổng quan</a:t>
            </a:r>
          </a:p>
        </p:txBody>
      </p:sp>
      <p:sp>
        <p:nvSpPr>
          <p:cNvPr id="19" name="Text Box 50"/>
          <p:cNvSpPr txBox="1">
            <a:spLocks noChangeArrowheads="1"/>
          </p:cNvSpPr>
          <p:nvPr/>
        </p:nvSpPr>
        <p:spPr bwMode="auto">
          <a:xfrm>
            <a:off x="4773779" y="2210158"/>
            <a:ext cx="4176122"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rPr>
              <a:t>Component name, Action , Data, Type, Category, Extras</a:t>
            </a:r>
          </a:p>
        </p:txBody>
      </p:sp>
      <p:sp>
        <p:nvSpPr>
          <p:cNvPr id="23" name="Line 72"/>
          <p:cNvSpPr>
            <a:spLocks noChangeShapeType="1"/>
          </p:cNvSpPr>
          <p:nvPr/>
        </p:nvSpPr>
        <p:spPr bwMode="auto">
          <a:xfrm flipV="1">
            <a:off x="1592636" y="1717995"/>
            <a:ext cx="1295400" cy="1223962"/>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76"/>
          <p:cNvSpPr>
            <a:spLocks noChangeShapeType="1"/>
          </p:cNvSpPr>
          <p:nvPr/>
        </p:nvSpPr>
        <p:spPr bwMode="auto">
          <a:xfrm flipV="1">
            <a:off x="2915589" y="1375095"/>
            <a:ext cx="1841102"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Line 78"/>
          <p:cNvSpPr>
            <a:spLocks noChangeShapeType="1"/>
          </p:cNvSpPr>
          <p:nvPr/>
        </p:nvSpPr>
        <p:spPr bwMode="auto">
          <a:xfrm flipH="1">
            <a:off x="2953192" y="1375095"/>
            <a:ext cx="12334" cy="1006931"/>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80"/>
          <p:cNvSpPr>
            <a:spLocks noChangeShapeType="1"/>
          </p:cNvSpPr>
          <p:nvPr/>
        </p:nvSpPr>
        <p:spPr bwMode="auto">
          <a:xfrm flipV="1">
            <a:off x="2980649" y="1872809"/>
            <a:ext cx="1843010"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Text Box 48"/>
          <p:cNvSpPr txBox="1">
            <a:spLocks noChangeArrowheads="1"/>
          </p:cNvSpPr>
          <p:nvPr/>
        </p:nvSpPr>
        <p:spPr bwMode="auto">
          <a:xfrm>
            <a:off x="2697536" y="1490956"/>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Phân loại</a:t>
            </a:r>
          </a:p>
        </p:txBody>
      </p:sp>
      <p:sp>
        <p:nvSpPr>
          <p:cNvPr id="36" name="Line 78"/>
          <p:cNvSpPr>
            <a:spLocks noChangeShapeType="1"/>
          </p:cNvSpPr>
          <p:nvPr/>
        </p:nvSpPr>
        <p:spPr bwMode="auto">
          <a:xfrm flipH="1">
            <a:off x="3047498" y="3060538"/>
            <a:ext cx="5746" cy="984817"/>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Line 79"/>
          <p:cNvSpPr>
            <a:spLocks noChangeShapeType="1"/>
          </p:cNvSpPr>
          <p:nvPr/>
        </p:nvSpPr>
        <p:spPr bwMode="auto">
          <a:xfrm>
            <a:off x="3047498" y="3101307"/>
            <a:ext cx="1658627" cy="20261"/>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Line 80"/>
          <p:cNvSpPr>
            <a:spLocks noChangeShapeType="1"/>
          </p:cNvSpPr>
          <p:nvPr/>
        </p:nvSpPr>
        <p:spPr bwMode="auto">
          <a:xfrm>
            <a:off x="2995011" y="4012595"/>
            <a:ext cx="1711114" cy="1"/>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Line 81"/>
          <p:cNvSpPr>
            <a:spLocks noChangeShapeType="1"/>
          </p:cNvSpPr>
          <p:nvPr/>
        </p:nvSpPr>
        <p:spPr bwMode="auto">
          <a:xfrm flipV="1">
            <a:off x="1784565" y="3425542"/>
            <a:ext cx="1175215" cy="137882"/>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Text Box 50"/>
          <p:cNvSpPr txBox="1">
            <a:spLocks noChangeArrowheads="1"/>
          </p:cNvSpPr>
          <p:nvPr/>
        </p:nvSpPr>
        <p:spPr bwMode="auto">
          <a:xfrm>
            <a:off x="4768002" y="3560692"/>
            <a:ext cx="4176122"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mj-lt"/>
              </a:rPr>
              <a:t>Xây dựng và gọi phương thức onReceive()</a:t>
            </a:r>
          </a:p>
        </p:txBody>
      </p:sp>
      <p:sp>
        <p:nvSpPr>
          <p:cNvPr id="44" name="Text Box 50"/>
          <p:cNvSpPr txBox="1">
            <a:spLocks noChangeArrowheads="1"/>
          </p:cNvSpPr>
          <p:nvPr/>
        </p:nvSpPr>
        <p:spPr bwMode="auto">
          <a:xfrm>
            <a:off x="4768002" y="2849816"/>
            <a:ext cx="4176122"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mj-lt"/>
              </a:rPr>
              <a:t>Nhận và xử lý các sự kiện hệ thống (hoặc ứng dụng nào đó) phát ra</a:t>
            </a:r>
          </a:p>
        </p:txBody>
      </p:sp>
      <p:sp>
        <p:nvSpPr>
          <p:cNvPr id="45" name="Text Box 50"/>
          <p:cNvSpPr txBox="1">
            <a:spLocks noChangeArrowheads="1"/>
          </p:cNvSpPr>
          <p:nvPr/>
        </p:nvSpPr>
        <p:spPr bwMode="auto">
          <a:xfrm>
            <a:off x="4784148" y="947608"/>
            <a:ext cx="4143293"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rPr>
              <a:t>Chuẩn giao tiếp giữa các thành phần trong Android OS</a:t>
            </a:r>
          </a:p>
        </p:txBody>
      </p:sp>
      <p:sp>
        <p:nvSpPr>
          <p:cNvPr id="46" name="Text Box 50"/>
          <p:cNvSpPr txBox="1">
            <a:spLocks noChangeArrowheads="1"/>
          </p:cNvSpPr>
          <p:nvPr/>
        </p:nvSpPr>
        <p:spPr bwMode="auto">
          <a:xfrm>
            <a:off x="4768002" y="1580422"/>
            <a:ext cx="4176122"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l">
              <a:buFont typeface="Wingdings" panose="05000000000000000000" pitchFamily="2" charset="2"/>
              <a:buChar char="Ø"/>
              <a:defRPr/>
            </a:pPr>
            <a:r>
              <a:rPr lang="en-US" altLang="en-US" sz="1600" b="1">
                <a:solidFill>
                  <a:schemeClr val="tx1"/>
                </a:solidFill>
                <a:latin typeface="+mj-lt"/>
              </a:rPr>
              <a:t>Intent tường minh</a:t>
            </a:r>
          </a:p>
          <a:p>
            <a:pPr marL="285750" indent="-285750" algn="l">
              <a:buFont typeface="Wingdings" panose="05000000000000000000" pitchFamily="2" charset="2"/>
              <a:buChar char="Ø"/>
              <a:defRPr/>
            </a:pPr>
            <a:r>
              <a:rPr lang="en-US" altLang="en-US" sz="1600" b="1">
                <a:solidFill>
                  <a:schemeClr val="tx1"/>
                </a:solidFill>
                <a:latin typeface="+mj-lt"/>
              </a:rPr>
              <a:t>Intent không tường minh</a:t>
            </a:r>
          </a:p>
        </p:txBody>
      </p:sp>
      <p:sp>
        <p:nvSpPr>
          <p:cNvPr id="49" name="Shape 519"/>
          <p:cNvSpPr txBox="1">
            <a:spLocks/>
          </p:cNvSpPr>
          <p:nvPr/>
        </p:nvSpPr>
        <p:spPr bwMode="white">
          <a:xfrm>
            <a:off x="1041777" y="180655"/>
            <a:ext cx="7924800" cy="941388"/>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b="1" kern="0" err="1"/>
              <a:t>Tổng</a:t>
            </a:r>
            <a:r>
              <a:rPr lang="en-US" b="1" kern="0"/>
              <a:t> </a:t>
            </a:r>
            <a:r>
              <a:rPr lang="en-US" b="1" kern="0" err="1"/>
              <a:t>kết</a:t>
            </a:r>
            <a:endParaRPr lang="vi-VN" b="1" kern="0"/>
          </a:p>
        </p:txBody>
      </p:sp>
      <p:sp>
        <p:nvSpPr>
          <p:cNvPr id="43" name="Text Box 8">
            <a:extLst>
              <a:ext uri="{FF2B5EF4-FFF2-40B4-BE49-F238E27FC236}">
                <a16:creationId xmlns:a16="http://schemas.microsoft.com/office/drawing/2014/main" id="{EA8FA9D7-44BD-4425-95A1-4AD1F358AAEC}"/>
              </a:ext>
            </a:extLst>
          </p:cNvPr>
          <p:cNvSpPr txBox="1">
            <a:spLocks noChangeArrowheads="1"/>
          </p:cNvSpPr>
          <p:nvPr/>
        </p:nvSpPr>
        <p:spPr bwMode="auto">
          <a:xfrm>
            <a:off x="1549373" y="2820704"/>
            <a:ext cx="168672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600" b="1">
                <a:latin typeface="Verdana" panose="020B0604030504040204" pitchFamily="34" charset="0"/>
                <a:ea typeface="Verdana" panose="020B0604030504040204" pitchFamily="34" charset="0"/>
              </a:rPr>
              <a:t>Broadcast receivers </a:t>
            </a:r>
            <a:endParaRPr lang="en-US" altLang="en-US" sz="1600" b="1">
              <a:solidFill>
                <a:srgbClr val="FFFF00"/>
              </a:solidFill>
              <a:latin typeface=".VnArial Narrow" panose="020B7200000000000000" pitchFamily="34" charset="0"/>
            </a:endParaRPr>
          </a:p>
        </p:txBody>
      </p:sp>
      <p:sp>
        <p:nvSpPr>
          <p:cNvPr id="50" name="Text Box 48">
            <a:extLst>
              <a:ext uri="{FF2B5EF4-FFF2-40B4-BE49-F238E27FC236}">
                <a16:creationId xmlns:a16="http://schemas.microsoft.com/office/drawing/2014/main" id="{13DA80C7-54E8-4AEF-BEAF-32627DD920DA}"/>
              </a:ext>
            </a:extLst>
          </p:cNvPr>
          <p:cNvSpPr txBox="1">
            <a:spLocks noChangeArrowheads="1"/>
          </p:cNvSpPr>
          <p:nvPr/>
        </p:nvSpPr>
        <p:spPr bwMode="auto">
          <a:xfrm>
            <a:off x="2697535" y="2739240"/>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Tổng quan</a:t>
            </a:r>
          </a:p>
        </p:txBody>
      </p:sp>
      <p:sp>
        <p:nvSpPr>
          <p:cNvPr id="51" name="Text Box 48">
            <a:extLst>
              <a:ext uri="{FF2B5EF4-FFF2-40B4-BE49-F238E27FC236}">
                <a16:creationId xmlns:a16="http://schemas.microsoft.com/office/drawing/2014/main" id="{174C01D1-6C94-48C3-8150-882C60D4911A}"/>
              </a:ext>
            </a:extLst>
          </p:cNvPr>
          <p:cNvSpPr txBox="1">
            <a:spLocks noChangeArrowheads="1"/>
          </p:cNvSpPr>
          <p:nvPr/>
        </p:nvSpPr>
        <p:spPr bwMode="auto">
          <a:xfrm>
            <a:off x="2689322" y="3674895"/>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Vòng đời</a:t>
            </a:r>
          </a:p>
        </p:txBody>
      </p:sp>
      <p:sp>
        <p:nvSpPr>
          <p:cNvPr id="41" name="Line 80">
            <a:extLst>
              <a:ext uri="{FF2B5EF4-FFF2-40B4-BE49-F238E27FC236}">
                <a16:creationId xmlns:a16="http://schemas.microsoft.com/office/drawing/2014/main" id="{79E55357-3829-4E1E-B741-75B0A5B3E7AC}"/>
              </a:ext>
            </a:extLst>
          </p:cNvPr>
          <p:cNvSpPr>
            <a:spLocks noChangeShapeType="1"/>
          </p:cNvSpPr>
          <p:nvPr/>
        </p:nvSpPr>
        <p:spPr bwMode="auto">
          <a:xfrm flipV="1">
            <a:off x="2901193" y="2382026"/>
            <a:ext cx="1843010"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Text Box 48">
            <a:extLst>
              <a:ext uri="{FF2B5EF4-FFF2-40B4-BE49-F238E27FC236}">
                <a16:creationId xmlns:a16="http://schemas.microsoft.com/office/drawing/2014/main" id="{9DEE617B-79A0-4EED-BD29-6BB479B96341}"/>
              </a:ext>
            </a:extLst>
          </p:cNvPr>
          <p:cNvSpPr txBox="1">
            <a:spLocks noChangeArrowheads="1"/>
          </p:cNvSpPr>
          <p:nvPr/>
        </p:nvSpPr>
        <p:spPr bwMode="auto">
          <a:xfrm>
            <a:off x="2701534" y="1990762"/>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Thành phần</a:t>
            </a:r>
          </a:p>
        </p:txBody>
      </p:sp>
    </p:spTree>
    <p:extLst>
      <p:ext uri="{BB962C8B-B14F-4D97-AF65-F5344CB8AC3E}">
        <p14:creationId xmlns:p14="http://schemas.microsoft.com/office/powerpoint/2010/main" val="2405444126"/>
      </p:ext>
    </p:extLst>
  </p:cSld>
  <p:clrMapOvr>
    <a:masterClrMapping/>
  </p:clrMapOvr>
  <p:transition spd="slow"/>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strVal val="(6*min(max(#ppt_w*#ppt_h,.3),1)-7.4)/-.7*#ppt_w"/>
                                          </p:val>
                                        </p:tav>
                                        <p:tav tm="100000">
                                          <p:val>
                                            <p:strVal val="#ppt_w"/>
                                          </p:val>
                                        </p:tav>
                                      </p:tavLst>
                                    </p:anim>
                                    <p:anim calcmode="lin" valueType="num">
                                      <p:cBhvr>
                                        <p:cTn id="8" dur="500" fill="hold"/>
                                        <p:tgtEl>
                                          <p:spTgt spid="10"/>
                                        </p:tgtEl>
                                        <p:attrNameLst>
                                          <p:attrName>ppt_h</p:attrName>
                                        </p:attrNameLst>
                                      </p:cBhvr>
                                      <p:tavLst>
                                        <p:tav tm="0">
                                          <p:val>
                                            <p:strVal val="(6*min(max(#ppt_w*#ppt_h,.3),1)-7.4)/-.7*#ppt_h"/>
                                          </p:val>
                                        </p:tav>
                                        <p:tav tm="100000">
                                          <p:val>
                                            <p:strVal val="#ppt_h"/>
                                          </p:val>
                                        </p:tav>
                                      </p:tavLst>
                                    </p:anim>
                                    <p:anim calcmode="lin" valueType="num">
                                      <p:cBhvr>
                                        <p:cTn id="9" dur="500" fill="hold"/>
                                        <p:tgtEl>
                                          <p:spTgt spid="10"/>
                                        </p:tgtEl>
                                        <p:attrNameLst>
                                          <p:attrName>ppt_x</p:attrName>
                                        </p:attrNameLst>
                                      </p:cBhvr>
                                      <p:tavLst>
                                        <p:tav tm="0">
                                          <p:val>
                                            <p:fltVal val="0.5"/>
                                          </p:val>
                                        </p:tav>
                                        <p:tav tm="100000">
                                          <p:val>
                                            <p:strVal val="#ppt_x"/>
                                          </p:val>
                                        </p:tav>
                                      </p:tavLst>
                                    </p:anim>
                                    <p:anim calcmode="lin" valueType="num">
                                      <p:cBhvr>
                                        <p:cTn id="10" dur="500" fill="hold"/>
                                        <p:tgtEl>
                                          <p:spTgt spid="10"/>
                                        </p:tgtEl>
                                        <p:attrNameLst>
                                          <p:attrName>ppt_y</p:attrName>
                                        </p:attrNameLst>
                                      </p:cBhvr>
                                      <p:tavLst>
                                        <p:tav tm="0">
                                          <p:val>
                                            <p:strVal val="1+(6*min(max(#ppt_w*#ppt_h,.3),1)-7.4)/-.7*#ppt_h/2"/>
                                          </p:val>
                                        </p:tav>
                                        <p:tav tm="100000">
                                          <p:val>
                                            <p:strVal val="#ppt_y"/>
                                          </p:val>
                                        </p:tav>
                                      </p:tavLst>
                                    </p:anim>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down)">
                                      <p:cBhvr>
                                        <p:cTn id="14" dur="500"/>
                                        <p:tgtEl>
                                          <p:spTgt spid="23"/>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par>
                          <p:cTn id="19" fill="hold">
                            <p:stCondLst>
                              <p:cond delay="1500"/>
                            </p:stCondLst>
                            <p:childTnLst>
                              <p:par>
                                <p:cTn id="20" presetID="22" presetClass="entr" presetSubtype="1" fill="hold" nodeType="after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up)">
                                      <p:cBhvr>
                                        <p:cTn id="22" dur="500"/>
                                        <p:tgtEl>
                                          <p:spTgt spid="33"/>
                                        </p:tgtEl>
                                      </p:cBhvr>
                                    </p:animEffect>
                                  </p:childTnLst>
                                </p:cTn>
                              </p:par>
                            </p:childTnLst>
                          </p:cTn>
                        </p:par>
                        <p:par>
                          <p:cTn id="23" fill="hold">
                            <p:stCondLst>
                              <p:cond delay="2000"/>
                            </p:stCondLst>
                            <p:childTnLst>
                              <p:par>
                                <p:cTn id="24" presetID="22" presetClass="entr" presetSubtype="8" fill="hold" nodeType="after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500"/>
                                        <p:tgtEl>
                                          <p:spTgt spid="25"/>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500"/>
                                        <p:tgtEl>
                                          <p:spTgt spid="18"/>
                                        </p:tgtEl>
                                      </p:cBhvr>
                                    </p:animEffect>
                                  </p:childTnLst>
                                </p:cTn>
                              </p:par>
                            </p:childTnLst>
                          </p:cTn>
                        </p:par>
                        <p:par>
                          <p:cTn id="31" fill="hold">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wipe(left)">
                                      <p:cBhvr>
                                        <p:cTn id="34" dur="500"/>
                                        <p:tgtEl>
                                          <p:spTgt spid="34"/>
                                        </p:tgtEl>
                                      </p:cBhvr>
                                    </p:animEffect>
                                  </p:childTnLst>
                                </p:cTn>
                              </p:par>
                            </p:childTnLst>
                          </p:cTn>
                        </p:par>
                        <p:par>
                          <p:cTn id="35" fill="hold">
                            <p:stCondLst>
                              <p:cond delay="3500"/>
                            </p:stCondLst>
                            <p:childTnLst>
                              <p:par>
                                <p:cTn id="36" presetID="22" presetClass="entr" presetSubtype="8" fill="hold" grpId="0" nodeType="after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wipe(left)">
                                      <p:cBhvr>
                                        <p:cTn id="38" dur="500"/>
                                        <p:tgtEl>
                                          <p:spTgt spid="35"/>
                                        </p:tgtEl>
                                      </p:cBhvr>
                                    </p:animEffect>
                                  </p:childTnLst>
                                </p:cTn>
                              </p:par>
                            </p:childTnLst>
                          </p:cTn>
                        </p:par>
                        <p:par>
                          <p:cTn id="39" fill="hold">
                            <p:stCondLst>
                              <p:cond delay="4000"/>
                            </p:stCondLst>
                            <p:childTnLst>
                              <p:par>
                                <p:cTn id="40" presetID="22" presetClass="exit" presetSubtype="8" repeatCount="indefinite" nodeType="afterEffect">
                                  <p:stCondLst>
                                    <p:cond delay="0"/>
                                  </p:stCondLst>
                                  <p:endCondLst>
                                    <p:cond evt="onNext" delay="0">
                                      <p:tgtEl>
                                        <p:sldTgt/>
                                      </p:tgtEl>
                                    </p:cond>
                                  </p:endCondLst>
                                  <p:childTnLst>
                                    <p:animEffect transition="out" filter="wipe(left)">
                                      <p:cBhvr>
                                        <p:cTn id="41" dur="500"/>
                                        <p:tgtEl>
                                          <p:spTgt spid="25"/>
                                        </p:tgtEl>
                                      </p:cBhvr>
                                    </p:animEffect>
                                    <p:set>
                                      <p:cBhvr>
                                        <p:cTn id="42" dur="1" fill="hold">
                                          <p:stCondLst>
                                            <p:cond delay="499"/>
                                          </p:stCondLst>
                                        </p:cTn>
                                        <p:tgtEl>
                                          <p:spTgt spid="2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45">
                                            <p:bg/>
                                          </p:spTgt>
                                        </p:tgtEl>
                                        <p:attrNameLst>
                                          <p:attrName>style.visibility</p:attrName>
                                        </p:attrNameLst>
                                      </p:cBhvr>
                                      <p:to>
                                        <p:strVal val="visible"/>
                                      </p:to>
                                    </p:set>
                                    <p:animEffect transition="in" filter="checkerboard(across)">
                                      <p:cBhvr>
                                        <p:cTn id="47" dur="500"/>
                                        <p:tgtEl>
                                          <p:spTgt spid="45">
                                            <p:bg/>
                                          </p:spTgt>
                                        </p:tgtEl>
                                      </p:cBhvr>
                                    </p:animEffect>
                                  </p:childTnLst>
                                </p:cTn>
                              </p:par>
                            </p:childTnLst>
                          </p:cTn>
                        </p:par>
                        <p:par>
                          <p:cTn id="48" fill="hold">
                            <p:stCondLst>
                              <p:cond delay="500"/>
                            </p:stCondLst>
                            <p:childTnLst>
                              <p:par>
                                <p:cTn id="49" presetID="5" presetClass="entr" presetSubtype="10" fill="hold" grpId="0" nodeType="afterEffect">
                                  <p:stCondLst>
                                    <p:cond delay="0"/>
                                  </p:stCondLst>
                                  <p:childTnLst>
                                    <p:set>
                                      <p:cBhvr>
                                        <p:cTn id="50" dur="1" fill="hold">
                                          <p:stCondLst>
                                            <p:cond delay="0"/>
                                          </p:stCondLst>
                                        </p:cTn>
                                        <p:tgtEl>
                                          <p:spTgt spid="45">
                                            <p:txEl>
                                              <p:pRg st="0" end="0"/>
                                            </p:txEl>
                                          </p:spTgt>
                                        </p:tgtEl>
                                        <p:attrNameLst>
                                          <p:attrName>style.visibility</p:attrName>
                                        </p:attrNameLst>
                                      </p:cBhvr>
                                      <p:to>
                                        <p:strVal val="visible"/>
                                      </p:to>
                                    </p:set>
                                    <p:animEffect transition="in" filter="checkerboard(across)">
                                      <p:cBhvr>
                                        <p:cTn id="51" dur="500"/>
                                        <p:tgtEl>
                                          <p:spTgt spid="45">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 presetClass="entr" presetSubtype="10" fill="hold" grpId="0" nodeType="clickEffect">
                                  <p:stCondLst>
                                    <p:cond delay="0"/>
                                  </p:stCondLst>
                                  <p:childTnLst>
                                    <p:set>
                                      <p:cBhvr>
                                        <p:cTn id="55" dur="1" fill="hold">
                                          <p:stCondLst>
                                            <p:cond delay="0"/>
                                          </p:stCondLst>
                                        </p:cTn>
                                        <p:tgtEl>
                                          <p:spTgt spid="46">
                                            <p:bg/>
                                          </p:spTgt>
                                        </p:tgtEl>
                                        <p:attrNameLst>
                                          <p:attrName>style.visibility</p:attrName>
                                        </p:attrNameLst>
                                      </p:cBhvr>
                                      <p:to>
                                        <p:strVal val="visible"/>
                                      </p:to>
                                    </p:set>
                                    <p:animEffect transition="in" filter="checkerboard(across)">
                                      <p:cBhvr>
                                        <p:cTn id="56" dur="500"/>
                                        <p:tgtEl>
                                          <p:spTgt spid="46">
                                            <p:bg/>
                                          </p:spTgt>
                                        </p:tgtEl>
                                      </p:cBhvr>
                                    </p:animEffect>
                                  </p:childTnLst>
                                </p:cTn>
                              </p:par>
                            </p:childTnLst>
                          </p:cTn>
                        </p:par>
                      </p:childTnLst>
                    </p:cTn>
                  </p:par>
                  <p:par>
                    <p:cTn id="57" fill="hold">
                      <p:stCondLst>
                        <p:cond delay="indefinite"/>
                      </p:stCondLst>
                      <p:childTnLst>
                        <p:par>
                          <p:cTn id="58" fill="hold">
                            <p:stCondLst>
                              <p:cond delay="0"/>
                            </p:stCondLst>
                            <p:childTnLst>
                              <p:par>
                                <p:cTn id="59" presetID="5" presetClass="entr" presetSubtype="10" fill="hold" grpId="0" nodeType="clickEffect">
                                  <p:stCondLst>
                                    <p:cond delay="0"/>
                                  </p:stCondLst>
                                  <p:childTnLst>
                                    <p:set>
                                      <p:cBhvr>
                                        <p:cTn id="60" dur="1" fill="hold">
                                          <p:stCondLst>
                                            <p:cond delay="0"/>
                                          </p:stCondLst>
                                        </p:cTn>
                                        <p:tgtEl>
                                          <p:spTgt spid="46">
                                            <p:txEl>
                                              <p:pRg st="0" end="0"/>
                                            </p:txEl>
                                          </p:spTgt>
                                        </p:tgtEl>
                                        <p:attrNameLst>
                                          <p:attrName>style.visibility</p:attrName>
                                        </p:attrNameLst>
                                      </p:cBhvr>
                                      <p:to>
                                        <p:strVal val="visible"/>
                                      </p:to>
                                    </p:set>
                                    <p:animEffect transition="in" filter="checkerboard(across)">
                                      <p:cBhvr>
                                        <p:cTn id="61" dur="500"/>
                                        <p:tgtEl>
                                          <p:spTgt spid="46">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5" presetClass="entr" presetSubtype="10" fill="hold" grpId="0" nodeType="clickEffect">
                                  <p:stCondLst>
                                    <p:cond delay="0"/>
                                  </p:stCondLst>
                                  <p:childTnLst>
                                    <p:set>
                                      <p:cBhvr>
                                        <p:cTn id="65" dur="1" fill="hold">
                                          <p:stCondLst>
                                            <p:cond delay="0"/>
                                          </p:stCondLst>
                                        </p:cTn>
                                        <p:tgtEl>
                                          <p:spTgt spid="46">
                                            <p:txEl>
                                              <p:pRg st="1" end="1"/>
                                            </p:txEl>
                                          </p:spTgt>
                                        </p:tgtEl>
                                        <p:attrNameLst>
                                          <p:attrName>style.visibility</p:attrName>
                                        </p:attrNameLst>
                                      </p:cBhvr>
                                      <p:to>
                                        <p:strVal val="visible"/>
                                      </p:to>
                                    </p:set>
                                    <p:animEffect transition="in" filter="checkerboard(across)">
                                      <p:cBhvr>
                                        <p:cTn id="66" dur="500"/>
                                        <p:tgtEl>
                                          <p:spTgt spid="46">
                                            <p:txEl>
                                              <p:pRg st="1" end="1"/>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wipe(left)">
                                      <p:cBhvr>
                                        <p:cTn id="71" dur="1100"/>
                                        <p:tgtEl>
                                          <p:spTgt spid="36"/>
                                        </p:tgtEl>
                                      </p:cBhvr>
                                    </p:animEffect>
                                  </p:childTnLst>
                                </p:cTn>
                              </p:par>
                            </p:childTnLst>
                          </p:cTn>
                        </p:par>
                        <p:par>
                          <p:cTn id="72" fill="hold">
                            <p:stCondLst>
                              <p:cond delay="1100"/>
                            </p:stCondLst>
                            <p:childTnLst>
                              <p:par>
                                <p:cTn id="73" presetID="22" presetClass="entr" presetSubtype="8" fill="hold" nodeType="after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wipe(left)">
                                      <p:cBhvr>
                                        <p:cTn id="75" dur="500"/>
                                        <p:tgtEl>
                                          <p:spTgt spid="37"/>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wipe(left)">
                                      <p:cBhvr>
                                        <p:cTn id="80" dur="500"/>
                                        <p:tgtEl>
                                          <p:spTgt spid="38"/>
                                        </p:tgtEl>
                                      </p:cBhvr>
                                    </p:animEffect>
                                  </p:childTnLst>
                                </p:cTn>
                              </p:par>
                            </p:childTnLst>
                          </p:cTn>
                        </p:par>
                        <p:par>
                          <p:cTn id="81" fill="hold">
                            <p:stCondLst>
                              <p:cond delay="500"/>
                            </p:stCondLst>
                            <p:childTnLst>
                              <p:par>
                                <p:cTn id="82" presetID="22" presetClass="entr" presetSubtype="8" fill="hold" nodeType="after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wipe(left)">
                                      <p:cBhvr>
                                        <p:cTn id="84" dur="500"/>
                                        <p:tgtEl>
                                          <p:spTgt spid="39"/>
                                        </p:tgtEl>
                                      </p:cBhvr>
                                    </p:animEffect>
                                  </p:childTnLst>
                                </p:cTn>
                              </p:par>
                              <p:par>
                                <p:cTn id="85" presetID="22" presetClass="exit" presetSubtype="8" repeatCount="indefinite" nodeType="withEffect">
                                  <p:stCondLst>
                                    <p:cond delay="0"/>
                                  </p:stCondLst>
                                  <p:endCondLst>
                                    <p:cond evt="onNext" delay="0">
                                      <p:tgtEl>
                                        <p:sldTgt/>
                                      </p:tgtEl>
                                    </p:cond>
                                  </p:endCondLst>
                                  <p:childTnLst>
                                    <p:animEffect transition="out" filter="wipe(left)">
                                      <p:cBhvr>
                                        <p:cTn id="86" dur="500"/>
                                        <p:tgtEl>
                                          <p:spTgt spid="37"/>
                                        </p:tgtEl>
                                      </p:cBhvr>
                                    </p:animEffect>
                                    <p:set>
                                      <p:cBhvr>
                                        <p:cTn id="87" dur="1" fill="hold">
                                          <p:stCondLst>
                                            <p:cond delay="499"/>
                                          </p:stCondLst>
                                        </p:cTn>
                                        <p:tgtEl>
                                          <p:spTgt spid="37"/>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5" presetClass="entr" presetSubtype="10" fill="hold" grpId="0" nodeType="clickEffect">
                                  <p:stCondLst>
                                    <p:cond delay="0"/>
                                  </p:stCondLst>
                                  <p:childTnLst>
                                    <p:set>
                                      <p:cBhvr>
                                        <p:cTn id="91" dur="1" fill="hold">
                                          <p:stCondLst>
                                            <p:cond delay="0"/>
                                          </p:stCondLst>
                                        </p:cTn>
                                        <p:tgtEl>
                                          <p:spTgt spid="19">
                                            <p:bg/>
                                          </p:spTgt>
                                        </p:tgtEl>
                                        <p:attrNameLst>
                                          <p:attrName>style.visibility</p:attrName>
                                        </p:attrNameLst>
                                      </p:cBhvr>
                                      <p:to>
                                        <p:strVal val="visible"/>
                                      </p:to>
                                    </p:set>
                                    <p:animEffect transition="in" filter="checkerboard(across)">
                                      <p:cBhvr>
                                        <p:cTn id="92" dur="500"/>
                                        <p:tgtEl>
                                          <p:spTgt spid="19">
                                            <p:bg/>
                                          </p:spTgt>
                                        </p:tgtEl>
                                      </p:cBhvr>
                                    </p:animEffect>
                                  </p:childTnLst>
                                </p:cTn>
                              </p:par>
                              <p:par>
                                <p:cTn id="93" presetID="5" presetClass="entr" presetSubtype="10" fill="hold" grpId="0" nodeType="withEffect">
                                  <p:stCondLst>
                                    <p:cond delay="0"/>
                                  </p:stCondLst>
                                  <p:childTnLst>
                                    <p:set>
                                      <p:cBhvr>
                                        <p:cTn id="94" dur="1" fill="hold">
                                          <p:stCondLst>
                                            <p:cond delay="0"/>
                                          </p:stCondLst>
                                        </p:cTn>
                                        <p:tgtEl>
                                          <p:spTgt spid="19">
                                            <p:txEl>
                                              <p:pRg st="0" end="0"/>
                                            </p:txEl>
                                          </p:spTgt>
                                        </p:tgtEl>
                                        <p:attrNameLst>
                                          <p:attrName>style.visibility</p:attrName>
                                        </p:attrNameLst>
                                      </p:cBhvr>
                                      <p:to>
                                        <p:strVal val="visible"/>
                                      </p:to>
                                    </p:set>
                                    <p:animEffect transition="in" filter="checkerboard(across)">
                                      <p:cBhvr>
                                        <p:cTn id="95" dur="500"/>
                                        <p:tgtEl>
                                          <p:spTgt spid="19">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xit" presetSubtype="8" repeatCount="indefinite" nodeType="clickEffect">
                                  <p:stCondLst>
                                    <p:cond delay="0"/>
                                  </p:stCondLst>
                                  <p:endCondLst>
                                    <p:cond evt="onNext" delay="0">
                                      <p:tgtEl>
                                        <p:sldTgt/>
                                      </p:tgtEl>
                                    </p:cond>
                                  </p:endCondLst>
                                  <p:childTnLst>
                                    <p:animEffect transition="out" filter="wipe(left)">
                                      <p:cBhvr>
                                        <p:cTn id="99" dur="500"/>
                                        <p:tgtEl>
                                          <p:spTgt spid="38"/>
                                        </p:tgtEl>
                                      </p:cBhvr>
                                    </p:animEffect>
                                    <p:set>
                                      <p:cBhvr>
                                        <p:cTn id="100" dur="1" fill="hold">
                                          <p:stCondLst>
                                            <p:cond delay="499"/>
                                          </p:stCondLst>
                                        </p:cTn>
                                        <p:tgtEl>
                                          <p:spTgt spid="38"/>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5" presetClass="entr" presetSubtype="10" fill="hold" grpId="0" nodeType="clickEffect">
                                  <p:stCondLst>
                                    <p:cond delay="0"/>
                                  </p:stCondLst>
                                  <p:childTnLst>
                                    <p:set>
                                      <p:cBhvr>
                                        <p:cTn id="104" dur="1" fill="hold">
                                          <p:stCondLst>
                                            <p:cond delay="0"/>
                                          </p:stCondLst>
                                        </p:cTn>
                                        <p:tgtEl>
                                          <p:spTgt spid="40">
                                            <p:bg/>
                                          </p:spTgt>
                                        </p:tgtEl>
                                        <p:attrNameLst>
                                          <p:attrName>style.visibility</p:attrName>
                                        </p:attrNameLst>
                                      </p:cBhvr>
                                      <p:to>
                                        <p:strVal val="visible"/>
                                      </p:to>
                                    </p:set>
                                    <p:animEffect transition="in" filter="checkerboard(across)">
                                      <p:cBhvr>
                                        <p:cTn id="105" dur="500"/>
                                        <p:tgtEl>
                                          <p:spTgt spid="40">
                                            <p:bg/>
                                          </p:spTgt>
                                        </p:tgtEl>
                                      </p:cBhvr>
                                    </p:animEffect>
                                  </p:childTnLst>
                                </p:cTn>
                              </p:par>
                              <p:par>
                                <p:cTn id="106" presetID="5" presetClass="entr" presetSubtype="10" fill="hold" grpId="0" nodeType="withEffect">
                                  <p:stCondLst>
                                    <p:cond delay="0"/>
                                  </p:stCondLst>
                                  <p:childTnLst>
                                    <p:set>
                                      <p:cBhvr>
                                        <p:cTn id="107" dur="1" fill="hold">
                                          <p:stCondLst>
                                            <p:cond delay="0"/>
                                          </p:stCondLst>
                                        </p:cTn>
                                        <p:tgtEl>
                                          <p:spTgt spid="40">
                                            <p:txEl>
                                              <p:pRg st="0" end="0"/>
                                            </p:txEl>
                                          </p:spTgt>
                                        </p:tgtEl>
                                        <p:attrNameLst>
                                          <p:attrName>style.visibility</p:attrName>
                                        </p:attrNameLst>
                                      </p:cBhvr>
                                      <p:to>
                                        <p:strVal val="visible"/>
                                      </p:to>
                                    </p:set>
                                    <p:animEffect transition="in" filter="checkerboard(across)">
                                      <p:cBhvr>
                                        <p:cTn id="108" dur="500"/>
                                        <p:tgtEl>
                                          <p:spTgt spid="40">
                                            <p:txEl>
                                              <p:pRg st="0" end="0"/>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xit" presetSubtype="8" repeatCount="indefinite" nodeType="clickEffect">
                                  <p:stCondLst>
                                    <p:cond delay="0"/>
                                  </p:stCondLst>
                                  <p:endCondLst>
                                    <p:cond evt="onNext" delay="0">
                                      <p:tgtEl>
                                        <p:sldTgt/>
                                      </p:tgtEl>
                                    </p:cond>
                                  </p:endCondLst>
                                  <p:childTnLst>
                                    <p:animEffect transition="out" filter="wipe(left)">
                                      <p:cBhvr>
                                        <p:cTn id="112" dur="500"/>
                                        <p:tgtEl>
                                          <p:spTgt spid="39"/>
                                        </p:tgtEl>
                                      </p:cBhvr>
                                    </p:animEffect>
                                    <p:set>
                                      <p:cBhvr>
                                        <p:cTn id="113" dur="1" fill="hold">
                                          <p:stCondLst>
                                            <p:cond delay="499"/>
                                          </p:stCondLst>
                                        </p:cTn>
                                        <p:tgtEl>
                                          <p:spTgt spid="39"/>
                                        </p:tgtEl>
                                        <p:attrNameLst>
                                          <p:attrName>style.visibility</p:attrName>
                                        </p:attrNameLst>
                                      </p:cBhvr>
                                      <p:to>
                                        <p:strVal val="hidden"/>
                                      </p:to>
                                    </p:set>
                                  </p:childTnLst>
                                </p:cTn>
                              </p:par>
                            </p:childTnLst>
                          </p:cTn>
                        </p:par>
                      </p:childTnLst>
                    </p:cTn>
                  </p:par>
                  <p:par>
                    <p:cTn id="114" fill="hold">
                      <p:stCondLst>
                        <p:cond delay="indefinite"/>
                      </p:stCondLst>
                      <p:childTnLst>
                        <p:par>
                          <p:cTn id="115" fill="hold">
                            <p:stCondLst>
                              <p:cond delay="0"/>
                            </p:stCondLst>
                            <p:childTnLst>
                              <p:par>
                                <p:cTn id="116" presetID="5" presetClass="entr" presetSubtype="10" fill="hold" grpId="0" nodeType="clickEffect">
                                  <p:stCondLst>
                                    <p:cond delay="0"/>
                                  </p:stCondLst>
                                  <p:childTnLst>
                                    <p:set>
                                      <p:cBhvr>
                                        <p:cTn id="117" dur="1" fill="hold">
                                          <p:stCondLst>
                                            <p:cond delay="0"/>
                                          </p:stCondLst>
                                        </p:cTn>
                                        <p:tgtEl>
                                          <p:spTgt spid="44">
                                            <p:bg/>
                                          </p:spTgt>
                                        </p:tgtEl>
                                        <p:attrNameLst>
                                          <p:attrName>style.visibility</p:attrName>
                                        </p:attrNameLst>
                                      </p:cBhvr>
                                      <p:to>
                                        <p:strVal val="visible"/>
                                      </p:to>
                                    </p:set>
                                    <p:animEffect transition="in" filter="checkerboard(across)">
                                      <p:cBhvr>
                                        <p:cTn id="118" dur="500"/>
                                        <p:tgtEl>
                                          <p:spTgt spid="44">
                                            <p:bg/>
                                          </p:spTgt>
                                        </p:tgtEl>
                                      </p:cBhvr>
                                    </p:animEffect>
                                  </p:childTnLst>
                                </p:cTn>
                              </p:par>
                              <p:par>
                                <p:cTn id="119" presetID="5" presetClass="entr" presetSubtype="10" fill="hold" grpId="0" nodeType="withEffect">
                                  <p:stCondLst>
                                    <p:cond delay="0"/>
                                  </p:stCondLst>
                                  <p:childTnLst>
                                    <p:set>
                                      <p:cBhvr>
                                        <p:cTn id="120" dur="1" fill="hold">
                                          <p:stCondLst>
                                            <p:cond delay="0"/>
                                          </p:stCondLst>
                                        </p:cTn>
                                        <p:tgtEl>
                                          <p:spTgt spid="44">
                                            <p:txEl>
                                              <p:pRg st="0" end="0"/>
                                            </p:txEl>
                                          </p:spTgt>
                                        </p:tgtEl>
                                        <p:attrNameLst>
                                          <p:attrName>style.visibility</p:attrName>
                                        </p:attrNameLst>
                                      </p:cBhvr>
                                      <p:to>
                                        <p:strVal val="visible"/>
                                      </p:to>
                                    </p:set>
                                    <p:animEffect transition="in" filter="checkerboard(across)">
                                      <p:cBhvr>
                                        <p:cTn id="121" dur="500"/>
                                        <p:tgtEl>
                                          <p:spTgt spid="44">
                                            <p:txEl>
                                              <p:pRg st="0" end="0"/>
                                            </p:txEl>
                                          </p:spTgt>
                                        </p:tgtEl>
                                      </p:cBhvr>
                                    </p:animEffect>
                                  </p:childTnLst>
                                </p:cTn>
                              </p:par>
                            </p:childTnLst>
                          </p:cTn>
                        </p:par>
                        <p:par>
                          <p:cTn id="122" fill="hold">
                            <p:stCondLst>
                              <p:cond delay="500"/>
                            </p:stCondLst>
                            <p:childTnLst>
                              <p:par>
                                <p:cTn id="123" presetID="22" presetClass="entr" presetSubtype="8" fill="hold" grpId="0" nodeType="afterEffect">
                                  <p:stCondLst>
                                    <p:cond delay="0"/>
                                  </p:stCondLst>
                                  <p:childTnLst>
                                    <p:set>
                                      <p:cBhvr>
                                        <p:cTn id="124" dur="1" fill="hold">
                                          <p:stCondLst>
                                            <p:cond delay="0"/>
                                          </p:stCondLst>
                                        </p:cTn>
                                        <p:tgtEl>
                                          <p:spTgt spid="43"/>
                                        </p:tgtEl>
                                        <p:attrNameLst>
                                          <p:attrName>style.visibility</p:attrName>
                                        </p:attrNameLst>
                                      </p:cBhvr>
                                      <p:to>
                                        <p:strVal val="visible"/>
                                      </p:to>
                                    </p:set>
                                    <p:animEffect transition="in" filter="wipe(left)">
                                      <p:cBhvr>
                                        <p:cTn id="125" dur="500"/>
                                        <p:tgtEl>
                                          <p:spTgt spid="43"/>
                                        </p:tgtEl>
                                      </p:cBhvr>
                                    </p:animEffect>
                                  </p:childTnLst>
                                </p:cTn>
                              </p:par>
                            </p:childTnLst>
                          </p:cTn>
                        </p:par>
                        <p:par>
                          <p:cTn id="126" fill="hold">
                            <p:stCondLst>
                              <p:cond delay="1000"/>
                            </p:stCondLst>
                            <p:childTnLst>
                              <p:par>
                                <p:cTn id="127" presetID="22" presetClass="entr" presetSubtype="8" fill="hold" grpId="0" nodeType="afterEffect">
                                  <p:stCondLst>
                                    <p:cond delay="0"/>
                                  </p:stCondLst>
                                  <p:childTnLst>
                                    <p:set>
                                      <p:cBhvr>
                                        <p:cTn id="128" dur="1" fill="hold">
                                          <p:stCondLst>
                                            <p:cond delay="0"/>
                                          </p:stCondLst>
                                        </p:cTn>
                                        <p:tgtEl>
                                          <p:spTgt spid="50"/>
                                        </p:tgtEl>
                                        <p:attrNameLst>
                                          <p:attrName>style.visibility</p:attrName>
                                        </p:attrNameLst>
                                      </p:cBhvr>
                                      <p:to>
                                        <p:strVal val="visible"/>
                                      </p:to>
                                    </p:set>
                                    <p:animEffect transition="in" filter="wipe(left)">
                                      <p:cBhvr>
                                        <p:cTn id="129" dur="500"/>
                                        <p:tgtEl>
                                          <p:spTgt spid="50"/>
                                        </p:tgtEl>
                                      </p:cBhvr>
                                    </p:animEffect>
                                  </p:childTnLst>
                                </p:cTn>
                              </p:par>
                            </p:childTnLst>
                          </p:cTn>
                        </p:par>
                        <p:par>
                          <p:cTn id="130" fill="hold">
                            <p:stCondLst>
                              <p:cond delay="1500"/>
                            </p:stCondLst>
                            <p:childTnLst>
                              <p:par>
                                <p:cTn id="131" presetID="22" presetClass="entr" presetSubtype="8" fill="hold" grpId="0" nodeType="afterEffect">
                                  <p:stCondLst>
                                    <p:cond delay="0"/>
                                  </p:stCondLst>
                                  <p:childTnLst>
                                    <p:set>
                                      <p:cBhvr>
                                        <p:cTn id="132" dur="1" fill="hold">
                                          <p:stCondLst>
                                            <p:cond delay="0"/>
                                          </p:stCondLst>
                                        </p:cTn>
                                        <p:tgtEl>
                                          <p:spTgt spid="51"/>
                                        </p:tgtEl>
                                        <p:attrNameLst>
                                          <p:attrName>style.visibility</p:attrName>
                                        </p:attrNameLst>
                                      </p:cBhvr>
                                      <p:to>
                                        <p:strVal val="visible"/>
                                      </p:to>
                                    </p:set>
                                    <p:animEffect transition="in" filter="wipe(left)">
                                      <p:cBhvr>
                                        <p:cTn id="133" dur="500"/>
                                        <p:tgtEl>
                                          <p:spTgt spid="51"/>
                                        </p:tgtEl>
                                      </p:cBhvr>
                                    </p:animEffect>
                                  </p:childTnLst>
                                </p:cTn>
                              </p:par>
                            </p:childTnLst>
                          </p:cTn>
                        </p:par>
                        <p:par>
                          <p:cTn id="134" fill="hold">
                            <p:stCondLst>
                              <p:cond delay="2000"/>
                            </p:stCondLst>
                            <p:childTnLst>
                              <p:par>
                                <p:cTn id="135" presetID="22" presetClass="entr" presetSubtype="8" fill="hold" grpId="0" nodeType="afterEffect">
                                  <p:stCondLst>
                                    <p:cond delay="0"/>
                                  </p:stCondLst>
                                  <p:childTnLst>
                                    <p:set>
                                      <p:cBhvr>
                                        <p:cTn id="136" dur="1" fill="hold">
                                          <p:stCondLst>
                                            <p:cond delay="0"/>
                                          </p:stCondLst>
                                        </p:cTn>
                                        <p:tgtEl>
                                          <p:spTgt spid="41"/>
                                        </p:tgtEl>
                                        <p:attrNameLst>
                                          <p:attrName>style.visibility</p:attrName>
                                        </p:attrNameLst>
                                      </p:cBhvr>
                                      <p:to>
                                        <p:strVal val="visible"/>
                                      </p:to>
                                    </p:set>
                                    <p:animEffect transition="in" filter="wipe(left)">
                                      <p:cBhvr>
                                        <p:cTn id="137" dur="500"/>
                                        <p:tgtEl>
                                          <p:spTgt spid="41"/>
                                        </p:tgtEl>
                                      </p:cBhvr>
                                    </p:animEffect>
                                  </p:childTnLst>
                                </p:cTn>
                              </p:par>
                            </p:childTnLst>
                          </p:cTn>
                        </p:par>
                        <p:par>
                          <p:cTn id="138" fill="hold">
                            <p:stCondLst>
                              <p:cond delay="2500"/>
                            </p:stCondLst>
                            <p:childTnLst>
                              <p:par>
                                <p:cTn id="139" presetID="22" presetClass="entr" presetSubtype="8" fill="hold" grpId="0" nodeType="afterEffect">
                                  <p:stCondLst>
                                    <p:cond delay="0"/>
                                  </p:stCondLst>
                                  <p:childTnLst>
                                    <p:set>
                                      <p:cBhvr>
                                        <p:cTn id="140" dur="1" fill="hold">
                                          <p:stCondLst>
                                            <p:cond delay="0"/>
                                          </p:stCondLst>
                                        </p:cTn>
                                        <p:tgtEl>
                                          <p:spTgt spid="42"/>
                                        </p:tgtEl>
                                        <p:attrNameLst>
                                          <p:attrName>style.visibility</p:attrName>
                                        </p:attrNameLst>
                                      </p:cBhvr>
                                      <p:to>
                                        <p:strVal val="visible"/>
                                      </p:to>
                                    </p:set>
                                    <p:animEffect transition="in" filter="wipe(left)">
                                      <p:cBhvr>
                                        <p:cTn id="14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utoUpdateAnimBg="0"/>
      <p:bldP spid="18" grpId="0" autoUpdateAnimBg="0"/>
      <p:bldP spid="19" grpId="0" uiExpand="1" build="p" animBg="1"/>
      <p:bldP spid="34" grpId="0" animBg="1"/>
      <p:bldP spid="35" grpId="0" autoUpdateAnimBg="0"/>
      <p:bldP spid="40" grpId="0" uiExpand="1" build="p" animBg="1"/>
      <p:bldP spid="44" grpId="0" uiExpand="1" build="p" animBg="1"/>
      <p:bldP spid="45" grpId="0" uiExpand="1" build="p" animBg="1"/>
      <p:bldP spid="46" grpId="0" uiExpand="1" build="p" animBg="1"/>
      <p:bldP spid="43" grpId="0" autoUpdateAnimBg="0"/>
      <p:bldP spid="50" grpId="0" autoUpdateAnimBg="0"/>
      <p:bldP spid="51" grpId="0" autoUpdateAnimBg="0"/>
      <p:bldP spid="41" grpId="0" animBg="1"/>
      <p:bldP spid="42"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31</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Câu</a:t>
            </a:r>
            <a:r>
              <a:rPr lang="en-US" sz="2800" b="1" kern="0"/>
              <a:t> </a:t>
            </a:r>
            <a:r>
              <a:rPr lang="en-US" sz="2800" b="1" kern="0" err="1"/>
              <a:t>hỏi</a:t>
            </a:r>
            <a:r>
              <a:rPr lang="en-US" sz="2800" b="1" kern="0"/>
              <a:t> </a:t>
            </a:r>
            <a:r>
              <a:rPr lang="en-US" sz="2800" b="1" kern="0" err="1"/>
              <a:t>lý</a:t>
            </a:r>
            <a:r>
              <a:rPr lang="en-US" sz="2800" b="1" kern="0"/>
              <a:t> </a:t>
            </a:r>
            <a:r>
              <a:rPr lang="en-US" sz="2800" b="1" kern="0" err="1"/>
              <a:t>thuyết</a:t>
            </a:r>
            <a:endParaRPr lang="vi-VN" sz="2800" b="1" kern="0"/>
          </a:p>
        </p:txBody>
      </p:sp>
      <p:sp>
        <p:nvSpPr>
          <p:cNvPr id="5" name="Shape 1331"/>
          <p:cNvSpPr>
            <a:spLocks noGrp="1"/>
          </p:cNvSpPr>
          <p:nvPr>
            <p:ph type="body" idx="4294967295"/>
          </p:nvPr>
        </p:nvSpPr>
        <p:spPr>
          <a:xfrm>
            <a:off x="606244" y="1371600"/>
            <a:ext cx="7865404" cy="4572002"/>
          </a:xfrm>
          <a:prstGeom prst="rect">
            <a:avLst/>
          </a:prstGeom>
          <a:extLst>
            <a:ext uri="{C572A759-6A51-4108-AA02-DFA0A04FC94B}">
              <ma14:wrappingTextBoxFlag xmlns:ma14="http://schemas.microsoft.com/office/mac/drawingml/2011/main" xmlns="" val="1"/>
            </a:ext>
          </a:extLst>
        </p:spPr>
        <p:txBody>
          <a:bodyPr>
            <a:normAutofit/>
          </a:bodyPr>
          <a:lstStyle/>
          <a:p>
            <a:pPr marL="514350" indent="-514350">
              <a:buFontTx/>
              <a:buAutoNum type="arabicPeriod"/>
            </a:pPr>
            <a:r>
              <a:rPr lang="en-US"/>
              <a:t>Intent là gì? Nêu sự khác nhau giữa intent tường minh và intent không tường minh?.</a:t>
            </a:r>
          </a:p>
          <a:p>
            <a:pPr marL="514350" indent="-514350">
              <a:buFontTx/>
              <a:buAutoNum type="arabicPeriod"/>
            </a:pPr>
            <a:r>
              <a:rPr lang="en-US"/>
              <a:t>Nêu các cách tạo và chuyển dữ liệu giữa các activity sử dụng intent</a:t>
            </a:r>
          </a:p>
        </p:txBody>
      </p:sp>
    </p:spTree>
    <p:extLst>
      <p:ext uri="{BB962C8B-B14F-4D97-AF65-F5344CB8AC3E}">
        <p14:creationId xmlns:p14="http://schemas.microsoft.com/office/powerpoint/2010/main" val="3243880880"/>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32</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Bài</a:t>
            </a:r>
            <a:r>
              <a:rPr lang="en-US" sz="2800" b="1" kern="0"/>
              <a:t> </a:t>
            </a:r>
            <a:r>
              <a:rPr lang="en-US" sz="2800" b="1" kern="0" err="1"/>
              <a:t>tập</a:t>
            </a:r>
            <a:endParaRPr lang="vi-VN" sz="2800" b="1" kern="0"/>
          </a:p>
        </p:txBody>
      </p:sp>
      <p:sp>
        <p:nvSpPr>
          <p:cNvPr id="6" name="Shape 1336"/>
          <p:cNvSpPr>
            <a:spLocks noGrp="1"/>
          </p:cNvSpPr>
          <p:nvPr>
            <p:ph type="body" idx="4294967295"/>
          </p:nvPr>
        </p:nvSpPr>
        <p:spPr>
          <a:xfrm>
            <a:off x="576546" y="1169988"/>
            <a:ext cx="7482576" cy="5305426"/>
          </a:xfrm>
          <a:prstGeom prst="rect">
            <a:avLst/>
          </a:prstGeom>
          <a:extLst>
            <a:ext uri="{C572A759-6A51-4108-AA02-DFA0A04FC94B}">
              <ma14:wrappingTextBoxFlag xmlns:ma14="http://schemas.microsoft.com/office/mac/drawingml/2011/main" xmlns="" val="1"/>
            </a:ext>
          </a:extLst>
        </p:spPr>
        <p:txBody>
          <a:bodyPr>
            <a:normAutofit/>
          </a:bodyPr>
          <a:lstStyle/>
          <a:p>
            <a:pPr marL="514350" indent="-514350" algn="just" defTabSz="886968">
              <a:lnSpc>
                <a:spcPct val="140000"/>
              </a:lnSpc>
              <a:spcBef>
                <a:spcPts val="0"/>
              </a:spcBef>
              <a:buFont typeface="+mj-lt"/>
              <a:buAutoNum type="arabicPeriod"/>
              <a:defRPr sz="2716"/>
            </a:pPr>
            <a:r>
              <a:rPr lang="en-US" dirty="0" err="1"/>
              <a:t>Xây</a:t>
            </a:r>
            <a:r>
              <a:rPr lang="en-US" dirty="0"/>
              <a:t> </a:t>
            </a:r>
            <a:r>
              <a:rPr lang="en-US" dirty="0" err="1"/>
              <a:t>dựng</a:t>
            </a:r>
            <a:r>
              <a:rPr lang="en-US" dirty="0"/>
              <a:t> 2 Giao </a:t>
            </a:r>
            <a:r>
              <a:rPr lang="en-US" dirty="0" err="1"/>
              <a:t>diện</a:t>
            </a:r>
            <a:r>
              <a:rPr lang="en-US" dirty="0"/>
              <a:t> layout1, layout1. layout1 </a:t>
            </a:r>
            <a:r>
              <a:rPr lang="en-US" dirty="0" err="1"/>
              <a:t>có</a:t>
            </a:r>
            <a:r>
              <a:rPr lang="en-US" dirty="0"/>
              <a:t> form </a:t>
            </a:r>
            <a:r>
              <a:rPr lang="en-US" dirty="0" err="1"/>
              <a:t>nhập</a:t>
            </a:r>
            <a:r>
              <a:rPr lang="en-US" dirty="0"/>
              <a:t> </a:t>
            </a:r>
            <a:r>
              <a:rPr lang="en-US" dirty="0" err="1"/>
              <a:t>vào</a:t>
            </a:r>
            <a:r>
              <a:rPr lang="en-US" dirty="0"/>
              <a:t> 2 </a:t>
            </a:r>
            <a:r>
              <a:rPr lang="en-US" dirty="0" err="1"/>
              <a:t>số</a:t>
            </a:r>
            <a:r>
              <a:rPr lang="en-US" dirty="0"/>
              <a:t> a, b </a:t>
            </a:r>
            <a:r>
              <a:rPr lang="en-US" dirty="0" err="1"/>
              <a:t>và</a:t>
            </a:r>
            <a:r>
              <a:rPr lang="en-US" dirty="0"/>
              <a:t> 4 </a:t>
            </a:r>
            <a:r>
              <a:rPr lang="en-US" dirty="0" err="1"/>
              <a:t>nút</a:t>
            </a:r>
            <a:r>
              <a:rPr lang="en-US" dirty="0"/>
              <a:t> “+”, “-”, “x”, “/”. Khi click </a:t>
            </a:r>
            <a:r>
              <a:rPr lang="en-US" dirty="0" err="1"/>
              <a:t>vào</a:t>
            </a:r>
            <a:r>
              <a:rPr lang="en-US" dirty="0"/>
              <a:t> </a:t>
            </a:r>
            <a:r>
              <a:rPr lang="en-US" dirty="0" err="1"/>
              <a:t>một</a:t>
            </a:r>
            <a:r>
              <a:rPr lang="en-US" dirty="0"/>
              <a:t> </a:t>
            </a:r>
            <a:r>
              <a:rPr lang="en-US" dirty="0" err="1"/>
              <a:t>nút</a:t>
            </a:r>
            <a:r>
              <a:rPr lang="en-US" dirty="0"/>
              <a:t> </a:t>
            </a:r>
            <a:r>
              <a:rPr lang="en-US" dirty="0" err="1"/>
              <a:t>sẽ</a:t>
            </a:r>
            <a:r>
              <a:rPr lang="en-US" dirty="0"/>
              <a:t> </a:t>
            </a:r>
            <a:r>
              <a:rPr lang="en-US" dirty="0" err="1"/>
              <a:t>gửi</a:t>
            </a:r>
            <a:r>
              <a:rPr lang="en-US" dirty="0"/>
              <a:t> </a:t>
            </a:r>
            <a:r>
              <a:rPr lang="en-US" dirty="0" err="1"/>
              <a:t>a,b</a:t>
            </a:r>
            <a:r>
              <a:rPr lang="en-US" dirty="0"/>
              <a:t> qua Activity </a:t>
            </a:r>
            <a:r>
              <a:rPr lang="en-US" dirty="0" err="1"/>
              <a:t>kết</a:t>
            </a:r>
            <a:r>
              <a:rPr lang="en-US" dirty="0"/>
              <a:t> </a:t>
            </a:r>
            <a:r>
              <a:rPr lang="en-US" dirty="0" err="1"/>
              <a:t>nối</a:t>
            </a:r>
            <a:r>
              <a:rPr lang="en-US" dirty="0"/>
              <a:t> </a:t>
            </a:r>
            <a:r>
              <a:rPr lang="en-US" dirty="0" err="1"/>
              <a:t>với</a:t>
            </a:r>
            <a:r>
              <a:rPr lang="en-US" dirty="0"/>
              <a:t> layout2 </a:t>
            </a:r>
            <a:r>
              <a:rPr lang="en-US" dirty="0" err="1"/>
              <a:t>để</a:t>
            </a:r>
            <a:r>
              <a:rPr lang="en-US" dirty="0"/>
              <a:t> </a:t>
            </a:r>
            <a:r>
              <a:rPr lang="en-US" dirty="0" err="1"/>
              <a:t>tính</a:t>
            </a:r>
            <a:r>
              <a:rPr lang="en-US" dirty="0"/>
              <a:t> </a:t>
            </a:r>
            <a:r>
              <a:rPr lang="en-US" dirty="0" err="1"/>
              <a:t>toán</a:t>
            </a:r>
            <a:r>
              <a:rPr lang="en-US" dirty="0"/>
              <a:t>. layout2 </a:t>
            </a:r>
            <a:r>
              <a:rPr lang="en-US" dirty="0" err="1"/>
              <a:t>có</a:t>
            </a:r>
            <a:r>
              <a:rPr lang="en-US" dirty="0"/>
              <a:t> </a:t>
            </a:r>
            <a:r>
              <a:rPr lang="en-US" dirty="0" err="1"/>
              <a:t>nút</a:t>
            </a:r>
            <a:r>
              <a:rPr lang="en-US" dirty="0"/>
              <a:t> “Return”, </a:t>
            </a:r>
            <a:r>
              <a:rPr lang="en-US" dirty="0" err="1"/>
              <a:t>bấm</a:t>
            </a:r>
            <a:r>
              <a:rPr lang="en-US" dirty="0"/>
              <a:t> </a:t>
            </a:r>
            <a:r>
              <a:rPr lang="en-US" dirty="0" err="1"/>
              <a:t>nút</a:t>
            </a:r>
            <a:r>
              <a:rPr lang="en-US" dirty="0"/>
              <a:t> “Return” </a:t>
            </a:r>
            <a:r>
              <a:rPr lang="en-US" dirty="0" err="1"/>
              <a:t>thì</a:t>
            </a:r>
            <a:r>
              <a:rPr lang="en-US" dirty="0"/>
              <a:t> Activity </a:t>
            </a:r>
            <a:r>
              <a:rPr lang="en-US" dirty="0" err="1"/>
              <a:t>kết</a:t>
            </a:r>
            <a:r>
              <a:rPr lang="en-US" dirty="0"/>
              <a:t> </a:t>
            </a:r>
            <a:r>
              <a:rPr lang="en-US" dirty="0" err="1"/>
              <a:t>nối</a:t>
            </a:r>
            <a:r>
              <a:rPr lang="en-US" dirty="0"/>
              <a:t> </a:t>
            </a:r>
            <a:r>
              <a:rPr lang="en-US" dirty="0" err="1"/>
              <a:t>với</a:t>
            </a:r>
            <a:r>
              <a:rPr lang="en-US" dirty="0"/>
              <a:t> layout2 </a:t>
            </a:r>
            <a:r>
              <a:rPr lang="en-US" dirty="0" err="1"/>
              <a:t>trả</a:t>
            </a:r>
            <a:r>
              <a:rPr lang="en-US" dirty="0"/>
              <a:t> </a:t>
            </a:r>
            <a:r>
              <a:rPr lang="en-US" dirty="0" err="1"/>
              <a:t>lại</a:t>
            </a:r>
            <a:r>
              <a:rPr lang="en-US" dirty="0"/>
              <a:t> </a:t>
            </a:r>
            <a:r>
              <a:rPr lang="en-US" dirty="0" err="1"/>
              <a:t>kết</a:t>
            </a:r>
            <a:r>
              <a:rPr lang="en-US" dirty="0"/>
              <a:t> </a:t>
            </a:r>
            <a:r>
              <a:rPr lang="en-US" dirty="0" err="1"/>
              <a:t>quả</a:t>
            </a:r>
            <a:r>
              <a:rPr lang="en-US" dirty="0"/>
              <a:t> </a:t>
            </a:r>
            <a:r>
              <a:rPr lang="en-US" dirty="0" err="1"/>
              <a:t>về</a:t>
            </a:r>
            <a:r>
              <a:rPr lang="en-US" dirty="0"/>
              <a:t> </a:t>
            </a:r>
            <a:r>
              <a:rPr lang="en-US" dirty="0" err="1"/>
              <a:t>cho</a:t>
            </a:r>
            <a:r>
              <a:rPr lang="en-US" dirty="0"/>
              <a:t> layout1 </a:t>
            </a:r>
            <a:r>
              <a:rPr lang="en-US" dirty="0" err="1"/>
              <a:t>hiển</a:t>
            </a:r>
            <a:r>
              <a:rPr lang="en-US" dirty="0"/>
              <a:t> </a:t>
            </a:r>
            <a:r>
              <a:rPr lang="en-US" dirty="0" err="1"/>
              <a:t>thị</a:t>
            </a:r>
            <a:r>
              <a:rPr lang="en-US" dirty="0"/>
              <a:t> </a:t>
            </a:r>
            <a:r>
              <a:rPr lang="en-US" dirty="0" err="1"/>
              <a:t>lên</a:t>
            </a:r>
            <a:r>
              <a:rPr lang="en-US" dirty="0"/>
              <a:t> </a:t>
            </a:r>
            <a:r>
              <a:rPr lang="en-US" dirty="0" err="1"/>
              <a:t>TextView</a:t>
            </a:r>
            <a:endParaRPr lang="en-US" dirty="0"/>
          </a:p>
        </p:txBody>
      </p:sp>
    </p:spTree>
    <p:extLst>
      <p:ext uri="{BB962C8B-B14F-4D97-AF65-F5344CB8AC3E}">
        <p14:creationId xmlns:p14="http://schemas.microsoft.com/office/powerpoint/2010/main" val="2202967167"/>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33</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Bài</a:t>
            </a:r>
            <a:r>
              <a:rPr lang="en-US" sz="2800" b="1" kern="0"/>
              <a:t> </a:t>
            </a:r>
            <a:r>
              <a:rPr lang="en-US" sz="2800" b="1" kern="0" err="1"/>
              <a:t>tập</a:t>
            </a:r>
            <a:endParaRPr lang="vi-VN" sz="2800" b="1" kern="0"/>
          </a:p>
        </p:txBody>
      </p:sp>
      <p:sp>
        <p:nvSpPr>
          <p:cNvPr id="6" name="Shape 1336"/>
          <p:cNvSpPr>
            <a:spLocks noGrp="1"/>
          </p:cNvSpPr>
          <p:nvPr>
            <p:ph type="body" idx="4294967295"/>
          </p:nvPr>
        </p:nvSpPr>
        <p:spPr>
          <a:xfrm>
            <a:off x="576546" y="1169988"/>
            <a:ext cx="7772400" cy="5305426"/>
          </a:xfrm>
          <a:prstGeom prst="rect">
            <a:avLst/>
          </a:prstGeom>
          <a:extLst>
            <a:ext uri="{C572A759-6A51-4108-AA02-DFA0A04FC94B}">
              <ma14:wrappingTextBoxFlag xmlns:ma14="http://schemas.microsoft.com/office/mac/drawingml/2011/main" xmlns="" val="1"/>
            </a:ext>
          </a:extLst>
        </p:spPr>
        <p:txBody>
          <a:bodyPr>
            <a:normAutofit/>
          </a:bodyPr>
          <a:lstStyle/>
          <a:p>
            <a:pPr marL="0" indent="0" defTabSz="886968">
              <a:lnSpc>
                <a:spcPct val="140000"/>
              </a:lnSpc>
              <a:spcBef>
                <a:spcPts val="0"/>
              </a:spcBef>
              <a:buNone/>
              <a:defRPr sz="2716"/>
            </a:pPr>
            <a:r>
              <a:rPr lang="en-US"/>
              <a:t>2. </a:t>
            </a:r>
            <a:r>
              <a:rPr lang="vi-VN"/>
              <a:t>Viết chương trình theo dõi % pin của điện thoại, nếu % pin của điện thoại dưới 20% sẽ hiện thị Notification thông báo cho người dùng hay bật chế độ tiết kiệm pin và sạc điện thoại.</a:t>
            </a:r>
            <a:endParaRPr lang="en-US"/>
          </a:p>
        </p:txBody>
      </p:sp>
    </p:spTree>
    <p:extLst>
      <p:ext uri="{BB962C8B-B14F-4D97-AF65-F5344CB8AC3E}">
        <p14:creationId xmlns:p14="http://schemas.microsoft.com/office/powerpoint/2010/main" val="3208781208"/>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INKNOELEADERBOARD" val="659384857"/>
</p:tagLst>
</file>

<file path=ppt/theme/theme1.xml><?xml version="1.0" encoding="utf-8"?>
<a:theme xmlns:a="http://schemas.openxmlformats.org/drawingml/2006/main" name="cdb2004146l">
  <a:themeElements>
    <a:clrScheme name="cdb2004146l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cdb2004146l">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68415" tIns="34208" rIns="68415" bIns="34208" numCol="1" anchor="t" anchorCtr="0" compatLnSpc="1">
        <a:prstTxWarp prst="textNoShape">
          <a:avLst/>
        </a:prstTxWarp>
        <a:spAutoFit/>
      </a:bodyPr>
      <a:lstStyle>
        <a:defPPr marL="0" marR="0" indent="0" algn="ctr" defTabSz="684213"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68415" tIns="34208" rIns="68415" bIns="34208" numCol="1" anchor="t" anchorCtr="0" compatLnSpc="1">
        <a:prstTxWarp prst="textNoShape">
          <a:avLst/>
        </a:prstTxWarp>
        <a:spAutoFit/>
      </a:bodyPr>
      <a:lstStyle>
        <a:defPPr marL="0" marR="0" indent="0" algn="ctr" defTabSz="684213"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lnDef>
  </a:objectDefaults>
  <a:extraClrSchemeLst>
    <a:extraClrScheme>
      <a:clrScheme name="cdb2004146l 1">
        <a:dk1>
          <a:srgbClr val="48806B"/>
        </a:dk1>
        <a:lt1>
          <a:srgbClr val="FFFFFF"/>
        </a:lt1>
        <a:dk2>
          <a:srgbClr val="77956D"/>
        </a:dk2>
        <a:lt2>
          <a:srgbClr val="C0C0C0"/>
        </a:lt2>
        <a:accent1>
          <a:srgbClr val="6BB9C3"/>
        </a:accent1>
        <a:accent2>
          <a:srgbClr val="E7BA15"/>
        </a:accent2>
        <a:accent3>
          <a:srgbClr val="FFFFFF"/>
        </a:accent3>
        <a:accent4>
          <a:srgbClr val="3C6C5A"/>
        </a:accent4>
        <a:accent5>
          <a:srgbClr val="BAD9DE"/>
        </a:accent5>
        <a:accent6>
          <a:srgbClr val="D1A812"/>
        </a:accent6>
        <a:hlink>
          <a:srgbClr val="76C14D"/>
        </a:hlink>
        <a:folHlink>
          <a:srgbClr val="B0C29C"/>
        </a:folHlink>
      </a:clrScheme>
      <a:clrMap bg1="lt1" tx1="dk1" bg2="lt2" tx2="dk2" accent1="accent1" accent2="accent2" accent3="accent3" accent4="accent4" accent5="accent5" accent6="accent6" hlink="hlink" folHlink="folHlink"/>
    </a:extraClrScheme>
    <a:extraClrScheme>
      <a:clrScheme name="cdb2004146l 2">
        <a:dk1>
          <a:srgbClr val="5F5F5F"/>
        </a:dk1>
        <a:lt1>
          <a:srgbClr val="FFFFFF"/>
        </a:lt1>
        <a:dk2>
          <a:srgbClr val="8D8D8D"/>
        </a:dk2>
        <a:lt2>
          <a:srgbClr val="C0C0C0"/>
        </a:lt2>
        <a:accent1>
          <a:srgbClr val="8EC072"/>
        </a:accent1>
        <a:accent2>
          <a:srgbClr val="5DB8CD"/>
        </a:accent2>
        <a:accent3>
          <a:srgbClr val="FFFFFF"/>
        </a:accent3>
        <a:accent4>
          <a:srgbClr val="505050"/>
        </a:accent4>
        <a:accent5>
          <a:srgbClr val="C6DCBC"/>
        </a:accent5>
        <a:accent6>
          <a:srgbClr val="53A6BA"/>
        </a:accent6>
        <a:hlink>
          <a:srgbClr val="D68B40"/>
        </a:hlink>
        <a:folHlink>
          <a:srgbClr val="D5D179"/>
        </a:folHlink>
      </a:clrScheme>
      <a:clrMap bg1="lt1" tx1="dk1" bg2="lt2" tx2="dk2" accent1="accent1" accent2="accent2" accent3="accent3" accent4="accent4" accent5="accent5" accent6="accent6" hlink="hlink" folHlink="folHlink"/>
    </a:extraClrScheme>
    <a:extraClrScheme>
      <a:clrScheme name="cdb2004146l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cdb2004146l</Template>
  <TotalTime>24895</TotalTime>
  <Words>1884</Words>
  <Application>Microsoft Office PowerPoint</Application>
  <PresentationFormat>On-screen Show (4:3)</PresentationFormat>
  <Paragraphs>211</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.VnArial Narrow</vt:lpstr>
      <vt:lpstr>Arial</vt:lpstr>
      <vt:lpstr>Tahoma</vt:lpstr>
      <vt:lpstr>Times New Roman</vt:lpstr>
      <vt:lpstr>Verdana</vt:lpstr>
      <vt:lpstr>Wingdings</vt:lpstr>
      <vt:lpstr>cdb2004146l</vt:lpstr>
      <vt:lpstr>PowerPoint Presentation</vt:lpstr>
      <vt:lpstr>Chương 5 – Intent và Service</vt:lpstr>
      <vt:lpstr>PowerPoint Presentation</vt:lpstr>
      <vt:lpstr>1.1.1 INTENT &amp; INTENT SERVICE</vt:lpstr>
      <vt:lpstr>1.1.1 INTENT &amp; INTENT SERVICE</vt:lpstr>
      <vt:lpstr>1.1.1 INTENT &amp; INTENT SERVICE</vt:lpstr>
      <vt:lpstr>1.1.2 INTENT FILTER (Bộ lọc Intent)</vt:lpstr>
      <vt:lpstr>1.1.2 INTENT FILTER (Bộ lọc Intent)</vt:lpstr>
      <vt:lpstr>1.1.3 PHÂN LOẠI INTENT</vt:lpstr>
      <vt:lpstr>1.1.3 PHÂN LOẠI INTENT</vt:lpstr>
      <vt:lpstr>1.1.3 PHÂN LOẠI INTENT</vt:lpstr>
      <vt:lpstr>1.1.3 PHÂN LOẠI INTENT</vt:lpstr>
      <vt:lpstr>1.1.3 PHÂN LOẠI INTENT</vt:lpstr>
      <vt:lpstr>1.1.4 CÁC THÀNH PHẦN CỦA INTENT</vt:lpstr>
      <vt:lpstr>1.1.4 CÁC THÀNH PHẦN CỦA INTENT</vt:lpstr>
      <vt:lpstr>1.1.4 CÁC THÀNH PHẦN CỦA INTENT</vt:lpstr>
      <vt:lpstr>PowerPoint Presentation</vt:lpstr>
      <vt:lpstr>1.2 Sử dụng intent trao đổi dữ liệu</vt:lpstr>
      <vt:lpstr>1.2 Sử dụng intent trao đổi dữ liệu</vt:lpstr>
      <vt:lpstr>1.2 Sử dụng intent trao đổi dữ liệu</vt:lpstr>
      <vt:lpstr>1.2 Sử dụng intent trao đổi dữ liệu</vt:lpstr>
      <vt:lpstr>PowerPoint Presentation</vt:lpstr>
      <vt:lpstr>1.3.1 TỔNG QUAN BROADCAST RECEIVERS </vt:lpstr>
      <vt:lpstr>1.3.1 TỔNG QUAN BROADCAST RECEIVERS </vt:lpstr>
      <vt:lpstr>1.3.2 VÒNG ĐỜI BROADCAST RECEIVERS </vt:lpstr>
      <vt:lpstr>1.3.2 VÒNG ĐỜI BROADCAST RECEIVERS </vt:lpstr>
      <vt:lpstr>1.3.2 VÒNG ĐỜI BROADCAST RECEIVERS </vt:lpstr>
      <vt:lpstr>1.3.3 VÍ DỤ SỬ DỤNG BROADCAST RECEIVERS </vt:lpstr>
      <vt:lpstr>1.3.3 VÍ DỤ SỬ DỤNG BROADCAST RECEIVERS </vt:lpstr>
      <vt:lpstr>PowerPoint Presentation</vt:lpstr>
      <vt:lpstr>PowerPoint Presentation</vt:lpstr>
      <vt:lpstr>PowerPoint Presentation</vt:lpstr>
      <vt:lpstr>PowerPoint Presentation</vt:lpstr>
    </vt:vector>
  </TitlesOfParts>
  <Company>WORKGROUP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tài: VPN</dc:title>
  <dc:creator>LATDAT</dc:creator>
  <cp:lastModifiedBy>Admin</cp:lastModifiedBy>
  <cp:revision>1424</cp:revision>
  <dcterms:created xsi:type="dcterms:W3CDTF">2011-02-25T01:16:23Z</dcterms:created>
  <dcterms:modified xsi:type="dcterms:W3CDTF">2023-07-04T03:26:34Z</dcterms:modified>
</cp:coreProperties>
</file>