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7"/>
  </p:notesMasterIdLst>
  <p:handoutMasterIdLst>
    <p:handoutMasterId r:id="rId48"/>
  </p:handoutMasterIdLst>
  <p:sldIdLst>
    <p:sldId id="256" r:id="rId2"/>
    <p:sldId id="349" r:id="rId3"/>
    <p:sldId id="565" r:id="rId4"/>
    <p:sldId id="470" r:id="rId5"/>
    <p:sldId id="602" r:id="rId6"/>
    <p:sldId id="639" r:id="rId7"/>
    <p:sldId id="640" r:id="rId8"/>
    <p:sldId id="641" r:id="rId9"/>
    <p:sldId id="642" r:id="rId10"/>
    <p:sldId id="643" r:id="rId11"/>
    <p:sldId id="645" r:id="rId12"/>
    <p:sldId id="646" r:id="rId13"/>
    <p:sldId id="647" r:id="rId14"/>
    <p:sldId id="648" r:id="rId15"/>
    <p:sldId id="566" r:id="rId16"/>
    <p:sldId id="535" r:id="rId17"/>
    <p:sldId id="649" r:id="rId18"/>
    <p:sldId id="650" r:id="rId19"/>
    <p:sldId id="651" r:id="rId20"/>
    <p:sldId id="652" r:id="rId21"/>
    <p:sldId id="653" r:id="rId22"/>
    <p:sldId id="654" r:id="rId23"/>
    <p:sldId id="655" r:id="rId24"/>
    <p:sldId id="656" r:id="rId25"/>
    <p:sldId id="657" r:id="rId26"/>
    <p:sldId id="658" r:id="rId27"/>
    <p:sldId id="659" r:id="rId28"/>
    <p:sldId id="660" r:id="rId29"/>
    <p:sldId id="661" r:id="rId30"/>
    <p:sldId id="662" r:id="rId31"/>
    <p:sldId id="663" r:id="rId32"/>
    <p:sldId id="664" r:id="rId33"/>
    <p:sldId id="665" r:id="rId34"/>
    <p:sldId id="594" r:id="rId35"/>
    <p:sldId id="613" r:id="rId36"/>
    <p:sldId id="666" r:id="rId37"/>
    <p:sldId id="667" r:id="rId38"/>
    <p:sldId id="668" r:id="rId39"/>
    <p:sldId id="669" r:id="rId40"/>
    <p:sldId id="670" r:id="rId41"/>
    <p:sldId id="516" r:id="rId42"/>
    <p:sldId id="517" r:id="rId43"/>
    <p:sldId id="518" r:id="rId44"/>
    <p:sldId id="671" r:id="rId45"/>
    <p:sldId id="672" r:id="rId46"/>
  </p:sldIdLst>
  <p:sldSz cx="9144000" cy="6858000" type="screen4x3"/>
  <p:notesSz cx="6858000" cy="9144000"/>
  <p:custDataLst>
    <p:tags r:id="rId49"/>
  </p:custDataLst>
  <p:defaultTextStyle>
    <a:defPPr>
      <a:defRPr lang="en-US"/>
    </a:defPPr>
    <a:lvl1pPr algn="ctr" rtl="0" eaLnBrk="0" fontAlgn="base" hangingPunct="0">
      <a:spcBef>
        <a:spcPct val="0"/>
      </a:spcBef>
      <a:spcAft>
        <a:spcPct val="0"/>
      </a:spcAft>
      <a:defRPr sz="2400" kern="1200">
        <a:solidFill>
          <a:schemeClr val="bg1"/>
        </a:solidFill>
        <a:latin typeface="Arial" charset="0"/>
        <a:ea typeface="+mn-ea"/>
        <a:cs typeface="+mn-cs"/>
      </a:defRPr>
    </a:lvl1pPr>
    <a:lvl2pPr marL="457200" algn="ctr" rtl="0" eaLnBrk="0" fontAlgn="base" hangingPunct="0">
      <a:spcBef>
        <a:spcPct val="0"/>
      </a:spcBef>
      <a:spcAft>
        <a:spcPct val="0"/>
      </a:spcAft>
      <a:defRPr sz="2400" kern="1200">
        <a:solidFill>
          <a:schemeClr val="bg1"/>
        </a:solidFill>
        <a:latin typeface="Arial" charset="0"/>
        <a:ea typeface="+mn-ea"/>
        <a:cs typeface="+mn-cs"/>
      </a:defRPr>
    </a:lvl2pPr>
    <a:lvl3pPr marL="914400" algn="ctr" rtl="0" eaLnBrk="0" fontAlgn="base" hangingPunct="0">
      <a:spcBef>
        <a:spcPct val="0"/>
      </a:spcBef>
      <a:spcAft>
        <a:spcPct val="0"/>
      </a:spcAft>
      <a:defRPr sz="2400" kern="1200">
        <a:solidFill>
          <a:schemeClr val="bg1"/>
        </a:solidFill>
        <a:latin typeface="Arial" charset="0"/>
        <a:ea typeface="+mn-ea"/>
        <a:cs typeface="+mn-cs"/>
      </a:defRPr>
    </a:lvl3pPr>
    <a:lvl4pPr marL="1371600" algn="ctr" rtl="0" eaLnBrk="0" fontAlgn="base" hangingPunct="0">
      <a:spcBef>
        <a:spcPct val="0"/>
      </a:spcBef>
      <a:spcAft>
        <a:spcPct val="0"/>
      </a:spcAft>
      <a:defRPr sz="2400" kern="1200">
        <a:solidFill>
          <a:schemeClr val="bg1"/>
        </a:solidFill>
        <a:latin typeface="Arial" charset="0"/>
        <a:ea typeface="+mn-ea"/>
        <a:cs typeface="+mn-cs"/>
      </a:defRPr>
    </a:lvl4pPr>
    <a:lvl5pPr marL="1828800" algn="ctr" rtl="0" eaLnBrk="0" fontAlgn="base" hangingPunct="0">
      <a:spcBef>
        <a:spcPct val="0"/>
      </a:spcBef>
      <a:spcAft>
        <a:spcPct val="0"/>
      </a:spcAft>
      <a:defRPr sz="2400" kern="1200">
        <a:solidFill>
          <a:schemeClr val="bg1"/>
        </a:solidFill>
        <a:latin typeface="Arial" charset="0"/>
        <a:ea typeface="+mn-ea"/>
        <a:cs typeface="+mn-cs"/>
      </a:defRPr>
    </a:lvl5pPr>
    <a:lvl6pPr marL="2286000" algn="l" defTabSz="914400" rtl="0" eaLnBrk="1" latinLnBrk="0" hangingPunct="1">
      <a:defRPr sz="2400" kern="1200">
        <a:solidFill>
          <a:schemeClr val="bg1"/>
        </a:solidFill>
        <a:latin typeface="Arial" charset="0"/>
        <a:ea typeface="+mn-ea"/>
        <a:cs typeface="+mn-cs"/>
      </a:defRPr>
    </a:lvl6pPr>
    <a:lvl7pPr marL="2743200" algn="l" defTabSz="914400" rtl="0" eaLnBrk="1" latinLnBrk="0" hangingPunct="1">
      <a:defRPr sz="2400" kern="1200">
        <a:solidFill>
          <a:schemeClr val="bg1"/>
        </a:solidFill>
        <a:latin typeface="Arial" charset="0"/>
        <a:ea typeface="+mn-ea"/>
        <a:cs typeface="+mn-cs"/>
      </a:defRPr>
    </a:lvl7pPr>
    <a:lvl8pPr marL="3200400" algn="l" defTabSz="914400" rtl="0" eaLnBrk="1" latinLnBrk="0" hangingPunct="1">
      <a:defRPr sz="2400" kern="1200">
        <a:solidFill>
          <a:schemeClr val="bg1"/>
        </a:solidFill>
        <a:latin typeface="Arial" charset="0"/>
        <a:ea typeface="+mn-ea"/>
        <a:cs typeface="+mn-cs"/>
      </a:defRPr>
    </a:lvl8pPr>
    <a:lvl9pPr marL="3657600" algn="l" defTabSz="914400" rtl="0" eaLnBrk="1" latinLnBrk="0" hangingPunct="1">
      <a:defRPr sz="2400" kern="1200">
        <a:solidFill>
          <a:schemeClr val="bg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000000"/>
    <a:srgbClr val="63C4D7"/>
    <a:srgbClr val="FFCCCC"/>
    <a:srgbClr val="FF99CC"/>
    <a:srgbClr val="CC00FF"/>
    <a:srgbClr val="FF7C80"/>
    <a:srgbClr val="0033CC"/>
    <a:srgbClr val="0000FF"/>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87" autoAdjust="0"/>
    <p:restoredTop sz="89844" autoAdjust="0"/>
  </p:normalViewPr>
  <p:slideViewPr>
    <p:cSldViewPr>
      <p:cViewPr>
        <p:scale>
          <a:sx n="80" d="100"/>
          <a:sy n="80" d="100"/>
        </p:scale>
        <p:origin x="1238" y="-91"/>
      </p:cViewPr>
      <p:guideLst>
        <p:guide orient="horz" pos="2160"/>
        <p:guide pos="2880"/>
      </p:guideLst>
    </p:cSldViewPr>
  </p:slideViewPr>
  <p:outlineViewPr>
    <p:cViewPr>
      <p:scale>
        <a:sx n="33" d="100"/>
        <a:sy n="33" d="100"/>
      </p:scale>
      <p:origin x="0" y="7182"/>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2" d="100"/>
          <a:sy n="52" d="100"/>
        </p:scale>
        <p:origin x="-2880"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69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solidFill>
                  <a:schemeClr val="tx1"/>
                </a:solidFill>
              </a:defRPr>
            </a:lvl1pPr>
          </a:lstStyle>
          <a:p>
            <a:pPr>
              <a:defRPr/>
            </a:pPr>
            <a:endParaRPr lang="en-US"/>
          </a:p>
        </p:txBody>
      </p:sp>
      <p:sp>
        <p:nvSpPr>
          <p:cNvPr id="16691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defRPr>
            </a:lvl1pPr>
          </a:lstStyle>
          <a:p>
            <a:pPr>
              <a:defRPr/>
            </a:pPr>
            <a:endParaRPr lang="en-US"/>
          </a:p>
        </p:txBody>
      </p:sp>
      <p:sp>
        <p:nvSpPr>
          <p:cNvPr id="16691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solidFill>
                  <a:schemeClr val="tx1"/>
                </a:solidFill>
              </a:defRPr>
            </a:lvl1pPr>
          </a:lstStyle>
          <a:p>
            <a:pPr>
              <a:defRPr/>
            </a:pPr>
            <a:endParaRPr lang="en-US"/>
          </a:p>
        </p:txBody>
      </p:sp>
      <p:sp>
        <p:nvSpPr>
          <p:cNvPr id="16691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defRPr>
            </a:lvl1pPr>
          </a:lstStyle>
          <a:p>
            <a:pPr>
              <a:defRPr/>
            </a:pPr>
            <a:fld id="{9E2B97F0-33F1-4001-BBE2-6DA117D757A1}" type="slidenum">
              <a:rPr lang="en-US"/>
              <a:pPr>
                <a:defRPr/>
              </a:pPr>
              <a:t>‹#›</a:t>
            </a:fld>
            <a:endParaRPr lang="en-US"/>
          </a:p>
        </p:txBody>
      </p:sp>
    </p:spTree>
    <p:extLst>
      <p:ext uri="{BB962C8B-B14F-4D97-AF65-F5344CB8AC3E}">
        <p14:creationId xmlns:p14="http://schemas.microsoft.com/office/powerpoint/2010/main" val="1476888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solidFill>
                  <a:schemeClr val="tx1"/>
                </a:solidFill>
              </a:defRPr>
            </a:lvl1pPr>
          </a:lstStyle>
          <a:p>
            <a:pPr>
              <a:defRPr/>
            </a:pPr>
            <a:endParaRPr lang="en-US"/>
          </a:p>
        </p:txBody>
      </p:sp>
      <p:sp>
        <p:nvSpPr>
          <p:cNvPr id="133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defRPr>
            </a:lvl1pPr>
          </a:lstStyle>
          <a:p>
            <a:pPr>
              <a:defRPr/>
            </a:pPr>
            <a:endParaRPr lang="en-US"/>
          </a:p>
        </p:txBody>
      </p:sp>
      <p:sp>
        <p:nvSpPr>
          <p:cNvPr id="430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33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3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solidFill>
                  <a:schemeClr val="tx1"/>
                </a:solidFill>
              </a:defRPr>
            </a:lvl1pPr>
          </a:lstStyle>
          <a:p>
            <a:pPr>
              <a:defRPr/>
            </a:pPr>
            <a:endParaRPr lang="en-US"/>
          </a:p>
        </p:txBody>
      </p:sp>
      <p:sp>
        <p:nvSpPr>
          <p:cNvPr id="133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defRPr>
            </a:lvl1pPr>
          </a:lstStyle>
          <a:p>
            <a:pPr>
              <a:defRPr/>
            </a:pPr>
            <a:fld id="{03222506-91B9-4608-A17B-3DCA2CD2D529}" type="slidenum">
              <a:rPr lang="en-US"/>
              <a:pPr>
                <a:defRPr/>
              </a:pPr>
              <a:t>‹#›</a:t>
            </a:fld>
            <a:endParaRPr lang="en-US"/>
          </a:p>
        </p:txBody>
      </p:sp>
    </p:spTree>
    <p:extLst>
      <p:ext uri="{BB962C8B-B14F-4D97-AF65-F5344CB8AC3E}">
        <p14:creationId xmlns:p14="http://schemas.microsoft.com/office/powerpoint/2010/main" val="40677649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a:spLocks noChangeArrowheads="1"/>
          </p:cNvSpPr>
          <p:nvPr/>
        </p:nvSpPr>
        <p:spPr bwMode="gray">
          <a:xfrm>
            <a:off x="8004175" y="0"/>
            <a:ext cx="1139825" cy="6858000"/>
          </a:xfrm>
          <a:prstGeom prst="rect">
            <a:avLst/>
          </a:prstGeom>
          <a:solidFill>
            <a:schemeClr val="bg2">
              <a:alpha val="39999"/>
            </a:schemeClr>
          </a:solidFill>
          <a:ln w="9525">
            <a:noFill/>
            <a:miter lim="800000"/>
            <a:headEnd/>
            <a:tailEnd/>
          </a:ln>
          <a:effectLst/>
        </p:spPr>
        <p:txBody>
          <a:bodyPr wrap="none" anchor="ctr"/>
          <a:lstStyle/>
          <a:p>
            <a:pPr>
              <a:defRPr/>
            </a:pPr>
            <a:endParaRPr lang="en-US"/>
          </a:p>
        </p:txBody>
      </p:sp>
      <p:sp>
        <p:nvSpPr>
          <p:cNvPr id="5" name="Rectangle 4"/>
          <p:cNvSpPr>
            <a:spLocks noChangeArrowheads="1"/>
          </p:cNvSpPr>
          <p:nvPr/>
        </p:nvSpPr>
        <p:spPr bwMode="white">
          <a:xfrm>
            <a:off x="0" y="4638675"/>
            <a:ext cx="9144000" cy="2219325"/>
          </a:xfrm>
          <a:prstGeom prst="rect">
            <a:avLst/>
          </a:prstGeom>
          <a:solidFill>
            <a:schemeClr val="folHlink">
              <a:alpha val="31000"/>
            </a:schemeClr>
          </a:solidFill>
          <a:ln w="9525">
            <a:noFill/>
            <a:miter lim="800000"/>
            <a:headEnd/>
            <a:tailEnd/>
          </a:ln>
          <a:effectLst/>
        </p:spPr>
        <p:txBody>
          <a:bodyPr wrap="none" anchor="ctr"/>
          <a:lstStyle/>
          <a:p>
            <a:pPr>
              <a:defRPr/>
            </a:pPr>
            <a:endParaRPr lang="en-US"/>
          </a:p>
        </p:txBody>
      </p:sp>
      <p:sp>
        <p:nvSpPr>
          <p:cNvPr id="6" name="Rectangle 5"/>
          <p:cNvSpPr>
            <a:spLocks noChangeArrowheads="1"/>
          </p:cNvSpPr>
          <p:nvPr/>
        </p:nvSpPr>
        <p:spPr bwMode="gray">
          <a:xfrm>
            <a:off x="0" y="2149475"/>
            <a:ext cx="9144000" cy="2498725"/>
          </a:xfrm>
          <a:prstGeom prst="rect">
            <a:avLst/>
          </a:prstGeom>
          <a:solidFill>
            <a:schemeClr val="tx1"/>
          </a:solidFill>
          <a:ln w="9525">
            <a:noFill/>
            <a:miter lim="800000"/>
            <a:headEnd/>
            <a:tailEnd/>
          </a:ln>
          <a:effectLst/>
        </p:spPr>
        <p:txBody>
          <a:bodyPr wrap="none" anchor="ctr"/>
          <a:lstStyle/>
          <a:p>
            <a:pPr>
              <a:defRPr/>
            </a:pPr>
            <a:endParaRPr lang="en-US"/>
          </a:p>
        </p:txBody>
      </p:sp>
      <p:sp>
        <p:nvSpPr>
          <p:cNvPr id="7" name="Freeform 6"/>
          <p:cNvSpPr>
            <a:spLocks/>
          </p:cNvSpPr>
          <p:nvPr/>
        </p:nvSpPr>
        <p:spPr bwMode="gray">
          <a:xfrm>
            <a:off x="-9525" y="2138363"/>
            <a:ext cx="8015288" cy="2271712"/>
          </a:xfrm>
          <a:custGeom>
            <a:avLst/>
            <a:gdLst/>
            <a:ahLst/>
            <a:cxnLst>
              <a:cxn ang="0">
                <a:pos x="0" y="0"/>
              </a:cxn>
              <a:cxn ang="0">
                <a:pos x="5049" y="2"/>
              </a:cxn>
              <a:cxn ang="0">
                <a:pos x="5048" y="1458"/>
              </a:cxn>
              <a:cxn ang="0">
                <a:pos x="0" y="1471"/>
              </a:cxn>
              <a:cxn ang="0">
                <a:pos x="0" y="0"/>
              </a:cxn>
            </a:cxnLst>
            <a:rect l="0" t="0" r="r" b="b"/>
            <a:pathLst>
              <a:path w="5049" h="1471">
                <a:moveTo>
                  <a:pt x="0" y="0"/>
                </a:moveTo>
                <a:lnTo>
                  <a:pt x="5049" y="2"/>
                </a:lnTo>
                <a:lnTo>
                  <a:pt x="5048" y="1458"/>
                </a:lnTo>
                <a:lnTo>
                  <a:pt x="0" y="1471"/>
                </a:lnTo>
                <a:lnTo>
                  <a:pt x="0" y="0"/>
                </a:lnTo>
                <a:close/>
              </a:path>
            </a:pathLst>
          </a:custGeom>
          <a:solidFill>
            <a:schemeClr val="folHlink">
              <a:alpha val="73000"/>
            </a:schemeClr>
          </a:solidFill>
          <a:ln w="9525">
            <a:noFill/>
            <a:round/>
            <a:headEnd/>
            <a:tailEnd/>
          </a:ln>
          <a:effectLst/>
        </p:spPr>
        <p:txBody>
          <a:bodyPr/>
          <a:lstStyle/>
          <a:p>
            <a:pPr>
              <a:defRPr/>
            </a:pPr>
            <a:endParaRPr lang="en-US"/>
          </a:p>
        </p:txBody>
      </p:sp>
      <p:sp>
        <p:nvSpPr>
          <p:cNvPr id="8" name="AutoShape 21"/>
          <p:cNvSpPr>
            <a:spLocks noChangeArrowheads="1"/>
          </p:cNvSpPr>
          <p:nvPr/>
        </p:nvSpPr>
        <p:spPr bwMode="gray">
          <a:xfrm>
            <a:off x="7696200" y="5943600"/>
            <a:ext cx="609600" cy="533400"/>
          </a:xfrm>
          <a:prstGeom prst="hexagon">
            <a:avLst>
              <a:gd name="adj" fmla="val 28571"/>
              <a:gd name="vf" fmla="val 115470"/>
            </a:avLst>
          </a:prstGeom>
          <a:solidFill>
            <a:schemeClr val="tx2"/>
          </a:solidFill>
          <a:ln w="9525">
            <a:noFill/>
            <a:miter lim="800000"/>
            <a:headEnd/>
            <a:tailEnd/>
          </a:ln>
          <a:effectLst/>
        </p:spPr>
        <p:txBody>
          <a:bodyPr wrap="none" anchor="ctr"/>
          <a:lstStyle/>
          <a:p>
            <a:pPr>
              <a:defRPr/>
            </a:pPr>
            <a:endParaRPr lang="en-US"/>
          </a:p>
        </p:txBody>
      </p:sp>
      <p:sp>
        <p:nvSpPr>
          <p:cNvPr id="9" name="AutoShape 22"/>
          <p:cNvSpPr>
            <a:spLocks noChangeArrowheads="1"/>
          </p:cNvSpPr>
          <p:nvPr/>
        </p:nvSpPr>
        <p:spPr bwMode="gray">
          <a:xfrm>
            <a:off x="8229600" y="5638800"/>
            <a:ext cx="609600" cy="533400"/>
          </a:xfrm>
          <a:prstGeom prst="hexagon">
            <a:avLst>
              <a:gd name="adj" fmla="val 28571"/>
              <a:gd name="vf" fmla="val 115470"/>
            </a:avLst>
          </a:prstGeom>
          <a:solidFill>
            <a:schemeClr val="tx2"/>
          </a:solidFill>
          <a:ln w="9525">
            <a:noFill/>
            <a:miter lim="800000"/>
            <a:headEnd/>
            <a:tailEnd/>
          </a:ln>
          <a:effectLst/>
        </p:spPr>
        <p:txBody>
          <a:bodyPr wrap="none" anchor="ctr"/>
          <a:lstStyle/>
          <a:p>
            <a:pPr>
              <a:defRPr/>
            </a:pPr>
            <a:endParaRPr lang="en-US"/>
          </a:p>
        </p:txBody>
      </p:sp>
      <p:sp>
        <p:nvSpPr>
          <p:cNvPr id="10" name="AutoShape 23"/>
          <p:cNvSpPr>
            <a:spLocks noChangeArrowheads="1"/>
          </p:cNvSpPr>
          <p:nvPr/>
        </p:nvSpPr>
        <p:spPr bwMode="gray">
          <a:xfrm>
            <a:off x="8220075" y="6229350"/>
            <a:ext cx="609600" cy="533400"/>
          </a:xfrm>
          <a:prstGeom prst="hexagon">
            <a:avLst>
              <a:gd name="adj" fmla="val 28571"/>
              <a:gd name="vf" fmla="val 115470"/>
            </a:avLst>
          </a:prstGeom>
          <a:solidFill>
            <a:schemeClr val="tx2"/>
          </a:solidFill>
          <a:ln w="9525">
            <a:noFill/>
            <a:miter lim="800000"/>
            <a:headEnd/>
            <a:tailEnd/>
          </a:ln>
          <a:effectLst/>
        </p:spPr>
        <p:txBody>
          <a:bodyPr wrap="none" anchor="ctr"/>
          <a:lstStyle/>
          <a:p>
            <a:pPr>
              <a:defRPr/>
            </a:pPr>
            <a:endParaRPr lang="en-US"/>
          </a:p>
        </p:txBody>
      </p:sp>
      <p:sp>
        <p:nvSpPr>
          <p:cNvPr id="11" name="Text Box 14"/>
          <p:cNvSpPr txBox="1">
            <a:spLocks noChangeArrowheads="1"/>
          </p:cNvSpPr>
          <p:nvPr/>
        </p:nvSpPr>
        <p:spPr bwMode="auto">
          <a:xfrm>
            <a:off x="304800" y="228600"/>
            <a:ext cx="1447800" cy="519113"/>
          </a:xfrm>
          <a:prstGeom prst="rect">
            <a:avLst/>
          </a:prstGeom>
          <a:noFill/>
          <a:ln w="9525">
            <a:noFill/>
            <a:miter lim="800000"/>
            <a:headEnd/>
            <a:tailEnd/>
          </a:ln>
          <a:effectLst/>
        </p:spPr>
        <p:txBody>
          <a:bodyPr>
            <a:spAutoFit/>
          </a:bodyPr>
          <a:lstStyle/>
          <a:p>
            <a:pPr eaLnBrk="1" hangingPunct="1">
              <a:defRPr/>
            </a:pPr>
            <a:r>
              <a:rPr lang="en-US" sz="2800" b="1">
                <a:solidFill>
                  <a:schemeClr val="tx2"/>
                </a:solidFill>
                <a:latin typeface="Verdana" pitchFamily="34" charset="0"/>
              </a:rPr>
              <a:t>LOGO</a:t>
            </a:r>
          </a:p>
        </p:txBody>
      </p:sp>
      <p:grpSp>
        <p:nvGrpSpPr>
          <p:cNvPr id="12" name="Group 116"/>
          <p:cNvGrpSpPr>
            <a:grpSpLocks/>
          </p:cNvGrpSpPr>
          <p:nvPr/>
        </p:nvGrpSpPr>
        <p:grpSpPr bwMode="auto">
          <a:xfrm>
            <a:off x="190500" y="2324100"/>
            <a:ext cx="3276600" cy="3314700"/>
            <a:chOff x="120" y="1464"/>
            <a:chExt cx="2064" cy="2088"/>
          </a:xfrm>
        </p:grpSpPr>
        <p:sp>
          <p:nvSpPr>
            <p:cNvPr id="13" name="AutoShape 113" descr="gdd01"/>
            <p:cNvSpPr>
              <a:spLocks noChangeArrowheads="1"/>
            </p:cNvSpPr>
            <p:nvPr userDrawn="1"/>
          </p:nvSpPr>
          <p:spPr bwMode="gray">
            <a:xfrm>
              <a:off x="120" y="1992"/>
              <a:ext cx="1104" cy="1008"/>
            </a:xfrm>
            <a:prstGeom prst="hexagon">
              <a:avLst>
                <a:gd name="adj" fmla="val 27381"/>
                <a:gd name="vf" fmla="val 115470"/>
              </a:avLst>
            </a:prstGeom>
            <a:blipFill dpi="0" rotWithShape="1">
              <a:blip r:embed="rId2"/>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p>
              <a:pPr>
                <a:defRPr/>
              </a:pPr>
              <a:endParaRPr lang="ko-KR" altLang="en-US" sz="1800">
                <a:solidFill>
                  <a:schemeClr val="tx1"/>
                </a:solidFill>
                <a:latin typeface="Times New Roman" pitchFamily="18" charset="0"/>
                <a:ea typeface="Gulim" pitchFamily="34" charset="-127"/>
              </a:endParaRPr>
            </a:p>
          </p:txBody>
        </p:sp>
        <p:sp>
          <p:nvSpPr>
            <p:cNvPr id="14" name="AutoShape 114" descr="gdd04"/>
            <p:cNvSpPr>
              <a:spLocks noChangeArrowheads="1"/>
            </p:cNvSpPr>
            <p:nvPr userDrawn="1"/>
          </p:nvSpPr>
          <p:spPr bwMode="gray">
            <a:xfrm>
              <a:off x="1032" y="1464"/>
              <a:ext cx="1152" cy="1008"/>
            </a:xfrm>
            <a:prstGeom prst="hexagon">
              <a:avLst>
                <a:gd name="adj" fmla="val 28571"/>
                <a:gd name="vf" fmla="val 115470"/>
              </a:avLst>
            </a:prstGeom>
            <a:blipFill dpi="0" rotWithShape="1">
              <a:blip r:embed="rId3"/>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p>
              <a:pPr>
                <a:defRPr/>
              </a:pPr>
              <a:endParaRPr lang="ko-KR" altLang="en-US" sz="1800">
                <a:solidFill>
                  <a:schemeClr val="tx1"/>
                </a:solidFill>
                <a:latin typeface="Times New Roman" pitchFamily="18" charset="0"/>
                <a:ea typeface="Gulim" pitchFamily="34" charset="-127"/>
              </a:endParaRPr>
            </a:p>
          </p:txBody>
        </p:sp>
        <p:sp>
          <p:nvSpPr>
            <p:cNvPr id="15" name="AutoShape 115" descr="gdd03"/>
            <p:cNvSpPr>
              <a:spLocks noChangeArrowheads="1"/>
            </p:cNvSpPr>
            <p:nvPr userDrawn="1"/>
          </p:nvSpPr>
          <p:spPr bwMode="gray">
            <a:xfrm>
              <a:off x="1008" y="2544"/>
              <a:ext cx="1152" cy="1008"/>
            </a:xfrm>
            <a:prstGeom prst="hexagon">
              <a:avLst>
                <a:gd name="adj" fmla="val 28571"/>
                <a:gd name="vf" fmla="val 115470"/>
              </a:avLst>
            </a:prstGeom>
            <a:blipFill dpi="0" rotWithShape="1">
              <a:blip r:embed="rId4"/>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p>
              <a:pPr>
                <a:defRPr/>
              </a:pPr>
              <a:endParaRPr lang="ko-KR" altLang="en-US" sz="1800">
                <a:solidFill>
                  <a:schemeClr val="tx1"/>
                </a:solidFill>
                <a:latin typeface="Times New Roman" pitchFamily="18" charset="0"/>
                <a:ea typeface="Gulim" pitchFamily="34" charset="-127"/>
              </a:endParaRPr>
            </a:p>
          </p:txBody>
        </p:sp>
      </p:grpSp>
      <p:sp>
        <p:nvSpPr>
          <p:cNvPr id="3074" name="Rectangle 2"/>
          <p:cNvSpPr>
            <a:spLocks noGrp="1" noChangeArrowheads="1"/>
          </p:cNvSpPr>
          <p:nvPr>
            <p:ph type="ctrTitle"/>
          </p:nvPr>
        </p:nvSpPr>
        <p:spPr bwMode="gray">
          <a:xfrm>
            <a:off x="1143000" y="990600"/>
            <a:ext cx="6705600" cy="1012825"/>
          </a:xfrm>
        </p:spPr>
        <p:txBody>
          <a:bodyPr/>
          <a:lstStyle>
            <a:lvl1pPr algn="ctr">
              <a:defRPr sz="3600" b="1">
                <a:solidFill>
                  <a:schemeClr val="tx2"/>
                </a:solidFill>
              </a:defRPr>
            </a:lvl1pPr>
          </a:lstStyle>
          <a:p>
            <a:r>
              <a:rPr lang="en-US"/>
              <a:t>Click to edit Master title style</a:t>
            </a:r>
          </a:p>
        </p:txBody>
      </p:sp>
      <p:sp>
        <p:nvSpPr>
          <p:cNvPr id="3075" name="Rectangle 3"/>
          <p:cNvSpPr>
            <a:spLocks noGrp="1" noChangeArrowheads="1"/>
          </p:cNvSpPr>
          <p:nvPr>
            <p:ph type="subTitle" idx="1"/>
          </p:nvPr>
        </p:nvSpPr>
        <p:spPr bwMode="white">
          <a:xfrm>
            <a:off x="3505200" y="2971800"/>
            <a:ext cx="4343400" cy="685800"/>
          </a:xfrm>
        </p:spPr>
        <p:txBody>
          <a:bodyPr/>
          <a:lstStyle>
            <a:lvl1pPr marL="0" indent="0" algn="r">
              <a:buFont typeface="Wingdings" pitchFamily="2" charset="2"/>
              <a:buNone/>
              <a:defRPr sz="1600">
                <a:solidFill>
                  <a:schemeClr val="bg1"/>
                </a:solidFill>
              </a:defRPr>
            </a:lvl1pPr>
          </a:lstStyle>
          <a:p>
            <a:r>
              <a:rPr lang="en-US"/>
              <a:t>Click to edit Master subtitle style</a:t>
            </a:r>
          </a:p>
        </p:txBody>
      </p:sp>
      <p:sp>
        <p:nvSpPr>
          <p:cNvPr id="16" name="Rectangle 4"/>
          <p:cNvSpPr>
            <a:spLocks noGrp="1" noChangeArrowheads="1"/>
          </p:cNvSpPr>
          <p:nvPr>
            <p:ph type="dt" sz="half" idx="10"/>
          </p:nvPr>
        </p:nvSpPr>
        <p:spPr>
          <a:xfrm>
            <a:off x="3352800" y="6553200"/>
            <a:ext cx="2133600" cy="152400"/>
          </a:xfrm>
        </p:spPr>
        <p:txBody>
          <a:bodyPr/>
          <a:lstStyle>
            <a:lvl1pPr algn="r">
              <a:defRPr sz="1000">
                <a:solidFill>
                  <a:schemeClr val="tx2"/>
                </a:solidFill>
                <a:latin typeface="+mn-lt"/>
              </a:defRPr>
            </a:lvl1pPr>
          </a:lstStyle>
          <a:p>
            <a:pPr>
              <a:defRPr/>
            </a:pPr>
            <a:r>
              <a:rPr lang="en-US"/>
              <a:t>Khoa CNTT - UNETI</a:t>
            </a:r>
          </a:p>
        </p:txBody>
      </p:sp>
      <p:sp>
        <p:nvSpPr>
          <p:cNvPr id="17" name="Rectangle 5"/>
          <p:cNvSpPr>
            <a:spLocks noGrp="1" noChangeArrowheads="1"/>
          </p:cNvSpPr>
          <p:nvPr>
            <p:ph type="ftr" sz="quarter" idx="11"/>
          </p:nvPr>
        </p:nvSpPr>
        <p:spPr>
          <a:xfrm>
            <a:off x="304800" y="6477000"/>
            <a:ext cx="2590800" cy="228600"/>
          </a:xfrm>
        </p:spPr>
        <p:txBody>
          <a:bodyPr/>
          <a:lstStyle>
            <a:lvl1pPr algn="ctr">
              <a:defRPr sz="1200">
                <a:solidFill>
                  <a:schemeClr val="tx2"/>
                </a:solidFill>
                <a:latin typeface="Arial" charset="0"/>
              </a:defRPr>
            </a:lvl1pPr>
          </a:lstStyle>
          <a:p>
            <a:pPr>
              <a:defRPr/>
            </a:pPr>
            <a:endParaRPr lang="en-US"/>
          </a:p>
        </p:txBody>
      </p:sp>
      <p:sp>
        <p:nvSpPr>
          <p:cNvPr id="18" name="Rectangle 6"/>
          <p:cNvSpPr>
            <a:spLocks noGrp="1" noChangeArrowheads="1"/>
          </p:cNvSpPr>
          <p:nvPr>
            <p:ph type="sldNum" sz="quarter" idx="12"/>
          </p:nvPr>
        </p:nvSpPr>
        <p:spPr>
          <a:xfrm>
            <a:off x="8210550" y="6467475"/>
            <a:ext cx="533400" cy="244475"/>
          </a:xfrm>
        </p:spPr>
        <p:txBody>
          <a:bodyPr/>
          <a:lstStyle>
            <a:lvl1pPr>
              <a:defRPr sz="1200">
                <a:latin typeface="Arial" charset="0"/>
              </a:defRPr>
            </a:lvl1pPr>
          </a:lstStyle>
          <a:p>
            <a:pPr>
              <a:defRPr/>
            </a:pPr>
            <a:fld id="{C6D4949A-6AB1-4FC2-9B68-AD4CBDC61541}"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6"/>
          <p:cNvSpPr>
            <a:spLocks noGrp="1" noChangeArrowheads="1"/>
          </p:cNvSpPr>
          <p:nvPr>
            <p:ph type="sldNum" sz="quarter" idx="12"/>
          </p:nvPr>
        </p:nvSpPr>
        <p:spPr>
          <a:ln/>
        </p:spPr>
        <p:txBody>
          <a:bodyPr/>
          <a:lstStyle>
            <a:lvl1pPr>
              <a:defRPr/>
            </a:lvl1pPr>
          </a:lstStyle>
          <a:p>
            <a:pPr>
              <a:defRPr/>
            </a:pPr>
            <a:fld id="{38F16FD5-974A-40BB-8233-36E86F2AA732}"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2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6"/>
          <p:cNvSpPr>
            <a:spLocks noGrp="1" noChangeArrowheads="1"/>
          </p:cNvSpPr>
          <p:nvPr>
            <p:ph type="sldNum" sz="quarter" idx="12"/>
          </p:nvPr>
        </p:nvSpPr>
        <p:spPr>
          <a:ln/>
        </p:spPr>
        <p:txBody>
          <a:bodyPr/>
          <a:lstStyle>
            <a:lvl1pPr>
              <a:defRPr sz="1400">
                <a:solidFill>
                  <a:srgbClr val="002060"/>
                </a:solidFill>
              </a:defRPr>
            </a:lvl1pPr>
          </a:lstStyle>
          <a:p>
            <a:pPr>
              <a:defRPr/>
            </a:pPr>
            <a:fld id="{38F16FD5-974A-40BB-8233-36E86F2AA732}" type="slidenum">
              <a:rPr lang="en-US" smtClean="0"/>
              <a:pPr>
                <a:defRPr/>
              </a:pPr>
              <a:t>‹#›</a:t>
            </a:fld>
            <a:endParaRPr lang="en-US"/>
          </a:p>
        </p:txBody>
      </p:sp>
    </p:spTree>
    <p:extLst>
      <p:ext uri="{BB962C8B-B14F-4D97-AF65-F5344CB8AC3E}">
        <p14:creationId xmlns:p14="http://schemas.microsoft.com/office/powerpoint/2010/main" val="24160109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FA5E583-F5BB-4A7C-968E-806973EDB114}"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763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0763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6EADD87-5DE4-4FC8-9754-98A33C5556A2}"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09FAD1ED-0F27-4714-8A61-3EA2C1E8813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CB3A908F-56BE-4858-AD2D-1A4CAAE951CC}"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81136BFC-504A-480F-875D-D2CFCCA5FFC9}"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CC38E81-E6E1-4595-9BE0-D4ED4704EBC3}"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76259F6-250F-48F2-A908-7B59FD9010F8}"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513BACE-ADF4-4A55-8B8C-495A02FEA026}"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81000"/>
            <a:ext cx="2057400" cy="5943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81000"/>
            <a:ext cx="6019800" cy="5943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5B9936B-AF50-4F83-B203-9D59168E1E35}"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Default">
    <p:spTree>
      <p:nvGrpSpPr>
        <p:cNvPr id="1" name=""/>
        <p:cNvGrpSpPr/>
        <p:nvPr/>
      </p:nvGrpSpPr>
      <p:grpSpPr>
        <a:xfrm>
          <a:off x="0" y="0"/>
          <a:ext cx="0" cy="0"/>
          <a:chOff x="0" y="0"/>
          <a:chExt cx="0" cy="0"/>
        </a:xfrm>
      </p:grpSpPr>
      <p:sp>
        <p:nvSpPr>
          <p:cNvPr id="17" name="Shape 17"/>
          <p:cNvSpPr>
            <a:spLocks noGrp="1"/>
          </p:cNvSpPr>
          <p:nvPr>
            <p:ph type="sldNum" sz="quarter" idx="2"/>
          </p:nvPr>
        </p:nvSpPr>
        <p:spPr>
          <a:xfrm>
            <a:off x="8226244" y="6475414"/>
            <a:ext cx="245404" cy="226986"/>
          </a:xfrm>
          <a:prstGeom prst="rect">
            <a:avLst/>
          </a:prstGeom>
        </p:spPr>
        <p:txBody>
          <a:bodyPr/>
          <a:lstStyle/>
          <a:p>
            <a:fld id="{86CB4B4D-7CA3-9044-876B-883B54F8677D}" type="slidenum">
              <a:rPr/>
              <a:t>‹#›</a:t>
            </a:fld>
            <a:endParaRPr/>
          </a:p>
        </p:txBody>
      </p:sp>
      <p:sp>
        <p:nvSpPr>
          <p:cNvPr id="3" name="Text Placeholder 2"/>
          <p:cNvSpPr>
            <a:spLocks noGrp="1"/>
          </p:cNvSpPr>
          <p:nvPr>
            <p:ph type="body" sz="quarter" idx="10" hasCustomPrompt="1"/>
          </p:nvPr>
        </p:nvSpPr>
        <p:spPr>
          <a:xfrm>
            <a:off x="914399" y="6475414"/>
            <a:ext cx="3294530" cy="234668"/>
          </a:xfrm>
        </p:spPr>
        <p:txBody>
          <a:bodyPr/>
          <a:lstStyle>
            <a:lvl1pPr marL="0" indent="0">
              <a:buNone/>
              <a:defRPr sz="1400" baseline="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err="1"/>
              <a:t>Khoa</a:t>
            </a:r>
            <a:r>
              <a:rPr lang="en-US" dirty="0"/>
              <a:t> </a:t>
            </a:r>
            <a:r>
              <a:rPr lang="en-US" dirty="0" err="1"/>
              <a:t>Công</a:t>
            </a:r>
            <a:r>
              <a:rPr lang="en-US" dirty="0"/>
              <a:t> </a:t>
            </a:r>
            <a:r>
              <a:rPr lang="en-US" dirty="0" err="1"/>
              <a:t>nghệ</a:t>
            </a:r>
            <a:r>
              <a:rPr lang="en-US" dirty="0"/>
              <a:t> </a:t>
            </a:r>
            <a:r>
              <a:rPr lang="en-US" dirty="0" err="1"/>
              <a:t>thông</a:t>
            </a:r>
            <a:r>
              <a:rPr lang="en-US" dirty="0"/>
              <a:t> tin - </a:t>
            </a:r>
            <a:r>
              <a:rPr lang="en-US" dirty="0" err="1"/>
              <a:t>Uneti</a:t>
            </a:r>
            <a:endParaRPr lang="en-US" dirty="0"/>
          </a:p>
        </p:txBody>
      </p:sp>
    </p:spTree>
    <p:extLst>
      <p:ext uri="{BB962C8B-B14F-4D97-AF65-F5344CB8AC3E}">
        <p14:creationId xmlns:p14="http://schemas.microsoft.com/office/powerpoint/2010/main" val="253966929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Freeform 15"/>
          <p:cNvSpPr>
            <a:spLocks/>
          </p:cNvSpPr>
          <p:nvPr/>
        </p:nvSpPr>
        <p:spPr bwMode="gray">
          <a:xfrm>
            <a:off x="-9525" y="344488"/>
            <a:ext cx="8194675" cy="633412"/>
          </a:xfrm>
          <a:custGeom>
            <a:avLst/>
            <a:gdLst/>
            <a:ahLst/>
            <a:cxnLst>
              <a:cxn ang="0">
                <a:pos x="0" y="0"/>
              </a:cxn>
              <a:cxn ang="0">
                <a:pos x="5049" y="2"/>
              </a:cxn>
              <a:cxn ang="0">
                <a:pos x="5048" y="1458"/>
              </a:cxn>
              <a:cxn ang="0">
                <a:pos x="0" y="1471"/>
              </a:cxn>
              <a:cxn ang="0">
                <a:pos x="0" y="0"/>
              </a:cxn>
            </a:cxnLst>
            <a:rect l="0" t="0" r="r" b="b"/>
            <a:pathLst>
              <a:path w="5049" h="1471">
                <a:moveTo>
                  <a:pt x="0" y="0"/>
                </a:moveTo>
                <a:lnTo>
                  <a:pt x="5049" y="2"/>
                </a:lnTo>
                <a:lnTo>
                  <a:pt x="5048" y="1458"/>
                </a:lnTo>
                <a:lnTo>
                  <a:pt x="0" y="1471"/>
                </a:lnTo>
                <a:lnTo>
                  <a:pt x="0" y="0"/>
                </a:lnTo>
                <a:close/>
              </a:path>
            </a:pathLst>
          </a:custGeom>
          <a:solidFill>
            <a:schemeClr val="tx2"/>
          </a:solidFill>
          <a:ln w="9525">
            <a:noFill/>
            <a:round/>
            <a:headEnd/>
            <a:tailEnd/>
          </a:ln>
          <a:effectLst/>
        </p:spPr>
        <p:txBody>
          <a:bodyPr/>
          <a:lstStyle/>
          <a:p>
            <a:pPr>
              <a:defRPr/>
            </a:pPr>
            <a:endParaRPr lang="en-US"/>
          </a:p>
        </p:txBody>
      </p:sp>
      <p:grpSp>
        <p:nvGrpSpPr>
          <p:cNvPr id="1027" name="Group 16"/>
          <p:cNvGrpSpPr>
            <a:grpSpLocks/>
          </p:cNvGrpSpPr>
          <p:nvPr/>
        </p:nvGrpSpPr>
        <p:grpSpPr bwMode="auto">
          <a:xfrm>
            <a:off x="8153400" y="0"/>
            <a:ext cx="990600" cy="6858000"/>
            <a:chOff x="5040" y="0"/>
            <a:chExt cx="720" cy="4320"/>
          </a:xfrm>
        </p:grpSpPr>
        <p:sp>
          <p:nvSpPr>
            <p:cNvPr id="1041" name="Rectangle 17"/>
            <p:cNvSpPr>
              <a:spLocks noChangeArrowheads="1"/>
            </p:cNvSpPr>
            <p:nvPr/>
          </p:nvSpPr>
          <p:spPr bwMode="gray">
            <a:xfrm>
              <a:off x="5042" y="0"/>
              <a:ext cx="718" cy="4320"/>
            </a:xfrm>
            <a:prstGeom prst="rect">
              <a:avLst/>
            </a:prstGeom>
            <a:solidFill>
              <a:schemeClr val="folHlink">
                <a:alpha val="39999"/>
              </a:schemeClr>
            </a:solidFill>
            <a:ln w="9525">
              <a:noFill/>
              <a:miter lim="800000"/>
              <a:headEnd/>
              <a:tailEnd/>
            </a:ln>
            <a:effectLst/>
          </p:spPr>
          <p:txBody>
            <a:bodyPr wrap="none" anchor="ctr"/>
            <a:lstStyle/>
            <a:p>
              <a:pPr>
                <a:defRPr/>
              </a:pPr>
              <a:endParaRPr lang="en-US"/>
            </a:p>
          </p:txBody>
        </p:sp>
        <p:sp>
          <p:nvSpPr>
            <p:cNvPr id="1042" name="Rectangle 18"/>
            <p:cNvSpPr>
              <a:spLocks noChangeArrowheads="1"/>
            </p:cNvSpPr>
            <p:nvPr/>
          </p:nvSpPr>
          <p:spPr bwMode="gray">
            <a:xfrm>
              <a:off x="5040" y="219"/>
              <a:ext cx="720" cy="393"/>
            </a:xfrm>
            <a:prstGeom prst="rect">
              <a:avLst/>
            </a:prstGeom>
            <a:solidFill>
              <a:schemeClr val="tx1"/>
            </a:solidFill>
            <a:ln w="9525">
              <a:noFill/>
              <a:miter lim="800000"/>
              <a:headEnd/>
              <a:tailEnd/>
            </a:ln>
            <a:effectLst/>
          </p:spPr>
          <p:txBody>
            <a:bodyPr wrap="none" anchor="ctr"/>
            <a:lstStyle/>
            <a:p>
              <a:pPr>
                <a:defRPr/>
              </a:pPr>
              <a:endParaRPr lang="en-US"/>
            </a:p>
          </p:txBody>
        </p:sp>
      </p:grpSp>
      <p:sp>
        <p:nvSpPr>
          <p:cNvPr id="1043" name="AutoShape 19"/>
          <p:cNvSpPr>
            <a:spLocks noChangeArrowheads="1"/>
          </p:cNvSpPr>
          <p:nvPr/>
        </p:nvSpPr>
        <p:spPr bwMode="gray">
          <a:xfrm>
            <a:off x="7696200" y="5943600"/>
            <a:ext cx="609600" cy="533400"/>
          </a:xfrm>
          <a:prstGeom prst="hexagon">
            <a:avLst>
              <a:gd name="adj" fmla="val 28571"/>
              <a:gd name="vf" fmla="val 115470"/>
            </a:avLst>
          </a:prstGeom>
          <a:solidFill>
            <a:srgbClr val="5086C2">
              <a:alpha val="35001"/>
            </a:srgbClr>
          </a:solidFill>
          <a:ln w="9525">
            <a:noFill/>
            <a:miter lim="800000"/>
            <a:headEnd/>
            <a:tailEnd/>
          </a:ln>
          <a:effectLst/>
        </p:spPr>
        <p:txBody>
          <a:bodyPr wrap="none" anchor="ctr"/>
          <a:lstStyle/>
          <a:p>
            <a:pPr>
              <a:defRPr/>
            </a:pPr>
            <a:endParaRPr lang="en-US"/>
          </a:p>
        </p:txBody>
      </p:sp>
      <p:sp>
        <p:nvSpPr>
          <p:cNvPr id="1044" name="AutoShape 20"/>
          <p:cNvSpPr>
            <a:spLocks noChangeArrowheads="1"/>
          </p:cNvSpPr>
          <p:nvPr/>
        </p:nvSpPr>
        <p:spPr bwMode="gray">
          <a:xfrm>
            <a:off x="8229600" y="5638800"/>
            <a:ext cx="609600" cy="533400"/>
          </a:xfrm>
          <a:prstGeom prst="hexagon">
            <a:avLst>
              <a:gd name="adj" fmla="val 28571"/>
              <a:gd name="vf" fmla="val 115470"/>
            </a:avLst>
          </a:prstGeom>
          <a:solidFill>
            <a:srgbClr val="5086C2">
              <a:alpha val="35001"/>
            </a:srgbClr>
          </a:solidFill>
          <a:ln w="9525">
            <a:noFill/>
            <a:miter lim="800000"/>
            <a:headEnd/>
            <a:tailEnd/>
          </a:ln>
          <a:effectLst/>
        </p:spPr>
        <p:txBody>
          <a:bodyPr wrap="none" anchor="ctr"/>
          <a:lstStyle/>
          <a:p>
            <a:pPr>
              <a:defRPr/>
            </a:pPr>
            <a:endParaRPr lang="en-US"/>
          </a:p>
        </p:txBody>
      </p:sp>
      <p:sp>
        <p:nvSpPr>
          <p:cNvPr id="1045" name="AutoShape 21"/>
          <p:cNvSpPr>
            <a:spLocks noChangeArrowheads="1"/>
          </p:cNvSpPr>
          <p:nvPr/>
        </p:nvSpPr>
        <p:spPr bwMode="gray">
          <a:xfrm>
            <a:off x="8220075" y="6229350"/>
            <a:ext cx="609600" cy="533400"/>
          </a:xfrm>
          <a:prstGeom prst="hexagon">
            <a:avLst>
              <a:gd name="adj" fmla="val 28571"/>
              <a:gd name="vf" fmla="val 115470"/>
            </a:avLst>
          </a:prstGeom>
          <a:solidFill>
            <a:srgbClr val="5086C2">
              <a:alpha val="35001"/>
            </a:srgbClr>
          </a:solidFill>
          <a:ln w="9525">
            <a:noFill/>
            <a:miter lim="800000"/>
            <a:headEnd/>
            <a:tailEnd/>
          </a:ln>
          <a:effectLst/>
        </p:spPr>
        <p:txBody>
          <a:bodyPr wrap="none" anchor="ctr"/>
          <a:lstStyle/>
          <a:p>
            <a:pPr>
              <a:defRPr/>
            </a:pPr>
            <a:endParaRPr lang="en-US"/>
          </a:p>
        </p:txBody>
      </p:sp>
      <p:sp>
        <p:nvSpPr>
          <p:cNvPr id="1031" name="Rectangle 3"/>
          <p:cNvSpPr>
            <a:spLocks noGrp="1" noChangeArrowheads="1"/>
          </p:cNvSpPr>
          <p:nvPr>
            <p:ph type="body" idx="1"/>
          </p:nvPr>
        </p:nvSpPr>
        <p:spPr bwMode="auto">
          <a:xfrm>
            <a:off x="457200" y="1076325"/>
            <a:ext cx="8229600"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519863"/>
            <a:ext cx="2133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400">
                <a:solidFill>
                  <a:schemeClr val="tx1"/>
                </a:solidFill>
              </a:defRPr>
            </a:lvl1pPr>
          </a:lstStyle>
          <a:p>
            <a:pPr>
              <a:defRPr/>
            </a:pPr>
            <a:r>
              <a:rPr lang="en-US"/>
              <a:t>Khoa CNTT - UNETI</a:t>
            </a:r>
          </a:p>
        </p:txBody>
      </p:sp>
      <p:sp>
        <p:nvSpPr>
          <p:cNvPr id="1029" name="Rectangle 5"/>
          <p:cNvSpPr>
            <a:spLocks noGrp="1" noChangeArrowheads="1"/>
          </p:cNvSpPr>
          <p:nvPr>
            <p:ph type="ftr" sz="quarter" idx="3"/>
          </p:nvPr>
        </p:nvSpPr>
        <p:spPr bwMode="auto">
          <a:xfrm>
            <a:off x="5181600" y="6477000"/>
            <a:ext cx="2895600" cy="233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solidFill>
                  <a:schemeClr val="tx1"/>
                </a:solidFill>
                <a:latin typeface="+mn-lt"/>
              </a:defRPr>
            </a:lvl1pPr>
          </a:lstStyle>
          <a:p>
            <a:pPr>
              <a:defRPr/>
            </a:pPr>
            <a:endParaRPr lang="en-US"/>
          </a:p>
        </p:txBody>
      </p:sp>
      <p:sp>
        <p:nvSpPr>
          <p:cNvPr id="1030" name="Rectangle 6"/>
          <p:cNvSpPr>
            <a:spLocks noGrp="1" noChangeArrowheads="1"/>
          </p:cNvSpPr>
          <p:nvPr>
            <p:ph type="sldNum" sz="quarter" idx="4"/>
          </p:nvPr>
        </p:nvSpPr>
        <p:spPr bwMode="auto">
          <a:xfrm>
            <a:off x="8286750" y="6386513"/>
            <a:ext cx="4572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atin typeface="+mn-lt"/>
              </a:defRPr>
            </a:lvl1pPr>
          </a:lstStyle>
          <a:p>
            <a:pPr>
              <a:defRPr/>
            </a:pPr>
            <a:fld id="{3DD6941D-3DCA-4DBC-80FB-7A196F783DA7}" type="slidenum">
              <a:rPr lang="en-US"/>
              <a:pPr>
                <a:defRPr/>
              </a:pPr>
              <a:t>‹#›</a:t>
            </a:fld>
            <a:endParaRPr lang="en-US"/>
          </a:p>
        </p:txBody>
      </p:sp>
      <p:grpSp>
        <p:nvGrpSpPr>
          <p:cNvPr id="1035" name="Group 22"/>
          <p:cNvGrpSpPr>
            <a:grpSpLocks/>
          </p:cNvGrpSpPr>
          <p:nvPr/>
        </p:nvGrpSpPr>
        <p:grpSpPr bwMode="auto">
          <a:xfrm>
            <a:off x="152400" y="228600"/>
            <a:ext cx="838200" cy="838200"/>
            <a:chOff x="18" y="144"/>
            <a:chExt cx="510" cy="480"/>
          </a:xfrm>
        </p:grpSpPr>
        <p:sp>
          <p:nvSpPr>
            <p:cNvPr id="1047" name="AutoShape 23"/>
            <p:cNvSpPr>
              <a:spLocks noChangeArrowheads="1"/>
            </p:cNvSpPr>
            <p:nvPr userDrawn="1"/>
          </p:nvSpPr>
          <p:spPr bwMode="gray">
            <a:xfrm>
              <a:off x="18" y="258"/>
              <a:ext cx="288" cy="240"/>
            </a:xfrm>
            <a:prstGeom prst="hexagon">
              <a:avLst>
                <a:gd name="adj" fmla="val 30000"/>
                <a:gd name="vf" fmla="val 115470"/>
              </a:avLst>
            </a:prstGeom>
            <a:solidFill>
              <a:schemeClr val="hlink"/>
            </a:solidFill>
            <a:ln w="28575">
              <a:solidFill>
                <a:schemeClr val="bg1"/>
              </a:solidFill>
              <a:miter lim="800000"/>
              <a:headEnd/>
              <a:tailEnd/>
            </a:ln>
            <a:effectLst>
              <a:outerShdw dist="56796" dir="1593903" algn="ctr" rotWithShape="0">
                <a:srgbClr val="666633">
                  <a:alpha val="50000"/>
                </a:srgbClr>
              </a:outerShdw>
            </a:effectLst>
          </p:spPr>
          <p:txBody>
            <a:bodyPr wrap="none" anchor="ctr"/>
            <a:lstStyle/>
            <a:p>
              <a:pPr>
                <a:defRPr/>
              </a:pPr>
              <a:endParaRPr lang="en-US"/>
            </a:p>
          </p:txBody>
        </p:sp>
        <p:sp>
          <p:nvSpPr>
            <p:cNvPr id="1048" name="AutoShape 24"/>
            <p:cNvSpPr>
              <a:spLocks noChangeArrowheads="1"/>
            </p:cNvSpPr>
            <p:nvPr userDrawn="1"/>
          </p:nvSpPr>
          <p:spPr bwMode="gray">
            <a:xfrm>
              <a:off x="240" y="144"/>
              <a:ext cx="288" cy="240"/>
            </a:xfrm>
            <a:prstGeom prst="hexagon">
              <a:avLst>
                <a:gd name="adj" fmla="val 30000"/>
                <a:gd name="vf" fmla="val 115470"/>
              </a:avLst>
            </a:prstGeom>
            <a:solidFill>
              <a:schemeClr val="accent2"/>
            </a:solidFill>
            <a:ln w="28575">
              <a:solidFill>
                <a:schemeClr val="bg1"/>
              </a:solidFill>
              <a:miter lim="800000"/>
              <a:headEnd/>
              <a:tailEnd/>
            </a:ln>
            <a:effectLst>
              <a:outerShdw dist="56796" dir="1593903" algn="ctr" rotWithShape="0">
                <a:srgbClr val="666633">
                  <a:alpha val="50000"/>
                </a:srgbClr>
              </a:outerShdw>
            </a:effectLst>
          </p:spPr>
          <p:txBody>
            <a:bodyPr wrap="none" anchor="ctr"/>
            <a:lstStyle/>
            <a:p>
              <a:pPr>
                <a:defRPr/>
              </a:pPr>
              <a:endParaRPr lang="en-US"/>
            </a:p>
          </p:txBody>
        </p:sp>
        <p:sp>
          <p:nvSpPr>
            <p:cNvPr id="1049" name="AutoShape 25"/>
            <p:cNvSpPr>
              <a:spLocks noChangeArrowheads="1"/>
            </p:cNvSpPr>
            <p:nvPr userDrawn="1"/>
          </p:nvSpPr>
          <p:spPr bwMode="gray">
            <a:xfrm>
              <a:off x="240" y="384"/>
              <a:ext cx="288" cy="240"/>
            </a:xfrm>
            <a:prstGeom prst="hexagon">
              <a:avLst>
                <a:gd name="adj" fmla="val 30000"/>
                <a:gd name="vf" fmla="val 115470"/>
              </a:avLst>
            </a:prstGeom>
            <a:solidFill>
              <a:schemeClr val="accent1"/>
            </a:solidFill>
            <a:ln w="28575">
              <a:solidFill>
                <a:schemeClr val="bg1"/>
              </a:solidFill>
              <a:miter lim="800000"/>
              <a:headEnd/>
              <a:tailEnd/>
            </a:ln>
            <a:effectLst>
              <a:outerShdw dist="56796" dir="1593903" algn="ctr" rotWithShape="0">
                <a:srgbClr val="666633">
                  <a:alpha val="50000"/>
                </a:srgbClr>
              </a:outerShdw>
            </a:effectLst>
          </p:spPr>
          <p:txBody>
            <a:bodyPr wrap="none" anchor="ctr"/>
            <a:lstStyle/>
            <a:p>
              <a:pPr>
                <a:defRPr/>
              </a:pPr>
              <a:endParaRPr lang="en-US"/>
            </a:p>
          </p:txBody>
        </p:sp>
      </p:grpSp>
      <p:sp>
        <p:nvSpPr>
          <p:cNvPr id="1036" name="Rectangle 2"/>
          <p:cNvSpPr>
            <a:spLocks noGrp="1" noChangeArrowheads="1"/>
          </p:cNvSpPr>
          <p:nvPr>
            <p:ph type="title"/>
          </p:nvPr>
        </p:nvSpPr>
        <p:spPr bwMode="white">
          <a:xfrm>
            <a:off x="1143000" y="381000"/>
            <a:ext cx="67056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Tree>
  </p:cSld>
  <p:clrMap bg1="lt1" tx1="dk1" bg2="lt2" tx2="dk2" accent1="accent1" accent2="accent2" accent3="accent3" accent4="accent4" accent5="accent5" accent6="accent6" hlink="hlink" folHlink="folHlink"/>
  <p:sldLayoutIdLst>
    <p:sldLayoutId id="2147483843" r:id="rId1"/>
    <p:sldLayoutId id="2147483833" r:id="rId2"/>
    <p:sldLayoutId id="2147483965"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 id="2147483842" r:id="rId12"/>
    <p:sldLayoutId id="2147483967" r:id="rId13"/>
  </p:sldLayoutIdLst>
  <p:hf hdr="0" ftr="0"/>
  <p:txStyles>
    <p:title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p:titleStyle>
    <p:body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sp>
        <p:nvSpPr>
          <p:cNvPr id="6" name="Title 1"/>
          <p:cNvSpPr txBox="1">
            <a:spLocks/>
          </p:cNvSpPr>
          <p:nvPr/>
        </p:nvSpPr>
        <p:spPr bwMode="gray">
          <a:xfrm>
            <a:off x="-76200" y="228600"/>
            <a:ext cx="10210800" cy="762000"/>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chor="ctr"/>
          <a:lstStyle/>
          <a:p>
            <a:pPr>
              <a:defRPr/>
            </a:pPr>
            <a:r>
              <a:rPr lang="en-US" sz="1800" b="1" kern="0">
                <a:solidFill>
                  <a:schemeClr val="tx1"/>
                </a:solidFill>
                <a:latin typeface="+mj-lt"/>
                <a:ea typeface="+mj-ea"/>
                <a:cs typeface="+mj-cs"/>
              </a:rPr>
              <a:t>TRƯỜNG ĐẠI HỌC KINH TẾ KỸ THUẬT CÔNG NGHIỆP</a:t>
            </a:r>
          </a:p>
          <a:p>
            <a:pPr>
              <a:defRPr/>
            </a:pPr>
            <a:r>
              <a:rPr lang="en-US" sz="1800" b="1" kern="0" err="1">
                <a:solidFill>
                  <a:schemeClr val="tx1"/>
                </a:solidFill>
                <a:latin typeface="+mj-lt"/>
                <a:ea typeface="+mj-ea"/>
                <a:cs typeface="+mj-cs"/>
              </a:rPr>
              <a:t>Khoa</a:t>
            </a:r>
            <a:r>
              <a:rPr lang="en-US" sz="1800" b="1" kern="0">
                <a:solidFill>
                  <a:schemeClr val="tx1"/>
                </a:solidFill>
                <a:latin typeface="+mj-lt"/>
                <a:ea typeface="+mj-ea"/>
                <a:cs typeface="+mj-cs"/>
              </a:rPr>
              <a:t> </a:t>
            </a:r>
            <a:r>
              <a:rPr lang="en-US" sz="1800" b="1" kern="0" err="1">
                <a:solidFill>
                  <a:schemeClr val="tx1"/>
                </a:solidFill>
                <a:latin typeface="+mj-lt"/>
                <a:ea typeface="+mj-ea"/>
                <a:cs typeface="+mj-cs"/>
              </a:rPr>
              <a:t>Công</a:t>
            </a:r>
            <a:r>
              <a:rPr lang="en-US" sz="1800" b="1" kern="0">
                <a:solidFill>
                  <a:schemeClr val="tx1"/>
                </a:solidFill>
                <a:latin typeface="+mj-lt"/>
                <a:ea typeface="+mj-ea"/>
                <a:cs typeface="+mj-cs"/>
              </a:rPr>
              <a:t> </a:t>
            </a:r>
            <a:r>
              <a:rPr lang="en-US" sz="1800" b="1" kern="0" err="1">
                <a:solidFill>
                  <a:schemeClr val="tx1"/>
                </a:solidFill>
                <a:latin typeface="+mj-lt"/>
                <a:ea typeface="+mj-ea"/>
                <a:cs typeface="+mj-cs"/>
              </a:rPr>
              <a:t>Nghệ</a:t>
            </a:r>
            <a:r>
              <a:rPr lang="en-US" sz="1800" b="1" kern="0">
                <a:solidFill>
                  <a:schemeClr val="tx1"/>
                </a:solidFill>
                <a:latin typeface="+mj-lt"/>
                <a:ea typeface="+mj-ea"/>
                <a:cs typeface="+mj-cs"/>
              </a:rPr>
              <a:t> </a:t>
            </a:r>
            <a:r>
              <a:rPr lang="en-US" sz="1800" b="1" kern="0" err="1">
                <a:solidFill>
                  <a:schemeClr val="tx1"/>
                </a:solidFill>
                <a:latin typeface="+mj-lt"/>
                <a:ea typeface="+mj-ea"/>
                <a:cs typeface="+mj-cs"/>
              </a:rPr>
              <a:t>Thông</a:t>
            </a:r>
            <a:r>
              <a:rPr lang="en-US" sz="1800" b="1" kern="0">
                <a:solidFill>
                  <a:schemeClr val="tx1"/>
                </a:solidFill>
                <a:latin typeface="+mj-lt"/>
                <a:ea typeface="+mj-ea"/>
                <a:cs typeface="+mj-cs"/>
              </a:rPr>
              <a:t> Tin</a:t>
            </a:r>
          </a:p>
          <a:p>
            <a:pPr>
              <a:defRPr/>
            </a:pPr>
            <a:r>
              <a:rPr lang="en-US" sz="1800" b="1" kern="0">
                <a:solidFill>
                  <a:schemeClr val="tx1"/>
                </a:solidFill>
                <a:latin typeface="+mj-lt"/>
                <a:ea typeface="+mj-ea"/>
                <a:cs typeface="+mj-cs"/>
              </a:rPr>
              <a:t>-------</a:t>
            </a:r>
            <a:r>
              <a:rPr lang="en-US" sz="1800" b="1" kern="0">
                <a:solidFill>
                  <a:schemeClr val="tx1"/>
                </a:solidFill>
                <a:latin typeface="+mj-lt"/>
                <a:ea typeface="+mj-ea"/>
                <a:cs typeface="+mj-cs"/>
                <a:sym typeface="Wingdings"/>
              </a:rPr>
              <a:t></a:t>
            </a:r>
            <a:r>
              <a:rPr lang="en-US" sz="1800" b="1" kern="0">
                <a:solidFill>
                  <a:schemeClr val="tx1"/>
                </a:solidFill>
                <a:latin typeface="+mj-lt"/>
                <a:ea typeface="+mj-ea"/>
                <a:cs typeface="+mj-cs"/>
              </a:rPr>
              <a:t>------</a:t>
            </a:r>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8" name="Rectangle 2"/>
          <p:cNvSpPr txBox="1">
            <a:spLocks noChangeArrowheads="1"/>
          </p:cNvSpPr>
          <p:nvPr/>
        </p:nvSpPr>
        <p:spPr bwMode="gray">
          <a:xfrm>
            <a:off x="2133600" y="1219200"/>
            <a:ext cx="67056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4000" b="1" i="0" u="none" strike="noStrike" kern="0" cap="none" spc="0" normalizeH="0" baseline="0" noProof="0">
                <a:ln>
                  <a:noFill/>
                </a:ln>
                <a:solidFill>
                  <a:srgbClr val="FF0000"/>
                </a:solidFill>
                <a:effectLst/>
                <a:uLnTx/>
                <a:uFillTx/>
                <a:latin typeface="+mj-lt"/>
                <a:ea typeface="+mj-ea"/>
                <a:cs typeface="+mj-cs"/>
              </a:rPr>
              <a:t>LẬP TR</a:t>
            </a:r>
            <a:r>
              <a:rPr lang="en-US" sz="4000" b="1" kern="0">
                <a:solidFill>
                  <a:srgbClr val="FF0000"/>
                </a:solidFill>
                <a:latin typeface="+mj-lt"/>
                <a:ea typeface="+mj-ea"/>
                <a:cs typeface="+mj-cs"/>
              </a:rPr>
              <a:t>ÌNH DI ĐỘNG</a:t>
            </a:r>
            <a:endParaRPr kumimoji="0" lang="en-US" sz="4000" b="1" i="0" u="none" strike="noStrike" kern="0" cap="none" spc="0" normalizeH="0" baseline="0" noProof="0">
              <a:ln>
                <a:noFill/>
              </a:ln>
              <a:solidFill>
                <a:srgbClr val="FF0000"/>
              </a:solidFill>
              <a:effectLst/>
              <a:uLnTx/>
              <a:uFillTx/>
              <a:latin typeface="+mj-lt"/>
              <a:ea typeface="+mj-ea"/>
              <a:cs typeface="+mj-cs"/>
            </a:endParaRPr>
          </a:p>
        </p:txBody>
      </p:sp>
      <p:sp>
        <p:nvSpPr>
          <p:cNvPr id="7" name="Shape 43"/>
          <p:cNvSpPr txBox="1">
            <a:spLocks/>
          </p:cNvSpPr>
          <p:nvPr/>
        </p:nvSpPr>
        <p:spPr bwMode="auto">
          <a:xfrm>
            <a:off x="3048000" y="2165888"/>
            <a:ext cx="5334000" cy="2209800"/>
          </a:xfrm>
          <a:prstGeom prst="rect">
            <a:avLst/>
          </a:prstGeom>
          <a:noFill/>
          <a:ln w="9525">
            <a:noFill/>
            <a:miter lim="800000"/>
            <a:headEnd/>
            <a:tailEnd/>
          </a:ln>
          <a:extLst>
            <a:ext uri="{C572A759-6A51-4108-AA02-DFA0A04FC94B}">
              <ma14:wrappingTextBoxFlag xmlns="" xmlns:ma14="http://schemas.microsoft.com/office/mac/drawingml/2011/main" val="1"/>
            </a:ext>
          </a:extLst>
        </p:spPr>
        <p:txBody>
          <a:bodyPr vert="horz" wrap="square" lIns="91440" tIns="45720" rIns="91440" bIns="45720" numCol="1" anchor="ctr" anchorCtr="0" compatLnSpc="1">
            <a:prstTxWarp prst="textNoShape">
              <a:avLst/>
            </a:prstTxWarp>
            <a:normAutofit lnSpcReduction="10000"/>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lgn="ctr">
              <a:spcBef>
                <a:spcPts val="900"/>
              </a:spcBef>
              <a:buFont typeface="Wingdings" pitchFamily="2" charset="2"/>
              <a:buNone/>
              <a:defRPr sz="4000" b="1">
                <a:solidFill>
                  <a:srgbClr val="260026"/>
                </a:solidFill>
              </a:defRPr>
            </a:pPr>
            <a:r>
              <a:rPr lang="vi-VN" sz="3600" b="1" kern="0">
                <a:solidFill>
                  <a:schemeClr val="bg1"/>
                </a:solidFill>
              </a:rPr>
              <a:t>CHƯƠNG </a:t>
            </a:r>
            <a:r>
              <a:rPr lang="en-US" sz="3600" b="1" kern="0">
                <a:solidFill>
                  <a:schemeClr val="bg1"/>
                </a:solidFill>
              </a:rPr>
              <a:t>4: LẬP TRÌNH USER INTERFACE NÂNG CAO</a:t>
            </a:r>
            <a:endParaRPr lang="vi-VN" sz="3600" b="1" kern="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381000"/>
            <a:ext cx="8458200" cy="563563"/>
          </a:xfrm>
        </p:spPr>
        <p:txBody>
          <a:bodyPr/>
          <a:lstStyle/>
          <a:p>
            <a:r>
              <a:rPr lang="en-US" sz="2400" b="1" err="1"/>
              <a:t>Chương</a:t>
            </a:r>
            <a:r>
              <a:rPr lang="en-US" sz="2400" b="1"/>
              <a:t> 4 – Lập trình User Interface nâng cao</a:t>
            </a:r>
          </a:p>
        </p:txBody>
      </p:sp>
      <p:sp>
        <p:nvSpPr>
          <p:cNvPr id="19" name="Line 13"/>
          <p:cNvSpPr>
            <a:spLocks noChangeShapeType="1"/>
          </p:cNvSpPr>
          <p:nvPr/>
        </p:nvSpPr>
        <p:spPr bwMode="gray">
          <a:xfrm>
            <a:off x="1830001" y="4492628"/>
            <a:ext cx="4800600" cy="0"/>
          </a:xfrm>
          <a:prstGeom prst="line">
            <a:avLst/>
          </a:prstGeom>
          <a:noFill/>
          <a:ln w="25400">
            <a:solidFill>
              <a:schemeClr val="tx2"/>
            </a:solidFill>
            <a:prstDash val="sysDot"/>
            <a:round/>
            <a:headEnd/>
            <a:tailEnd type="oval" w="med" len="med"/>
          </a:ln>
          <a:effectLst/>
        </p:spPr>
        <p:txBody>
          <a:bodyPr wrap="none" anchor="ctr"/>
          <a:lstStyle/>
          <a:p>
            <a:endParaRPr lang="en-US"/>
          </a:p>
        </p:txBody>
      </p:sp>
      <p:sp>
        <p:nvSpPr>
          <p:cNvPr id="30" name="Rectangle 14"/>
          <p:cNvSpPr>
            <a:spLocks noChangeArrowheads="1"/>
          </p:cNvSpPr>
          <p:nvPr/>
        </p:nvSpPr>
        <p:spPr bwMode="gray">
          <a:xfrm rot="3419336">
            <a:off x="1545838" y="3916366"/>
            <a:ext cx="479425" cy="520700"/>
          </a:xfrm>
          <a:prstGeom prst="rect">
            <a:avLst/>
          </a:prstGeom>
          <a:gradFill rotWithShape="1">
            <a:gsLst>
              <a:gs pos="0">
                <a:schemeClr val="folHlink"/>
              </a:gs>
              <a:gs pos="100000">
                <a:schemeClr val="folHlink">
                  <a:gamma/>
                  <a:shade val="46275"/>
                  <a:invGamma/>
                </a:schemeClr>
              </a:gs>
            </a:gsLst>
            <a:lin ang="5400000" scaled="1"/>
          </a:gra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chemeClr val="folHlink"/>
            </a:extrusionClr>
          </a:sp3d>
        </p:spPr>
        <p:txBody>
          <a:bodyPr wrap="none" anchor="ctr">
            <a:flatTx/>
          </a:bodyPr>
          <a:lstStyle/>
          <a:p>
            <a:endParaRPr lang="en-US"/>
          </a:p>
        </p:txBody>
      </p:sp>
      <p:sp>
        <p:nvSpPr>
          <p:cNvPr id="31" name="Text Box 15"/>
          <p:cNvSpPr txBox="1">
            <a:spLocks noChangeArrowheads="1"/>
          </p:cNvSpPr>
          <p:nvPr/>
        </p:nvSpPr>
        <p:spPr bwMode="gray">
          <a:xfrm>
            <a:off x="1472074" y="3959228"/>
            <a:ext cx="612668" cy="461665"/>
          </a:xfrm>
          <a:prstGeom prst="rect">
            <a:avLst/>
          </a:prstGeom>
          <a:noFill/>
          <a:ln w="9525" algn="ctr">
            <a:noFill/>
            <a:miter lim="800000"/>
            <a:headEnd/>
            <a:tailEnd/>
          </a:ln>
          <a:effectLst/>
        </p:spPr>
        <p:txBody>
          <a:bodyPr wrap="none">
            <a:spAutoFit/>
          </a:bodyPr>
          <a:lstStyle/>
          <a:p>
            <a:pPr algn="ctr" eaLnBrk="0" hangingPunct="0"/>
            <a:r>
              <a:rPr lang="en-US" sz="2400" b="1">
                <a:solidFill>
                  <a:srgbClr val="FFFFFF"/>
                </a:solidFill>
              </a:rPr>
              <a:t>1.3</a:t>
            </a:r>
          </a:p>
        </p:txBody>
      </p:sp>
      <p:sp>
        <p:nvSpPr>
          <p:cNvPr id="32" name="Line 16"/>
          <p:cNvSpPr>
            <a:spLocks noChangeShapeType="1"/>
          </p:cNvSpPr>
          <p:nvPr/>
        </p:nvSpPr>
        <p:spPr bwMode="gray">
          <a:xfrm>
            <a:off x="1843253" y="2933083"/>
            <a:ext cx="4800600" cy="0"/>
          </a:xfrm>
          <a:prstGeom prst="line">
            <a:avLst/>
          </a:prstGeom>
          <a:noFill/>
          <a:ln w="25400">
            <a:solidFill>
              <a:schemeClr val="tx2"/>
            </a:solidFill>
            <a:prstDash val="sysDot"/>
            <a:round/>
            <a:headEnd/>
            <a:tailEnd type="oval" w="med" len="med"/>
          </a:ln>
          <a:effectLst/>
        </p:spPr>
        <p:txBody>
          <a:bodyPr wrap="none" anchor="ctr"/>
          <a:lstStyle/>
          <a:p>
            <a:endParaRPr lang="en-US"/>
          </a:p>
        </p:txBody>
      </p:sp>
      <p:sp>
        <p:nvSpPr>
          <p:cNvPr id="33" name="Rectangle 17"/>
          <p:cNvSpPr>
            <a:spLocks noChangeArrowheads="1"/>
          </p:cNvSpPr>
          <p:nvPr/>
        </p:nvSpPr>
        <p:spPr bwMode="gray">
          <a:xfrm rot="3419336">
            <a:off x="1559090" y="2356821"/>
            <a:ext cx="479425" cy="520700"/>
          </a:xfrm>
          <a:prstGeom prst="rect">
            <a:avLst/>
          </a:prstGeom>
          <a:gradFill rotWithShape="1">
            <a:gsLst>
              <a:gs pos="0">
                <a:schemeClr val="accent1"/>
              </a:gs>
              <a:gs pos="100000">
                <a:schemeClr val="accent1">
                  <a:gamma/>
                  <a:shade val="46275"/>
                  <a:invGamma/>
                </a:schemeClr>
              </a:gs>
            </a:gsLst>
            <a:lin ang="5400000" scaled="1"/>
          </a:gra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chemeClr val="accent1"/>
            </a:extrusionClr>
          </a:sp3d>
        </p:spPr>
        <p:txBody>
          <a:bodyPr wrap="none" anchor="ctr">
            <a:flatTx/>
          </a:bodyPr>
          <a:lstStyle/>
          <a:p>
            <a:endParaRPr lang="en-US"/>
          </a:p>
        </p:txBody>
      </p:sp>
      <p:sp>
        <p:nvSpPr>
          <p:cNvPr id="35" name="Text Box 19"/>
          <p:cNvSpPr txBox="1">
            <a:spLocks noChangeArrowheads="1"/>
          </p:cNvSpPr>
          <p:nvPr/>
        </p:nvSpPr>
        <p:spPr bwMode="gray">
          <a:xfrm>
            <a:off x="1485326" y="2399683"/>
            <a:ext cx="612668" cy="461665"/>
          </a:xfrm>
          <a:prstGeom prst="rect">
            <a:avLst/>
          </a:prstGeom>
          <a:noFill/>
          <a:ln w="9525" algn="ctr">
            <a:noFill/>
            <a:miter lim="800000"/>
            <a:headEnd/>
            <a:tailEnd/>
          </a:ln>
          <a:effectLst/>
        </p:spPr>
        <p:txBody>
          <a:bodyPr wrap="none">
            <a:spAutoFit/>
          </a:bodyPr>
          <a:lstStyle/>
          <a:p>
            <a:pPr algn="ctr" eaLnBrk="0" hangingPunct="0"/>
            <a:r>
              <a:rPr lang="en-US" sz="2400" b="1">
                <a:solidFill>
                  <a:srgbClr val="FFFFFF"/>
                </a:solidFill>
              </a:rPr>
              <a:t>1.1</a:t>
            </a:r>
          </a:p>
        </p:txBody>
      </p:sp>
      <p:sp>
        <p:nvSpPr>
          <p:cNvPr id="39" name="Line 23"/>
          <p:cNvSpPr>
            <a:spLocks noChangeShapeType="1"/>
          </p:cNvSpPr>
          <p:nvPr/>
        </p:nvSpPr>
        <p:spPr bwMode="gray">
          <a:xfrm>
            <a:off x="1834902" y="3694476"/>
            <a:ext cx="4799012" cy="1587"/>
          </a:xfrm>
          <a:prstGeom prst="line">
            <a:avLst/>
          </a:prstGeom>
          <a:noFill/>
          <a:ln w="25400">
            <a:solidFill>
              <a:schemeClr val="tx2"/>
            </a:solidFill>
            <a:prstDash val="sysDot"/>
            <a:round/>
            <a:headEnd/>
            <a:tailEnd type="oval" w="med" len="med"/>
          </a:ln>
          <a:effectLst/>
        </p:spPr>
        <p:txBody>
          <a:bodyPr wrap="none" anchor="ctr"/>
          <a:lstStyle/>
          <a:p>
            <a:endParaRPr lang="en-US"/>
          </a:p>
        </p:txBody>
      </p:sp>
      <p:sp>
        <p:nvSpPr>
          <p:cNvPr id="40" name="Rectangle 24"/>
          <p:cNvSpPr>
            <a:spLocks noChangeArrowheads="1"/>
          </p:cNvSpPr>
          <p:nvPr/>
        </p:nvSpPr>
        <p:spPr bwMode="gray">
          <a:xfrm rot="3419336">
            <a:off x="1549151" y="3119801"/>
            <a:ext cx="479425" cy="520700"/>
          </a:xfrm>
          <a:prstGeom prst="rect">
            <a:avLst/>
          </a:prstGeom>
          <a:gradFill rotWithShape="1">
            <a:gsLst>
              <a:gs pos="0">
                <a:schemeClr val="hlink"/>
              </a:gs>
              <a:gs pos="100000">
                <a:schemeClr val="hlink">
                  <a:gamma/>
                  <a:shade val="46275"/>
                  <a:invGamma/>
                </a:schemeClr>
              </a:gs>
            </a:gsLst>
            <a:lin ang="5400000" scaled="1"/>
          </a:gra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chemeClr val="hlink"/>
            </a:extrusionClr>
          </a:sp3d>
        </p:spPr>
        <p:txBody>
          <a:bodyPr wrap="none" anchor="ctr">
            <a:flatTx/>
          </a:bodyPr>
          <a:lstStyle/>
          <a:p>
            <a:endParaRPr lang="en-US"/>
          </a:p>
        </p:txBody>
      </p:sp>
      <p:sp>
        <p:nvSpPr>
          <p:cNvPr id="41" name="Text Box 25"/>
          <p:cNvSpPr txBox="1">
            <a:spLocks noChangeArrowheads="1"/>
          </p:cNvSpPr>
          <p:nvPr/>
        </p:nvSpPr>
        <p:spPr bwMode="gray">
          <a:xfrm>
            <a:off x="1475387" y="3162663"/>
            <a:ext cx="612668" cy="461665"/>
          </a:xfrm>
          <a:prstGeom prst="rect">
            <a:avLst/>
          </a:prstGeom>
          <a:noFill/>
          <a:ln w="9525" algn="ctr">
            <a:noFill/>
            <a:miter lim="800000"/>
            <a:headEnd/>
            <a:tailEnd/>
          </a:ln>
          <a:effectLst/>
        </p:spPr>
        <p:txBody>
          <a:bodyPr wrap="none">
            <a:spAutoFit/>
          </a:bodyPr>
          <a:lstStyle/>
          <a:p>
            <a:pPr algn="ctr" eaLnBrk="0" hangingPunct="0"/>
            <a:r>
              <a:rPr lang="en-US" sz="2400" b="1">
                <a:solidFill>
                  <a:srgbClr val="FFFFFF"/>
                </a:solidFill>
              </a:rPr>
              <a:t>1.2</a:t>
            </a:r>
          </a:p>
        </p:txBody>
      </p:sp>
      <p:sp>
        <p:nvSpPr>
          <p:cNvPr id="42" name="Text Box 29"/>
          <p:cNvSpPr txBox="1">
            <a:spLocks noChangeArrowheads="1"/>
          </p:cNvSpPr>
          <p:nvPr/>
        </p:nvSpPr>
        <p:spPr bwMode="gray">
          <a:xfrm>
            <a:off x="2405610" y="3260203"/>
            <a:ext cx="5904180" cy="430887"/>
          </a:xfrm>
          <a:prstGeom prst="rect">
            <a:avLst/>
          </a:prstGeom>
          <a:noFill/>
          <a:ln w="9525" algn="ctr">
            <a:noFill/>
            <a:miter lim="800000"/>
            <a:headEnd/>
            <a:tailEnd/>
          </a:ln>
          <a:effectLst/>
        </p:spPr>
        <p:txBody>
          <a:bodyPr wrap="none">
            <a:spAutoFit/>
          </a:bodyPr>
          <a:lstStyle/>
          <a:p>
            <a:pPr algn="l" eaLnBrk="0" hangingPunct="0"/>
            <a:r>
              <a:rPr lang="en-US" sz="2200" b="1">
                <a:solidFill>
                  <a:schemeClr val="tx2"/>
                </a:solidFill>
              </a:rPr>
              <a:t>CÁC THÀNH PHẦN GIAO DIỆN NÂNG CAO</a:t>
            </a:r>
          </a:p>
        </p:txBody>
      </p:sp>
      <p:sp>
        <p:nvSpPr>
          <p:cNvPr id="43" name="Text Box 30"/>
          <p:cNvSpPr txBox="1">
            <a:spLocks noChangeArrowheads="1"/>
          </p:cNvSpPr>
          <p:nvPr/>
        </p:nvSpPr>
        <p:spPr bwMode="gray">
          <a:xfrm>
            <a:off x="2332378" y="3985541"/>
            <a:ext cx="2375971" cy="430887"/>
          </a:xfrm>
          <a:prstGeom prst="rect">
            <a:avLst/>
          </a:prstGeom>
          <a:noFill/>
          <a:ln w="9525" algn="ctr">
            <a:noFill/>
            <a:miter lim="800000"/>
            <a:headEnd/>
            <a:tailEnd/>
          </a:ln>
          <a:effectLst/>
        </p:spPr>
        <p:txBody>
          <a:bodyPr wrap="none">
            <a:spAutoFit/>
          </a:bodyPr>
          <a:lstStyle/>
          <a:p>
            <a:pPr algn="l" eaLnBrk="0" hangingPunct="0"/>
            <a:r>
              <a:rPr lang="en-US" sz="2200" b="1">
                <a:solidFill>
                  <a:schemeClr val="tx2"/>
                </a:solidFill>
              </a:rPr>
              <a:t> XỬ LÝ SỰ KIỆN</a:t>
            </a:r>
          </a:p>
        </p:txBody>
      </p:sp>
      <p:sp>
        <p:nvSpPr>
          <p:cNvPr id="44" name="Text Box 18">
            <a:extLst>
              <a:ext uri="{FF2B5EF4-FFF2-40B4-BE49-F238E27FC236}">
                <a16:creationId xmlns:a16="http://schemas.microsoft.com/office/drawing/2014/main" id="{3B08D919-B9F7-4532-A6DF-0637E33C4F56}"/>
              </a:ext>
            </a:extLst>
          </p:cNvPr>
          <p:cNvSpPr txBox="1">
            <a:spLocks noChangeArrowheads="1"/>
          </p:cNvSpPr>
          <p:nvPr/>
        </p:nvSpPr>
        <p:spPr bwMode="gray">
          <a:xfrm>
            <a:off x="2147719" y="2437325"/>
            <a:ext cx="7038215" cy="430887"/>
          </a:xfrm>
          <a:prstGeom prst="rect">
            <a:avLst/>
          </a:prstGeom>
          <a:noFill/>
          <a:ln w="9525" algn="ctr">
            <a:noFill/>
            <a:miter lim="800000"/>
            <a:headEnd/>
            <a:tailEnd/>
          </a:ln>
          <a:effectLst/>
        </p:spPr>
        <p:txBody>
          <a:bodyPr wrap="square">
            <a:spAutoFit/>
          </a:bodyPr>
          <a:lstStyle/>
          <a:p>
            <a:pPr algn="l" eaLnBrk="0" hangingPunct="0"/>
            <a:r>
              <a:rPr lang="en-US" sz="2200" b="1">
                <a:solidFill>
                  <a:schemeClr val="tx2"/>
                </a:solidFill>
              </a:rPr>
              <a:t>   MENU VÀ CÁCH SỬ DỤNG MENU</a:t>
            </a:r>
          </a:p>
        </p:txBody>
      </p:sp>
      <p:sp>
        <p:nvSpPr>
          <p:cNvPr id="3" name="Date Placeholder 2"/>
          <p:cNvSpPr>
            <a:spLocks noGrp="1"/>
          </p:cNvSpPr>
          <p:nvPr>
            <p:ph type="dt" sz="half" idx="10"/>
          </p:nvPr>
        </p:nvSpPr>
        <p:spPr/>
        <p:txBody>
          <a:bodyPr/>
          <a:lstStyle/>
          <a:p>
            <a:pPr>
              <a:defRPr/>
            </a:pPr>
            <a:r>
              <a:rPr lang="en-US"/>
              <a:t>Khoa CNTT - UNETI</a:t>
            </a:r>
          </a:p>
        </p:txBody>
      </p:sp>
      <p:sp>
        <p:nvSpPr>
          <p:cNvPr id="4" name="Slide Number Placeholder 3"/>
          <p:cNvSpPr>
            <a:spLocks noGrp="1"/>
          </p:cNvSpPr>
          <p:nvPr>
            <p:ph type="sldNum" sz="quarter" idx="12"/>
          </p:nvPr>
        </p:nvSpPr>
        <p:spPr/>
        <p:txBody>
          <a:bodyPr/>
          <a:lstStyle/>
          <a:p>
            <a:pPr>
              <a:defRPr/>
            </a:pPr>
            <a:fld id="{38F16FD5-974A-40BB-8233-36E86F2AA732}" type="slidenum">
              <a:rPr lang="en-US" smtClean="0"/>
              <a:pPr>
                <a:defRPr/>
              </a:pPr>
              <a:t>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fill="hold"/>
                                        <p:tgtEl>
                                          <p:spTgt spid="44"/>
                                        </p:tgtEl>
                                        <p:attrNameLst>
                                          <p:attrName>ppt_x</p:attrName>
                                        </p:attrNameLst>
                                      </p:cBhvr>
                                      <p:tavLst>
                                        <p:tav tm="0">
                                          <p:val>
                                            <p:strVal val="#ppt_x"/>
                                          </p:val>
                                        </p:tav>
                                        <p:tav tm="100000">
                                          <p:val>
                                            <p:strVal val="#ppt_x"/>
                                          </p:val>
                                        </p:tav>
                                      </p:tavLst>
                                    </p:anim>
                                    <p:anim calcmode="lin" valueType="num">
                                      <p:cBhvr additive="base">
                                        <p:cTn id="8" dur="500" fill="hold"/>
                                        <p:tgtEl>
                                          <p:spTgt spid="4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anim calcmode="lin" valueType="num">
                                      <p:cBhvr additive="base">
                                        <p:cTn id="11" dur="500" fill="hold"/>
                                        <p:tgtEl>
                                          <p:spTgt spid="32"/>
                                        </p:tgtEl>
                                        <p:attrNameLst>
                                          <p:attrName>ppt_x</p:attrName>
                                        </p:attrNameLst>
                                      </p:cBhvr>
                                      <p:tavLst>
                                        <p:tav tm="0">
                                          <p:val>
                                            <p:strVal val="#ppt_x"/>
                                          </p:val>
                                        </p:tav>
                                        <p:tav tm="100000">
                                          <p:val>
                                            <p:strVal val="#ppt_x"/>
                                          </p:val>
                                        </p:tav>
                                      </p:tavLst>
                                    </p:anim>
                                    <p:anim calcmode="lin" valueType="num">
                                      <p:cBhvr additive="base">
                                        <p:cTn id="12" dur="500" fill="hold"/>
                                        <p:tgtEl>
                                          <p:spTgt spid="3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fill="hold"/>
                                        <p:tgtEl>
                                          <p:spTgt spid="35"/>
                                        </p:tgtEl>
                                        <p:attrNameLst>
                                          <p:attrName>ppt_x</p:attrName>
                                        </p:attrNameLst>
                                      </p:cBhvr>
                                      <p:tavLst>
                                        <p:tav tm="0">
                                          <p:val>
                                            <p:strVal val="#ppt_x"/>
                                          </p:val>
                                        </p:tav>
                                        <p:tav tm="100000">
                                          <p:val>
                                            <p:strVal val="#ppt_x"/>
                                          </p:val>
                                        </p:tav>
                                      </p:tavLst>
                                    </p:anim>
                                    <p:anim calcmode="lin" valueType="num">
                                      <p:cBhvr additive="base">
                                        <p:cTn id="16" dur="500" fill="hold"/>
                                        <p:tgtEl>
                                          <p:spTgt spid="3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additive="base">
                                        <p:cTn id="19" dur="500" fill="hold"/>
                                        <p:tgtEl>
                                          <p:spTgt spid="33"/>
                                        </p:tgtEl>
                                        <p:attrNameLst>
                                          <p:attrName>ppt_x</p:attrName>
                                        </p:attrNameLst>
                                      </p:cBhvr>
                                      <p:tavLst>
                                        <p:tav tm="0">
                                          <p:val>
                                            <p:strVal val="#ppt_x"/>
                                          </p:val>
                                        </p:tav>
                                        <p:tav tm="100000">
                                          <p:val>
                                            <p:strVal val="#ppt_x"/>
                                          </p:val>
                                        </p:tav>
                                      </p:tavLst>
                                    </p:anim>
                                    <p:anim calcmode="lin" valueType="num">
                                      <p:cBhvr additive="base">
                                        <p:cTn id="20"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1"/>
                                        </p:tgtEl>
                                        <p:attrNameLst>
                                          <p:attrName>style.visibility</p:attrName>
                                        </p:attrNameLst>
                                      </p:cBhvr>
                                      <p:to>
                                        <p:strVal val="visible"/>
                                      </p:to>
                                    </p:set>
                                    <p:anim calcmode="lin" valueType="num">
                                      <p:cBhvr additive="base">
                                        <p:cTn id="25" dur="500" fill="hold"/>
                                        <p:tgtEl>
                                          <p:spTgt spid="41"/>
                                        </p:tgtEl>
                                        <p:attrNameLst>
                                          <p:attrName>ppt_x</p:attrName>
                                        </p:attrNameLst>
                                      </p:cBhvr>
                                      <p:tavLst>
                                        <p:tav tm="0">
                                          <p:val>
                                            <p:strVal val="#ppt_x"/>
                                          </p:val>
                                        </p:tav>
                                        <p:tav tm="100000">
                                          <p:val>
                                            <p:strVal val="#ppt_x"/>
                                          </p:val>
                                        </p:tav>
                                      </p:tavLst>
                                    </p:anim>
                                    <p:anim calcmode="lin" valueType="num">
                                      <p:cBhvr additive="base">
                                        <p:cTn id="26" dur="500" fill="hold"/>
                                        <p:tgtEl>
                                          <p:spTgt spid="41"/>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anim calcmode="lin" valueType="num">
                                      <p:cBhvr additive="base">
                                        <p:cTn id="29" dur="500" fill="hold"/>
                                        <p:tgtEl>
                                          <p:spTgt spid="40"/>
                                        </p:tgtEl>
                                        <p:attrNameLst>
                                          <p:attrName>ppt_x</p:attrName>
                                        </p:attrNameLst>
                                      </p:cBhvr>
                                      <p:tavLst>
                                        <p:tav tm="0">
                                          <p:val>
                                            <p:strVal val="#ppt_x"/>
                                          </p:val>
                                        </p:tav>
                                        <p:tav tm="100000">
                                          <p:val>
                                            <p:strVal val="#ppt_x"/>
                                          </p:val>
                                        </p:tav>
                                      </p:tavLst>
                                    </p:anim>
                                    <p:anim calcmode="lin" valueType="num">
                                      <p:cBhvr additive="base">
                                        <p:cTn id="30" dur="500" fill="hold"/>
                                        <p:tgtEl>
                                          <p:spTgt spid="4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anim calcmode="lin" valueType="num">
                                      <p:cBhvr additive="base">
                                        <p:cTn id="33" dur="500" fill="hold"/>
                                        <p:tgtEl>
                                          <p:spTgt spid="42"/>
                                        </p:tgtEl>
                                        <p:attrNameLst>
                                          <p:attrName>ppt_x</p:attrName>
                                        </p:attrNameLst>
                                      </p:cBhvr>
                                      <p:tavLst>
                                        <p:tav tm="0">
                                          <p:val>
                                            <p:strVal val="#ppt_x"/>
                                          </p:val>
                                        </p:tav>
                                        <p:tav tm="100000">
                                          <p:val>
                                            <p:strVal val="#ppt_x"/>
                                          </p:val>
                                        </p:tav>
                                      </p:tavLst>
                                    </p:anim>
                                    <p:anim calcmode="lin" valueType="num">
                                      <p:cBhvr additive="base">
                                        <p:cTn id="34" dur="500" fill="hold"/>
                                        <p:tgtEl>
                                          <p:spTgt spid="42"/>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anim calcmode="lin" valueType="num">
                                      <p:cBhvr additive="base">
                                        <p:cTn id="37" dur="500" fill="hold"/>
                                        <p:tgtEl>
                                          <p:spTgt spid="39"/>
                                        </p:tgtEl>
                                        <p:attrNameLst>
                                          <p:attrName>ppt_x</p:attrName>
                                        </p:attrNameLst>
                                      </p:cBhvr>
                                      <p:tavLst>
                                        <p:tav tm="0">
                                          <p:val>
                                            <p:strVal val="#ppt_x"/>
                                          </p:val>
                                        </p:tav>
                                        <p:tav tm="100000">
                                          <p:val>
                                            <p:strVal val="#ppt_x"/>
                                          </p:val>
                                        </p:tav>
                                      </p:tavLst>
                                    </p:anim>
                                    <p:anim calcmode="lin" valueType="num">
                                      <p:cBhvr additive="base">
                                        <p:cTn id="3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anim calcmode="lin" valueType="num">
                                      <p:cBhvr additive="base">
                                        <p:cTn id="43" dur="500" fill="hold"/>
                                        <p:tgtEl>
                                          <p:spTgt spid="31"/>
                                        </p:tgtEl>
                                        <p:attrNameLst>
                                          <p:attrName>ppt_x</p:attrName>
                                        </p:attrNameLst>
                                      </p:cBhvr>
                                      <p:tavLst>
                                        <p:tav tm="0">
                                          <p:val>
                                            <p:strVal val="#ppt_x"/>
                                          </p:val>
                                        </p:tav>
                                        <p:tav tm="100000">
                                          <p:val>
                                            <p:strVal val="#ppt_x"/>
                                          </p:val>
                                        </p:tav>
                                      </p:tavLst>
                                    </p:anim>
                                    <p:anim calcmode="lin" valueType="num">
                                      <p:cBhvr additive="base">
                                        <p:cTn id="44" dur="500" fill="hold"/>
                                        <p:tgtEl>
                                          <p:spTgt spid="31"/>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anim calcmode="lin" valueType="num">
                                      <p:cBhvr additive="base">
                                        <p:cTn id="47" dur="500" fill="hold"/>
                                        <p:tgtEl>
                                          <p:spTgt spid="30"/>
                                        </p:tgtEl>
                                        <p:attrNameLst>
                                          <p:attrName>ppt_x</p:attrName>
                                        </p:attrNameLst>
                                      </p:cBhvr>
                                      <p:tavLst>
                                        <p:tav tm="0">
                                          <p:val>
                                            <p:strVal val="#ppt_x"/>
                                          </p:val>
                                        </p:tav>
                                        <p:tav tm="100000">
                                          <p:val>
                                            <p:strVal val="#ppt_x"/>
                                          </p:val>
                                        </p:tav>
                                      </p:tavLst>
                                    </p:anim>
                                    <p:anim calcmode="lin" valueType="num">
                                      <p:cBhvr additive="base">
                                        <p:cTn id="48" dur="500" fill="hold"/>
                                        <p:tgtEl>
                                          <p:spTgt spid="30"/>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anim calcmode="lin" valueType="num">
                                      <p:cBhvr additive="base">
                                        <p:cTn id="51" dur="500" fill="hold"/>
                                        <p:tgtEl>
                                          <p:spTgt spid="43"/>
                                        </p:tgtEl>
                                        <p:attrNameLst>
                                          <p:attrName>ppt_x</p:attrName>
                                        </p:attrNameLst>
                                      </p:cBhvr>
                                      <p:tavLst>
                                        <p:tav tm="0">
                                          <p:val>
                                            <p:strVal val="#ppt_x"/>
                                          </p:val>
                                        </p:tav>
                                        <p:tav tm="100000">
                                          <p:val>
                                            <p:strVal val="#ppt_x"/>
                                          </p:val>
                                        </p:tav>
                                      </p:tavLst>
                                    </p:anim>
                                    <p:anim calcmode="lin" valueType="num">
                                      <p:cBhvr additive="base">
                                        <p:cTn id="52" dur="500" fill="hold"/>
                                        <p:tgtEl>
                                          <p:spTgt spid="43"/>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ppt_x"/>
                                          </p:val>
                                        </p:tav>
                                        <p:tav tm="100000">
                                          <p:val>
                                            <p:strVal val="#ppt_x"/>
                                          </p:val>
                                        </p:tav>
                                      </p:tavLst>
                                    </p:anim>
                                    <p:anim calcmode="lin" valueType="num">
                                      <p:cBhvr additive="base">
                                        <p:cTn id="5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30" grpId="0" animBg="1"/>
      <p:bldP spid="31" grpId="0"/>
      <p:bldP spid="32" grpId="0" animBg="1"/>
      <p:bldP spid="33" grpId="0" animBg="1"/>
      <p:bldP spid="35" grpId="0"/>
      <p:bldP spid="39" grpId="0" animBg="1"/>
      <p:bldP spid="40" grpId="0" animBg="1"/>
      <p:bldP spid="41" grpId="0"/>
      <p:bldP spid="42" grpId="0"/>
      <p:bldP spid="43" grpId="0"/>
      <p:bldP spid="4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7" name="Shape 43"/>
          <p:cNvSpPr txBox="1">
            <a:spLocks/>
          </p:cNvSpPr>
          <p:nvPr/>
        </p:nvSpPr>
        <p:spPr bwMode="auto">
          <a:xfrm>
            <a:off x="3581400" y="2209800"/>
            <a:ext cx="5307496" cy="2209800"/>
          </a:xfrm>
          <a:prstGeom prst="rect">
            <a:avLst/>
          </a:prstGeom>
          <a:noFill/>
          <a:ln w="9525">
            <a:noFill/>
            <a:miter lim="800000"/>
            <a:headEnd/>
            <a:tailEnd/>
          </a:ln>
          <a:extLst>
            <a:ext uri="{C572A759-6A51-4108-AA02-DFA0A04FC94B}">
              <ma14:wrappingTextBoxFlag xmlns="" xmlns:ma14="http://schemas.microsoft.com/office/mac/drawingml/2011/main" val="1"/>
            </a:ext>
          </a:extLst>
        </p:spPr>
        <p:txBody>
          <a:bodyPr vert="horz" wrap="square" lIns="91440" tIns="45720" rIns="91440" bIns="45720" numCol="1" anchor="ctr"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spcBef>
                <a:spcPts val="900"/>
              </a:spcBef>
              <a:buFont typeface="Wingdings" pitchFamily="2" charset="2"/>
              <a:buNone/>
              <a:defRPr sz="4000" b="1">
                <a:solidFill>
                  <a:srgbClr val="260026"/>
                </a:solidFill>
              </a:defRPr>
            </a:pPr>
            <a:r>
              <a:rPr lang="en-US" sz="3600" b="1" kern="0">
                <a:solidFill>
                  <a:schemeClr val="bg1"/>
                </a:solidFill>
              </a:rPr>
              <a:t>1.1 MENU VÀ CÁCH SỬ DỤNG MENU</a:t>
            </a:r>
            <a:endParaRPr lang="vi-VN" sz="3600" b="1" kern="0">
              <a:solidFill>
                <a:schemeClr val="bg1"/>
              </a:solidFill>
            </a:endParaRPr>
          </a:p>
        </p:txBody>
      </p:sp>
    </p:spTree>
    <p:extLst>
      <p:ext uri="{BB962C8B-B14F-4D97-AF65-F5344CB8AC3E}">
        <p14:creationId xmlns:p14="http://schemas.microsoft.com/office/powerpoint/2010/main" val="3037575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 MENU VÀ CÁCH SỬ DỤNG</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4</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228600" y="1143000"/>
            <a:ext cx="7848600" cy="3903954"/>
          </a:xfrm>
          <a:prstGeom prst="rect">
            <a:avLst/>
          </a:prstGeom>
          <a:noFill/>
        </p:spPr>
        <p:txBody>
          <a:bodyPr wrap="square" rtlCol="0">
            <a:spAutoFit/>
          </a:bodyPr>
          <a:lstStyle/>
          <a:p>
            <a:pPr marL="342900" indent="-342900" algn="just">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Menu là một thành phần giao diện người dùng phổ biến trong nhiều loại ứng dụng. Để cung cấp một trải nghiệm người dùng quen thuộc và nhất quán, bạn nên sử dụng các API Menu để trình bày hành động người dùng và các tùy chọn khác trong hoạt động của mình.</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Menu trong Android có 2 loại menu chính là : </a:t>
            </a:r>
            <a:r>
              <a:rPr lang="en-US" b="1">
                <a:solidFill>
                  <a:schemeClr val="accent4">
                    <a:lumMod val="90000"/>
                    <a:lumOff val="10000"/>
                  </a:schemeClr>
                </a:solidFill>
                <a:latin typeface="Times New Roman" panose="02020603050405020304" pitchFamily="18" charset="0"/>
                <a:cs typeface="Times New Roman" panose="02020603050405020304" pitchFamily="18" charset="0"/>
              </a:rPr>
              <a:t>OptionMenu</a:t>
            </a:r>
            <a:r>
              <a:rPr lang="en-US">
                <a:solidFill>
                  <a:schemeClr val="accent4">
                    <a:lumMod val="90000"/>
                    <a:lumOff val="10000"/>
                  </a:schemeClr>
                </a:solidFill>
                <a:latin typeface="Times New Roman" panose="02020603050405020304" pitchFamily="18" charset="0"/>
                <a:cs typeface="Times New Roman" panose="02020603050405020304" pitchFamily="18" charset="0"/>
              </a:rPr>
              <a:t> và </a:t>
            </a:r>
            <a:r>
              <a:rPr lang="en-US" b="1">
                <a:solidFill>
                  <a:schemeClr val="accent4">
                    <a:lumMod val="90000"/>
                    <a:lumOff val="10000"/>
                  </a:schemeClr>
                </a:solidFill>
                <a:latin typeface="Times New Roman" panose="02020603050405020304" pitchFamily="18" charset="0"/>
                <a:cs typeface="Times New Roman" panose="02020603050405020304" pitchFamily="18" charset="0"/>
              </a:rPr>
              <a:t>ContextMenu</a:t>
            </a:r>
            <a:r>
              <a:rPr lang="en-US">
                <a:solidFill>
                  <a:schemeClr val="accent4">
                    <a:lumMod val="90000"/>
                    <a:lumOff val="10000"/>
                  </a:schemeClr>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81611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1.1.1 OPTION MENU</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5</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427383" y="1143000"/>
            <a:ext cx="7772400" cy="4457952"/>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Option Menu là loại menu nằm trên ActionBar hoặc Toolbar ở phía bên phải. Menu hiển thị dưới dạng text, text+icon hoặc icon “ba chấm”, menu cũng hỗ trợ tùy biến giao diện.</a:t>
            </a: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Để tạo menu đầu tiên bạn vào click chuột phải vào mục </a:t>
            </a:r>
            <a:r>
              <a:rPr lang="vi-VN" b="1">
                <a:solidFill>
                  <a:schemeClr val="accent4">
                    <a:lumMod val="90000"/>
                    <a:lumOff val="10000"/>
                  </a:schemeClr>
                </a:solidFill>
                <a:latin typeface="Times New Roman" panose="02020603050405020304" pitchFamily="18" charset="0"/>
                <a:cs typeface="Times New Roman" panose="02020603050405020304" pitchFamily="18" charset="0"/>
              </a:rPr>
              <a:t>res - New - Android Resource Directory</a:t>
            </a:r>
            <a:r>
              <a:rPr lang="vi-VN">
                <a:solidFill>
                  <a:schemeClr val="accent4">
                    <a:lumMod val="90000"/>
                    <a:lumOff val="10000"/>
                  </a:schemeClr>
                </a:solidFill>
                <a:latin typeface="Times New Roman" panose="02020603050405020304" pitchFamily="18" charset="0"/>
                <a:cs typeface="Times New Roman" panose="02020603050405020304" pitchFamily="18" charset="0"/>
              </a:rPr>
              <a:t> để tạo một thư mục chứa menu và lưu ý là bạn phải đặt chính xác tên thư mục là menu. </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5979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1.1.1 OPTION MENU</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6</a:t>
            </a:fld>
            <a:endParaRPr lang="en-US"/>
          </a:p>
        </p:txBody>
      </p:sp>
      <p:pic>
        <p:nvPicPr>
          <p:cNvPr id="5" name="Picture 4" descr="Graphical user interface, text, chat or text message&#10;&#10;Description automatically generated">
            <a:extLst>
              <a:ext uri="{FF2B5EF4-FFF2-40B4-BE49-F238E27FC236}">
                <a16:creationId xmlns:a16="http://schemas.microsoft.com/office/drawing/2014/main" id="{71C07EA2-5E36-4BE6-A9B8-236CF43B29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1106049"/>
            <a:ext cx="6781800" cy="5417127"/>
          </a:xfrm>
          <a:prstGeom prst="rect">
            <a:avLst/>
          </a:prstGeom>
        </p:spPr>
      </p:pic>
    </p:spTree>
    <p:extLst>
      <p:ext uri="{BB962C8B-B14F-4D97-AF65-F5344CB8AC3E}">
        <p14:creationId xmlns:p14="http://schemas.microsoft.com/office/powerpoint/2010/main" val="461759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1.1.1 OPTION MENU</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7</a:t>
            </a:fld>
            <a:endParaRPr lang="en-US"/>
          </a:p>
        </p:txBody>
      </p:sp>
      <p:pic>
        <p:nvPicPr>
          <p:cNvPr id="6" name="Picture 5" descr="Graphical user interface, application&#10;&#10;Description automatically generated">
            <a:extLst>
              <a:ext uri="{FF2B5EF4-FFF2-40B4-BE49-F238E27FC236}">
                <a16:creationId xmlns:a16="http://schemas.microsoft.com/office/drawing/2014/main" id="{CF923986-A95C-433B-8602-04D88AFC9E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1" y="1127561"/>
            <a:ext cx="7162800" cy="4192181"/>
          </a:xfrm>
          <a:prstGeom prst="rect">
            <a:avLst/>
          </a:prstGeom>
        </p:spPr>
      </p:pic>
      <p:pic>
        <p:nvPicPr>
          <p:cNvPr id="8" name="Picture 7" descr="Graphical user interface, text, application&#10;&#10;Description automatically generated">
            <a:extLst>
              <a:ext uri="{FF2B5EF4-FFF2-40B4-BE49-F238E27FC236}">
                <a16:creationId xmlns:a16="http://schemas.microsoft.com/office/drawing/2014/main" id="{B9CDD1D1-BF10-42B1-858A-360075CBFB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5096" y="3593543"/>
            <a:ext cx="3726503" cy="2773920"/>
          </a:xfrm>
          <a:prstGeom prst="rect">
            <a:avLst/>
          </a:prstGeom>
        </p:spPr>
      </p:pic>
      <p:sp>
        <p:nvSpPr>
          <p:cNvPr id="10" name="TextBox 9">
            <a:extLst>
              <a:ext uri="{FF2B5EF4-FFF2-40B4-BE49-F238E27FC236}">
                <a16:creationId xmlns:a16="http://schemas.microsoft.com/office/drawing/2014/main" id="{EF42E229-F247-43A5-A643-DA1FD3BEFAC8}"/>
              </a:ext>
            </a:extLst>
          </p:cNvPr>
          <p:cNvSpPr txBox="1"/>
          <p:nvPr/>
        </p:nvSpPr>
        <p:spPr>
          <a:xfrm>
            <a:off x="0" y="5366848"/>
            <a:ext cx="4724400" cy="830997"/>
          </a:xfrm>
          <a:prstGeom prst="rect">
            <a:avLst/>
          </a:prstGeom>
          <a:noFill/>
        </p:spPr>
        <p:txBody>
          <a:bodyPr wrap="square" rtlCol="0">
            <a:spAutoFit/>
          </a:bodyPr>
          <a:lstStyle/>
          <a:p>
            <a:pPr marL="342900" indent="-342900" algn="l">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Sau khi hoàn thành ta có thư mục menu chứa file </a:t>
            </a:r>
            <a:r>
              <a:rPr lang="vi-VN" b="1">
                <a:solidFill>
                  <a:schemeClr val="accent4">
                    <a:lumMod val="90000"/>
                    <a:lumOff val="10000"/>
                  </a:schemeClr>
                </a:solidFill>
                <a:latin typeface="Times New Roman" panose="02020603050405020304" pitchFamily="18" charset="0"/>
                <a:cs typeface="Times New Roman" panose="02020603050405020304" pitchFamily="18" charset="0"/>
              </a:rPr>
              <a:t>option_menu.xml</a:t>
            </a:r>
            <a:endParaRPr lang="en-US" b="1">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4905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1.1.1 OPTION MENU</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8</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76200" y="1143000"/>
            <a:ext cx="3810000" cy="4457952"/>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Để tạo các ra menu ta dùng các thẻ &lt;item&gt;</a:t>
            </a: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Trong thẻ item có những thuộc tính ta cần lưu ý :</a:t>
            </a:r>
          </a:p>
          <a:p>
            <a:pPr marL="800100" lvl="1" indent="-342900" algn="l">
              <a:lnSpc>
                <a:spcPct val="150000"/>
              </a:lnSpc>
              <a:buClr>
                <a:srgbClr val="FF0000"/>
              </a:buClr>
              <a:buFont typeface="Wingdings" panose="05000000000000000000" pitchFamily="2" charset="2"/>
              <a:buChar char="§"/>
            </a:pPr>
            <a:r>
              <a:rPr lang="vi-VN" b="1">
                <a:solidFill>
                  <a:schemeClr val="accent4">
                    <a:lumMod val="90000"/>
                    <a:lumOff val="10000"/>
                  </a:schemeClr>
                </a:solidFill>
                <a:latin typeface="Times New Roman" panose="02020603050405020304" pitchFamily="18" charset="0"/>
                <a:cs typeface="Times New Roman" panose="02020603050405020304" pitchFamily="18" charset="0"/>
              </a:rPr>
              <a:t>id</a:t>
            </a:r>
            <a:r>
              <a:rPr lang="vi-VN">
                <a:solidFill>
                  <a:schemeClr val="accent4">
                    <a:lumMod val="90000"/>
                    <a:lumOff val="10000"/>
                  </a:schemeClr>
                </a:solidFill>
                <a:latin typeface="Times New Roman" panose="02020603050405020304" pitchFamily="18" charset="0"/>
                <a:cs typeface="Times New Roman" panose="02020603050405020304" pitchFamily="18" charset="0"/>
              </a:rPr>
              <a:t> : dùng để tham chiếu tới item </a:t>
            </a:r>
          </a:p>
          <a:p>
            <a:pPr marL="800100" lvl="1" indent="-342900" algn="l">
              <a:lnSpc>
                <a:spcPct val="150000"/>
              </a:lnSpc>
              <a:buClr>
                <a:srgbClr val="FF0000"/>
              </a:buClr>
              <a:buFont typeface="Wingdings" panose="05000000000000000000" pitchFamily="2" charset="2"/>
              <a:buChar char="§"/>
            </a:pPr>
            <a:r>
              <a:rPr lang="vi-VN" b="1">
                <a:solidFill>
                  <a:schemeClr val="accent4">
                    <a:lumMod val="90000"/>
                    <a:lumOff val="10000"/>
                  </a:schemeClr>
                </a:solidFill>
                <a:latin typeface="Times New Roman" panose="02020603050405020304" pitchFamily="18" charset="0"/>
                <a:cs typeface="Times New Roman" panose="02020603050405020304" pitchFamily="18" charset="0"/>
              </a:rPr>
              <a:t>title</a:t>
            </a:r>
            <a:r>
              <a:rPr lang="vi-VN">
                <a:solidFill>
                  <a:schemeClr val="accent4">
                    <a:lumMod val="90000"/>
                    <a:lumOff val="10000"/>
                  </a:schemeClr>
                </a:solidFill>
                <a:latin typeface="Times New Roman" panose="02020603050405020304" pitchFamily="18" charset="0"/>
                <a:cs typeface="Times New Roman" panose="02020603050405020304" pitchFamily="18" charset="0"/>
              </a:rPr>
              <a:t> : tiêu đề của item</a:t>
            </a:r>
          </a:p>
          <a:p>
            <a:pPr marL="800100" lvl="1" indent="-342900" algn="l">
              <a:lnSpc>
                <a:spcPct val="150000"/>
              </a:lnSpc>
              <a:buClr>
                <a:srgbClr val="FF0000"/>
              </a:buClr>
              <a:buFont typeface="Wingdings" panose="05000000000000000000" pitchFamily="2" charset="2"/>
              <a:buChar char="§"/>
            </a:pPr>
            <a:r>
              <a:rPr lang="vi-VN" b="1">
                <a:solidFill>
                  <a:schemeClr val="accent4">
                    <a:lumMod val="90000"/>
                    <a:lumOff val="10000"/>
                  </a:schemeClr>
                </a:solidFill>
                <a:latin typeface="Times New Roman" panose="02020603050405020304" pitchFamily="18" charset="0"/>
                <a:cs typeface="Times New Roman" panose="02020603050405020304" pitchFamily="18" charset="0"/>
              </a:rPr>
              <a:t>icon</a:t>
            </a:r>
            <a:r>
              <a:rPr lang="vi-VN">
                <a:solidFill>
                  <a:schemeClr val="accent4">
                    <a:lumMod val="90000"/>
                    <a:lumOff val="10000"/>
                  </a:schemeClr>
                </a:solidFill>
                <a:latin typeface="Times New Roman" panose="02020603050405020304" pitchFamily="18" charset="0"/>
                <a:cs typeface="Times New Roman" panose="02020603050405020304" pitchFamily="18" charset="0"/>
              </a:rPr>
              <a:t> : hiển thị icon </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p>
        </p:txBody>
      </p:sp>
      <p:pic>
        <p:nvPicPr>
          <p:cNvPr id="5" name="Picture 4" descr="A picture containing table&#10;&#10;Description automatically generated">
            <a:extLst>
              <a:ext uri="{FF2B5EF4-FFF2-40B4-BE49-F238E27FC236}">
                <a16:creationId xmlns:a16="http://schemas.microsoft.com/office/drawing/2014/main" id="{221517F7-C48C-4DC8-A480-965EBAE8E2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0122" y="993108"/>
            <a:ext cx="5277678" cy="5715458"/>
          </a:xfrm>
          <a:prstGeom prst="rect">
            <a:avLst/>
          </a:prstGeom>
        </p:spPr>
      </p:pic>
    </p:spTree>
    <p:extLst>
      <p:ext uri="{BB962C8B-B14F-4D97-AF65-F5344CB8AC3E}">
        <p14:creationId xmlns:p14="http://schemas.microsoft.com/office/powerpoint/2010/main" val="334395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1.1.1 OPTION MENU</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9</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76200" y="1143000"/>
            <a:ext cx="8839200" cy="2795958"/>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Trong </a:t>
            </a:r>
            <a:r>
              <a:rPr lang="en-US" b="1">
                <a:solidFill>
                  <a:schemeClr val="accent4">
                    <a:lumMod val="90000"/>
                    <a:lumOff val="10000"/>
                  </a:schemeClr>
                </a:solidFill>
                <a:latin typeface="Times New Roman" panose="02020603050405020304" pitchFamily="18" charset="0"/>
                <a:cs typeface="Times New Roman" panose="02020603050405020304" pitchFamily="18" charset="0"/>
              </a:rPr>
              <a:t>MainActivity.java </a:t>
            </a:r>
            <a:r>
              <a:rPr lang="en-US">
                <a:solidFill>
                  <a:schemeClr val="accent4">
                    <a:lumMod val="90000"/>
                    <a:lumOff val="10000"/>
                  </a:schemeClr>
                </a:solidFill>
                <a:latin typeface="Times New Roman" panose="02020603050405020304" pitchFamily="18" charset="0"/>
                <a:cs typeface="Times New Roman" panose="02020603050405020304" pitchFamily="18" charset="0"/>
              </a:rPr>
              <a:t>ta tiến hành Override hàm onCreateOptionMenu để tham chiếu tới menu</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Gọi hàm getMenuInflater() để tạo một MenuInflater (MenuInflater không thể khởi tạo với "new MenuInflater()" mà dùng hàm getMenuInflater() ).</a:t>
            </a:r>
          </a:p>
        </p:txBody>
      </p:sp>
      <p:pic>
        <p:nvPicPr>
          <p:cNvPr id="6" name="Picture 5" descr="Text&#10;&#10;Description automatically generated">
            <a:extLst>
              <a:ext uri="{FF2B5EF4-FFF2-40B4-BE49-F238E27FC236}">
                <a16:creationId xmlns:a16="http://schemas.microsoft.com/office/drawing/2014/main" id="{0ED29A50-1B89-4B8B-B3AC-137B4FE5F2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508" y="4049427"/>
            <a:ext cx="8532983" cy="2233242"/>
          </a:xfrm>
          <a:prstGeom prst="rect">
            <a:avLst/>
          </a:prstGeom>
        </p:spPr>
      </p:pic>
    </p:spTree>
    <p:extLst>
      <p:ext uri="{BB962C8B-B14F-4D97-AF65-F5344CB8AC3E}">
        <p14:creationId xmlns:p14="http://schemas.microsoft.com/office/powerpoint/2010/main" val="32821278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1.1.1 OPTION MENU</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10</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76200" y="1143000"/>
            <a:ext cx="8839200" cy="5011949"/>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Trong </a:t>
            </a:r>
            <a:r>
              <a:rPr lang="en-US" b="1">
                <a:solidFill>
                  <a:schemeClr val="accent4">
                    <a:lumMod val="90000"/>
                    <a:lumOff val="10000"/>
                  </a:schemeClr>
                </a:solidFill>
                <a:latin typeface="Times New Roman" panose="02020603050405020304" pitchFamily="18" charset="0"/>
                <a:cs typeface="Times New Roman" panose="02020603050405020304" pitchFamily="18" charset="0"/>
              </a:rPr>
              <a:t>MainActivity.java </a:t>
            </a:r>
            <a:r>
              <a:rPr lang="en-US">
                <a:solidFill>
                  <a:schemeClr val="accent4">
                    <a:lumMod val="90000"/>
                    <a:lumOff val="10000"/>
                  </a:schemeClr>
                </a:solidFill>
                <a:latin typeface="Times New Roman" panose="02020603050405020304" pitchFamily="18" charset="0"/>
                <a:cs typeface="Times New Roman" panose="02020603050405020304" pitchFamily="18" charset="0"/>
              </a:rPr>
              <a:t>ta Override hàm onCreateOptionMenu để tham chiếu tới menu.</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Gọi hàm getMenuInflater() để tạo một MenuInflater (khởi tạo qua hàm getMenuInflater() ).</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MenuInflater().inflate(R.menu.mymenu,menu). Trong hàm inflate() tham số thứ nhất là menu cần lấy ra để tạo, tham số thứ 2 là OptionMenu. </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Để gán sự kiện cho các item trong menu ta tiến hành Override hàm onOptionsItemSelected.</a:t>
            </a:r>
          </a:p>
        </p:txBody>
      </p:sp>
    </p:spTree>
    <p:extLst>
      <p:ext uri="{BB962C8B-B14F-4D97-AF65-F5344CB8AC3E}">
        <p14:creationId xmlns:p14="http://schemas.microsoft.com/office/powerpoint/2010/main" val="3357743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1.1.1 OPTION MENU</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11</a:t>
            </a:fld>
            <a:endParaRPr lang="en-US"/>
          </a:p>
        </p:txBody>
      </p:sp>
      <p:pic>
        <p:nvPicPr>
          <p:cNvPr id="5" name="Picture 4">
            <a:extLst>
              <a:ext uri="{FF2B5EF4-FFF2-40B4-BE49-F238E27FC236}">
                <a16:creationId xmlns:a16="http://schemas.microsoft.com/office/drawing/2014/main" id="{45ACBF29-05C1-4462-9D5D-2042A63C61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077073"/>
            <a:ext cx="6096000" cy="1595438"/>
          </a:xfrm>
          <a:prstGeom prst="rect">
            <a:avLst/>
          </a:prstGeom>
        </p:spPr>
      </p:pic>
      <p:pic>
        <p:nvPicPr>
          <p:cNvPr id="8" name="Picture 7" descr="Table&#10;&#10;Description automatically generated">
            <a:extLst>
              <a:ext uri="{FF2B5EF4-FFF2-40B4-BE49-F238E27FC236}">
                <a16:creationId xmlns:a16="http://schemas.microsoft.com/office/drawing/2014/main" id="{D859BB50-C8A8-4939-A526-1E6F576A22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2290141"/>
            <a:ext cx="4904820" cy="4252913"/>
          </a:xfrm>
          <a:prstGeom prst="rect">
            <a:avLst/>
          </a:prstGeom>
        </p:spPr>
      </p:pic>
      <p:pic>
        <p:nvPicPr>
          <p:cNvPr id="6" name="Picture 5" descr="Graphical user interface, table&#10;&#10;Description automatically generated">
            <a:extLst>
              <a:ext uri="{FF2B5EF4-FFF2-40B4-BE49-F238E27FC236}">
                <a16:creationId xmlns:a16="http://schemas.microsoft.com/office/drawing/2014/main" id="{74C92CE2-AD75-40A6-9B2E-01B9C6C71B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43600" y="3168376"/>
            <a:ext cx="3082677" cy="3185007"/>
          </a:xfrm>
          <a:prstGeom prst="rect">
            <a:avLst/>
          </a:prstGeom>
        </p:spPr>
      </p:pic>
    </p:spTree>
    <p:extLst>
      <p:ext uri="{BB962C8B-B14F-4D97-AF65-F5344CB8AC3E}">
        <p14:creationId xmlns:p14="http://schemas.microsoft.com/office/powerpoint/2010/main" val="1731938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1.1.2 CONTEXT MENU</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12</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427383" y="1143000"/>
            <a:ext cx="7772400" cy="2241960"/>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vi-VN" b="1">
                <a:solidFill>
                  <a:schemeClr val="accent4">
                    <a:lumMod val="90000"/>
                    <a:lumOff val="10000"/>
                  </a:schemeClr>
                </a:solidFill>
                <a:latin typeface="Times New Roman" panose="02020603050405020304" pitchFamily="18" charset="0"/>
                <a:cs typeface="Times New Roman" panose="02020603050405020304" pitchFamily="18" charset="0"/>
              </a:rPr>
              <a:t>Context menu </a:t>
            </a:r>
            <a:r>
              <a:rPr lang="vi-VN">
                <a:solidFill>
                  <a:schemeClr val="accent4">
                    <a:lumMod val="90000"/>
                    <a:lumOff val="10000"/>
                  </a:schemeClr>
                </a:solidFill>
                <a:latin typeface="Times New Roman" panose="02020603050405020304" pitchFamily="18" charset="0"/>
                <a:cs typeface="Times New Roman" panose="02020603050405020304" pitchFamily="18" charset="0"/>
              </a:rPr>
              <a:t>xuất hiện khi người dùng tác động lên một view nào đó. Chẳng hạn khi người dùng click vào Listview, một vài thao tác được hiển thị để người dùng lựa chọn (context menu).</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5" name="Picture 4" descr="Graphical user interface, text, application, chat or text message&#10;&#10;Description automatically generated">
            <a:extLst>
              <a:ext uri="{FF2B5EF4-FFF2-40B4-BE49-F238E27FC236}">
                <a16:creationId xmlns:a16="http://schemas.microsoft.com/office/drawing/2014/main" id="{0F38206F-B1E3-48B6-BB7E-EDBC524AC3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3846443"/>
            <a:ext cx="4405314" cy="1905000"/>
          </a:xfrm>
          <a:prstGeom prst="rect">
            <a:avLst/>
          </a:prstGeom>
        </p:spPr>
      </p:pic>
    </p:spTree>
    <p:extLst>
      <p:ext uri="{BB962C8B-B14F-4D97-AF65-F5344CB8AC3E}">
        <p14:creationId xmlns:p14="http://schemas.microsoft.com/office/powerpoint/2010/main" val="29605562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1.1.2 CONTEXT MENU</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13</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427383" y="1143000"/>
            <a:ext cx="7772400" cy="1133965"/>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Giống như OptionMenu ta cũng cần phải tạo một file menu đặt tên là context_men</a:t>
            </a:r>
            <a:r>
              <a:rPr lang="en-US">
                <a:solidFill>
                  <a:schemeClr val="accent4">
                    <a:lumMod val="90000"/>
                    <a:lumOff val="10000"/>
                  </a:schemeClr>
                </a:solidFill>
                <a:latin typeface="Times New Roman" panose="02020603050405020304" pitchFamily="18" charset="0"/>
                <a:cs typeface="Times New Roman" panose="02020603050405020304" pitchFamily="18" charset="0"/>
              </a:rPr>
              <a:t>u.xml</a:t>
            </a:r>
          </a:p>
        </p:txBody>
      </p:sp>
      <p:pic>
        <p:nvPicPr>
          <p:cNvPr id="6" name="Picture 5" descr="Graphical user interface, application&#10;&#10;Description automatically generated">
            <a:extLst>
              <a:ext uri="{FF2B5EF4-FFF2-40B4-BE49-F238E27FC236}">
                <a16:creationId xmlns:a16="http://schemas.microsoft.com/office/drawing/2014/main" id="{9C6152B1-B02E-4A30-B5A7-42E6A12226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7038" y="1905000"/>
            <a:ext cx="3139712" cy="2880610"/>
          </a:xfrm>
          <a:prstGeom prst="rect">
            <a:avLst/>
          </a:prstGeom>
        </p:spPr>
      </p:pic>
      <p:sp>
        <p:nvSpPr>
          <p:cNvPr id="10" name="TextBox 9">
            <a:extLst>
              <a:ext uri="{FF2B5EF4-FFF2-40B4-BE49-F238E27FC236}">
                <a16:creationId xmlns:a16="http://schemas.microsoft.com/office/drawing/2014/main" id="{2354C15E-3C41-45DA-A690-E9760C6C823F}"/>
              </a:ext>
            </a:extLst>
          </p:cNvPr>
          <p:cNvSpPr txBox="1"/>
          <p:nvPr/>
        </p:nvSpPr>
        <p:spPr>
          <a:xfrm>
            <a:off x="427383" y="2295035"/>
            <a:ext cx="7772400" cy="579967"/>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File XML</a:t>
            </a:r>
          </a:p>
        </p:txBody>
      </p:sp>
      <p:pic>
        <p:nvPicPr>
          <p:cNvPr id="11" name="Picture 10" descr="Text&#10;&#10;Description automatically generated with medium confidence">
            <a:extLst>
              <a:ext uri="{FF2B5EF4-FFF2-40B4-BE49-F238E27FC236}">
                <a16:creationId xmlns:a16="http://schemas.microsoft.com/office/drawing/2014/main" id="{16D7C748-DAC4-4370-A1DB-1603EE17F7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773" y="3214211"/>
            <a:ext cx="4828666" cy="2619472"/>
          </a:xfrm>
          <a:prstGeom prst="rect">
            <a:avLst/>
          </a:prstGeom>
        </p:spPr>
      </p:pic>
    </p:spTree>
    <p:extLst>
      <p:ext uri="{BB962C8B-B14F-4D97-AF65-F5344CB8AC3E}">
        <p14:creationId xmlns:p14="http://schemas.microsoft.com/office/powerpoint/2010/main" val="14685883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1.1.2 CONTEXT MENU</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14</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427383" y="1143000"/>
            <a:ext cx="4830417" cy="1608133"/>
          </a:xfrm>
          <a:prstGeom prst="rect">
            <a:avLst/>
          </a:prstGeom>
          <a:noFill/>
        </p:spPr>
        <p:txBody>
          <a:bodyPr wrap="square" rtlCol="0">
            <a:spAutoFit/>
          </a:bodyPr>
          <a:lstStyle/>
          <a:p>
            <a:pPr marL="342900" indent="-342900" algn="l">
              <a:spcBef>
                <a:spcPts val="300"/>
              </a:spcBef>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Tạo một nút trong MainActivity</a:t>
            </a:r>
          </a:p>
          <a:p>
            <a:pPr marL="342900" indent="-342900" algn="l">
              <a:spcBef>
                <a:spcPts val="300"/>
              </a:spcBef>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Trong </a:t>
            </a:r>
            <a:r>
              <a:rPr lang="en-US" b="1">
                <a:solidFill>
                  <a:schemeClr val="accent4">
                    <a:lumMod val="90000"/>
                    <a:lumOff val="10000"/>
                  </a:schemeClr>
                </a:solidFill>
                <a:latin typeface="Times New Roman" panose="02020603050405020304" pitchFamily="18" charset="0"/>
                <a:cs typeface="Times New Roman" panose="02020603050405020304" pitchFamily="18" charset="0"/>
              </a:rPr>
              <a:t>MainActivity.java </a:t>
            </a:r>
            <a:r>
              <a:rPr lang="en-US">
                <a:solidFill>
                  <a:schemeClr val="accent4">
                    <a:lumMod val="90000"/>
                    <a:lumOff val="10000"/>
                  </a:schemeClr>
                </a:solidFill>
                <a:latin typeface="Times New Roman" panose="02020603050405020304" pitchFamily="18" charset="0"/>
                <a:cs typeface="Times New Roman" panose="02020603050405020304" pitchFamily="18" charset="0"/>
              </a:rPr>
              <a:t>chúng ta thêm 2 hàm để định nghĩa ContextMenu và view của nó.</a:t>
            </a:r>
          </a:p>
        </p:txBody>
      </p:sp>
      <p:pic>
        <p:nvPicPr>
          <p:cNvPr id="9" name="Picture 8" descr="Graphical user interface, text, application, email&#10;&#10;Description automatically generated">
            <a:extLst>
              <a:ext uri="{FF2B5EF4-FFF2-40B4-BE49-F238E27FC236}">
                <a16:creationId xmlns:a16="http://schemas.microsoft.com/office/drawing/2014/main" id="{9B27A677-5217-4A17-ADA9-9C6D6B4A63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3092162"/>
            <a:ext cx="6736297" cy="2871447"/>
          </a:xfrm>
          <a:prstGeom prst="rect">
            <a:avLst/>
          </a:prstGeom>
        </p:spPr>
      </p:pic>
      <p:pic>
        <p:nvPicPr>
          <p:cNvPr id="13" name="Picture 12" descr="A picture containing diagram&#10;&#10;Description automatically generated">
            <a:extLst>
              <a:ext uri="{FF2B5EF4-FFF2-40B4-BE49-F238E27FC236}">
                <a16:creationId xmlns:a16="http://schemas.microsoft.com/office/drawing/2014/main" id="{24242112-D118-4A17-A2C2-155C8D6BA7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2810" y="1202391"/>
            <a:ext cx="3002540" cy="1554615"/>
          </a:xfrm>
          <a:prstGeom prst="rect">
            <a:avLst/>
          </a:prstGeom>
        </p:spPr>
      </p:pic>
    </p:spTree>
    <p:extLst>
      <p:ext uri="{BB962C8B-B14F-4D97-AF65-F5344CB8AC3E}">
        <p14:creationId xmlns:p14="http://schemas.microsoft.com/office/powerpoint/2010/main" val="24159800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7" name="Shape 43"/>
          <p:cNvSpPr txBox="1">
            <a:spLocks/>
          </p:cNvSpPr>
          <p:nvPr/>
        </p:nvSpPr>
        <p:spPr bwMode="auto">
          <a:xfrm>
            <a:off x="3581400" y="2209800"/>
            <a:ext cx="5307496" cy="2209800"/>
          </a:xfrm>
          <a:prstGeom prst="rect">
            <a:avLst/>
          </a:prstGeom>
          <a:noFill/>
          <a:ln w="9525">
            <a:noFill/>
            <a:miter lim="800000"/>
            <a:headEnd/>
            <a:tailEnd/>
          </a:ln>
          <a:extLst>
            <a:ext uri="{C572A759-6A51-4108-AA02-DFA0A04FC94B}">
              <ma14:wrappingTextBoxFlag xmlns="" xmlns:ma14="http://schemas.microsoft.com/office/mac/drawingml/2011/main" val="1"/>
            </a:ext>
          </a:extLst>
        </p:spPr>
        <p:txBody>
          <a:bodyPr vert="horz" wrap="square" lIns="91440" tIns="45720" rIns="91440" bIns="45720" numCol="1" anchor="ctr"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spcBef>
                <a:spcPts val="900"/>
              </a:spcBef>
              <a:buFont typeface="Wingdings" pitchFamily="2" charset="2"/>
              <a:buNone/>
              <a:defRPr sz="4000" b="1">
                <a:solidFill>
                  <a:srgbClr val="260026"/>
                </a:solidFill>
              </a:defRPr>
            </a:pPr>
            <a:r>
              <a:rPr lang="en-US" sz="3600" b="1" kern="0">
                <a:solidFill>
                  <a:schemeClr val="bg1"/>
                </a:solidFill>
              </a:rPr>
              <a:t>1.2 CÁC THÀNH PHẦN GIAO DIỆN NÂNG CAO</a:t>
            </a:r>
            <a:endParaRPr lang="vi-VN" sz="3600" b="1" kern="0">
              <a:solidFill>
                <a:schemeClr val="bg1"/>
              </a:solidFill>
            </a:endParaRPr>
          </a:p>
        </p:txBody>
      </p:sp>
    </p:spTree>
    <p:extLst>
      <p:ext uri="{BB962C8B-B14F-4D97-AF65-F5344CB8AC3E}">
        <p14:creationId xmlns:p14="http://schemas.microsoft.com/office/powerpoint/2010/main" val="17872795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1.2.1 ADAPTER</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16</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228600" y="1066800"/>
            <a:ext cx="8686800" cy="4457952"/>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Android Adapter (Tạm dịch là bộ tiếp nối)  là một cầu nối giữa các View (ví dụ như ListView) và các dữ liệu cơ bản cho View đó.</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Một Adapter có trách nhiệm lấy dữ liệu từ bộ dữ liệu và tạo ra các đối tượng View dựa trên dữ liệu đó</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Bạn có thể tạo các lớp Adapter riêng của bạn từ đầu, nhưng các nhà phát triển khuyên nên sử dụng hoặc thừa kế các lớp Adapter được cung cấp bởi Android SDK, chẳng hạn như ArrayAdapter và SimpleCursorAdapter</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15575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1.2.1 ADAPTER</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17</a:t>
            </a:fld>
            <a:endParaRPr lang="en-US"/>
          </a:p>
        </p:txBody>
      </p:sp>
      <p:pic>
        <p:nvPicPr>
          <p:cNvPr id="5" name="Picture 4" descr="Text, chat or text message&#10;&#10;Description automatically generated">
            <a:extLst>
              <a:ext uri="{FF2B5EF4-FFF2-40B4-BE49-F238E27FC236}">
                <a16:creationId xmlns:a16="http://schemas.microsoft.com/office/drawing/2014/main" id="{9114AF9B-E535-498C-9E43-1B5CF5E113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0757" y="1143000"/>
            <a:ext cx="6056243" cy="2378471"/>
          </a:xfrm>
          <a:prstGeom prst="rect">
            <a:avLst/>
          </a:prstGeom>
        </p:spPr>
      </p:pic>
      <p:pic>
        <p:nvPicPr>
          <p:cNvPr id="8" name="Picture 7" descr="Diagram&#10;&#10;Description automatically generated">
            <a:extLst>
              <a:ext uri="{FF2B5EF4-FFF2-40B4-BE49-F238E27FC236}">
                <a16:creationId xmlns:a16="http://schemas.microsoft.com/office/drawing/2014/main" id="{E204F733-60AF-4CC8-BD0F-6CBFCA991D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9243" y="3589809"/>
            <a:ext cx="4343400" cy="2800017"/>
          </a:xfrm>
          <a:prstGeom prst="rect">
            <a:avLst/>
          </a:prstGeom>
        </p:spPr>
      </p:pic>
    </p:spTree>
    <p:extLst>
      <p:ext uri="{BB962C8B-B14F-4D97-AF65-F5344CB8AC3E}">
        <p14:creationId xmlns:p14="http://schemas.microsoft.com/office/powerpoint/2010/main" val="456940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1.2.1 ADAPTER</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18</a:t>
            </a:fld>
            <a:endParaRPr lang="en-US"/>
          </a:p>
        </p:txBody>
      </p:sp>
      <p:sp>
        <p:nvSpPr>
          <p:cNvPr id="7" name="TextBox 6">
            <a:extLst>
              <a:ext uri="{FF2B5EF4-FFF2-40B4-BE49-F238E27FC236}">
                <a16:creationId xmlns:a16="http://schemas.microsoft.com/office/drawing/2014/main" id="{9B022A00-1C0A-41BB-BBD4-67DEEBBDB198}"/>
              </a:ext>
            </a:extLst>
          </p:cNvPr>
          <p:cNvSpPr txBox="1"/>
          <p:nvPr/>
        </p:nvSpPr>
        <p:spPr>
          <a:xfrm>
            <a:off x="228600" y="971067"/>
            <a:ext cx="8686800" cy="3349956"/>
          </a:xfrm>
          <a:prstGeom prst="rect">
            <a:avLst/>
          </a:prstGeom>
          <a:noFill/>
        </p:spPr>
        <p:txBody>
          <a:bodyPr wrap="square" rtlCol="0">
            <a:spAutoFit/>
          </a:bodyPr>
          <a:lstStyle/>
          <a:p>
            <a:pPr algn="l">
              <a:lnSpc>
                <a:spcPct val="150000"/>
              </a:lnSpc>
              <a:buClr>
                <a:srgbClr val="FF0000"/>
              </a:buClr>
            </a:pPr>
            <a:r>
              <a:rPr lang="en-US" b="1" i="1">
                <a:solidFill>
                  <a:schemeClr val="accent4">
                    <a:lumMod val="90000"/>
                    <a:lumOff val="10000"/>
                  </a:schemeClr>
                </a:solidFill>
                <a:latin typeface="Times New Roman" panose="02020603050405020304" pitchFamily="18" charset="0"/>
                <a:cs typeface="Times New Roman" panose="02020603050405020304" pitchFamily="18" charset="0"/>
              </a:rPr>
              <a:t>Cách tạo Adapter và hiển thị dữ liệu lên ListView</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Để tạo Adapter ta cần: Tập hợp dữ liệu và Layout chứa các đối tượng (View) con được tạo ra</a:t>
            </a:r>
          </a:p>
          <a:p>
            <a:pPr algn="l">
              <a:lnSpc>
                <a:spcPct val="150000"/>
              </a:lnSpc>
              <a:buClr>
                <a:srgbClr val="FF0000"/>
              </a:buClr>
            </a:pPr>
            <a:r>
              <a:rPr lang="en-US" b="1">
                <a:solidFill>
                  <a:schemeClr val="accent4">
                    <a:lumMod val="90000"/>
                    <a:lumOff val="10000"/>
                  </a:schemeClr>
                </a:solidFill>
                <a:latin typeface="Times New Roman" panose="02020603050405020304" pitchFamily="18" charset="0"/>
                <a:cs typeface="Times New Roman" panose="02020603050405020304" pitchFamily="18" charset="0"/>
              </a:rPr>
              <a:t>Bước 1: Tạo bộ dữ liệu</a:t>
            </a: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Lớp ArrayAdapter có thể sử dụng cả mảng và các đối tượng List như là bộ dữ liệu</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6" name="Picture 5" descr="Text&#10;&#10;Description automatically generated">
            <a:extLst>
              <a:ext uri="{FF2B5EF4-FFF2-40B4-BE49-F238E27FC236}">
                <a16:creationId xmlns:a16="http://schemas.microsoft.com/office/drawing/2014/main" id="{FEE40B98-F470-4728-876E-D320E38918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5200" y="3962400"/>
            <a:ext cx="4127131" cy="2424113"/>
          </a:xfrm>
          <a:prstGeom prst="rect">
            <a:avLst/>
          </a:prstGeom>
        </p:spPr>
      </p:pic>
    </p:spTree>
    <p:extLst>
      <p:ext uri="{BB962C8B-B14F-4D97-AF65-F5344CB8AC3E}">
        <p14:creationId xmlns:p14="http://schemas.microsoft.com/office/powerpoint/2010/main" val="6717045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1.2.1 ADAPTER</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19</a:t>
            </a:fld>
            <a:endParaRPr lang="en-US"/>
          </a:p>
        </p:txBody>
      </p:sp>
      <p:sp>
        <p:nvSpPr>
          <p:cNvPr id="7" name="TextBox 6">
            <a:extLst>
              <a:ext uri="{FF2B5EF4-FFF2-40B4-BE49-F238E27FC236}">
                <a16:creationId xmlns:a16="http://schemas.microsoft.com/office/drawing/2014/main" id="{9B022A00-1C0A-41BB-BBD4-67DEEBBDB198}"/>
              </a:ext>
            </a:extLst>
          </p:cNvPr>
          <p:cNvSpPr txBox="1"/>
          <p:nvPr/>
        </p:nvSpPr>
        <p:spPr>
          <a:xfrm>
            <a:off x="228600" y="971067"/>
            <a:ext cx="8686800" cy="1687963"/>
          </a:xfrm>
          <a:prstGeom prst="rect">
            <a:avLst/>
          </a:prstGeom>
          <a:noFill/>
        </p:spPr>
        <p:txBody>
          <a:bodyPr wrap="square" rtlCol="0">
            <a:spAutoFit/>
          </a:bodyPr>
          <a:lstStyle/>
          <a:p>
            <a:pPr algn="l">
              <a:lnSpc>
                <a:spcPct val="150000"/>
              </a:lnSpc>
              <a:buClr>
                <a:srgbClr val="FF0000"/>
              </a:buClr>
            </a:pPr>
            <a:r>
              <a:rPr lang="en-US" b="1">
                <a:solidFill>
                  <a:schemeClr val="accent4">
                    <a:lumMod val="90000"/>
                    <a:lumOff val="10000"/>
                  </a:schemeClr>
                </a:solidFill>
                <a:latin typeface="Times New Roman" panose="02020603050405020304" pitchFamily="18" charset="0"/>
                <a:cs typeface="Times New Roman" panose="02020603050405020304" pitchFamily="18" charset="0"/>
              </a:rPr>
              <a:t>Bước 2: Tạo tập tin nguồn</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Tạo một file Layout XML có tên </a:t>
            </a:r>
            <a:r>
              <a:rPr lang="en-US" b="1">
                <a:solidFill>
                  <a:schemeClr val="accent4">
                    <a:lumMod val="90000"/>
                    <a:lumOff val="10000"/>
                  </a:schemeClr>
                </a:solidFill>
                <a:latin typeface="Times New Roman" panose="02020603050405020304" pitchFamily="18" charset="0"/>
                <a:cs typeface="Times New Roman" panose="02020603050405020304" pitchFamily="18" charset="0"/>
              </a:rPr>
              <a:t>item.xml, </a:t>
            </a:r>
            <a:r>
              <a:rPr lang="en-US">
                <a:solidFill>
                  <a:schemeClr val="accent4">
                    <a:lumMod val="90000"/>
                    <a:lumOff val="10000"/>
                  </a:schemeClr>
                </a:solidFill>
                <a:latin typeface="Times New Roman" panose="02020603050405020304" pitchFamily="18" charset="0"/>
                <a:cs typeface="Times New Roman" panose="02020603050405020304" pitchFamily="18" charset="0"/>
              </a:rPr>
              <a:t>đây là thành phần của ListView</a:t>
            </a:r>
            <a:r>
              <a:rPr lang="en-US" b="1">
                <a:solidFill>
                  <a:schemeClr val="accent4">
                    <a:lumMod val="90000"/>
                    <a:lumOff val="10000"/>
                  </a:schemeClr>
                </a:solidFill>
                <a:latin typeface="Times New Roman" panose="02020603050405020304" pitchFamily="18" charset="0"/>
                <a:cs typeface="Times New Roman" panose="02020603050405020304" pitchFamily="18" charset="0"/>
              </a:rPr>
              <a:t> </a:t>
            </a:r>
          </a:p>
        </p:txBody>
      </p:sp>
      <p:pic>
        <p:nvPicPr>
          <p:cNvPr id="5" name="Picture 4" descr="Text&#10;&#10;Description automatically generated">
            <a:extLst>
              <a:ext uri="{FF2B5EF4-FFF2-40B4-BE49-F238E27FC236}">
                <a16:creationId xmlns:a16="http://schemas.microsoft.com/office/drawing/2014/main" id="{2EA580C6-5D73-4936-8494-0E9DB35F2A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2901832"/>
            <a:ext cx="8205241" cy="2949953"/>
          </a:xfrm>
          <a:prstGeom prst="rect">
            <a:avLst/>
          </a:prstGeom>
        </p:spPr>
      </p:pic>
    </p:spTree>
    <p:extLst>
      <p:ext uri="{BB962C8B-B14F-4D97-AF65-F5344CB8AC3E}">
        <p14:creationId xmlns:p14="http://schemas.microsoft.com/office/powerpoint/2010/main" val="38173438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1.2.1 ADAPTER</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20</a:t>
            </a:fld>
            <a:endParaRPr lang="en-US"/>
          </a:p>
        </p:txBody>
      </p:sp>
      <p:sp>
        <p:nvSpPr>
          <p:cNvPr id="7" name="TextBox 6">
            <a:extLst>
              <a:ext uri="{FF2B5EF4-FFF2-40B4-BE49-F238E27FC236}">
                <a16:creationId xmlns:a16="http://schemas.microsoft.com/office/drawing/2014/main" id="{9B022A00-1C0A-41BB-BBD4-67DEEBBDB198}"/>
              </a:ext>
            </a:extLst>
          </p:cNvPr>
          <p:cNvSpPr txBox="1"/>
          <p:nvPr/>
        </p:nvSpPr>
        <p:spPr>
          <a:xfrm>
            <a:off x="228600" y="971067"/>
            <a:ext cx="8686800" cy="1687963"/>
          </a:xfrm>
          <a:prstGeom prst="rect">
            <a:avLst/>
          </a:prstGeom>
          <a:noFill/>
        </p:spPr>
        <p:txBody>
          <a:bodyPr wrap="square" rtlCol="0">
            <a:spAutoFit/>
          </a:bodyPr>
          <a:lstStyle/>
          <a:p>
            <a:pPr algn="l">
              <a:lnSpc>
                <a:spcPct val="150000"/>
              </a:lnSpc>
              <a:buClr>
                <a:srgbClr val="FF0000"/>
              </a:buClr>
            </a:pPr>
            <a:r>
              <a:rPr lang="en-US" b="1">
                <a:solidFill>
                  <a:schemeClr val="accent4">
                    <a:lumMod val="90000"/>
                    <a:lumOff val="10000"/>
                  </a:schemeClr>
                </a:solidFill>
                <a:latin typeface="Times New Roman" panose="02020603050405020304" pitchFamily="18" charset="0"/>
                <a:cs typeface="Times New Roman" panose="02020603050405020304" pitchFamily="18" charset="0"/>
              </a:rPr>
              <a:t>Bước 3: Tạo Adapter</a:t>
            </a: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Trong Activity của bạn, tạo ra một đối tượng mới của lớp ArrayAdapter</a:t>
            </a:r>
            <a:endParaRPr lang="en-US" b="1">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6" name="Picture 5" descr="Text&#10;&#10;Description automatically generated">
            <a:extLst>
              <a:ext uri="{FF2B5EF4-FFF2-40B4-BE49-F238E27FC236}">
                <a16:creationId xmlns:a16="http://schemas.microsoft.com/office/drawing/2014/main" id="{884B8A92-CB8D-484A-882D-ED999D8547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2971800"/>
            <a:ext cx="7519534" cy="2655092"/>
          </a:xfrm>
          <a:prstGeom prst="rect">
            <a:avLst/>
          </a:prstGeom>
        </p:spPr>
      </p:pic>
    </p:spTree>
    <p:extLst>
      <p:ext uri="{BB962C8B-B14F-4D97-AF65-F5344CB8AC3E}">
        <p14:creationId xmlns:p14="http://schemas.microsoft.com/office/powerpoint/2010/main" val="7526957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1.2.1 ADAPTER</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21</a:t>
            </a:fld>
            <a:endParaRPr lang="en-US"/>
          </a:p>
        </p:txBody>
      </p:sp>
      <p:sp>
        <p:nvSpPr>
          <p:cNvPr id="7" name="TextBox 6">
            <a:extLst>
              <a:ext uri="{FF2B5EF4-FFF2-40B4-BE49-F238E27FC236}">
                <a16:creationId xmlns:a16="http://schemas.microsoft.com/office/drawing/2014/main" id="{9B022A00-1C0A-41BB-BBD4-67DEEBBDB198}"/>
              </a:ext>
            </a:extLst>
          </p:cNvPr>
          <p:cNvSpPr txBox="1"/>
          <p:nvPr/>
        </p:nvSpPr>
        <p:spPr>
          <a:xfrm>
            <a:off x="57150" y="886573"/>
            <a:ext cx="8686800" cy="1133965"/>
          </a:xfrm>
          <a:prstGeom prst="rect">
            <a:avLst/>
          </a:prstGeom>
          <a:noFill/>
        </p:spPr>
        <p:txBody>
          <a:bodyPr wrap="square" rtlCol="0">
            <a:spAutoFit/>
          </a:bodyPr>
          <a:lstStyle/>
          <a:p>
            <a:pPr algn="l">
              <a:lnSpc>
                <a:spcPct val="150000"/>
              </a:lnSpc>
              <a:buClr>
                <a:srgbClr val="FF0000"/>
              </a:buClr>
            </a:pPr>
            <a:r>
              <a:rPr lang="en-US" b="1">
                <a:solidFill>
                  <a:schemeClr val="accent4">
                    <a:lumMod val="90000"/>
                    <a:lumOff val="10000"/>
                  </a:schemeClr>
                </a:solidFill>
                <a:latin typeface="Times New Roman" panose="02020603050405020304" pitchFamily="18" charset="0"/>
                <a:cs typeface="Times New Roman" panose="02020603050405020304" pitchFamily="18" charset="0"/>
              </a:rPr>
              <a:t>Bước 3: Tạo List</a:t>
            </a: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Trong Activity</a:t>
            </a:r>
            <a:r>
              <a:rPr lang="en-US">
                <a:solidFill>
                  <a:schemeClr val="accent4">
                    <a:lumMod val="90000"/>
                    <a:lumOff val="10000"/>
                  </a:schemeClr>
                </a:solidFill>
                <a:latin typeface="Times New Roman" panose="02020603050405020304" pitchFamily="18" charset="0"/>
                <a:cs typeface="Times New Roman" panose="02020603050405020304" pitchFamily="18" charset="0"/>
              </a:rPr>
              <a:t> khởi</a:t>
            </a:r>
            <a:r>
              <a:rPr lang="vi-VN">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a:solidFill>
                  <a:schemeClr val="accent4">
                    <a:lumMod val="90000"/>
                    <a:lumOff val="10000"/>
                  </a:schemeClr>
                </a:solidFill>
                <a:latin typeface="Times New Roman" panose="02020603050405020304" pitchFamily="18" charset="0"/>
                <a:cs typeface="Times New Roman" panose="02020603050405020304" pitchFamily="18" charset="0"/>
              </a:rPr>
              <a:t>tạo ListView hoặc kéo thả trong file xml</a:t>
            </a:r>
            <a:endParaRPr lang="en-US" b="1">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5" name="Picture 4" descr="A picture containing text&#10;&#10;Description automatically generated">
            <a:extLst>
              <a:ext uri="{FF2B5EF4-FFF2-40B4-BE49-F238E27FC236}">
                <a16:creationId xmlns:a16="http://schemas.microsoft.com/office/drawing/2014/main" id="{40EF37EA-2B0C-45BA-BEEB-D3FAE65453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725" y="2003807"/>
            <a:ext cx="6858000" cy="742018"/>
          </a:xfrm>
          <a:prstGeom prst="rect">
            <a:avLst/>
          </a:prstGeom>
        </p:spPr>
      </p:pic>
      <p:sp>
        <p:nvSpPr>
          <p:cNvPr id="9" name="TextBox 8">
            <a:extLst>
              <a:ext uri="{FF2B5EF4-FFF2-40B4-BE49-F238E27FC236}">
                <a16:creationId xmlns:a16="http://schemas.microsoft.com/office/drawing/2014/main" id="{7DD35532-CB81-496B-A78C-507994FE52BB}"/>
              </a:ext>
            </a:extLst>
          </p:cNvPr>
          <p:cNvSpPr txBox="1"/>
          <p:nvPr/>
        </p:nvSpPr>
        <p:spPr>
          <a:xfrm>
            <a:off x="152400" y="2590800"/>
            <a:ext cx="8686800" cy="579967"/>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Đẩy ListView lên màn hình</a:t>
            </a:r>
            <a:endParaRPr lang="en-US" b="1">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B0FF753A-1EFC-439E-9230-D416864EB9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3170767"/>
            <a:ext cx="3886200" cy="624061"/>
          </a:xfrm>
          <a:prstGeom prst="rect">
            <a:avLst/>
          </a:prstGeom>
        </p:spPr>
      </p:pic>
      <p:sp>
        <p:nvSpPr>
          <p:cNvPr id="12" name="TextBox 11">
            <a:extLst>
              <a:ext uri="{FF2B5EF4-FFF2-40B4-BE49-F238E27FC236}">
                <a16:creationId xmlns:a16="http://schemas.microsoft.com/office/drawing/2014/main" id="{47758E3E-F6B3-45E0-8CB8-1159615EE436}"/>
              </a:ext>
            </a:extLst>
          </p:cNvPr>
          <p:cNvSpPr txBox="1"/>
          <p:nvPr/>
        </p:nvSpPr>
        <p:spPr>
          <a:xfrm>
            <a:off x="152400" y="3656534"/>
            <a:ext cx="8686800" cy="579967"/>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Liên kết Adapter với ListView</a:t>
            </a:r>
          </a:p>
        </p:txBody>
      </p:sp>
      <p:pic>
        <p:nvPicPr>
          <p:cNvPr id="13" name="Picture 12" descr="A picture containing logo&#10;&#10;Description automatically generated">
            <a:extLst>
              <a:ext uri="{FF2B5EF4-FFF2-40B4-BE49-F238E27FC236}">
                <a16:creationId xmlns:a16="http://schemas.microsoft.com/office/drawing/2014/main" id="{C7AAB36F-7EB4-4C2B-BF45-4E87C6EAC0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2033" y="4226797"/>
            <a:ext cx="4253081" cy="579966"/>
          </a:xfrm>
          <a:prstGeom prst="rect">
            <a:avLst/>
          </a:prstGeom>
        </p:spPr>
      </p:pic>
      <p:pic>
        <p:nvPicPr>
          <p:cNvPr id="15" name="Picture 14" descr="Graphical user interface, application, Teams&#10;&#10;Description automatically generated">
            <a:extLst>
              <a:ext uri="{FF2B5EF4-FFF2-40B4-BE49-F238E27FC236}">
                <a16:creationId xmlns:a16="http://schemas.microsoft.com/office/drawing/2014/main" id="{9E2F595F-CC6F-4974-8F4B-54FAD65760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71391" y="3136916"/>
            <a:ext cx="4437442" cy="3216467"/>
          </a:xfrm>
          <a:prstGeom prst="rect">
            <a:avLst/>
          </a:prstGeom>
        </p:spPr>
      </p:pic>
    </p:spTree>
    <p:extLst>
      <p:ext uri="{BB962C8B-B14F-4D97-AF65-F5344CB8AC3E}">
        <p14:creationId xmlns:p14="http://schemas.microsoft.com/office/powerpoint/2010/main" val="28705965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1.2.2 ACTIONBAR</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22</a:t>
            </a:fld>
            <a:endParaRPr lang="en-US"/>
          </a:p>
        </p:txBody>
      </p:sp>
      <p:sp>
        <p:nvSpPr>
          <p:cNvPr id="7" name="TextBox 6">
            <a:extLst>
              <a:ext uri="{FF2B5EF4-FFF2-40B4-BE49-F238E27FC236}">
                <a16:creationId xmlns:a16="http://schemas.microsoft.com/office/drawing/2014/main" id="{9B022A00-1C0A-41BB-BBD4-67DEEBBDB198}"/>
              </a:ext>
            </a:extLst>
          </p:cNvPr>
          <p:cNvSpPr txBox="1"/>
          <p:nvPr/>
        </p:nvSpPr>
        <p:spPr>
          <a:xfrm>
            <a:off x="152400" y="971068"/>
            <a:ext cx="8686800" cy="1133965"/>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Mọi ứng dụng, nếu không có thiết kế gì đặc biệt sẽ có ActionBar như sau</a:t>
            </a:r>
          </a:p>
        </p:txBody>
      </p:sp>
      <p:pic>
        <p:nvPicPr>
          <p:cNvPr id="6" name="Picture 5" descr="Shape, rectangle&#10;&#10;Description automatically generated">
            <a:extLst>
              <a:ext uri="{FF2B5EF4-FFF2-40B4-BE49-F238E27FC236}">
                <a16:creationId xmlns:a16="http://schemas.microsoft.com/office/drawing/2014/main" id="{A13EE94A-6D5B-4EC7-8CE7-B291730C63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1993934"/>
            <a:ext cx="5563082" cy="1059272"/>
          </a:xfrm>
          <a:prstGeom prst="rect">
            <a:avLst/>
          </a:prstGeom>
        </p:spPr>
      </p:pic>
      <p:sp>
        <p:nvSpPr>
          <p:cNvPr id="14" name="TextBox 13">
            <a:extLst>
              <a:ext uri="{FF2B5EF4-FFF2-40B4-BE49-F238E27FC236}">
                <a16:creationId xmlns:a16="http://schemas.microsoft.com/office/drawing/2014/main" id="{A85C2C31-B96F-4797-88E6-7AFDF849FC02}"/>
              </a:ext>
            </a:extLst>
          </p:cNvPr>
          <p:cNvSpPr txBox="1"/>
          <p:nvPr/>
        </p:nvSpPr>
        <p:spPr>
          <a:xfrm>
            <a:off x="152400" y="3154404"/>
            <a:ext cx="8915400" cy="2795958"/>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Tiêu đề của ActionBar được điều khiển bởi file AndroidManifest.xml, trong Activity gán tiêu đề vào thuộc tính android:label</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Nếu Activity không có thiết lập android:label thì nó lấy giá trị mặc định từ android:label của application</a:t>
            </a:r>
          </a:p>
        </p:txBody>
      </p:sp>
    </p:spTree>
    <p:extLst>
      <p:ext uri="{BB962C8B-B14F-4D97-AF65-F5344CB8AC3E}">
        <p14:creationId xmlns:p14="http://schemas.microsoft.com/office/powerpoint/2010/main" val="2841299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1.2.2 ACTIONBAR</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23</a:t>
            </a:fld>
            <a:endParaRPr lang="en-US"/>
          </a:p>
        </p:txBody>
      </p:sp>
      <p:pic>
        <p:nvPicPr>
          <p:cNvPr id="5" name="Picture 4" descr="Graphical user interface, text&#10;&#10;Description automatically generated">
            <a:extLst>
              <a:ext uri="{FF2B5EF4-FFF2-40B4-BE49-F238E27FC236}">
                <a16:creationId xmlns:a16="http://schemas.microsoft.com/office/drawing/2014/main" id="{F7552CDD-FC18-4DC2-93BD-6E492172F4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219200"/>
            <a:ext cx="8190596" cy="4800600"/>
          </a:xfrm>
          <a:prstGeom prst="rect">
            <a:avLst/>
          </a:prstGeom>
        </p:spPr>
      </p:pic>
    </p:spTree>
    <p:extLst>
      <p:ext uri="{BB962C8B-B14F-4D97-AF65-F5344CB8AC3E}">
        <p14:creationId xmlns:p14="http://schemas.microsoft.com/office/powerpoint/2010/main" val="27416981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1.2.2 ACTIONBAR</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24</a:t>
            </a:fld>
            <a:endParaRPr lang="en-US"/>
          </a:p>
        </p:txBody>
      </p:sp>
      <p:sp>
        <p:nvSpPr>
          <p:cNvPr id="7" name="TextBox 6">
            <a:extLst>
              <a:ext uri="{FF2B5EF4-FFF2-40B4-BE49-F238E27FC236}">
                <a16:creationId xmlns:a16="http://schemas.microsoft.com/office/drawing/2014/main" id="{9B022A00-1C0A-41BB-BBD4-67DEEBBDB198}"/>
              </a:ext>
            </a:extLst>
          </p:cNvPr>
          <p:cNvSpPr txBox="1"/>
          <p:nvPr/>
        </p:nvSpPr>
        <p:spPr>
          <a:xfrm>
            <a:off x="152400" y="971068"/>
            <a:ext cx="8686800" cy="579967"/>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Chỉnh tiêu đề bởi code Java</a:t>
            </a:r>
          </a:p>
        </p:txBody>
      </p:sp>
      <p:pic>
        <p:nvPicPr>
          <p:cNvPr id="5" name="Picture 4" descr="Text&#10;&#10;Description automatically generated">
            <a:extLst>
              <a:ext uri="{FF2B5EF4-FFF2-40B4-BE49-F238E27FC236}">
                <a16:creationId xmlns:a16="http://schemas.microsoft.com/office/drawing/2014/main" id="{4FA36F77-CF4F-4FCB-A93E-3D90230E74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261" y="1577540"/>
            <a:ext cx="8291792" cy="1318060"/>
          </a:xfrm>
          <a:prstGeom prst="rect">
            <a:avLst/>
          </a:prstGeom>
        </p:spPr>
      </p:pic>
      <p:sp>
        <p:nvSpPr>
          <p:cNvPr id="10" name="TextBox 9">
            <a:extLst>
              <a:ext uri="{FF2B5EF4-FFF2-40B4-BE49-F238E27FC236}">
                <a16:creationId xmlns:a16="http://schemas.microsoft.com/office/drawing/2014/main" id="{99FDB675-80C1-4DA2-9099-BB0AAC6883E9}"/>
              </a:ext>
            </a:extLst>
          </p:cNvPr>
          <p:cNvSpPr txBox="1"/>
          <p:nvPr/>
        </p:nvSpPr>
        <p:spPr>
          <a:xfrm>
            <a:off x="152400" y="2929423"/>
            <a:ext cx="8686800" cy="579967"/>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Thêm Icon vào Actionbar</a:t>
            </a:r>
          </a:p>
        </p:txBody>
      </p:sp>
      <p:pic>
        <p:nvPicPr>
          <p:cNvPr id="12" name="Picture 11" descr="Text&#10;&#10;Description automatically generated">
            <a:extLst>
              <a:ext uri="{FF2B5EF4-FFF2-40B4-BE49-F238E27FC236}">
                <a16:creationId xmlns:a16="http://schemas.microsoft.com/office/drawing/2014/main" id="{BEE808C5-7293-43A6-9AC3-ECF44FD057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261" y="3405809"/>
            <a:ext cx="7934739" cy="1983686"/>
          </a:xfrm>
          <a:prstGeom prst="rect">
            <a:avLst/>
          </a:prstGeom>
        </p:spPr>
      </p:pic>
      <p:pic>
        <p:nvPicPr>
          <p:cNvPr id="15" name="Picture 14" descr="Graphical user interface, application&#10;&#10;Description automatically generated">
            <a:extLst>
              <a:ext uri="{FF2B5EF4-FFF2-40B4-BE49-F238E27FC236}">
                <a16:creationId xmlns:a16="http://schemas.microsoft.com/office/drawing/2014/main" id="{1A2C113E-7193-47ED-AF9A-6C05CDF7DC9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 y="5356956"/>
            <a:ext cx="5536096" cy="1120044"/>
          </a:xfrm>
          <a:prstGeom prst="rect">
            <a:avLst/>
          </a:prstGeom>
        </p:spPr>
      </p:pic>
    </p:spTree>
    <p:extLst>
      <p:ext uri="{BB962C8B-B14F-4D97-AF65-F5344CB8AC3E}">
        <p14:creationId xmlns:p14="http://schemas.microsoft.com/office/powerpoint/2010/main" val="11967025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1.2.2 ACTIONBAR</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25</a:t>
            </a:fld>
            <a:endParaRPr lang="en-US"/>
          </a:p>
        </p:txBody>
      </p:sp>
      <p:sp>
        <p:nvSpPr>
          <p:cNvPr id="7" name="TextBox 6">
            <a:extLst>
              <a:ext uri="{FF2B5EF4-FFF2-40B4-BE49-F238E27FC236}">
                <a16:creationId xmlns:a16="http://schemas.microsoft.com/office/drawing/2014/main" id="{9B022A00-1C0A-41BB-BBD4-67DEEBBDB198}"/>
              </a:ext>
            </a:extLst>
          </p:cNvPr>
          <p:cNvSpPr txBox="1"/>
          <p:nvPr/>
        </p:nvSpPr>
        <p:spPr>
          <a:xfrm>
            <a:off x="152400" y="971068"/>
            <a:ext cx="8686800" cy="1133965"/>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Thêm icon Back vào ActionBar</a:t>
            </a:r>
          </a:p>
          <a:p>
            <a:pPr marL="342900" indent="-342900" algn="l">
              <a:lnSpc>
                <a:spcPct val="150000"/>
              </a:lnSpc>
              <a:buClr>
                <a:srgbClr val="FF0000"/>
              </a:buClr>
              <a:buFont typeface="Arial" panose="020B0604020202020204" pitchFamily="34" charset="0"/>
              <a:buChar char="•"/>
            </a:pP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4269D6C-C4A9-454B-9C77-EE01A2807D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183" y="1511545"/>
            <a:ext cx="7952750" cy="593488"/>
          </a:xfrm>
          <a:prstGeom prst="rect">
            <a:avLst/>
          </a:prstGeom>
        </p:spPr>
      </p:pic>
      <p:pic>
        <p:nvPicPr>
          <p:cNvPr id="9" name="Picture 8" descr="Graphical user interface, application&#10;&#10;Description automatically generated">
            <a:extLst>
              <a:ext uri="{FF2B5EF4-FFF2-40B4-BE49-F238E27FC236}">
                <a16:creationId xmlns:a16="http://schemas.microsoft.com/office/drawing/2014/main" id="{CEF41BCA-D016-42B9-BED7-8073B95283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183" y="2176532"/>
            <a:ext cx="4808637" cy="975445"/>
          </a:xfrm>
          <a:prstGeom prst="rect">
            <a:avLst/>
          </a:prstGeom>
        </p:spPr>
      </p:pic>
      <p:sp>
        <p:nvSpPr>
          <p:cNvPr id="14" name="TextBox 13">
            <a:extLst>
              <a:ext uri="{FF2B5EF4-FFF2-40B4-BE49-F238E27FC236}">
                <a16:creationId xmlns:a16="http://schemas.microsoft.com/office/drawing/2014/main" id="{AFEEB915-5BFE-40A9-A07C-89F6A745F82A}"/>
              </a:ext>
            </a:extLst>
          </p:cNvPr>
          <p:cNvSpPr txBox="1"/>
          <p:nvPr/>
        </p:nvSpPr>
        <p:spPr>
          <a:xfrm>
            <a:off x="159854" y="3111807"/>
            <a:ext cx="8686800" cy="2241960"/>
          </a:xfrm>
          <a:prstGeom prst="rect">
            <a:avLst/>
          </a:prstGeom>
          <a:noFill/>
        </p:spPr>
        <p:txBody>
          <a:bodyPr wrap="square" rtlCol="0">
            <a:spAutoFit/>
          </a:bodyPr>
          <a:lstStyle/>
          <a:p>
            <a:pPr marL="342900" indent="-342900" algn="l">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Bắt sự kiện khi click nút icon Back: Ta Override phương thức onOptionsItemSelected(MenuItem item). Item là đối tượng biểu diễn nút bấm</a:t>
            </a:r>
          </a:p>
          <a:p>
            <a:pPr marL="342900" indent="-342900" algn="l">
              <a:lnSpc>
                <a:spcPct val="150000"/>
              </a:lnSpc>
              <a:buClr>
                <a:srgbClr val="FF0000"/>
              </a:buClr>
              <a:buFont typeface="Arial" panose="020B0604020202020204" pitchFamily="34" charset="0"/>
              <a:buChar char="•"/>
            </a:pP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13" name="Picture 12" descr="Graphical user interface, text, application&#10;&#10;Description automatically generated">
            <a:extLst>
              <a:ext uri="{FF2B5EF4-FFF2-40B4-BE49-F238E27FC236}">
                <a16:creationId xmlns:a16="http://schemas.microsoft.com/office/drawing/2014/main" id="{50E029E2-32DD-40B6-B870-5DB7ABA251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08501" y="3975052"/>
            <a:ext cx="4122777" cy="2636748"/>
          </a:xfrm>
          <a:prstGeom prst="rect">
            <a:avLst/>
          </a:prstGeom>
        </p:spPr>
      </p:pic>
    </p:spTree>
    <p:extLst>
      <p:ext uri="{BB962C8B-B14F-4D97-AF65-F5344CB8AC3E}">
        <p14:creationId xmlns:p14="http://schemas.microsoft.com/office/powerpoint/2010/main" val="13583805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1.2.3 WEB VIEW</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26</a:t>
            </a:fld>
            <a:endParaRPr lang="en-US"/>
          </a:p>
        </p:txBody>
      </p:sp>
      <p:sp>
        <p:nvSpPr>
          <p:cNvPr id="7" name="TextBox 6">
            <a:extLst>
              <a:ext uri="{FF2B5EF4-FFF2-40B4-BE49-F238E27FC236}">
                <a16:creationId xmlns:a16="http://schemas.microsoft.com/office/drawing/2014/main" id="{9B022A00-1C0A-41BB-BBD4-67DEEBBDB198}"/>
              </a:ext>
            </a:extLst>
          </p:cNvPr>
          <p:cNvSpPr txBox="1"/>
          <p:nvPr/>
        </p:nvSpPr>
        <p:spPr>
          <a:xfrm>
            <a:off x="152400" y="971068"/>
            <a:ext cx="8686800" cy="2241960"/>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Là view hiển thị nội dung HTML, thực hiện mã js và một số loại dữ liệu online</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XML file:</a:t>
            </a:r>
          </a:p>
          <a:p>
            <a:pPr marL="342900" indent="-342900" algn="l">
              <a:lnSpc>
                <a:spcPct val="150000"/>
              </a:lnSpc>
              <a:buClr>
                <a:srgbClr val="FF0000"/>
              </a:buClr>
              <a:buFont typeface="Arial" panose="020B0604020202020204" pitchFamily="34" charset="0"/>
              <a:buChar char="•"/>
            </a:pP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5" name="Picture 4" descr="Text&#10;&#10;Description automatically generated">
            <a:extLst>
              <a:ext uri="{FF2B5EF4-FFF2-40B4-BE49-F238E27FC236}">
                <a16:creationId xmlns:a16="http://schemas.microsoft.com/office/drawing/2014/main" id="{AC48DBF5-F347-4074-BE8C-990B7F80AA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138" y="2705037"/>
            <a:ext cx="7000461" cy="1640058"/>
          </a:xfrm>
          <a:prstGeom prst="rect">
            <a:avLst/>
          </a:prstGeom>
        </p:spPr>
      </p:pic>
      <p:sp>
        <p:nvSpPr>
          <p:cNvPr id="12" name="TextBox 11">
            <a:extLst>
              <a:ext uri="{FF2B5EF4-FFF2-40B4-BE49-F238E27FC236}">
                <a16:creationId xmlns:a16="http://schemas.microsoft.com/office/drawing/2014/main" id="{956A46D5-2EA6-428A-A656-DB1904BFF332}"/>
              </a:ext>
            </a:extLst>
          </p:cNvPr>
          <p:cNvSpPr txBox="1"/>
          <p:nvPr/>
        </p:nvSpPr>
        <p:spPr>
          <a:xfrm>
            <a:off x="228600" y="4219803"/>
            <a:ext cx="8686800" cy="579967"/>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Cấp quyền sử dụng Internet trong manifest file</a:t>
            </a:r>
          </a:p>
        </p:txBody>
      </p:sp>
      <p:pic>
        <p:nvPicPr>
          <p:cNvPr id="10" name="Picture 9">
            <a:extLst>
              <a:ext uri="{FF2B5EF4-FFF2-40B4-BE49-F238E27FC236}">
                <a16:creationId xmlns:a16="http://schemas.microsoft.com/office/drawing/2014/main" id="{4BDBFF17-7D3E-4B75-BE4E-4F4750E693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4923174"/>
            <a:ext cx="6877579" cy="368442"/>
          </a:xfrm>
          <a:prstGeom prst="rect">
            <a:avLst/>
          </a:prstGeom>
        </p:spPr>
      </p:pic>
    </p:spTree>
    <p:extLst>
      <p:ext uri="{BB962C8B-B14F-4D97-AF65-F5344CB8AC3E}">
        <p14:creationId xmlns:p14="http://schemas.microsoft.com/office/powerpoint/2010/main" val="22839123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6705600" cy="563563"/>
          </a:xfrm>
        </p:spPr>
        <p:txBody>
          <a:bodyPr wrap="square" anchor="ctr">
            <a:normAutofit/>
          </a:bodyPr>
          <a:lstStyle/>
          <a:p>
            <a:pPr>
              <a:lnSpc>
                <a:spcPct val="90000"/>
              </a:lnSpc>
            </a:pPr>
            <a:r>
              <a:rPr lang="en-US" b="1"/>
              <a:t>1.2.3 WEB VIEW</a:t>
            </a:r>
          </a:p>
        </p:txBody>
      </p:sp>
      <p:pic>
        <p:nvPicPr>
          <p:cNvPr id="9" name="Picture 8" descr="Graphical user interface, text, application&#10;&#10;Description automatically generated">
            <a:extLst>
              <a:ext uri="{FF2B5EF4-FFF2-40B4-BE49-F238E27FC236}">
                <a16:creationId xmlns:a16="http://schemas.microsoft.com/office/drawing/2014/main" id="{48348CE1-B4FF-4415-8F1B-BF6D7D2970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447800"/>
            <a:ext cx="8229600" cy="4267200"/>
          </a:xfrm>
          <a:prstGeom prst="rect">
            <a:avLst/>
          </a:prstGeom>
          <a:noFill/>
        </p:spPr>
      </p:pic>
      <p:sp>
        <p:nvSpPr>
          <p:cNvPr id="48" name="Date Placeholder 47"/>
          <p:cNvSpPr>
            <a:spLocks noGrp="1"/>
          </p:cNvSpPr>
          <p:nvPr>
            <p:ph type="dt" sz="half" idx="10"/>
          </p:nvPr>
        </p:nvSpPr>
        <p:spPr>
          <a:xfrm>
            <a:off x="457200" y="6519863"/>
            <a:ext cx="2133600" cy="244475"/>
          </a:xfrm>
        </p:spPr>
        <p:txBody>
          <a:bodyPr wrap="square" anchor="t">
            <a:normAutofit/>
          </a:bodyPr>
          <a:lstStyle/>
          <a:p>
            <a:pPr>
              <a:lnSpc>
                <a:spcPct val="90000"/>
              </a:lnSpc>
              <a:spcAft>
                <a:spcPts val="600"/>
              </a:spcAft>
              <a:defRPr/>
            </a:pPr>
            <a:r>
              <a:rPr lang="en-US" sz="1100"/>
              <a:t>Khoa CNTT - UNETI</a:t>
            </a:r>
          </a:p>
        </p:txBody>
      </p:sp>
      <p:sp>
        <p:nvSpPr>
          <p:cNvPr id="3" name="Slide Number Placeholder 2"/>
          <p:cNvSpPr>
            <a:spLocks noGrp="1"/>
          </p:cNvSpPr>
          <p:nvPr>
            <p:ph type="sldNum" sz="quarter" idx="12"/>
          </p:nvPr>
        </p:nvSpPr>
        <p:spPr>
          <a:xfrm>
            <a:off x="8286750" y="6386513"/>
            <a:ext cx="457200" cy="228600"/>
          </a:xfrm>
        </p:spPr>
        <p:txBody>
          <a:bodyPr wrap="square" anchor="t">
            <a:normAutofit/>
          </a:bodyPr>
          <a:lstStyle/>
          <a:p>
            <a:pPr>
              <a:lnSpc>
                <a:spcPct val="90000"/>
              </a:lnSpc>
              <a:spcAft>
                <a:spcPts val="600"/>
              </a:spcAft>
              <a:defRPr/>
            </a:pPr>
            <a:fld id="{38F16FD5-974A-40BB-8233-36E86F2AA732}" type="slidenum">
              <a:rPr lang="en-US" smtClean="0"/>
              <a:pPr>
                <a:lnSpc>
                  <a:spcPct val="90000"/>
                </a:lnSpc>
                <a:spcAft>
                  <a:spcPts val="600"/>
                </a:spcAft>
                <a:defRPr/>
              </a:pPr>
              <a:t>27</a:t>
            </a:fld>
            <a:endParaRPr lang="en-US"/>
          </a:p>
        </p:txBody>
      </p:sp>
    </p:spTree>
    <p:extLst>
      <p:ext uri="{BB962C8B-B14F-4D97-AF65-F5344CB8AC3E}">
        <p14:creationId xmlns:p14="http://schemas.microsoft.com/office/powerpoint/2010/main" val="34371422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6705600" cy="563563"/>
          </a:xfrm>
        </p:spPr>
        <p:txBody>
          <a:bodyPr wrap="square" anchor="ctr">
            <a:normAutofit/>
          </a:bodyPr>
          <a:lstStyle/>
          <a:p>
            <a:pPr>
              <a:lnSpc>
                <a:spcPct val="90000"/>
              </a:lnSpc>
            </a:pPr>
            <a:r>
              <a:rPr lang="en-US" b="1"/>
              <a:t>1.2.3 WEB VIEW</a:t>
            </a:r>
          </a:p>
        </p:txBody>
      </p:sp>
      <p:sp>
        <p:nvSpPr>
          <p:cNvPr id="48" name="Date Placeholder 47"/>
          <p:cNvSpPr>
            <a:spLocks noGrp="1"/>
          </p:cNvSpPr>
          <p:nvPr>
            <p:ph type="dt" sz="half" idx="10"/>
          </p:nvPr>
        </p:nvSpPr>
        <p:spPr>
          <a:xfrm>
            <a:off x="457200" y="6519863"/>
            <a:ext cx="2133600" cy="244475"/>
          </a:xfrm>
        </p:spPr>
        <p:txBody>
          <a:bodyPr wrap="square" anchor="t">
            <a:normAutofit/>
          </a:bodyPr>
          <a:lstStyle/>
          <a:p>
            <a:pPr>
              <a:lnSpc>
                <a:spcPct val="90000"/>
              </a:lnSpc>
              <a:spcAft>
                <a:spcPts val="600"/>
              </a:spcAft>
              <a:defRPr/>
            </a:pPr>
            <a:r>
              <a:rPr lang="en-US" sz="1100"/>
              <a:t>Khoa CNTT - UNETI</a:t>
            </a:r>
          </a:p>
        </p:txBody>
      </p:sp>
      <p:sp>
        <p:nvSpPr>
          <p:cNvPr id="3" name="Slide Number Placeholder 2"/>
          <p:cNvSpPr>
            <a:spLocks noGrp="1"/>
          </p:cNvSpPr>
          <p:nvPr>
            <p:ph type="sldNum" sz="quarter" idx="12"/>
          </p:nvPr>
        </p:nvSpPr>
        <p:spPr>
          <a:xfrm>
            <a:off x="8286750" y="6386513"/>
            <a:ext cx="457200" cy="228600"/>
          </a:xfrm>
        </p:spPr>
        <p:txBody>
          <a:bodyPr wrap="square" anchor="t">
            <a:normAutofit/>
          </a:bodyPr>
          <a:lstStyle/>
          <a:p>
            <a:pPr>
              <a:lnSpc>
                <a:spcPct val="90000"/>
              </a:lnSpc>
              <a:spcAft>
                <a:spcPts val="600"/>
              </a:spcAft>
              <a:defRPr/>
            </a:pPr>
            <a:fld id="{38F16FD5-974A-40BB-8233-36E86F2AA732}" type="slidenum">
              <a:rPr lang="en-US" smtClean="0"/>
              <a:pPr>
                <a:lnSpc>
                  <a:spcPct val="90000"/>
                </a:lnSpc>
                <a:spcAft>
                  <a:spcPts val="600"/>
                </a:spcAft>
                <a:defRPr/>
              </a:pPr>
              <a:t>28</a:t>
            </a:fld>
            <a:endParaRPr lang="en-US"/>
          </a:p>
        </p:txBody>
      </p:sp>
      <p:pic>
        <p:nvPicPr>
          <p:cNvPr id="5" name="Picture 4" descr="Text&#10;&#10;Description automatically generated">
            <a:extLst>
              <a:ext uri="{FF2B5EF4-FFF2-40B4-BE49-F238E27FC236}">
                <a16:creationId xmlns:a16="http://schemas.microsoft.com/office/drawing/2014/main" id="{D364FC33-20E0-4882-BB4D-D74585F270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558" y="1447800"/>
            <a:ext cx="8412296" cy="3733800"/>
          </a:xfrm>
          <a:prstGeom prst="rect">
            <a:avLst/>
          </a:prstGeom>
        </p:spPr>
      </p:pic>
    </p:spTree>
    <p:extLst>
      <p:ext uri="{BB962C8B-B14F-4D97-AF65-F5344CB8AC3E}">
        <p14:creationId xmlns:p14="http://schemas.microsoft.com/office/powerpoint/2010/main" val="18038361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1.2.3 WEB VIEW</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29</a:t>
            </a:fld>
            <a:endParaRPr lang="en-US"/>
          </a:p>
        </p:txBody>
      </p:sp>
      <p:sp>
        <p:nvSpPr>
          <p:cNvPr id="7" name="TextBox 6">
            <a:extLst>
              <a:ext uri="{FF2B5EF4-FFF2-40B4-BE49-F238E27FC236}">
                <a16:creationId xmlns:a16="http://schemas.microsoft.com/office/drawing/2014/main" id="{9B022A00-1C0A-41BB-BBD4-67DEEBBDB198}"/>
              </a:ext>
            </a:extLst>
          </p:cNvPr>
          <p:cNvSpPr txBox="1"/>
          <p:nvPr/>
        </p:nvSpPr>
        <p:spPr>
          <a:xfrm>
            <a:off x="152400" y="971068"/>
            <a:ext cx="8686800" cy="579967"/>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Bật hỗ trợ javascript:</a:t>
            </a:r>
          </a:p>
        </p:txBody>
      </p:sp>
      <p:pic>
        <p:nvPicPr>
          <p:cNvPr id="6" name="Picture 5">
            <a:extLst>
              <a:ext uri="{FF2B5EF4-FFF2-40B4-BE49-F238E27FC236}">
                <a16:creationId xmlns:a16="http://schemas.microsoft.com/office/drawing/2014/main" id="{67E94710-52B3-4604-A6A6-C67BE17BB6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1541510"/>
            <a:ext cx="5814564" cy="312447"/>
          </a:xfrm>
          <a:prstGeom prst="rect">
            <a:avLst/>
          </a:prstGeom>
        </p:spPr>
      </p:pic>
      <p:sp>
        <p:nvSpPr>
          <p:cNvPr id="11" name="TextBox 10">
            <a:extLst>
              <a:ext uri="{FF2B5EF4-FFF2-40B4-BE49-F238E27FC236}">
                <a16:creationId xmlns:a16="http://schemas.microsoft.com/office/drawing/2014/main" id="{F09F92E4-3E18-4D01-859E-A04B15AE5B94}"/>
              </a:ext>
            </a:extLst>
          </p:cNvPr>
          <p:cNvSpPr txBox="1"/>
          <p:nvPr/>
        </p:nvSpPr>
        <p:spPr>
          <a:xfrm>
            <a:off x="137664" y="1697733"/>
            <a:ext cx="8686800" cy="3903954"/>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Có thể từ javascript gọi các method của ứng dụng: Xem thêm </a:t>
            </a:r>
            <a:r>
              <a:rPr lang="en-US">
                <a:solidFill>
                  <a:srgbClr val="FF0000"/>
                </a:solidFill>
                <a:latin typeface="Times New Roman" panose="02020603050405020304" pitchFamily="18" charset="0"/>
                <a:cs typeface="Times New Roman" panose="02020603050405020304" pitchFamily="18" charset="0"/>
              </a:rPr>
              <a:t>addJavascriptInterface</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WebView bản thân nó chỉ là một view để hiển thị trang web, không phải là browser, vì thế khi tác động vào trang web, android sẽ xử lý mặc định, muốn xử lý việc này xem thêm </a:t>
            </a:r>
            <a:r>
              <a:rPr lang="en-US">
                <a:solidFill>
                  <a:srgbClr val="FF0000"/>
                </a:solidFill>
                <a:latin typeface="Times New Roman" panose="02020603050405020304" pitchFamily="18" charset="0"/>
                <a:cs typeface="Times New Roman" panose="02020603050405020304" pitchFamily="18" charset="0"/>
              </a:rPr>
              <a:t>WebViewClient</a:t>
            </a: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Cần chú ý một số phím mặc định trong trường hợp WebView được focus (chẳng hạn phím back)</a:t>
            </a:r>
            <a:endParaRPr lang="en-US">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080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1.2.4 DIALOG</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30</a:t>
            </a:fld>
            <a:endParaRPr lang="en-US"/>
          </a:p>
        </p:txBody>
      </p:sp>
      <p:sp>
        <p:nvSpPr>
          <p:cNvPr id="7" name="TextBox 6">
            <a:extLst>
              <a:ext uri="{FF2B5EF4-FFF2-40B4-BE49-F238E27FC236}">
                <a16:creationId xmlns:a16="http://schemas.microsoft.com/office/drawing/2014/main" id="{9B022A00-1C0A-41BB-BBD4-67DEEBBDB198}"/>
              </a:ext>
            </a:extLst>
          </p:cNvPr>
          <p:cNvSpPr txBox="1"/>
          <p:nvPr/>
        </p:nvSpPr>
        <p:spPr>
          <a:xfrm>
            <a:off x="152400" y="971068"/>
            <a:ext cx="8686800" cy="3349956"/>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Trong Android, Dialog (Hộp thoại) là một cửa sổ nhỏ xuất hiện để nhắc người dùng đưa ra một quyết định hoặc nhập vào các thông tin bổ xung.</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Dialog không lấp kín toàn bộ màn hình, và nó thường hiển thị trong chế độ modal, người dùng phải đưa ra quyết định để đóng nó lại thì mới có thể tương tác với các phần khác của ứng dụng.</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5" name="Picture 4" descr="Graphical user interface, website&#10;&#10;Description automatically generated">
            <a:extLst>
              <a:ext uri="{FF2B5EF4-FFF2-40B4-BE49-F238E27FC236}">
                <a16:creationId xmlns:a16="http://schemas.microsoft.com/office/drawing/2014/main" id="{BB779EED-D686-47BC-A594-74AE2DBD36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0" y="4321024"/>
            <a:ext cx="4298052" cy="2339543"/>
          </a:xfrm>
          <a:prstGeom prst="rect">
            <a:avLst/>
          </a:prstGeom>
        </p:spPr>
      </p:pic>
    </p:spTree>
    <p:extLst>
      <p:ext uri="{BB962C8B-B14F-4D97-AF65-F5344CB8AC3E}">
        <p14:creationId xmlns:p14="http://schemas.microsoft.com/office/powerpoint/2010/main" val="42591917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1.2.4 DIALOG</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31</a:t>
            </a:fld>
            <a:endParaRPr lang="en-US"/>
          </a:p>
        </p:txBody>
      </p:sp>
      <p:sp>
        <p:nvSpPr>
          <p:cNvPr id="7" name="TextBox 6">
            <a:extLst>
              <a:ext uri="{FF2B5EF4-FFF2-40B4-BE49-F238E27FC236}">
                <a16:creationId xmlns:a16="http://schemas.microsoft.com/office/drawing/2014/main" id="{9B022A00-1C0A-41BB-BBD4-67DEEBBDB198}"/>
              </a:ext>
            </a:extLst>
          </p:cNvPr>
          <p:cNvSpPr txBox="1"/>
          <p:nvPr/>
        </p:nvSpPr>
        <p:spPr>
          <a:xfrm>
            <a:off x="152400" y="971068"/>
            <a:ext cx="8686800" cy="579967"/>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Tạo file Layout Dialog như sau:</a:t>
            </a:r>
            <a:r>
              <a:rPr lang="vi-VN">
                <a:solidFill>
                  <a:schemeClr val="accent4">
                    <a:lumMod val="90000"/>
                    <a:lumOff val="10000"/>
                  </a:schemeClr>
                </a:solidFill>
                <a:latin typeface="Times New Roman" panose="02020603050405020304" pitchFamily="18" charset="0"/>
                <a:cs typeface="Times New Roman" panose="02020603050405020304" pitchFamily="18" charset="0"/>
              </a:rPr>
              <a:t> </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6" name="Picture 5" descr="Graphical user interface, application&#10;&#10;Description automatically generated">
            <a:extLst>
              <a:ext uri="{FF2B5EF4-FFF2-40B4-BE49-F238E27FC236}">
                <a16:creationId xmlns:a16="http://schemas.microsoft.com/office/drawing/2014/main" id="{25A0AC6B-EB5B-4AE8-9E37-B41DF25AC6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6800" y="1261051"/>
            <a:ext cx="3124200" cy="2006065"/>
          </a:xfrm>
          <a:prstGeom prst="rect">
            <a:avLst/>
          </a:prstGeom>
        </p:spPr>
      </p:pic>
      <p:pic>
        <p:nvPicPr>
          <p:cNvPr id="9" name="Picture 8" descr="Graphical user interface, text&#10;&#10;Description automatically generated">
            <a:extLst>
              <a:ext uri="{FF2B5EF4-FFF2-40B4-BE49-F238E27FC236}">
                <a16:creationId xmlns:a16="http://schemas.microsoft.com/office/drawing/2014/main" id="{3597E159-6F03-47A5-8C30-105A9648CE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000" y="3352800"/>
            <a:ext cx="6517622" cy="2951771"/>
          </a:xfrm>
          <a:prstGeom prst="rect">
            <a:avLst/>
          </a:prstGeom>
        </p:spPr>
      </p:pic>
    </p:spTree>
    <p:extLst>
      <p:ext uri="{BB962C8B-B14F-4D97-AF65-F5344CB8AC3E}">
        <p14:creationId xmlns:p14="http://schemas.microsoft.com/office/powerpoint/2010/main" val="25653805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1.2.4 DIALOG</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32</a:t>
            </a:fld>
            <a:endParaRPr lang="en-US"/>
          </a:p>
        </p:txBody>
      </p:sp>
      <p:sp>
        <p:nvSpPr>
          <p:cNvPr id="7" name="TextBox 6">
            <a:extLst>
              <a:ext uri="{FF2B5EF4-FFF2-40B4-BE49-F238E27FC236}">
                <a16:creationId xmlns:a16="http://schemas.microsoft.com/office/drawing/2014/main" id="{9B022A00-1C0A-41BB-BBD4-67DEEBBDB198}"/>
              </a:ext>
            </a:extLst>
          </p:cNvPr>
          <p:cNvSpPr txBox="1"/>
          <p:nvPr/>
        </p:nvSpPr>
        <p:spPr>
          <a:xfrm>
            <a:off x="152400" y="971068"/>
            <a:ext cx="8686800" cy="579967"/>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Tạo lớp CustomDialog kế thừa từ lớp Dialog</a:t>
            </a:r>
            <a:r>
              <a:rPr lang="vi-VN">
                <a:solidFill>
                  <a:schemeClr val="accent4">
                    <a:lumMod val="90000"/>
                    <a:lumOff val="10000"/>
                  </a:schemeClr>
                </a:solidFill>
                <a:latin typeface="Times New Roman" panose="02020603050405020304" pitchFamily="18" charset="0"/>
                <a:cs typeface="Times New Roman" panose="02020603050405020304" pitchFamily="18" charset="0"/>
              </a:rPr>
              <a:t> </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10" name="Picture 9" descr="Graphical user interface, text, application, email&#10;&#10;Description automatically generated">
            <a:extLst>
              <a:ext uri="{FF2B5EF4-FFF2-40B4-BE49-F238E27FC236}">
                <a16:creationId xmlns:a16="http://schemas.microsoft.com/office/drawing/2014/main" id="{B14D825D-2371-42BE-BE0B-68C628AE07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600" y="1500676"/>
            <a:ext cx="4953429" cy="5357324"/>
          </a:xfrm>
          <a:prstGeom prst="rect">
            <a:avLst/>
          </a:prstGeom>
        </p:spPr>
      </p:pic>
    </p:spTree>
    <p:extLst>
      <p:ext uri="{BB962C8B-B14F-4D97-AF65-F5344CB8AC3E}">
        <p14:creationId xmlns:p14="http://schemas.microsoft.com/office/powerpoint/2010/main" val="30264414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1.2.4 DIALOG</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33</a:t>
            </a:fld>
            <a:endParaRPr lang="en-US"/>
          </a:p>
        </p:txBody>
      </p:sp>
      <p:sp>
        <p:nvSpPr>
          <p:cNvPr id="7" name="TextBox 6">
            <a:extLst>
              <a:ext uri="{FF2B5EF4-FFF2-40B4-BE49-F238E27FC236}">
                <a16:creationId xmlns:a16="http://schemas.microsoft.com/office/drawing/2014/main" id="{9B022A00-1C0A-41BB-BBD4-67DEEBBDB198}"/>
              </a:ext>
            </a:extLst>
          </p:cNvPr>
          <p:cNvSpPr txBox="1"/>
          <p:nvPr/>
        </p:nvSpPr>
        <p:spPr>
          <a:xfrm>
            <a:off x="152400" y="971068"/>
            <a:ext cx="8686800" cy="579967"/>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Tạo một nút trong activity layout</a:t>
            </a:r>
          </a:p>
        </p:txBody>
      </p:sp>
      <p:pic>
        <p:nvPicPr>
          <p:cNvPr id="5" name="Picture 4" descr="Diagram&#10;&#10;Description automatically generated with medium confidence">
            <a:extLst>
              <a:ext uri="{FF2B5EF4-FFF2-40B4-BE49-F238E27FC236}">
                <a16:creationId xmlns:a16="http://schemas.microsoft.com/office/drawing/2014/main" id="{9E416099-8D9A-454C-A605-1A25199176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4450" y="1055525"/>
            <a:ext cx="3490262" cy="1044030"/>
          </a:xfrm>
          <a:prstGeom prst="rect">
            <a:avLst/>
          </a:prstGeom>
        </p:spPr>
      </p:pic>
      <p:sp>
        <p:nvSpPr>
          <p:cNvPr id="9" name="TextBox 8">
            <a:extLst>
              <a:ext uri="{FF2B5EF4-FFF2-40B4-BE49-F238E27FC236}">
                <a16:creationId xmlns:a16="http://schemas.microsoft.com/office/drawing/2014/main" id="{A03F801E-D193-4957-81AB-272923284EA1}"/>
              </a:ext>
            </a:extLst>
          </p:cNvPr>
          <p:cNvSpPr txBox="1"/>
          <p:nvPr/>
        </p:nvSpPr>
        <p:spPr>
          <a:xfrm>
            <a:off x="152400" y="1535312"/>
            <a:ext cx="8686800" cy="579967"/>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Trong MainActivity.java</a:t>
            </a:r>
          </a:p>
        </p:txBody>
      </p:sp>
      <p:pic>
        <p:nvPicPr>
          <p:cNvPr id="8" name="Picture 7" descr="Text&#10;&#10;Description automatically generated">
            <a:extLst>
              <a:ext uri="{FF2B5EF4-FFF2-40B4-BE49-F238E27FC236}">
                <a16:creationId xmlns:a16="http://schemas.microsoft.com/office/drawing/2014/main" id="{57CCF6BF-4C28-4BAD-8DE2-72F0759FB1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2222152"/>
            <a:ext cx="4036091" cy="4364386"/>
          </a:xfrm>
          <a:prstGeom prst="rect">
            <a:avLst/>
          </a:prstGeom>
        </p:spPr>
      </p:pic>
    </p:spTree>
    <p:extLst>
      <p:ext uri="{BB962C8B-B14F-4D97-AF65-F5344CB8AC3E}">
        <p14:creationId xmlns:p14="http://schemas.microsoft.com/office/powerpoint/2010/main" val="26062679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7" name="Shape 43"/>
          <p:cNvSpPr txBox="1">
            <a:spLocks/>
          </p:cNvSpPr>
          <p:nvPr/>
        </p:nvSpPr>
        <p:spPr bwMode="auto">
          <a:xfrm>
            <a:off x="3581400" y="2209800"/>
            <a:ext cx="5307496" cy="2209800"/>
          </a:xfrm>
          <a:prstGeom prst="rect">
            <a:avLst/>
          </a:prstGeom>
          <a:noFill/>
          <a:ln w="9525">
            <a:noFill/>
            <a:miter lim="800000"/>
            <a:headEnd/>
            <a:tailEnd/>
          </a:ln>
          <a:extLst>
            <a:ext uri="{C572A759-6A51-4108-AA02-DFA0A04FC94B}">
              <ma14:wrappingTextBoxFlag xmlns="" xmlns:ma14="http://schemas.microsoft.com/office/mac/drawingml/2011/main" val="1"/>
            </a:ext>
          </a:extLst>
        </p:spPr>
        <p:txBody>
          <a:bodyPr vert="horz" wrap="square" lIns="91440" tIns="45720" rIns="91440" bIns="45720" numCol="1" anchor="ctr"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spcBef>
                <a:spcPts val="900"/>
              </a:spcBef>
              <a:buFont typeface="Wingdings" pitchFamily="2" charset="2"/>
              <a:buNone/>
              <a:defRPr sz="4000" b="1">
                <a:solidFill>
                  <a:srgbClr val="260026"/>
                </a:solidFill>
              </a:defRPr>
            </a:pPr>
            <a:r>
              <a:rPr lang="en-US" sz="3600" b="1" kern="0">
                <a:solidFill>
                  <a:schemeClr val="bg1"/>
                </a:solidFill>
              </a:rPr>
              <a:t>1.3 XỬ LÝ SỰ KIỆN</a:t>
            </a:r>
            <a:endParaRPr lang="vi-VN" sz="3600" b="1" kern="0">
              <a:solidFill>
                <a:schemeClr val="bg1"/>
              </a:solidFill>
            </a:endParaRPr>
          </a:p>
        </p:txBody>
      </p:sp>
    </p:spTree>
    <p:extLst>
      <p:ext uri="{BB962C8B-B14F-4D97-AF65-F5344CB8AC3E}">
        <p14:creationId xmlns:p14="http://schemas.microsoft.com/office/powerpoint/2010/main" val="7776015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1.3.1 SỰ KIỆN TRONG ANDROID</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35</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228600" y="1066800"/>
            <a:ext cx="7772400" cy="4909036"/>
          </a:xfrm>
          <a:prstGeom prst="rect">
            <a:avLst/>
          </a:prstGeom>
          <a:noFill/>
        </p:spPr>
        <p:txBody>
          <a:bodyPr wrap="square" rtlCol="0">
            <a:spAutoFit/>
          </a:bodyPr>
          <a:lstStyle/>
          <a:p>
            <a:pPr marL="342900" indent="-342900" algn="l">
              <a:lnSpc>
                <a:spcPct val="150000"/>
              </a:lnSpc>
              <a:spcBef>
                <a:spcPts val="600"/>
              </a:spcBef>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Sự kiện được tạo ra để đáp ứng với một hành động do tác động từ bên ngoài, thường là tương tác bởi người dùng</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spcBef>
                <a:spcPts val="600"/>
              </a:spcBef>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Có 4 cách chính để cài đặt sự kiện trong lập trình</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vi-VN">
                <a:solidFill>
                  <a:schemeClr val="accent4">
                    <a:lumMod val="90000"/>
                    <a:lumOff val="10000"/>
                  </a:schemeClr>
                </a:solidFill>
                <a:latin typeface="Times New Roman" panose="02020603050405020304" pitchFamily="18" charset="0"/>
                <a:cs typeface="Times New Roman" panose="02020603050405020304" pitchFamily="18" charset="0"/>
              </a:rPr>
              <a:t>Android như:</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spcBef>
                <a:spcPts val="600"/>
              </a:spcBef>
              <a:buClr>
                <a:srgbClr val="FF0000"/>
              </a:buClr>
              <a:buFont typeface="Arial" panose="020B0604020202020204" pitchFamily="34" charset="0"/>
              <a:buChar char="•"/>
            </a:pPr>
            <a:r>
              <a:rPr lang="fr-FR" sz="2200">
                <a:solidFill>
                  <a:schemeClr val="accent4">
                    <a:lumMod val="90000"/>
                    <a:lumOff val="10000"/>
                  </a:schemeClr>
                </a:solidFill>
                <a:latin typeface="Times New Roman" panose="02020603050405020304" pitchFamily="18" charset="0"/>
                <a:cs typeface="Times New Roman" panose="02020603050405020304" pitchFamily="18" charset="0"/>
              </a:rPr>
              <a:t>Cài đặt hàm xử lý trong class Activity và khai báo sử dụng ngoài layout</a:t>
            </a:r>
          </a:p>
          <a:p>
            <a:pPr marL="800100" lvl="1" indent="-342900" algn="l">
              <a:spcBef>
                <a:spcPts val="600"/>
              </a:spcBef>
              <a:buClr>
                <a:srgbClr val="FF0000"/>
              </a:buClr>
              <a:buFont typeface="Arial" panose="020B0604020202020204" pitchFamily="34" charset="0"/>
              <a:buChar char="•"/>
            </a:pPr>
            <a:r>
              <a:rPr lang="fr-FR" sz="2200">
                <a:solidFill>
                  <a:schemeClr val="accent4">
                    <a:lumMod val="90000"/>
                    <a:lumOff val="10000"/>
                  </a:schemeClr>
                </a:solidFill>
                <a:latin typeface="Times New Roman" panose="02020603050405020304" pitchFamily="18" charset="0"/>
                <a:cs typeface="Times New Roman" panose="02020603050405020304" pitchFamily="18" charset="0"/>
              </a:rPr>
              <a:t>Cài đặt động thông qua các hàm setListener trong class Activity</a:t>
            </a:r>
          </a:p>
          <a:p>
            <a:pPr marL="800100" lvl="1" indent="-342900" algn="l">
              <a:spcBef>
                <a:spcPts val="600"/>
              </a:spcBef>
              <a:buClr>
                <a:srgbClr val="FF0000"/>
              </a:buClr>
              <a:buFont typeface="Arial" panose="020B0604020202020204" pitchFamily="34" charset="0"/>
              <a:buChar char="•"/>
            </a:pPr>
            <a:r>
              <a:rPr lang="fr-FR" sz="2200">
                <a:solidFill>
                  <a:schemeClr val="accent4">
                    <a:lumMod val="90000"/>
                    <a:lumOff val="10000"/>
                  </a:schemeClr>
                </a:solidFill>
                <a:latin typeface="Times New Roman" panose="02020603050405020304" pitchFamily="18" charset="0"/>
                <a:cs typeface="Times New Roman" panose="02020603050405020304" pitchFamily="18" charset="0"/>
              </a:rPr>
              <a:t>Implements Listener trong khai báo lớp</a:t>
            </a:r>
          </a:p>
          <a:p>
            <a:pPr marL="800100" lvl="1" indent="-342900" algn="l">
              <a:spcBef>
                <a:spcPts val="600"/>
              </a:spcBef>
              <a:buClr>
                <a:srgbClr val="FF0000"/>
              </a:buClr>
              <a:buFont typeface="Arial" panose="020B0604020202020204" pitchFamily="34" charset="0"/>
              <a:buChar char="•"/>
            </a:pPr>
            <a:r>
              <a:rPr lang="vi-VN" sz="2200">
                <a:solidFill>
                  <a:schemeClr val="accent4">
                    <a:lumMod val="90000"/>
                    <a:lumOff val="10000"/>
                  </a:schemeClr>
                </a:solidFill>
                <a:latin typeface="Times New Roman" panose="02020603050405020304" pitchFamily="18" charset="0"/>
                <a:cs typeface="Times New Roman" panose="02020603050405020304" pitchFamily="18" charset="0"/>
              </a:rPr>
              <a:t>Dùng biến lưu trữ</a:t>
            </a:r>
            <a:endParaRPr lang="fr-FR" sz="2200">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08918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1.3.2 CÁCH 1: Onclick in XML</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36</a:t>
            </a:fld>
            <a:endParaRPr lang="en-US"/>
          </a:p>
        </p:txBody>
      </p:sp>
      <p:pic>
        <p:nvPicPr>
          <p:cNvPr id="5" name="Picture 4" descr="Graphical user interface, text, application&#10;&#10;Description automatically generated">
            <a:extLst>
              <a:ext uri="{FF2B5EF4-FFF2-40B4-BE49-F238E27FC236}">
                <a16:creationId xmlns:a16="http://schemas.microsoft.com/office/drawing/2014/main" id="{05D32E00-D6DA-4BB7-A667-3E5C3A8F06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447800"/>
            <a:ext cx="8366619" cy="4876800"/>
          </a:xfrm>
          <a:prstGeom prst="rect">
            <a:avLst/>
          </a:prstGeom>
        </p:spPr>
      </p:pic>
    </p:spTree>
    <p:extLst>
      <p:ext uri="{BB962C8B-B14F-4D97-AF65-F5344CB8AC3E}">
        <p14:creationId xmlns:p14="http://schemas.microsoft.com/office/powerpoint/2010/main" val="7840015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1.3.3 CÁCH 2: Inline anonymous listener</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37</a:t>
            </a:fld>
            <a:endParaRPr lang="en-US"/>
          </a:p>
        </p:txBody>
      </p:sp>
      <p:pic>
        <p:nvPicPr>
          <p:cNvPr id="6" name="Picture 5" descr="Graphical user interface, text, application&#10;&#10;Description automatically generated">
            <a:extLst>
              <a:ext uri="{FF2B5EF4-FFF2-40B4-BE49-F238E27FC236}">
                <a16:creationId xmlns:a16="http://schemas.microsoft.com/office/drawing/2014/main" id="{34D9C424-3761-462C-A234-BFD7D7558E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99" y="1371600"/>
            <a:ext cx="8518119" cy="4419600"/>
          </a:xfrm>
          <a:prstGeom prst="rect">
            <a:avLst/>
          </a:prstGeom>
        </p:spPr>
      </p:pic>
    </p:spTree>
    <p:extLst>
      <p:ext uri="{BB962C8B-B14F-4D97-AF65-F5344CB8AC3E}">
        <p14:creationId xmlns:p14="http://schemas.microsoft.com/office/powerpoint/2010/main" val="5095337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1.3.4 CÁCH 3: Activity is listener</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38</a:t>
            </a:fld>
            <a:endParaRPr lang="en-US"/>
          </a:p>
        </p:txBody>
      </p:sp>
      <p:pic>
        <p:nvPicPr>
          <p:cNvPr id="5" name="Picture 4" descr="Graphical user interface, text, application&#10;&#10;Description automatically generated">
            <a:extLst>
              <a:ext uri="{FF2B5EF4-FFF2-40B4-BE49-F238E27FC236}">
                <a16:creationId xmlns:a16="http://schemas.microsoft.com/office/drawing/2014/main" id="{F4D05445-CD59-446D-BC23-5661BDFF1F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19199"/>
            <a:ext cx="8229600" cy="5147315"/>
          </a:xfrm>
          <a:prstGeom prst="rect">
            <a:avLst/>
          </a:prstGeom>
        </p:spPr>
      </p:pic>
    </p:spTree>
    <p:extLst>
      <p:ext uri="{BB962C8B-B14F-4D97-AF65-F5344CB8AC3E}">
        <p14:creationId xmlns:p14="http://schemas.microsoft.com/office/powerpoint/2010/main" val="28136163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1.3.5 CÁCH 4: Listener in variable</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39</a:t>
            </a:fld>
            <a:endParaRPr lang="en-US"/>
          </a:p>
        </p:txBody>
      </p:sp>
      <p:pic>
        <p:nvPicPr>
          <p:cNvPr id="6" name="Picture 5" descr="Graphical user interface, text, application, email&#10;&#10;Description automatically generated">
            <a:extLst>
              <a:ext uri="{FF2B5EF4-FFF2-40B4-BE49-F238E27FC236}">
                <a16:creationId xmlns:a16="http://schemas.microsoft.com/office/drawing/2014/main" id="{87BF5814-F8B2-424C-B178-643C8E2ADA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219199"/>
            <a:ext cx="8305800" cy="5181237"/>
          </a:xfrm>
          <a:prstGeom prst="rect">
            <a:avLst/>
          </a:prstGeom>
        </p:spPr>
      </p:pic>
    </p:spTree>
    <p:extLst>
      <p:ext uri="{BB962C8B-B14F-4D97-AF65-F5344CB8AC3E}">
        <p14:creationId xmlns:p14="http://schemas.microsoft.com/office/powerpoint/2010/main" val="17708600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1.3.6 MỘT SỐ CÁCH ÍT THÔNG DỤNG HƠN</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40</a:t>
            </a:fld>
            <a:endParaRPr lang="en-US"/>
          </a:p>
        </p:txBody>
      </p:sp>
      <p:sp>
        <p:nvSpPr>
          <p:cNvPr id="7" name="TextBox 6">
            <a:extLst>
              <a:ext uri="{FF2B5EF4-FFF2-40B4-BE49-F238E27FC236}">
                <a16:creationId xmlns:a16="http://schemas.microsoft.com/office/drawing/2014/main" id="{903DD80B-CF98-4F46-BFD7-312441BD2734}"/>
              </a:ext>
            </a:extLst>
          </p:cNvPr>
          <p:cNvSpPr txBox="1"/>
          <p:nvPr/>
        </p:nvSpPr>
        <p:spPr>
          <a:xfrm>
            <a:off x="228600" y="1066800"/>
            <a:ext cx="7772400" cy="1923604"/>
          </a:xfrm>
          <a:prstGeom prst="rect">
            <a:avLst/>
          </a:prstGeom>
          <a:noFill/>
        </p:spPr>
        <p:txBody>
          <a:bodyPr wrap="square" rtlCol="0">
            <a:spAutoFit/>
          </a:bodyPr>
          <a:lstStyle/>
          <a:p>
            <a:pPr marL="342900" indent="-342900" algn="l">
              <a:lnSpc>
                <a:spcPct val="150000"/>
              </a:lnSpc>
              <a:spcBef>
                <a:spcPts val="600"/>
              </a:spcBef>
              <a:buClr>
                <a:srgbClr val="FF0000"/>
              </a:buClr>
              <a:buFont typeface="Arial" panose="020B0604020202020204" pitchFamily="34" charset="0"/>
              <a:buChar char="•"/>
            </a:pPr>
            <a:r>
              <a:rPr lang="vi-VN" b="1">
                <a:solidFill>
                  <a:schemeClr val="accent4">
                    <a:lumMod val="90000"/>
                    <a:lumOff val="10000"/>
                  </a:schemeClr>
                </a:solidFill>
                <a:latin typeface="Times New Roman" panose="02020603050405020304" pitchFamily="18" charset="0"/>
                <a:cs typeface="Times New Roman" panose="02020603050405020304" pitchFamily="18" charset="0"/>
              </a:rPr>
              <a:t>Cách 5</a:t>
            </a:r>
            <a:r>
              <a:rPr lang="vi-VN">
                <a:solidFill>
                  <a:schemeClr val="accent4">
                    <a:lumMod val="90000"/>
                    <a:lumOff val="10000"/>
                  </a:schemeClr>
                </a:solidFill>
                <a:latin typeface="Times New Roman" panose="02020603050405020304" pitchFamily="18" charset="0"/>
                <a:cs typeface="Times New Roman" panose="02020603050405020304" pitchFamily="18" charset="0"/>
              </a:rPr>
              <a:t>: Explicit listener class</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spcBef>
                <a:spcPts val="600"/>
              </a:spcBef>
              <a:buClr>
                <a:srgbClr val="FF0000"/>
              </a:buClr>
              <a:buFont typeface="Arial" panose="020B0604020202020204" pitchFamily="34" charset="0"/>
              <a:buChar char="•"/>
            </a:pPr>
            <a:r>
              <a:rPr lang="fr-FR" sz="2200">
                <a:solidFill>
                  <a:schemeClr val="accent4">
                    <a:lumMod val="90000"/>
                    <a:lumOff val="10000"/>
                  </a:schemeClr>
                </a:solidFill>
                <a:latin typeface="Times New Roman" panose="02020603050405020304" pitchFamily="18" charset="0"/>
                <a:cs typeface="Times New Roman" panose="02020603050405020304" pitchFamily="18" charset="0"/>
              </a:rPr>
              <a:t>Viết class độc lập xử lý sự kiện</a:t>
            </a:r>
            <a:endParaRPr lang="en-US" sz="2200">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spcBef>
                <a:spcPts val="600"/>
              </a:spcBef>
              <a:buClr>
                <a:srgbClr val="FF0000"/>
              </a:buClr>
              <a:buFont typeface="Arial" panose="020B0604020202020204" pitchFamily="34" charset="0"/>
              <a:buChar char="•"/>
            </a:pPr>
            <a:r>
              <a:rPr lang="fr-FR" sz="2200">
                <a:solidFill>
                  <a:schemeClr val="accent4">
                    <a:lumMod val="90000"/>
                    <a:lumOff val="10000"/>
                  </a:schemeClr>
                </a:solidFill>
                <a:latin typeface="Times New Roman" panose="02020603050405020304" pitchFamily="18" charset="0"/>
                <a:cs typeface="Times New Roman" panose="02020603050405020304" pitchFamily="18" charset="0"/>
              </a:rPr>
              <a:t>Class có thể là inner class hoặc hoàn toàn độc lập</a:t>
            </a:r>
          </a:p>
          <a:p>
            <a:pPr marL="342900" indent="-342900" algn="l">
              <a:spcBef>
                <a:spcPts val="600"/>
              </a:spcBef>
              <a:buClr>
                <a:srgbClr val="FF0000"/>
              </a:buClr>
              <a:buFont typeface="Arial" panose="020B0604020202020204" pitchFamily="34" charset="0"/>
              <a:buChar char="•"/>
            </a:pPr>
            <a:r>
              <a:rPr lang="en-US" b="1">
                <a:solidFill>
                  <a:schemeClr val="accent4">
                    <a:lumMod val="90000"/>
                    <a:lumOff val="10000"/>
                  </a:schemeClr>
                </a:solidFill>
                <a:latin typeface="Times New Roman" panose="02020603050405020304" pitchFamily="18" charset="0"/>
                <a:cs typeface="Times New Roman" panose="02020603050405020304" pitchFamily="18" charset="0"/>
              </a:rPr>
              <a:t>Cách 6</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Anonymous view subclassing</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5" name="Picture 4" descr="Text&#10;&#10;Description automatically generated">
            <a:extLst>
              <a:ext uri="{FF2B5EF4-FFF2-40B4-BE49-F238E27FC236}">
                <a16:creationId xmlns:a16="http://schemas.microsoft.com/office/drawing/2014/main" id="{1D6CA06C-F4C3-4D65-B417-BB5906856B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4900" y="3200400"/>
            <a:ext cx="6318614" cy="3011934"/>
          </a:xfrm>
          <a:prstGeom prst="rect">
            <a:avLst/>
          </a:prstGeom>
        </p:spPr>
      </p:pic>
    </p:spTree>
    <p:extLst>
      <p:ext uri="{BB962C8B-B14F-4D97-AF65-F5344CB8AC3E}">
        <p14:creationId xmlns:p14="http://schemas.microsoft.com/office/powerpoint/2010/main" val="6979203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t>41</a:t>
            </a:fld>
            <a:endParaRPr lang="en-US"/>
          </a:p>
        </p:txBody>
      </p:sp>
      <p:sp>
        <p:nvSpPr>
          <p:cNvPr id="9" name="Line 74"/>
          <p:cNvSpPr>
            <a:spLocks noChangeShapeType="1"/>
          </p:cNvSpPr>
          <p:nvPr/>
        </p:nvSpPr>
        <p:spPr bwMode="auto">
          <a:xfrm flipV="1">
            <a:off x="1780842" y="3475931"/>
            <a:ext cx="1134747" cy="8574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AutoShape 5"/>
          <p:cNvSpPr>
            <a:spLocks noChangeArrowheads="1"/>
          </p:cNvSpPr>
          <p:nvPr/>
        </p:nvSpPr>
        <p:spPr bwMode="auto">
          <a:xfrm>
            <a:off x="-7564" y="2637157"/>
            <a:ext cx="1905000" cy="1828800"/>
          </a:xfrm>
          <a:prstGeom prst="star8">
            <a:avLst>
              <a:gd name="adj" fmla="val 40139"/>
            </a:avLst>
          </a:prstGeom>
          <a:solidFill>
            <a:srgbClr val="CC3300"/>
          </a:solidFill>
          <a:ln w="9525">
            <a:solidFill>
              <a:srgbClr val="CC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sz="1800" b="1">
                <a:solidFill>
                  <a:srgbClr val="FFFFFF"/>
                </a:solidFill>
                <a:cs typeface="Tahoma" panose="020B0604030504040204" pitchFamily="34" charset="0"/>
              </a:rPr>
              <a:t>User Interface</a:t>
            </a:r>
          </a:p>
          <a:p>
            <a:r>
              <a:rPr lang="en-US" altLang="en-US" sz="1800" b="1">
                <a:solidFill>
                  <a:srgbClr val="FFFFFF"/>
                </a:solidFill>
                <a:cs typeface="Tahoma" panose="020B0604030504040204" pitchFamily="34" charset="0"/>
              </a:rPr>
              <a:t>Nâng cao</a:t>
            </a:r>
          </a:p>
        </p:txBody>
      </p:sp>
      <p:sp>
        <p:nvSpPr>
          <p:cNvPr id="11" name="Text Box 8"/>
          <p:cNvSpPr txBox="1">
            <a:spLocks noChangeArrowheads="1"/>
          </p:cNvSpPr>
          <p:nvPr/>
        </p:nvSpPr>
        <p:spPr bwMode="auto">
          <a:xfrm>
            <a:off x="1701461" y="2871994"/>
            <a:ext cx="110839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sz="1600" b="1">
                <a:latin typeface="Verdana" panose="020B0604030504040204" pitchFamily="34" charset="0"/>
                <a:ea typeface="Verdana" panose="020B0604030504040204" pitchFamily="34" charset="0"/>
              </a:rPr>
              <a:t>Thành phần</a:t>
            </a:r>
          </a:p>
        </p:txBody>
      </p:sp>
      <p:sp>
        <p:nvSpPr>
          <p:cNvPr id="13" name="Text Box 26"/>
          <p:cNvSpPr txBox="1">
            <a:spLocks noChangeArrowheads="1"/>
          </p:cNvSpPr>
          <p:nvPr/>
        </p:nvSpPr>
        <p:spPr bwMode="auto">
          <a:xfrm>
            <a:off x="2832854" y="5297049"/>
            <a:ext cx="171111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1600" b="1">
                <a:solidFill>
                  <a:srgbClr val="993300"/>
                </a:solidFill>
                <a:latin typeface="Verdana" panose="020B0604030504040204" pitchFamily="34" charset="0"/>
                <a:ea typeface="Verdana" panose="020B0604030504040204" pitchFamily="34" charset="0"/>
                <a:cs typeface="Verdana" panose="020B0604030504040204" pitchFamily="34" charset="0"/>
              </a:rPr>
              <a:t>Tổng quan</a:t>
            </a:r>
          </a:p>
        </p:txBody>
      </p:sp>
      <p:sp>
        <p:nvSpPr>
          <p:cNvPr id="14" name="Text Box 37"/>
          <p:cNvSpPr txBox="1">
            <a:spLocks noChangeArrowheads="1"/>
          </p:cNvSpPr>
          <p:nvPr/>
        </p:nvSpPr>
        <p:spPr bwMode="auto">
          <a:xfrm>
            <a:off x="1182672" y="1943137"/>
            <a:ext cx="130141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sz="1600" b="1">
                <a:latin typeface="Verdana" panose="020B0604030504040204" pitchFamily="34" charset="0"/>
                <a:ea typeface="Verdana" panose="020B0604030504040204" pitchFamily="34" charset="0"/>
                <a:cs typeface="Verdana" panose="020B0604030504040204" pitchFamily="34" charset="0"/>
              </a:rPr>
              <a:t>Menu </a:t>
            </a:r>
          </a:p>
        </p:txBody>
      </p:sp>
      <p:sp>
        <p:nvSpPr>
          <p:cNvPr id="16" name="Text Box 41"/>
          <p:cNvSpPr txBox="1">
            <a:spLocks noChangeArrowheads="1"/>
          </p:cNvSpPr>
          <p:nvPr/>
        </p:nvSpPr>
        <p:spPr bwMode="auto">
          <a:xfrm>
            <a:off x="953132" y="4916717"/>
            <a:ext cx="13716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1600" b="1">
                <a:latin typeface="Verdana" panose="020B0604030504040204" pitchFamily="34" charset="0"/>
                <a:ea typeface="Verdana" panose="020B0604030504040204" pitchFamily="34" charset="0"/>
              </a:rPr>
              <a:t>Xử lý Sự kiện</a:t>
            </a:r>
            <a:endParaRPr lang="en-US" altLang="en-US" sz="2000" b="1">
              <a:solidFill>
                <a:srgbClr val="FFFF00"/>
              </a:solidFill>
              <a:latin typeface=".VnArial Narrow" panose="020B7200000000000000" pitchFamily="34" charset="0"/>
            </a:endParaRPr>
          </a:p>
        </p:txBody>
      </p:sp>
      <p:sp>
        <p:nvSpPr>
          <p:cNvPr id="18" name="Text Box 48"/>
          <p:cNvSpPr txBox="1">
            <a:spLocks noChangeArrowheads="1"/>
          </p:cNvSpPr>
          <p:nvPr/>
        </p:nvSpPr>
        <p:spPr bwMode="auto">
          <a:xfrm>
            <a:off x="2667054" y="998940"/>
            <a:ext cx="22002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1600" b="1">
                <a:solidFill>
                  <a:srgbClr val="993300"/>
                </a:solidFill>
                <a:latin typeface="+mj-lt"/>
              </a:rPr>
              <a:t>Định nghĩa</a:t>
            </a:r>
          </a:p>
        </p:txBody>
      </p:sp>
      <p:sp>
        <p:nvSpPr>
          <p:cNvPr id="19" name="Text Box 50"/>
          <p:cNvSpPr txBox="1">
            <a:spLocks noChangeArrowheads="1"/>
          </p:cNvSpPr>
          <p:nvPr/>
        </p:nvSpPr>
        <p:spPr bwMode="auto">
          <a:xfrm>
            <a:off x="4812359" y="2401103"/>
            <a:ext cx="4176122" cy="58477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600" b="1">
                <a:solidFill>
                  <a:schemeClr val="tx1"/>
                </a:solidFill>
              </a:rPr>
              <a:t>Là cầu nối giữa View và bộ dữ liệu</a:t>
            </a:r>
          </a:p>
          <a:p>
            <a:pPr algn="l">
              <a:defRPr/>
            </a:pPr>
            <a:r>
              <a:rPr lang="en-US" altLang="en-US" sz="1600" b="1">
                <a:solidFill>
                  <a:schemeClr val="tx1"/>
                </a:solidFill>
              </a:rPr>
              <a:t>Gọi adapter bằng hàm setAdapter()</a:t>
            </a:r>
          </a:p>
        </p:txBody>
      </p:sp>
      <p:sp>
        <p:nvSpPr>
          <p:cNvPr id="20" name="Text Box 56"/>
          <p:cNvSpPr txBox="1">
            <a:spLocks noChangeArrowheads="1"/>
          </p:cNvSpPr>
          <p:nvPr/>
        </p:nvSpPr>
        <p:spPr bwMode="auto">
          <a:xfrm>
            <a:off x="2981569" y="6244823"/>
            <a:ext cx="157124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1600" b="1">
                <a:solidFill>
                  <a:srgbClr val="993300"/>
                </a:solidFill>
                <a:latin typeface="Verdana" panose="020B0604030504040204" pitchFamily="34" charset="0"/>
                <a:ea typeface="Verdana" panose="020B0604030504040204" pitchFamily="34" charset="0"/>
                <a:cs typeface="Verdana" panose="020B0604030504040204" pitchFamily="34" charset="0"/>
              </a:rPr>
              <a:t>Cách xử lý</a:t>
            </a:r>
          </a:p>
        </p:txBody>
      </p:sp>
      <p:sp>
        <p:nvSpPr>
          <p:cNvPr id="22" name="Line 78"/>
          <p:cNvSpPr>
            <a:spLocks noChangeShapeType="1"/>
          </p:cNvSpPr>
          <p:nvPr/>
        </p:nvSpPr>
        <p:spPr bwMode="auto">
          <a:xfrm>
            <a:off x="2914913" y="5632908"/>
            <a:ext cx="11998" cy="1051889"/>
          </a:xfrm>
          <a:prstGeom prst="line">
            <a:avLst/>
          </a:prstGeom>
          <a:noFill/>
          <a:ln w="1016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Line 72"/>
          <p:cNvSpPr>
            <a:spLocks noChangeShapeType="1"/>
          </p:cNvSpPr>
          <p:nvPr/>
        </p:nvSpPr>
        <p:spPr bwMode="auto">
          <a:xfrm flipV="1">
            <a:off x="1592636" y="1717995"/>
            <a:ext cx="1295400" cy="1223962"/>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Line 73"/>
          <p:cNvSpPr>
            <a:spLocks noChangeShapeType="1"/>
          </p:cNvSpPr>
          <p:nvPr/>
        </p:nvSpPr>
        <p:spPr bwMode="auto">
          <a:xfrm>
            <a:off x="1592635" y="4161156"/>
            <a:ext cx="1238835" cy="1697899"/>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Line 76"/>
          <p:cNvSpPr>
            <a:spLocks noChangeShapeType="1"/>
          </p:cNvSpPr>
          <p:nvPr/>
        </p:nvSpPr>
        <p:spPr bwMode="auto">
          <a:xfrm flipV="1">
            <a:off x="2915589" y="1375095"/>
            <a:ext cx="1841102"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 name="Line 81"/>
          <p:cNvSpPr>
            <a:spLocks noChangeShapeType="1"/>
          </p:cNvSpPr>
          <p:nvPr/>
        </p:nvSpPr>
        <p:spPr bwMode="auto">
          <a:xfrm flipV="1">
            <a:off x="2870741" y="5632908"/>
            <a:ext cx="1885950"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Line 82"/>
          <p:cNvSpPr>
            <a:spLocks noChangeShapeType="1"/>
          </p:cNvSpPr>
          <p:nvPr/>
        </p:nvSpPr>
        <p:spPr bwMode="auto">
          <a:xfrm flipV="1">
            <a:off x="2915589" y="6636529"/>
            <a:ext cx="1917728"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Line 78"/>
          <p:cNvSpPr>
            <a:spLocks noChangeShapeType="1"/>
          </p:cNvSpPr>
          <p:nvPr/>
        </p:nvSpPr>
        <p:spPr bwMode="auto">
          <a:xfrm>
            <a:off x="2965526" y="1375095"/>
            <a:ext cx="0" cy="758505"/>
          </a:xfrm>
          <a:prstGeom prst="line">
            <a:avLst/>
          </a:prstGeom>
          <a:noFill/>
          <a:ln w="1016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 name="Line 80"/>
          <p:cNvSpPr>
            <a:spLocks noChangeShapeType="1"/>
          </p:cNvSpPr>
          <p:nvPr/>
        </p:nvSpPr>
        <p:spPr bwMode="auto">
          <a:xfrm flipV="1">
            <a:off x="2950028" y="2098353"/>
            <a:ext cx="1843010"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 name="Text Box 48"/>
          <p:cNvSpPr txBox="1">
            <a:spLocks noChangeArrowheads="1"/>
          </p:cNvSpPr>
          <p:nvPr/>
        </p:nvSpPr>
        <p:spPr bwMode="auto">
          <a:xfrm>
            <a:off x="2771395" y="1701057"/>
            <a:ext cx="22002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1600" b="1">
                <a:solidFill>
                  <a:srgbClr val="993300"/>
                </a:solidFill>
                <a:latin typeface="+mj-lt"/>
              </a:rPr>
              <a:t>Cách dùng</a:t>
            </a:r>
          </a:p>
        </p:txBody>
      </p:sp>
      <p:sp>
        <p:nvSpPr>
          <p:cNvPr id="45" name="Text Box 50"/>
          <p:cNvSpPr txBox="1">
            <a:spLocks noChangeArrowheads="1"/>
          </p:cNvSpPr>
          <p:nvPr/>
        </p:nvSpPr>
        <p:spPr bwMode="auto">
          <a:xfrm>
            <a:off x="4779989" y="1033574"/>
            <a:ext cx="4264077" cy="58477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600" b="1">
                <a:solidFill>
                  <a:schemeClr val="tx1"/>
                </a:solidFill>
              </a:rPr>
              <a:t>Là thành phần giao diện phổ biết, giúp gộp nhiều thành phần liên quan với nhau</a:t>
            </a:r>
          </a:p>
        </p:txBody>
      </p:sp>
      <p:sp>
        <p:nvSpPr>
          <p:cNvPr id="46" name="Text Box 50"/>
          <p:cNvSpPr txBox="1">
            <a:spLocks noChangeArrowheads="1"/>
          </p:cNvSpPr>
          <p:nvPr/>
        </p:nvSpPr>
        <p:spPr bwMode="auto">
          <a:xfrm>
            <a:off x="4795958" y="1695410"/>
            <a:ext cx="4176122" cy="58477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600" b="1">
                <a:solidFill>
                  <a:schemeClr val="tx1"/>
                </a:solidFill>
                <a:latin typeface="Arial" panose="020B0604020202020204" pitchFamily="34" charset="0"/>
                <a:cs typeface="Arial" panose="020B0604020202020204" pitchFamily="34" charset="0"/>
              </a:rPr>
              <a:t>Menu -&gt; menu.xml -&gt; </a:t>
            </a:r>
            <a:r>
              <a:rPr lang="en-US" sz="1600" b="1">
                <a:solidFill>
                  <a:srgbClr val="002060"/>
                </a:solidFill>
                <a:latin typeface="Arial" panose="020B0604020202020204" pitchFamily="34" charset="0"/>
                <a:cs typeface="Arial" panose="020B0604020202020204" pitchFamily="34" charset="0"/>
              </a:rPr>
              <a:t>getMenuInflater() -&gt; onCreateOptionMenu()</a:t>
            </a:r>
            <a:endParaRPr lang="en-US" altLang="en-US" sz="1600" b="1">
              <a:solidFill>
                <a:srgbClr val="002060"/>
              </a:solidFill>
              <a:latin typeface="Arial" panose="020B0604020202020204" pitchFamily="34" charset="0"/>
              <a:cs typeface="Arial" panose="020B0604020202020204" pitchFamily="34" charset="0"/>
            </a:endParaRPr>
          </a:p>
        </p:txBody>
      </p:sp>
      <p:sp>
        <p:nvSpPr>
          <p:cNvPr id="47" name="Text Box 50"/>
          <p:cNvSpPr txBox="1">
            <a:spLocks noChangeArrowheads="1"/>
          </p:cNvSpPr>
          <p:nvPr/>
        </p:nvSpPr>
        <p:spPr bwMode="auto">
          <a:xfrm>
            <a:off x="4823791" y="5257557"/>
            <a:ext cx="4143293" cy="58477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600" b="1">
                <a:solidFill>
                  <a:schemeClr val="tx1"/>
                </a:solidFill>
                <a:latin typeface="Arial" panose="020B0604020202020204" pitchFamily="34" charset="0"/>
                <a:cs typeface="Arial" panose="020B0604020202020204" pitchFamily="34" charset="0"/>
              </a:rPr>
              <a:t>Sự kiện được tạo ra để đáp ứng với các hành động bên ngoài</a:t>
            </a:r>
          </a:p>
        </p:txBody>
      </p:sp>
      <p:sp>
        <p:nvSpPr>
          <p:cNvPr id="48" name="Text Box 50"/>
          <p:cNvSpPr txBox="1">
            <a:spLocks noChangeArrowheads="1"/>
          </p:cNvSpPr>
          <p:nvPr/>
        </p:nvSpPr>
        <p:spPr bwMode="auto">
          <a:xfrm>
            <a:off x="4823790" y="5931863"/>
            <a:ext cx="4143293" cy="830997"/>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600" b="1">
                <a:solidFill>
                  <a:schemeClr val="tx1"/>
                </a:solidFill>
                <a:latin typeface="Arial" panose="020B0604020202020204" pitchFamily="34" charset="0"/>
                <a:cs typeface="Arial" panose="020B0604020202020204" pitchFamily="34" charset="0"/>
              </a:rPr>
              <a:t>Onclick in XML, Inline anonymous listener, Activity is listener, Listener in variable</a:t>
            </a:r>
          </a:p>
        </p:txBody>
      </p:sp>
      <p:sp>
        <p:nvSpPr>
          <p:cNvPr id="49" name="Shape 519"/>
          <p:cNvSpPr txBox="1">
            <a:spLocks/>
          </p:cNvSpPr>
          <p:nvPr/>
        </p:nvSpPr>
        <p:spPr bwMode="white">
          <a:xfrm>
            <a:off x="1041777" y="180655"/>
            <a:ext cx="7924800" cy="941388"/>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a:lstStyle>
          <a:p>
            <a:r>
              <a:rPr lang="en-US" b="1" kern="0" err="1"/>
              <a:t>Tổng</a:t>
            </a:r>
            <a:r>
              <a:rPr lang="en-US" b="1" kern="0"/>
              <a:t> </a:t>
            </a:r>
            <a:r>
              <a:rPr lang="en-US" b="1" kern="0" err="1"/>
              <a:t>kết</a:t>
            </a:r>
            <a:endParaRPr lang="vi-VN" b="1" kern="0"/>
          </a:p>
        </p:txBody>
      </p:sp>
      <p:sp>
        <p:nvSpPr>
          <p:cNvPr id="41" name="Text Box 48">
            <a:extLst>
              <a:ext uri="{FF2B5EF4-FFF2-40B4-BE49-F238E27FC236}">
                <a16:creationId xmlns:a16="http://schemas.microsoft.com/office/drawing/2014/main" id="{228CC597-71EB-4429-ADAA-6B5E65D9D2A8}"/>
              </a:ext>
            </a:extLst>
          </p:cNvPr>
          <p:cNvSpPr txBox="1">
            <a:spLocks noChangeArrowheads="1"/>
          </p:cNvSpPr>
          <p:nvPr/>
        </p:nvSpPr>
        <p:spPr bwMode="auto">
          <a:xfrm>
            <a:off x="2613880" y="2379831"/>
            <a:ext cx="22002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1600" b="1">
                <a:solidFill>
                  <a:srgbClr val="993300"/>
                </a:solidFill>
                <a:latin typeface="+mj-lt"/>
              </a:rPr>
              <a:t>Adapter</a:t>
            </a:r>
          </a:p>
        </p:txBody>
      </p:sp>
      <p:sp>
        <p:nvSpPr>
          <p:cNvPr id="42" name="Line 76">
            <a:extLst>
              <a:ext uri="{FF2B5EF4-FFF2-40B4-BE49-F238E27FC236}">
                <a16:creationId xmlns:a16="http://schemas.microsoft.com/office/drawing/2014/main" id="{9AB0556B-2643-4252-879B-62B27A9DC5AA}"/>
              </a:ext>
            </a:extLst>
          </p:cNvPr>
          <p:cNvSpPr>
            <a:spLocks noChangeShapeType="1"/>
          </p:cNvSpPr>
          <p:nvPr/>
        </p:nvSpPr>
        <p:spPr bwMode="auto">
          <a:xfrm flipV="1">
            <a:off x="2946233" y="2717969"/>
            <a:ext cx="1841102"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 name="Line 78">
            <a:extLst>
              <a:ext uri="{FF2B5EF4-FFF2-40B4-BE49-F238E27FC236}">
                <a16:creationId xmlns:a16="http://schemas.microsoft.com/office/drawing/2014/main" id="{FE19FF29-0AC6-4025-A371-7173FA89BAD5}"/>
              </a:ext>
            </a:extLst>
          </p:cNvPr>
          <p:cNvSpPr>
            <a:spLocks noChangeShapeType="1"/>
          </p:cNvSpPr>
          <p:nvPr/>
        </p:nvSpPr>
        <p:spPr bwMode="auto">
          <a:xfrm>
            <a:off x="2996169" y="2717970"/>
            <a:ext cx="0" cy="2070066"/>
          </a:xfrm>
          <a:prstGeom prst="line">
            <a:avLst/>
          </a:prstGeom>
          <a:noFill/>
          <a:ln w="1016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 name="Line 80">
            <a:extLst>
              <a:ext uri="{FF2B5EF4-FFF2-40B4-BE49-F238E27FC236}">
                <a16:creationId xmlns:a16="http://schemas.microsoft.com/office/drawing/2014/main" id="{2A9F57C1-5A13-4046-861C-20D5BF2918B5}"/>
              </a:ext>
            </a:extLst>
          </p:cNvPr>
          <p:cNvSpPr>
            <a:spLocks noChangeShapeType="1"/>
          </p:cNvSpPr>
          <p:nvPr/>
        </p:nvSpPr>
        <p:spPr bwMode="auto">
          <a:xfrm flipV="1">
            <a:off x="2971145" y="4793985"/>
            <a:ext cx="1843010"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 name="Text Box 48">
            <a:extLst>
              <a:ext uri="{FF2B5EF4-FFF2-40B4-BE49-F238E27FC236}">
                <a16:creationId xmlns:a16="http://schemas.microsoft.com/office/drawing/2014/main" id="{AA1A802E-7019-4D64-9E6D-79582810C595}"/>
              </a:ext>
            </a:extLst>
          </p:cNvPr>
          <p:cNvSpPr txBox="1">
            <a:spLocks noChangeArrowheads="1"/>
          </p:cNvSpPr>
          <p:nvPr/>
        </p:nvSpPr>
        <p:spPr bwMode="auto">
          <a:xfrm>
            <a:off x="2704053" y="4436842"/>
            <a:ext cx="22002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1600" b="1">
                <a:solidFill>
                  <a:srgbClr val="993300"/>
                </a:solidFill>
                <a:latin typeface="+mj-lt"/>
              </a:rPr>
              <a:t>Dialog</a:t>
            </a:r>
          </a:p>
        </p:txBody>
      </p:sp>
      <p:sp>
        <p:nvSpPr>
          <p:cNvPr id="55" name="Text Box 50">
            <a:extLst>
              <a:ext uri="{FF2B5EF4-FFF2-40B4-BE49-F238E27FC236}">
                <a16:creationId xmlns:a16="http://schemas.microsoft.com/office/drawing/2014/main" id="{E48B7EB7-554A-4074-927B-AF2415A72063}"/>
              </a:ext>
            </a:extLst>
          </p:cNvPr>
          <p:cNvSpPr txBox="1">
            <a:spLocks noChangeArrowheads="1"/>
          </p:cNvSpPr>
          <p:nvPr/>
        </p:nvSpPr>
        <p:spPr bwMode="auto">
          <a:xfrm>
            <a:off x="4823966" y="3050158"/>
            <a:ext cx="4176122" cy="58477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600" b="1">
                <a:solidFill>
                  <a:schemeClr val="tx1"/>
                </a:solidFill>
              </a:rPr>
              <a:t>Là một tiêu đề mặc định cho ứng dụng, có thể chỉnh sửa label, button,..</a:t>
            </a:r>
          </a:p>
        </p:txBody>
      </p:sp>
      <p:sp>
        <p:nvSpPr>
          <p:cNvPr id="56" name="Line 76">
            <a:extLst>
              <a:ext uri="{FF2B5EF4-FFF2-40B4-BE49-F238E27FC236}">
                <a16:creationId xmlns:a16="http://schemas.microsoft.com/office/drawing/2014/main" id="{8464F3E6-5AC7-4A35-9D39-139056AC3EFF}"/>
              </a:ext>
            </a:extLst>
          </p:cNvPr>
          <p:cNvSpPr>
            <a:spLocks noChangeShapeType="1"/>
          </p:cNvSpPr>
          <p:nvPr/>
        </p:nvSpPr>
        <p:spPr bwMode="auto">
          <a:xfrm flipV="1">
            <a:off x="2996169" y="3352800"/>
            <a:ext cx="1841102"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 name="Text Box 48">
            <a:extLst>
              <a:ext uri="{FF2B5EF4-FFF2-40B4-BE49-F238E27FC236}">
                <a16:creationId xmlns:a16="http://schemas.microsoft.com/office/drawing/2014/main" id="{9E35907C-3F66-495E-8768-DC13FD535F43}"/>
              </a:ext>
            </a:extLst>
          </p:cNvPr>
          <p:cNvSpPr txBox="1">
            <a:spLocks noChangeArrowheads="1"/>
          </p:cNvSpPr>
          <p:nvPr/>
        </p:nvSpPr>
        <p:spPr bwMode="auto">
          <a:xfrm>
            <a:off x="2665953" y="2989051"/>
            <a:ext cx="22002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1600" b="1">
                <a:solidFill>
                  <a:srgbClr val="993300"/>
                </a:solidFill>
                <a:latin typeface="+mj-lt"/>
              </a:rPr>
              <a:t>ActionBar</a:t>
            </a:r>
          </a:p>
        </p:txBody>
      </p:sp>
      <p:sp>
        <p:nvSpPr>
          <p:cNvPr id="59" name="Line 76">
            <a:extLst>
              <a:ext uri="{FF2B5EF4-FFF2-40B4-BE49-F238E27FC236}">
                <a16:creationId xmlns:a16="http://schemas.microsoft.com/office/drawing/2014/main" id="{5B6EB5DC-F9C2-4057-8DE7-EA374E225F05}"/>
              </a:ext>
            </a:extLst>
          </p:cNvPr>
          <p:cNvSpPr>
            <a:spLocks noChangeShapeType="1"/>
          </p:cNvSpPr>
          <p:nvPr/>
        </p:nvSpPr>
        <p:spPr bwMode="auto">
          <a:xfrm flipV="1">
            <a:off x="2954856" y="4038600"/>
            <a:ext cx="1841102"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 name="Text Box 48">
            <a:extLst>
              <a:ext uri="{FF2B5EF4-FFF2-40B4-BE49-F238E27FC236}">
                <a16:creationId xmlns:a16="http://schemas.microsoft.com/office/drawing/2014/main" id="{6867F353-7A36-4869-9189-C33CEE8E2E6F}"/>
              </a:ext>
            </a:extLst>
          </p:cNvPr>
          <p:cNvSpPr txBox="1">
            <a:spLocks noChangeArrowheads="1"/>
          </p:cNvSpPr>
          <p:nvPr/>
        </p:nvSpPr>
        <p:spPr bwMode="auto">
          <a:xfrm>
            <a:off x="2713578" y="3646344"/>
            <a:ext cx="22002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1600" b="1">
                <a:solidFill>
                  <a:srgbClr val="993300"/>
                </a:solidFill>
                <a:latin typeface="+mj-lt"/>
              </a:rPr>
              <a:t>Webview</a:t>
            </a:r>
          </a:p>
        </p:txBody>
      </p:sp>
      <p:sp>
        <p:nvSpPr>
          <p:cNvPr id="61" name="Text Box 50">
            <a:extLst>
              <a:ext uri="{FF2B5EF4-FFF2-40B4-BE49-F238E27FC236}">
                <a16:creationId xmlns:a16="http://schemas.microsoft.com/office/drawing/2014/main" id="{43BE1D45-A4E9-42D3-8B0D-0EBAD5C7D467}"/>
              </a:ext>
            </a:extLst>
          </p:cNvPr>
          <p:cNvSpPr txBox="1">
            <a:spLocks noChangeArrowheads="1"/>
          </p:cNvSpPr>
          <p:nvPr/>
        </p:nvSpPr>
        <p:spPr bwMode="auto">
          <a:xfrm>
            <a:off x="4820982" y="3702821"/>
            <a:ext cx="4176122" cy="58477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600" b="1">
                <a:solidFill>
                  <a:schemeClr val="tx1"/>
                </a:solidFill>
              </a:rPr>
              <a:t>Là một View để hiển thị dữ liệu web (không phải trình duyệt), hỗ trợ chạy js</a:t>
            </a:r>
          </a:p>
        </p:txBody>
      </p:sp>
      <p:sp>
        <p:nvSpPr>
          <p:cNvPr id="62" name="Text Box 50">
            <a:extLst>
              <a:ext uri="{FF2B5EF4-FFF2-40B4-BE49-F238E27FC236}">
                <a16:creationId xmlns:a16="http://schemas.microsoft.com/office/drawing/2014/main" id="{2E219DAF-90E1-4B42-A084-531906F42B6C}"/>
              </a:ext>
            </a:extLst>
          </p:cNvPr>
          <p:cNvSpPr txBox="1">
            <a:spLocks noChangeArrowheads="1"/>
          </p:cNvSpPr>
          <p:nvPr/>
        </p:nvSpPr>
        <p:spPr bwMode="auto">
          <a:xfrm>
            <a:off x="4830507" y="4337029"/>
            <a:ext cx="4176122" cy="830997"/>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600" b="1">
                <a:solidFill>
                  <a:schemeClr val="tx1"/>
                </a:solidFill>
              </a:rPr>
              <a:t>Là hộp thoại nhỏ xuất hiện lên trên giao diện, giúp cảnh báo người dùng hoặc bổ sung thông tin</a:t>
            </a:r>
          </a:p>
        </p:txBody>
      </p:sp>
    </p:spTree>
    <p:extLst>
      <p:ext uri="{BB962C8B-B14F-4D97-AF65-F5344CB8AC3E}">
        <p14:creationId xmlns:p14="http://schemas.microsoft.com/office/powerpoint/2010/main" val="2405444126"/>
      </p:ext>
    </p:extLst>
  </p:cSld>
  <p:clrMapOvr>
    <a:masterClrMapping/>
  </p:clrMapOvr>
  <p:transition spd="slow"/>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strVal val="(6*min(max(#ppt_w*#ppt_h,.3),1)-7.4)/-.7*#ppt_w"/>
                                          </p:val>
                                        </p:tav>
                                        <p:tav tm="100000">
                                          <p:val>
                                            <p:strVal val="#ppt_w"/>
                                          </p:val>
                                        </p:tav>
                                      </p:tavLst>
                                    </p:anim>
                                    <p:anim calcmode="lin" valueType="num">
                                      <p:cBhvr>
                                        <p:cTn id="8" dur="500" fill="hold"/>
                                        <p:tgtEl>
                                          <p:spTgt spid="10"/>
                                        </p:tgtEl>
                                        <p:attrNameLst>
                                          <p:attrName>ppt_h</p:attrName>
                                        </p:attrNameLst>
                                      </p:cBhvr>
                                      <p:tavLst>
                                        <p:tav tm="0">
                                          <p:val>
                                            <p:strVal val="(6*min(max(#ppt_w*#ppt_h,.3),1)-7.4)/-.7*#ppt_h"/>
                                          </p:val>
                                        </p:tav>
                                        <p:tav tm="100000">
                                          <p:val>
                                            <p:strVal val="#ppt_h"/>
                                          </p:val>
                                        </p:tav>
                                      </p:tavLst>
                                    </p:anim>
                                    <p:anim calcmode="lin" valueType="num">
                                      <p:cBhvr>
                                        <p:cTn id="9" dur="500" fill="hold"/>
                                        <p:tgtEl>
                                          <p:spTgt spid="10"/>
                                        </p:tgtEl>
                                        <p:attrNameLst>
                                          <p:attrName>ppt_x</p:attrName>
                                        </p:attrNameLst>
                                      </p:cBhvr>
                                      <p:tavLst>
                                        <p:tav tm="0">
                                          <p:val>
                                            <p:fltVal val="0.5"/>
                                          </p:val>
                                        </p:tav>
                                        <p:tav tm="100000">
                                          <p:val>
                                            <p:strVal val="#ppt_x"/>
                                          </p:val>
                                        </p:tav>
                                      </p:tavLst>
                                    </p:anim>
                                    <p:anim calcmode="lin" valueType="num">
                                      <p:cBhvr>
                                        <p:cTn id="10" dur="500" fill="hold"/>
                                        <p:tgtEl>
                                          <p:spTgt spid="10"/>
                                        </p:tgtEl>
                                        <p:attrNameLst>
                                          <p:attrName>ppt_y</p:attrName>
                                        </p:attrNameLst>
                                      </p:cBhvr>
                                      <p:tavLst>
                                        <p:tav tm="0">
                                          <p:val>
                                            <p:strVal val="1+(6*min(max(#ppt_w*#ppt_h,.3),1)-7.4)/-.7*#ppt_h/2"/>
                                          </p:val>
                                        </p:tav>
                                        <p:tav tm="100000">
                                          <p:val>
                                            <p:strVal val="#ppt_y"/>
                                          </p:val>
                                        </p:tav>
                                      </p:tavLst>
                                    </p:anim>
                                  </p:childTnLst>
                                </p:cTn>
                              </p:par>
                            </p:childTnLst>
                          </p:cTn>
                        </p:par>
                        <p:par>
                          <p:cTn id="11" fill="hold">
                            <p:stCondLst>
                              <p:cond delay="500"/>
                            </p:stCondLst>
                            <p:childTnLst>
                              <p:par>
                                <p:cTn id="12" presetID="22" presetClass="entr" presetSubtype="4" fill="hold" nodeType="after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wipe(down)">
                                      <p:cBhvr>
                                        <p:cTn id="14" dur="500"/>
                                        <p:tgtEl>
                                          <p:spTgt spid="23"/>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500"/>
                                        <p:tgtEl>
                                          <p:spTgt spid="14"/>
                                        </p:tgtEl>
                                      </p:cBhvr>
                                    </p:animEffect>
                                  </p:childTnLst>
                                </p:cTn>
                              </p:par>
                            </p:childTnLst>
                          </p:cTn>
                        </p:par>
                        <p:par>
                          <p:cTn id="19" fill="hold">
                            <p:stCondLst>
                              <p:cond delay="1500"/>
                            </p:stCondLst>
                            <p:childTnLst>
                              <p:par>
                                <p:cTn id="20" presetID="22" presetClass="entr" presetSubtype="8" fill="hold"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left)">
                                      <p:cBhvr>
                                        <p:cTn id="26" dur="500"/>
                                        <p:tgtEl>
                                          <p:spTgt spid="11"/>
                                        </p:tgtEl>
                                      </p:cBhvr>
                                    </p:animEffect>
                                  </p:childTnLst>
                                </p:cTn>
                              </p:par>
                            </p:childTnLst>
                          </p:cTn>
                        </p:par>
                        <p:par>
                          <p:cTn id="27" fill="hold">
                            <p:stCondLst>
                              <p:cond delay="2500"/>
                            </p:stCondLst>
                            <p:childTnLst>
                              <p:par>
                                <p:cTn id="28" presetID="22" presetClass="entr" presetSubtype="1" fill="hold" nodeType="after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wipe(up)">
                                      <p:cBhvr>
                                        <p:cTn id="30" dur="500"/>
                                        <p:tgtEl>
                                          <p:spTgt spid="24"/>
                                        </p:tgtEl>
                                      </p:cBhvr>
                                    </p:animEffect>
                                  </p:childTnLst>
                                </p:cTn>
                              </p:par>
                            </p:childTnLst>
                          </p:cTn>
                        </p:par>
                        <p:par>
                          <p:cTn id="31" fill="hold">
                            <p:stCondLst>
                              <p:cond delay="3000"/>
                            </p:stCondLst>
                            <p:childTnLst>
                              <p:par>
                                <p:cTn id="32" presetID="22" presetClass="entr" presetSubtype="1" fill="hold" nodeType="after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wipe(up)">
                                      <p:cBhvr>
                                        <p:cTn id="34" dur="500"/>
                                        <p:tgtEl>
                                          <p:spTgt spid="33"/>
                                        </p:tgtEl>
                                      </p:cBhvr>
                                    </p:animEffect>
                                  </p:childTnLst>
                                </p:cTn>
                              </p:par>
                            </p:childTnLst>
                          </p:cTn>
                        </p:par>
                        <p:par>
                          <p:cTn id="35" fill="hold">
                            <p:stCondLst>
                              <p:cond delay="3500"/>
                            </p:stCondLst>
                            <p:childTnLst>
                              <p:par>
                                <p:cTn id="36" presetID="22" presetClass="entr" presetSubtype="8" fill="hold" nodeType="after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wipe(left)">
                                      <p:cBhvr>
                                        <p:cTn id="38" dur="500"/>
                                        <p:tgtEl>
                                          <p:spTgt spid="25"/>
                                        </p:tgtEl>
                                      </p:cBhvr>
                                    </p:animEffect>
                                  </p:childTnLst>
                                </p:cTn>
                              </p:par>
                            </p:childTnLst>
                          </p:cTn>
                        </p:par>
                        <p:par>
                          <p:cTn id="39" fill="hold">
                            <p:stCondLst>
                              <p:cond delay="4000"/>
                            </p:stCondLst>
                            <p:childTnLst>
                              <p:par>
                                <p:cTn id="40" presetID="22" presetClass="entr" presetSubtype="8" fill="hold" grpId="0" nodeType="after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left)">
                                      <p:cBhvr>
                                        <p:cTn id="42" dur="500"/>
                                        <p:tgtEl>
                                          <p:spTgt spid="18"/>
                                        </p:tgtEl>
                                      </p:cBhvr>
                                    </p:animEffect>
                                  </p:childTnLst>
                                </p:cTn>
                              </p:par>
                            </p:childTnLst>
                          </p:cTn>
                        </p:par>
                        <p:par>
                          <p:cTn id="43" fill="hold">
                            <p:stCondLst>
                              <p:cond delay="4500"/>
                            </p:stCondLst>
                            <p:childTnLst>
                              <p:par>
                                <p:cTn id="44" presetID="22" presetClass="entr" presetSubtype="8" fill="hold" grpId="0" nodeType="after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wipe(left)">
                                      <p:cBhvr>
                                        <p:cTn id="46" dur="500"/>
                                        <p:tgtEl>
                                          <p:spTgt spid="34"/>
                                        </p:tgtEl>
                                      </p:cBhvr>
                                    </p:animEffect>
                                  </p:childTnLst>
                                </p:cTn>
                              </p:par>
                            </p:childTnLst>
                          </p:cTn>
                        </p:par>
                        <p:par>
                          <p:cTn id="47" fill="hold">
                            <p:stCondLst>
                              <p:cond delay="5000"/>
                            </p:stCondLst>
                            <p:childTnLst>
                              <p:par>
                                <p:cTn id="48" presetID="22" presetClass="entr" presetSubtype="8" fill="hold" grpId="0" nodeType="after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wipe(left)">
                                      <p:cBhvr>
                                        <p:cTn id="50" dur="500"/>
                                        <p:tgtEl>
                                          <p:spTgt spid="35"/>
                                        </p:tgtEl>
                                      </p:cBhvr>
                                    </p:animEffect>
                                  </p:childTnLst>
                                </p:cTn>
                              </p:par>
                            </p:childTnLst>
                          </p:cTn>
                        </p:par>
                        <p:par>
                          <p:cTn id="51" fill="hold">
                            <p:stCondLst>
                              <p:cond delay="5500"/>
                            </p:stCondLst>
                            <p:childTnLst>
                              <p:par>
                                <p:cTn id="52" presetID="22" presetClass="exit" presetSubtype="8" repeatCount="indefinite" nodeType="afterEffect">
                                  <p:stCondLst>
                                    <p:cond delay="0"/>
                                  </p:stCondLst>
                                  <p:endCondLst>
                                    <p:cond evt="onNext" delay="0">
                                      <p:tgtEl>
                                        <p:sldTgt/>
                                      </p:tgtEl>
                                    </p:cond>
                                  </p:endCondLst>
                                  <p:childTnLst>
                                    <p:animEffect transition="out" filter="wipe(left)">
                                      <p:cBhvr>
                                        <p:cTn id="53" dur="500"/>
                                        <p:tgtEl>
                                          <p:spTgt spid="25"/>
                                        </p:tgtEl>
                                      </p:cBhvr>
                                    </p:animEffect>
                                    <p:set>
                                      <p:cBhvr>
                                        <p:cTn id="54" dur="1" fill="hold">
                                          <p:stCondLst>
                                            <p:cond delay="499"/>
                                          </p:stCondLst>
                                        </p:cTn>
                                        <p:tgtEl>
                                          <p:spTgt spid="25"/>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5" presetClass="entr" presetSubtype="10" fill="hold" grpId="0" nodeType="clickEffect">
                                  <p:stCondLst>
                                    <p:cond delay="0"/>
                                  </p:stCondLst>
                                  <p:childTnLst>
                                    <p:set>
                                      <p:cBhvr>
                                        <p:cTn id="58" dur="1" fill="hold">
                                          <p:stCondLst>
                                            <p:cond delay="0"/>
                                          </p:stCondLst>
                                        </p:cTn>
                                        <p:tgtEl>
                                          <p:spTgt spid="45">
                                            <p:bg/>
                                          </p:spTgt>
                                        </p:tgtEl>
                                        <p:attrNameLst>
                                          <p:attrName>style.visibility</p:attrName>
                                        </p:attrNameLst>
                                      </p:cBhvr>
                                      <p:to>
                                        <p:strVal val="visible"/>
                                      </p:to>
                                    </p:set>
                                    <p:animEffect transition="in" filter="checkerboard(across)">
                                      <p:cBhvr>
                                        <p:cTn id="59" dur="500"/>
                                        <p:tgtEl>
                                          <p:spTgt spid="45">
                                            <p:bg/>
                                          </p:spTgt>
                                        </p:tgtEl>
                                      </p:cBhvr>
                                    </p:animEffect>
                                  </p:childTnLst>
                                </p:cTn>
                              </p:par>
                            </p:childTnLst>
                          </p:cTn>
                        </p:par>
                        <p:par>
                          <p:cTn id="60" fill="hold">
                            <p:stCondLst>
                              <p:cond delay="500"/>
                            </p:stCondLst>
                            <p:childTnLst>
                              <p:par>
                                <p:cTn id="61" presetID="5" presetClass="entr" presetSubtype="10" fill="hold" grpId="0" nodeType="afterEffect">
                                  <p:stCondLst>
                                    <p:cond delay="0"/>
                                  </p:stCondLst>
                                  <p:childTnLst>
                                    <p:set>
                                      <p:cBhvr>
                                        <p:cTn id="62" dur="1" fill="hold">
                                          <p:stCondLst>
                                            <p:cond delay="0"/>
                                          </p:stCondLst>
                                        </p:cTn>
                                        <p:tgtEl>
                                          <p:spTgt spid="45">
                                            <p:txEl>
                                              <p:pRg st="0" end="0"/>
                                            </p:txEl>
                                          </p:spTgt>
                                        </p:tgtEl>
                                        <p:attrNameLst>
                                          <p:attrName>style.visibility</p:attrName>
                                        </p:attrNameLst>
                                      </p:cBhvr>
                                      <p:to>
                                        <p:strVal val="visible"/>
                                      </p:to>
                                    </p:set>
                                    <p:animEffect transition="in" filter="checkerboard(across)">
                                      <p:cBhvr>
                                        <p:cTn id="63" dur="500"/>
                                        <p:tgtEl>
                                          <p:spTgt spid="45">
                                            <p:txEl>
                                              <p:pRg st="0" end="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5" presetClass="entr" presetSubtype="10" fill="hold" grpId="0" nodeType="clickEffect">
                                  <p:stCondLst>
                                    <p:cond delay="0"/>
                                  </p:stCondLst>
                                  <p:childTnLst>
                                    <p:set>
                                      <p:cBhvr>
                                        <p:cTn id="67" dur="1" fill="hold">
                                          <p:stCondLst>
                                            <p:cond delay="0"/>
                                          </p:stCondLst>
                                        </p:cTn>
                                        <p:tgtEl>
                                          <p:spTgt spid="46">
                                            <p:bg/>
                                          </p:spTgt>
                                        </p:tgtEl>
                                        <p:attrNameLst>
                                          <p:attrName>style.visibility</p:attrName>
                                        </p:attrNameLst>
                                      </p:cBhvr>
                                      <p:to>
                                        <p:strVal val="visible"/>
                                      </p:to>
                                    </p:set>
                                    <p:animEffect transition="in" filter="checkerboard(across)">
                                      <p:cBhvr>
                                        <p:cTn id="68" dur="500"/>
                                        <p:tgtEl>
                                          <p:spTgt spid="46">
                                            <p:bg/>
                                          </p:spTgt>
                                        </p:tgtEl>
                                      </p:cBhvr>
                                    </p:animEffect>
                                  </p:childTnLst>
                                </p:cTn>
                              </p:par>
                              <p:par>
                                <p:cTn id="69" presetID="5" presetClass="entr" presetSubtype="10" fill="hold" grpId="0" nodeType="withEffect">
                                  <p:stCondLst>
                                    <p:cond delay="0"/>
                                  </p:stCondLst>
                                  <p:childTnLst>
                                    <p:set>
                                      <p:cBhvr>
                                        <p:cTn id="70" dur="1" fill="hold">
                                          <p:stCondLst>
                                            <p:cond delay="0"/>
                                          </p:stCondLst>
                                        </p:cTn>
                                        <p:tgtEl>
                                          <p:spTgt spid="46">
                                            <p:txEl>
                                              <p:pRg st="0" end="0"/>
                                            </p:txEl>
                                          </p:spTgt>
                                        </p:tgtEl>
                                        <p:attrNameLst>
                                          <p:attrName>style.visibility</p:attrName>
                                        </p:attrNameLst>
                                      </p:cBhvr>
                                      <p:to>
                                        <p:strVal val="visible"/>
                                      </p:to>
                                    </p:set>
                                    <p:animEffect transition="in" filter="checkerboard(across)">
                                      <p:cBhvr>
                                        <p:cTn id="71" dur="500"/>
                                        <p:tgtEl>
                                          <p:spTgt spid="46">
                                            <p:txEl>
                                              <p:pRg st="0" end="0"/>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5" presetClass="entr" presetSubtype="10" fill="hold" grpId="0" nodeType="clickEffect">
                                  <p:stCondLst>
                                    <p:cond delay="0"/>
                                  </p:stCondLst>
                                  <p:childTnLst>
                                    <p:set>
                                      <p:cBhvr>
                                        <p:cTn id="75" dur="1" fill="hold">
                                          <p:stCondLst>
                                            <p:cond delay="0"/>
                                          </p:stCondLst>
                                        </p:cTn>
                                        <p:tgtEl>
                                          <p:spTgt spid="19">
                                            <p:bg/>
                                          </p:spTgt>
                                        </p:tgtEl>
                                        <p:attrNameLst>
                                          <p:attrName>style.visibility</p:attrName>
                                        </p:attrNameLst>
                                      </p:cBhvr>
                                      <p:to>
                                        <p:strVal val="visible"/>
                                      </p:to>
                                    </p:set>
                                    <p:animEffect transition="in" filter="checkerboard(across)">
                                      <p:cBhvr>
                                        <p:cTn id="76" dur="500"/>
                                        <p:tgtEl>
                                          <p:spTgt spid="19">
                                            <p:bg/>
                                          </p:spTgt>
                                        </p:tgtEl>
                                      </p:cBhvr>
                                    </p:animEffect>
                                  </p:childTnLst>
                                </p:cTn>
                              </p:par>
                              <p:par>
                                <p:cTn id="77" presetID="5" presetClass="entr" presetSubtype="10" fill="hold" grpId="0" nodeType="withEffect">
                                  <p:stCondLst>
                                    <p:cond delay="0"/>
                                  </p:stCondLst>
                                  <p:childTnLst>
                                    <p:set>
                                      <p:cBhvr>
                                        <p:cTn id="78" dur="1" fill="hold">
                                          <p:stCondLst>
                                            <p:cond delay="0"/>
                                          </p:stCondLst>
                                        </p:cTn>
                                        <p:tgtEl>
                                          <p:spTgt spid="19">
                                            <p:txEl>
                                              <p:pRg st="0" end="0"/>
                                            </p:txEl>
                                          </p:spTgt>
                                        </p:tgtEl>
                                        <p:attrNameLst>
                                          <p:attrName>style.visibility</p:attrName>
                                        </p:attrNameLst>
                                      </p:cBhvr>
                                      <p:to>
                                        <p:strVal val="visible"/>
                                      </p:to>
                                    </p:set>
                                    <p:animEffect transition="in" filter="checkerboard(across)">
                                      <p:cBhvr>
                                        <p:cTn id="79" dur="500"/>
                                        <p:tgtEl>
                                          <p:spTgt spid="19">
                                            <p:txEl>
                                              <p:pRg st="0" end="0"/>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5" presetClass="entr" presetSubtype="10" fill="hold" grpId="0" nodeType="clickEffect">
                                  <p:stCondLst>
                                    <p:cond delay="0"/>
                                  </p:stCondLst>
                                  <p:childTnLst>
                                    <p:set>
                                      <p:cBhvr>
                                        <p:cTn id="83" dur="1" fill="hold">
                                          <p:stCondLst>
                                            <p:cond delay="0"/>
                                          </p:stCondLst>
                                        </p:cTn>
                                        <p:tgtEl>
                                          <p:spTgt spid="19">
                                            <p:txEl>
                                              <p:pRg st="1" end="1"/>
                                            </p:txEl>
                                          </p:spTgt>
                                        </p:tgtEl>
                                        <p:attrNameLst>
                                          <p:attrName>style.visibility</p:attrName>
                                        </p:attrNameLst>
                                      </p:cBhvr>
                                      <p:to>
                                        <p:strVal val="visible"/>
                                      </p:to>
                                    </p:set>
                                    <p:animEffect transition="in" filter="checkerboard(across)">
                                      <p:cBhvr>
                                        <p:cTn id="84" dur="500"/>
                                        <p:tgtEl>
                                          <p:spTgt spid="19">
                                            <p:txEl>
                                              <p:pRg st="1" end="1"/>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22"/>
                                        </p:tgtEl>
                                        <p:attrNameLst>
                                          <p:attrName>style.visibility</p:attrName>
                                        </p:attrNameLst>
                                      </p:cBhvr>
                                      <p:to>
                                        <p:strVal val="visible"/>
                                      </p:to>
                                    </p:set>
                                    <p:animEffect transition="in" filter="wipe(left)">
                                      <p:cBhvr>
                                        <p:cTn id="89" dur="1100"/>
                                        <p:tgtEl>
                                          <p:spTgt spid="22"/>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499"/>
                                          </p:stCondLst>
                                        </p:cTn>
                                        <p:tgtEl>
                                          <p:spTgt spid="13"/>
                                        </p:tgtEl>
                                        <p:attrNameLst>
                                          <p:attrName>style.visibility</p:attrName>
                                        </p:attrNameLst>
                                      </p:cBhvr>
                                      <p:to>
                                        <p:strVal val="visible"/>
                                      </p:to>
                                    </p:set>
                                  </p:childTnLst>
                                </p:cTn>
                              </p:par>
                              <p:par>
                                <p:cTn id="94" presetID="22" presetClass="entr" presetSubtype="8" fill="hold" nodeType="withEffect">
                                  <p:stCondLst>
                                    <p:cond delay="0"/>
                                  </p:stCondLst>
                                  <p:childTnLst>
                                    <p:set>
                                      <p:cBhvr>
                                        <p:cTn id="95" dur="1" fill="hold">
                                          <p:stCondLst>
                                            <p:cond delay="0"/>
                                          </p:stCondLst>
                                        </p:cTn>
                                        <p:tgtEl>
                                          <p:spTgt spid="28"/>
                                        </p:tgtEl>
                                        <p:attrNameLst>
                                          <p:attrName>style.visibility</p:attrName>
                                        </p:attrNameLst>
                                      </p:cBhvr>
                                      <p:to>
                                        <p:strVal val="visible"/>
                                      </p:to>
                                    </p:set>
                                    <p:animEffect transition="in" filter="wipe(left)">
                                      <p:cBhvr>
                                        <p:cTn id="96" dur="500"/>
                                        <p:tgtEl>
                                          <p:spTgt spid="28"/>
                                        </p:tgtEl>
                                      </p:cBhvr>
                                    </p:animEffec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499"/>
                                          </p:stCondLst>
                                        </p:cTn>
                                        <p:tgtEl>
                                          <p:spTgt spid="20"/>
                                        </p:tgtEl>
                                        <p:attrNameLst>
                                          <p:attrName>style.visibility</p:attrName>
                                        </p:attrNameLst>
                                      </p:cBhvr>
                                      <p:to>
                                        <p:strVal val="visible"/>
                                      </p:to>
                                    </p:set>
                                  </p:childTnLst>
                                </p:cTn>
                              </p:par>
                              <p:par>
                                <p:cTn id="101" presetID="22" presetClass="entr" presetSubtype="8" fill="hold" nodeType="withEffect">
                                  <p:stCondLst>
                                    <p:cond delay="0"/>
                                  </p:stCondLst>
                                  <p:childTnLst>
                                    <p:set>
                                      <p:cBhvr>
                                        <p:cTn id="102" dur="1" fill="hold">
                                          <p:stCondLst>
                                            <p:cond delay="0"/>
                                          </p:stCondLst>
                                        </p:cTn>
                                        <p:tgtEl>
                                          <p:spTgt spid="29"/>
                                        </p:tgtEl>
                                        <p:attrNameLst>
                                          <p:attrName>style.visibility</p:attrName>
                                        </p:attrNameLst>
                                      </p:cBhvr>
                                      <p:to>
                                        <p:strVal val="visible"/>
                                      </p:to>
                                    </p:set>
                                    <p:animEffect transition="in" filter="wipe(left)">
                                      <p:cBhvr>
                                        <p:cTn id="103" dur="500"/>
                                        <p:tgtEl>
                                          <p:spTgt spid="29"/>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xit" presetSubtype="8" repeatCount="indefinite" nodeType="clickEffect">
                                  <p:stCondLst>
                                    <p:cond delay="0"/>
                                  </p:stCondLst>
                                  <p:endCondLst>
                                    <p:cond evt="onNext" delay="0">
                                      <p:tgtEl>
                                        <p:sldTgt/>
                                      </p:tgtEl>
                                    </p:cond>
                                  </p:endCondLst>
                                  <p:childTnLst>
                                    <p:animEffect transition="out" filter="wipe(left)">
                                      <p:cBhvr>
                                        <p:cTn id="107" dur="500"/>
                                        <p:tgtEl>
                                          <p:spTgt spid="28"/>
                                        </p:tgtEl>
                                      </p:cBhvr>
                                    </p:animEffect>
                                    <p:set>
                                      <p:cBhvr>
                                        <p:cTn id="108" dur="1" fill="hold">
                                          <p:stCondLst>
                                            <p:cond delay="499"/>
                                          </p:stCondLst>
                                        </p:cTn>
                                        <p:tgtEl>
                                          <p:spTgt spid="28"/>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5" presetClass="entr" presetSubtype="10" fill="hold" grpId="0" nodeType="clickEffect">
                                  <p:stCondLst>
                                    <p:cond delay="0"/>
                                  </p:stCondLst>
                                  <p:childTnLst>
                                    <p:set>
                                      <p:cBhvr>
                                        <p:cTn id="112" dur="1" fill="hold">
                                          <p:stCondLst>
                                            <p:cond delay="0"/>
                                          </p:stCondLst>
                                        </p:cTn>
                                        <p:tgtEl>
                                          <p:spTgt spid="47">
                                            <p:bg/>
                                          </p:spTgt>
                                        </p:tgtEl>
                                        <p:attrNameLst>
                                          <p:attrName>style.visibility</p:attrName>
                                        </p:attrNameLst>
                                      </p:cBhvr>
                                      <p:to>
                                        <p:strVal val="visible"/>
                                      </p:to>
                                    </p:set>
                                    <p:animEffect transition="in" filter="checkerboard(across)">
                                      <p:cBhvr>
                                        <p:cTn id="113" dur="500"/>
                                        <p:tgtEl>
                                          <p:spTgt spid="47">
                                            <p:bg/>
                                          </p:spTgt>
                                        </p:tgtEl>
                                      </p:cBhvr>
                                    </p:animEffect>
                                  </p:childTnLst>
                                </p:cTn>
                              </p:par>
                            </p:childTnLst>
                          </p:cTn>
                        </p:par>
                      </p:childTnLst>
                    </p:cTn>
                  </p:par>
                  <p:par>
                    <p:cTn id="114" fill="hold">
                      <p:stCondLst>
                        <p:cond delay="indefinite"/>
                      </p:stCondLst>
                      <p:childTnLst>
                        <p:par>
                          <p:cTn id="115" fill="hold">
                            <p:stCondLst>
                              <p:cond delay="0"/>
                            </p:stCondLst>
                            <p:childTnLst>
                              <p:par>
                                <p:cTn id="116" presetID="5" presetClass="entr" presetSubtype="10" fill="hold" grpId="0" nodeType="clickEffect">
                                  <p:stCondLst>
                                    <p:cond delay="0"/>
                                  </p:stCondLst>
                                  <p:childTnLst>
                                    <p:set>
                                      <p:cBhvr>
                                        <p:cTn id="117" dur="1" fill="hold">
                                          <p:stCondLst>
                                            <p:cond delay="0"/>
                                          </p:stCondLst>
                                        </p:cTn>
                                        <p:tgtEl>
                                          <p:spTgt spid="47">
                                            <p:txEl>
                                              <p:pRg st="0" end="0"/>
                                            </p:txEl>
                                          </p:spTgt>
                                        </p:tgtEl>
                                        <p:attrNameLst>
                                          <p:attrName>style.visibility</p:attrName>
                                        </p:attrNameLst>
                                      </p:cBhvr>
                                      <p:to>
                                        <p:strVal val="visible"/>
                                      </p:to>
                                    </p:set>
                                    <p:animEffect transition="in" filter="checkerboard(across)">
                                      <p:cBhvr>
                                        <p:cTn id="118" dur="500"/>
                                        <p:tgtEl>
                                          <p:spTgt spid="47">
                                            <p:txEl>
                                              <p:pRg st="0" end="0"/>
                                            </p:txEl>
                                          </p:spTgt>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xit" presetSubtype="8" repeatCount="indefinite" nodeType="clickEffect">
                                  <p:stCondLst>
                                    <p:cond delay="0"/>
                                  </p:stCondLst>
                                  <p:endCondLst>
                                    <p:cond evt="onNext" delay="0">
                                      <p:tgtEl>
                                        <p:sldTgt/>
                                      </p:tgtEl>
                                    </p:cond>
                                  </p:endCondLst>
                                  <p:childTnLst>
                                    <p:animEffect transition="out" filter="wipe(left)">
                                      <p:cBhvr>
                                        <p:cTn id="122" dur="500"/>
                                        <p:tgtEl>
                                          <p:spTgt spid="29"/>
                                        </p:tgtEl>
                                      </p:cBhvr>
                                    </p:animEffect>
                                    <p:set>
                                      <p:cBhvr>
                                        <p:cTn id="123" dur="1" fill="hold">
                                          <p:stCondLst>
                                            <p:cond delay="499"/>
                                          </p:stCondLst>
                                        </p:cTn>
                                        <p:tgtEl>
                                          <p:spTgt spid="29"/>
                                        </p:tgtEl>
                                        <p:attrNameLst>
                                          <p:attrName>style.visibility</p:attrName>
                                        </p:attrNameLst>
                                      </p:cBhvr>
                                      <p:to>
                                        <p:strVal val="hidden"/>
                                      </p:to>
                                    </p:set>
                                  </p:childTnLst>
                                </p:cTn>
                              </p:par>
                            </p:childTnLst>
                          </p:cTn>
                        </p:par>
                      </p:childTnLst>
                    </p:cTn>
                  </p:par>
                  <p:par>
                    <p:cTn id="124" fill="hold">
                      <p:stCondLst>
                        <p:cond delay="indefinite"/>
                      </p:stCondLst>
                      <p:childTnLst>
                        <p:par>
                          <p:cTn id="125" fill="hold">
                            <p:stCondLst>
                              <p:cond delay="0"/>
                            </p:stCondLst>
                            <p:childTnLst>
                              <p:par>
                                <p:cTn id="126" presetID="5" presetClass="entr" presetSubtype="10" fill="hold" grpId="0" nodeType="clickEffect">
                                  <p:stCondLst>
                                    <p:cond delay="0"/>
                                  </p:stCondLst>
                                  <p:childTnLst>
                                    <p:set>
                                      <p:cBhvr>
                                        <p:cTn id="127" dur="1" fill="hold">
                                          <p:stCondLst>
                                            <p:cond delay="0"/>
                                          </p:stCondLst>
                                        </p:cTn>
                                        <p:tgtEl>
                                          <p:spTgt spid="48">
                                            <p:bg/>
                                          </p:spTgt>
                                        </p:tgtEl>
                                        <p:attrNameLst>
                                          <p:attrName>style.visibility</p:attrName>
                                        </p:attrNameLst>
                                      </p:cBhvr>
                                      <p:to>
                                        <p:strVal val="visible"/>
                                      </p:to>
                                    </p:set>
                                    <p:animEffect transition="in" filter="checkerboard(across)">
                                      <p:cBhvr>
                                        <p:cTn id="128" dur="500"/>
                                        <p:tgtEl>
                                          <p:spTgt spid="48">
                                            <p:bg/>
                                          </p:spTgt>
                                        </p:tgtEl>
                                      </p:cBhvr>
                                    </p:animEffect>
                                  </p:childTnLst>
                                </p:cTn>
                              </p:par>
                            </p:childTnLst>
                          </p:cTn>
                        </p:par>
                        <p:par>
                          <p:cTn id="129" fill="hold">
                            <p:stCondLst>
                              <p:cond delay="500"/>
                            </p:stCondLst>
                            <p:childTnLst>
                              <p:par>
                                <p:cTn id="130" presetID="5" presetClass="entr" presetSubtype="10" fill="hold" grpId="0" nodeType="afterEffect">
                                  <p:stCondLst>
                                    <p:cond delay="0"/>
                                  </p:stCondLst>
                                  <p:childTnLst>
                                    <p:set>
                                      <p:cBhvr>
                                        <p:cTn id="131" dur="1" fill="hold">
                                          <p:stCondLst>
                                            <p:cond delay="0"/>
                                          </p:stCondLst>
                                        </p:cTn>
                                        <p:tgtEl>
                                          <p:spTgt spid="48">
                                            <p:txEl>
                                              <p:pRg st="0" end="0"/>
                                            </p:txEl>
                                          </p:spTgt>
                                        </p:tgtEl>
                                        <p:attrNameLst>
                                          <p:attrName>style.visibility</p:attrName>
                                        </p:attrNameLst>
                                      </p:cBhvr>
                                      <p:to>
                                        <p:strVal val="visible"/>
                                      </p:to>
                                    </p:set>
                                    <p:animEffect transition="in" filter="checkerboard(across)">
                                      <p:cBhvr>
                                        <p:cTn id="132" dur="500"/>
                                        <p:tgtEl>
                                          <p:spTgt spid="48">
                                            <p:txEl>
                                              <p:pRg st="0" end="0"/>
                                            </p:txEl>
                                          </p:spTgt>
                                        </p:tgtEl>
                                      </p:cBhvr>
                                    </p:animEffect>
                                  </p:childTnLst>
                                </p:cTn>
                              </p:par>
                            </p:childTnLst>
                          </p:cTn>
                        </p:par>
                        <p:par>
                          <p:cTn id="133" fill="hold">
                            <p:stCondLst>
                              <p:cond delay="1000"/>
                            </p:stCondLst>
                            <p:childTnLst>
                              <p:par>
                                <p:cTn id="134" presetID="22" presetClass="entr" presetSubtype="1" fill="hold" nodeType="afterEffect">
                                  <p:stCondLst>
                                    <p:cond delay="0"/>
                                  </p:stCondLst>
                                  <p:childTnLst>
                                    <p:set>
                                      <p:cBhvr>
                                        <p:cTn id="135" dur="1" fill="hold">
                                          <p:stCondLst>
                                            <p:cond delay="0"/>
                                          </p:stCondLst>
                                        </p:cTn>
                                        <p:tgtEl>
                                          <p:spTgt spid="52"/>
                                        </p:tgtEl>
                                        <p:attrNameLst>
                                          <p:attrName>style.visibility</p:attrName>
                                        </p:attrNameLst>
                                      </p:cBhvr>
                                      <p:to>
                                        <p:strVal val="visible"/>
                                      </p:to>
                                    </p:set>
                                    <p:animEffect transition="in" filter="wipe(up)">
                                      <p:cBhvr>
                                        <p:cTn id="136" dur="500"/>
                                        <p:tgtEl>
                                          <p:spTgt spid="52"/>
                                        </p:tgtEl>
                                      </p:cBhvr>
                                    </p:animEffect>
                                  </p:childTnLst>
                                </p:cTn>
                              </p:par>
                            </p:childTnLst>
                          </p:cTn>
                        </p:par>
                        <p:par>
                          <p:cTn id="137" fill="hold">
                            <p:stCondLst>
                              <p:cond delay="1500"/>
                            </p:stCondLst>
                            <p:childTnLst>
                              <p:par>
                                <p:cTn id="138" presetID="22" presetClass="entr" presetSubtype="8" fill="hold" nodeType="afterEffect">
                                  <p:stCondLst>
                                    <p:cond delay="0"/>
                                  </p:stCondLst>
                                  <p:childTnLst>
                                    <p:set>
                                      <p:cBhvr>
                                        <p:cTn id="139" dur="1" fill="hold">
                                          <p:stCondLst>
                                            <p:cond delay="0"/>
                                          </p:stCondLst>
                                        </p:cTn>
                                        <p:tgtEl>
                                          <p:spTgt spid="42"/>
                                        </p:tgtEl>
                                        <p:attrNameLst>
                                          <p:attrName>style.visibility</p:attrName>
                                        </p:attrNameLst>
                                      </p:cBhvr>
                                      <p:to>
                                        <p:strVal val="visible"/>
                                      </p:to>
                                    </p:set>
                                    <p:animEffect transition="in" filter="wipe(left)">
                                      <p:cBhvr>
                                        <p:cTn id="140" dur="500"/>
                                        <p:tgtEl>
                                          <p:spTgt spid="42"/>
                                        </p:tgtEl>
                                      </p:cBhvr>
                                    </p:animEffect>
                                  </p:childTnLst>
                                </p:cTn>
                              </p:par>
                            </p:childTnLst>
                          </p:cTn>
                        </p:par>
                        <p:par>
                          <p:cTn id="141" fill="hold">
                            <p:stCondLst>
                              <p:cond delay="2000"/>
                            </p:stCondLst>
                            <p:childTnLst>
                              <p:par>
                                <p:cTn id="142" presetID="22" presetClass="entr" presetSubtype="8" fill="hold" grpId="0" nodeType="afterEffect">
                                  <p:stCondLst>
                                    <p:cond delay="0"/>
                                  </p:stCondLst>
                                  <p:childTnLst>
                                    <p:set>
                                      <p:cBhvr>
                                        <p:cTn id="143" dur="1" fill="hold">
                                          <p:stCondLst>
                                            <p:cond delay="0"/>
                                          </p:stCondLst>
                                        </p:cTn>
                                        <p:tgtEl>
                                          <p:spTgt spid="41"/>
                                        </p:tgtEl>
                                        <p:attrNameLst>
                                          <p:attrName>style.visibility</p:attrName>
                                        </p:attrNameLst>
                                      </p:cBhvr>
                                      <p:to>
                                        <p:strVal val="visible"/>
                                      </p:to>
                                    </p:set>
                                    <p:animEffect transition="in" filter="wipe(left)">
                                      <p:cBhvr>
                                        <p:cTn id="144" dur="500"/>
                                        <p:tgtEl>
                                          <p:spTgt spid="41"/>
                                        </p:tgtEl>
                                      </p:cBhvr>
                                    </p:animEffect>
                                  </p:childTnLst>
                                </p:cTn>
                              </p:par>
                            </p:childTnLst>
                          </p:cTn>
                        </p:par>
                        <p:par>
                          <p:cTn id="145" fill="hold">
                            <p:stCondLst>
                              <p:cond delay="2500"/>
                            </p:stCondLst>
                            <p:childTnLst>
                              <p:par>
                                <p:cTn id="146" presetID="22" presetClass="entr" presetSubtype="8" fill="hold" grpId="0" nodeType="afterEffect">
                                  <p:stCondLst>
                                    <p:cond delay="0"/>
                                  </p:stCondLst>
                                  <p:childTnLst>
                                    <p:set>
                                      <p:cBhvr>
                                        <p:cTn id="147" dur="1" fill="hold">
                                          <p:stCondLst>
                                            <p:cond delay="0"/>
                                          </p:stCondLst>
                                        </p:cTn>
                                        <p:tgtEl>
                                          <p:spTgt spid="53"/>
                                        </p:tgtEl>
                                        <p:attrNameLst>
                                          <p:attrName>style.visibility</p:attrName>
                                        </p:attrNameLst>
                                      </p:cBhvr>
                                      <p:to>
                                        <p:strVal val="visible"/>
                                      </p:to>
                                    </p:set>
                                    <p:animEffect transition="in" filter="wipe(left)">
                                      <p:cBhvr>
                                        <p:cTn id="148" dur="500"/>
                                        <p:tgtEl>
                                          <p:spTgt spid="53"/>
                                        </p:tgtEl>
                                      </p:cBhvr>
                                    </p:animEffect>
                                  </p:childTnLst>
                                </p:cTn>
                              </p:par>
                            </p:childTnLst>
                          </p:cTn>
                        </p:par>
                        <p:par>
                          <p:cTn id="149" fill="hold">
                            <p:stCondLst>
                              <p:cond delay="3000"/>
                            </p:stCondLst>
                            <p:childTnLst>
                              <p:par>
                                <p:cTn id="150" presetID="22" presetClass="entr" presetSubtype="8" fill="hold" grpId="0" nodeType="afterEffect">
                                  <p:stCondLst>
                                    <p:cond delay="0"/>
                                  </p:stCondLst>
                                  <p:childTnLst>
                                    <p:set>
                                      <p:cBhvr>
                                        <p:cTn id="151" dur="1" fill="hold">
                                          <p:stCondLst>
                                            <p:cond delay="0"/>
                                          </p:stCondLst>
                                        </p:cTn>
                                        <p:tgtEl>
                                          <p:spTgt spid="54"/>
                                        </p:tgtEl>
                                        <p:attrNameLst>
                                          <p:attrName>style.visibility</p:attrName>
                                        </p:attrNameLst>
                                      </p:cBhvr>
                                      <p:to>
                                        <p:strVal val="visible"/>
                                      </p:to>
                                    </p:set>
                                    <p:animEffect transition="in" filter="wipe(left)">
                                      <p:cBhvr>
                                        <p:cTn id="152" dur="500"/>
                                        <p:tgtEl>
                                          <p:spTgt spid="54"/>
                                        </p:tgtEl>
                                      </p:cBhvr>
                                    </p:animEffect>
                                  </p:childTnLst>
                                </p:cTn>
                              </p:par>
                            </p:childTnLst>
                          </p:cTn>
                        </p:par>
                        <p:par>
                          <p:cTn id="153" fill="hold">
                            <p:stCondLst>
                              <p:cond delay="3500"/>
                            </p:stCondLst>
                            <p:childTnLst>
                              <p:par>
                                <p:cTn id="154" presetID="22" presetClass="exit" presetSubtype="8" repeatCount="indefinite" nodeType="afterEffect">
                                  <p:stCondLst>
                                    <p:cond delay="0"/>
                                  </p:stCondLst>
                                  <p:endCondLst>
                                    <p:cond evt="onNext" delay="0">
                                      <p:tgtEl>
                                        <p:sldTgt/>
                                      </p:tgtEl>
                                    </p:cond>
                                  </p:endCondLst>
                                  <p:childTnLst>
                                    <p:animEffect transition="out" filter="wipe(left)">
                                      <p:cBhvr>
                                        <p:cTn id="155" dur="500"/>
                                        <p:tgtEl>
                                          <p:spTgt spid="42"/>
                                        </p:tgtEl>
                                      </p:cBhvr>
                                    </p:animEffect>
                                    <p:set>
                                      <p:cBhvr>
                                        <p:cTn id="156" dur="1" fill="hold">
                                          <p:stCondLst>
                                            <p:cond delay="499"/>
                                          </p:stCondLst>
                                        </p:cTn>
                                        <p:tgtEl>
                                          <p:spTgt spid="42"/>
                                        </p:tgtEl>
                                        <p:attrNameLst>
                                          <p:attrName>style.visibility</p:attrName>
                                        </p:attrNameLst>
                                      </p:cBhvr>
                                      <p:to>
                                        <p:strVal val="hidden"/>
                                      </p:to>
                                    </p:set>
                                  </p:childTnLst>
                                </p:cTn>
                              </p:par>
                            </p:childTnLst>
                          </p:cTn>
                        </p:par>
                      </p:childTnLst>
                    </p:cTn>
                  </p:par>
                  <p:par>
                    <p:cTn id="157" fill="hold">
                      <p:stCondLst>
                        <p:cond delay="indefinite"/>
                      </p:stCondLst>
                      <p:childTnLst>
                        <p:par>
                          <p:cTn id="158" fill="hold">
                            <p:stCondLst>
                              <p:cond delay="0"/>
                            </p:stCondLst>
                            <p:childTnLst>
                              <p:par>
                                <p:cTn id="159" presetID="5" presetClass="entr" presetSubtype="10" fill="hold" grpId="0" nodeType="clickEffect">
                                  <p:stCondLst>
                                    <p:cond delay="0"/>
                                  </p:stCondLst>
                                  <p:childTnLst>
                                    <p:set>
                                      <p:cBhvr>
                                        <p:cTn id="160" dur="1" fill="hold">
                                          <p:stCondLst>
                                            <p:cond delay="0"/>
                                          </p:stCondLst>
                                        </p:cTn>
                                        <p:tgtEl>
                                          <p:spTgt spid="55">
                                            <p:bg/>
                                          </p:spTgt>
                                        </p:tgtEl>
                                        <p:attrNameLst>
                                          <p:attrName>style.visibility</p:attrName>
                                        </p:attrNameLst>
                                      </p:cBhvr>
                                      <p:to>
                                        <p:strVal val="visible"/>
                                      </p:to>
                                    </p:set>
                                    <p:animEffect transition="in" filter="checkerboard(across)">
                                      <p:cBhvr>
                                        <p:cTn id="161" dur="500"/>
                                        <p:tgtEl>
                                          <p:spTgt spid="55">
                                            <p:bg/>
                                          </p:spTgt>
                                        </p:tgtEl>
                                      </p:cBhvr>
                                    </p:animEffect>
                                  </p:childTnLst>
                                </p:cTn>
                              </p:par>
                              <p:par>
                                <p:cTn id="162" presetID="5" presetClass="entr" presetSubtype="10" fill="hold" grpId="0" nodeType="withEffect">
                                  <p:stCondLst>
                                    <p:cond delay="0"/>
                                  </p:stCondLst>
                                  <p:childTnLst>
                                    <p:set>
                                      <p:cBhvr>
                                        <p:cTn id="163" dur="1" fill="hold">
                                          <p:stCondLst>
                                            <p:cond delay="0"/>
                                          </p:stCondLst>
                                        </p:cTn>
                                        <p:tgtEl>
                                          <p:spTgt spid="55">
                                            <p:txEl>
                                              <p:pRg st="0" end="0"/>
                                            </p:txEl>
                                          </p:spTgt>
                                        </p:tgtEl>
                                        <p:attrNameLst>
                                          <p:attrName>style.visibility</p:attrName>
                                        </p:attrNameLst>
                                      </p:cBhvr>
                                      <p:to>
                                        <p:strVal val="visible"/>
                                      </p:to>
                                    </p:set>
                                    <p:animEffect transition="in" filter="checkerboard(across)">
                                      <p:cBhvr>
                                        <p:cTn id="164" dur="500"/>
                                        <p:tgtEl>
                                          <p:spTgt spid="55">
                                            <p:txEl>
                                              <p:pRg st="0" end="0"/>
                                            </p:txEl>
                                          </p:spTgt>
                                        </p:tgtEl>
                                      </p:cBhvr>
                                    </p:animEffect>
                                  </p:childTnLst>
                                </p:cTn>
                              </p:par>
                            </p:childTnLst>
                          </p:cTn>
                        </p:par>
                        <p:par>
                          <p:cTn id="165" fill="hold">
                            <p:stCondLst>
                              <p:cond delay="500"/>
                            </p:stCondLst>
                            <p:childTnLst>
                              <p:par>
                                <p:cTn id="166" presetID="22" presetClass="entr" presetSubtype="8" fill="hold" nodeType="afterEffect">
                                  <p:stCondLst>
                                    <p:cond delay="0"/>
                                  </p:stCondLst>
                                  <p:childTnLst>
                                    <p:set>
                                      <p:cBhvr>
                                        <p:cTn id="167" dur="1" fill="hold">
                                          <p:stCondLst>
                                            <p:cond delay="0"/>
                                          </p:stCondLst>
                                        </p:cTn>
                                        <p:tgtEl>
                                          <p:spTgt spid="56"/>
                                        </p:tgtEl>
                                        <p:attrNameLst>
                                          <p:attrName>style.visibility</p:attrName>
                                        </p:attrNameLst>
                                      </p:cBhvr>
                                      <p:to>
                                        <p:strVal val="visible"/>
                                      </p:to>
                                    </p:set>
                                    <p:animEffect transition="in" filter="wipe(left)">
                                      <p:cBhvr>
                                        <p:cTn id="168" dur="500"/>
                                        <p:tgtEl>
                                          <p:spTgt spid="56"/>
                                        </p:tgtEl>
                                      </p:cBhvr>
                                    </p:animEffect>
                                  </p:childTnLst>
                                </p:cTn>
                              </p:par>
                            </p:childTnLst>
                          </p:cTn>
                        </p:par>
                        <p:par>
                          <p:cTn id="169" fill="hold">
                            <p:stCondLst>
                              <p:cond delay="1000"/>
                            </p:stCondLst>
                            <p:childTnLst>
                              <p:par>
                                <p:cTn id="170" presetID="22" presetClass="exit" presetSubtype="8" repeatCount="indefinite" nodeType="afterEffect">
                                  <p:stCondLst>
                                    <p:cond delay="0"/>
                                  </p:stCondLst>
                                  <p:endCondLst>
                                    <p:cond evt="onNext" delay="0">
                                      <p:tgtEl>
                                        <p:sldTgt/>
                                      </p:tgtEl>
                                    </p:cond>
                                  </p:endCondLst>
                                  <p:childTnLst>
                                    <p:animEffect transition="out" filter="wipe(left)">
                                      <p:cBhvr>
                                        <p:cTn id="171" dur="500"/>
                                        <p:tgtEl>
                                          <p:spTgt spid="56"/>
                                        </p:tgtEl>
                                      </p:cBhvr>
                                    </p:animEffect>
                                    <p:set>
                                      <p:cBhvr>
                                        <p:cTn id="172" dur="1" fill="hold">
                                          <p:stCondLst>
                                            <p:cond delay="499"/>
                                          </p:stCondLst>
                                        </p:cTn>
                                        <p:tgtEl>
                                          <p:spTgt spid="56"/>
                                        </p:tgtEl>
                                        <p:attrNameLst>
                                          <p:attrName>style.visibility</p:attrName>
                                        </p:attrNameLst>
                                      </p:cBhvr>
                                      <p:to>
                                        <p:strVal val="hidden"/>
                                      </p:to>
                                    </p:set>
                                  </p:childTnLst>
                                </p:cTn>
                              </p:par>
                            </p:childTnLst>
                          </p:cTn>
                        </p:par>
                        <p:par>
                          <p:cTn id="173" fill="hold">
                            <p:stCondLst>
                              <p:cond delay="1500"/>
                            </p:stCondLst>
                            <p:childTnLst>
                              <p:par>
                                <p:cTn id="174" presetID="22" presetClass="entr" presetSubtype="8" fill="hold" grpId="0" nodeType="afterEffect">
                                  <p:stCondLst>
                                    <p:cond delay="0"/>
                                  </p:stCondLst>
                                  <p:childTnLst>
                                    <p:set>
                                      <p:cBhvr>
                                        <p:cTn id="175" dur="1" fill="hold">
                                          <p:stCondLst>
                                            <p:cond delay="0"/>
                                          </p:stCondLst>
                                        </p:cTn>
                                        <p:tgtEl>
                                          <p:spTgt spid="58"/>
                                        </p:tgtEl>
                                        <p:attrNameLst>
                                          <p:attrName>style.visibility</p:attrName>
                                        </p:attrNameLst>
                                      </p:cBhvr>
                                      <p:to>
                                        <p:strVal val="visible"/>
                                      </p:to>
                                    </p:set>
                                    <p:animEffect transition="in" filter="wipe(left)">
                                      <p:cBhvr>
                                        <p:cTn id="176" dur="500"/>
                                        <p:tgtEl>
                                          <p:spTgt spid="58"/>
                                        </p:tgtEl>
                                      </p:cBhvr>
                                    </p:animEffect>
                                  </p:childTnLst>
                                </p:cTn>
                              </p:par>
                            </p:childTnLst>
                          </p:cTn>
                        </p:par>
                        <p:par>
                          <p:cTn id="177" fill="hold">
                            <p:stCondLst>
                              <p:cond delay="2000"/>
                            </p:stCondLst>
                            <p:childTnLst>
                              <p:par>
                                <p:cTn id="178" presetID="22" presetClass="entr" presetSubtype="8" fill="hold" nodeType="afterEffect">
                                  <p:stCondLst>
                                    <p:cond delay="0"/>
                                  </p:stCondLst>
                                  <p:childTnLst>
                                    <p:set>
                                      <p:cBhvr>
                                        <p:cTn id="179" dur="1" fill="hold">
                                          <p:stCondLst>
                                            <p:cond delay="0"/>
                                          </p:stCondLst>
                                        </p:cTn>
                                        <p:tgtEl>
                                          <p:spTgt spid="59"/>
                                        </p:tgtEl>
                                        <p:attrNameLst>
                                          <p:attrName>style.visibility</p:attrName>
                                        </p:attrNameLst>
                                      </p:cBhvr>
                                      <p:to>
                                        <p:strVal val="visible"/>
                                      </p:to>
                                    </p:set>
                                    <p:animEffect transition="in" filter="wipe(left)">
                                      <p:cBhvr>
                                        <p:cTn id="180" dur="500"/>
                                        <p:tgtEl>
                                          <p:spTgt spid="59"/>
                                        </p:tgtEl>
                                      </p:cBhvr>
                                    </p:animEffect>
                                  </p:childTnLst>
                                </p:cTn>
                              </p:par>
                            </p:childTnLst>
                          </p:cTn>
                        </p:par>
                        <p:par>
                          <p:cTn id="181" fill="hold">
                            <p:stCondLst>
                              <p:cond delay="2500"/>
                            </p:stCondLst>
                            <p:childTnLst>
                              <p:par>
                                <p:cTn id="182" presetID="22" presetClass="exit" presetSubtype="8" repeatCount="indefinite" nodeType="afterEffect">
                                  <p:stCondLst>
                                    <p:cond delay="0"/>
                                  </p:stCondLst>
                                  <p:endCondLst>
                                    <p:cond evt="onNext" delay="0">
                                      <p:tgtEl>
                                        <p:sldTgt/>
                                      </p:tgtEl>
                                    </p:cond>
                                  </p:endCondLst>
                                  <p:childTnLst>
                                    <p:animEffect transition="out" filter="wipe(left)">
                                      <p:cBhvr>
                                        <p:cTn id="183" dur="500"/>
                                        <p:tgtEl>
                                          <p:spTgt spid="59"/>
                                        </p:tgtEl>
                                      </p:cBhvr>
                                    </p:animEffect>
                                    <p:set>
                                      <p:cBhvr>
                                        <p:cTn id="184" dur="1" fill="hold">
                                          <p:stCondLst>
                                            <p:cond delay="499"/>
                                          </p:stCondLst>
                                        </p:cTn>
                                        <p:tgtEl>
                                          <p:spTgt spid="59"/>
                                        </p:tgtEl>
                                        <p:attrNameLst>
                                          <p:attrName>style.visibility</p:attrName>
                                        </p:attrNameLst>
                                      </p:cBhvr>
                                      <p:to>
                                        <p:strVal val="hidden"/>
                                      </p:to>
                                    </p:set>
                                  </p:childTnLst>
                                </p:cTn>
                              </p:par>
                            </p:childTnLst>
                          </p:cTn>
                        </p:par>
                        <p:par>
                          <p:cTn id="185" fill="hold">
                            <p:stCondLst>
                              <p:cond delay="3000"/>
                            </p:stCondLst>
                            <p:childTnLst>
                              <p:par>
                                <p:cTn id="186" presetID="22" presetClass="entr" presetSubtype="8" fill="hold" grpId="0" nodeType="afterEffect">
                                  <p:stCondLst>
                                    <p:cond delay="0"/>
                                  </p:stCondLst>
                                  <p:childTnLst>
                                    <p:set>
                                      <p:cBhvr>
                                        <p:cTn id="187" dur="1" fill="hold">
                                          <p:stCondLst>
                                            <p:cond delay="0"/>
                                          </p:stCondLst>
                                        </p:cTn>
                                        <p:tgtEl>
                                          <p:spTgt spid="60"/>
                                        </p:tgtEl>
                                        <p:attrNameLst>
                                          <p:attrName>style.visibility</p:attrName>
                                        </p:attrNameLst>
                                      </p:cBhvr>
                                      <p:to>
                                        <p:strVal val="visible"/>
                                      </p:to>
                                    </p:set>
                                    <p:animEffect transition="in" filter="wipe(left)">
                                      <p:cBhvr>
                                        <p:cTn id="188" dur="500"/>
                                        <p:tgtEl>
                                          <p:spTgt spid="60"/>
                                        </p:tgtEl>
                                      </p:cBhvr>
                                    </p:animEffect>
                                  </p:childTnLst>
                                </p:cTn>
                              </p:par>
                            </p:childTnLst>
                          </p:cTn>
                        </p:par>
                      </p:childTnLst>
                    </p:cTn>
                  </p:par>
                  <p:par>
                    <p:cTn id="189" fill="hold">
                      <p:stCondLst>
                        <p:cond delay="indefinite"/>
                      </p:stCondLst>
                      <p:childTnLst>
                        <p:par>
                          <p:cTn id="190" fill="hold">
                            <p:stCondLst>
                              <p:cond delay="0"/>
                            </p:stCondLst>
                            <p:childTnLst>
                              <p:par>
                                <p:cTn id="191" presetID="5" presetClass="entr" presetSubtype="10" fill="hold" grpId="0" nodeType="clickEffect">
                                  <p:stCondLst>
                                    <p:cond delay="0"/>
                                  </p:stCondLst>
                                  <p:childTnLst>
                                    <p:set>
                                      <p:cBhvr>
                                        <p:cTn id="192" dur="1" fill="hold">
                                          <p:stCondLst>
                                            <p:cond delay="0"/>
                                          </p:stCondLst>
                                        </p:cTn>
                                        <p:tgtEl>
                                          <p:spTgt spid="61">
                                            <p:bg/>
                                          </p:spTgt>
                                        </p:tgtEl>
                                        <p:attrNameLst>
                                          <p:attrName>style.visibility</p:attrName>
                                        </p:attrNameLst>
                                      </p:cBhvr>
                                      <p:to>
                                        <p:strVal val="visible"/>
                                      </p:to>
                                    </p:set>
                                    <p:animEffect transition="in" filter="checkerboard(across)">
                                      <p:cBhvr>
                                        <p:cTn id="193" dur="500"/>
                                        <p:tgtEl>
                                          <p:spTgt spid="61">
                                            <p:bg/>
                                          </p:spTgt>
                                        </p:tgtEl>
                                      </p:cBhvr>
                                    </p:animEffect>
                                  </p:childTnLst>
                                </p:cTn>
                              </p:par>
                              <p:par>
                                <p:cTn id="194" presetID="5" presetClass="entr" presetSubtype="10" fill="hold" grpId="0" nodeType="withEffect">
                                  <p:stCondLst>
                                    <p:cond delay="0"/>
                                  </p:stCondLst>
                                  <p:childTnLst>
                                    <p:set>
                                      <p:cBhvr>
                                        <p:cTn id="195" dur="1" fill="hold">
                                          <p:stCondLst>
                                            <p:cond delay="0"/>
                                          </p:stCondLst>
                                        </p:cTn>
                                        <p:tgtEl>
                                          <p:spTgt spid="61">
                                            <p:txEl>
                                              <p:pRg st="0" end="0"/>
                                            </p:txEl>
                                          </p:spTgt>
                                        </p:tgtEl>
                                        <p:attrNameLst>
                                          <p:attrName>style.visibility</p:attrName>
                                        </p:attrNameLst>
                                      </p:cBhvr>
                                      <p:to>
                                        <p:strVal val="visible"/>
                                      </p:to>
                                    </p:set>
                                    <p:animEffect transition="in" filter="checkerboard(across)">
                                      <p:cBhvr>
                                        <p:cTn id="196" dur="500"/>
                                        <p:tgtEl>
                                          <p:spTgt spid="61">
                                            <p:txEl>
                                              <p:pRg st="0" end="0"/>
                                            </p:txEl>
                                          </p:spTgt>
                                        </p:tgtEl>
                                      </p:cBhvr>
                                    </p:animEffect>
                                  </p:childTnLst>
                                </p:cTn>
                              </p:par>
                            </p:childTnLst>
                          </p:cTn>
                        </p:par>
                      </p:childTnLst>
                    </p:cTn>
                  </p:par>
                  <p:par>
                    <p:cTn id="197" fill="hold">
                      <p:stCondLst>
                        <p:cond delay="indefinite"/>
                      </p:stCondLst>
                      <p:childTnLst>
                        <p:par>
                          <p:cTn id="198" fill="hold">
                            <p:stCondLst>
                              <p:cond delay="0"/>
                            </p:stCondLst>
                            <p:childTnLst>
                              <p:par>
                                <p:cTn id="199" presetID="5" presetClass="entr" presetSubtype="10" fill="hold" grpId="0" nodeType="clickEffect">
                                  <p:stCondLst>
                                    <p:cond delay="0"/>
                                  </p:stCondLst>
                                  <p:childTnLst>
                                    <p:set>
                                      <p:cBhvr>
                                        <p:cTn id="200" dur="1" fill="hold">
                                          <p:stCondLst>
                                            <p:cond delay="0"/>
                                          </p:stCondLst>
                                        </p:cTn>
                                        <p:tgtEl>
                                          <p:spTgt spid="62">
                                            <p:bg/>
                                          </p:spTgt>
                                        </p:tgtEl>
                                        <p:attrNameLst>
                                          <p:attrName>style.visibility</p:attrName>
                                        </p:attrNameLst>
                                      </p:cBhvr>
                                      <p:to>
                                        <p:strVal val="visible"/>
                                      </p:to>
                                    </p:set>
                                    <p:animEffect transition="in" filter="checkerboard(across)">
                                      <p:cBhvr>
                                        <p:cTn id="201" dur="500"/>
                                        <p:tgtEl>
                                          <p:spTgt spid="62">
                                            <p:bg/>
                                          </p:spTgt>
                                        </p:tgtEl>
                                      </p:cBhvr>
                                    </p:animEffect>
                                  </p:childTnLst>
                                </p:cTn>
                              </p:par>
                              <p:par>
                                <p:cTn id="202" presetID="5" presetClass="entr" presetSubtype="10" fill="hold" grpId="0" nodeType="withEffect">
                                  <p:stCondLst>
                                    <p:cond delay="0"/>
                                  </p:stCondLst>
                                  <p:childTnLst>
                                    <p:set>
                                      <p:cBhvr>
                                        <p:cTn id="203" dur="1" fill="hold">
                                          <p:stCondLst>
                                            <p:cond delay="0"/>
                                          </p:stCondLst>
                                        </p:cTn>
                                        <p:tgtEl>
                                          <p:spTgt spid="62">
                                            <p:txEl>
                                              <p:pRg st="0" end="0"/>
                                            </p:txEl>
                                          </p:spTgt>
                                        </p:tgtEl>
                                        <p:attrNameLst>
                                          <p:attrName>style.visibility</p:attrName>
                                        </p:attrNameLst>
                                      </p:cBhvr>
                                      <p:to>
                                        <p:strVal val="visible"/>
                                      </p:to>
                                    </p:set>
                                    <p:animEffect transition="in" filter="checkerboard(across)">
                                      <p:cBhvr>
                                        <p:cTn id="204" dur="500"/>
                                        <p:tgtEl>
                                          <p:spTgt spid="6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utoUpdateAnimBg="0"/>
      <p:bldP spid="13" grpId="0" autoUpdateAnimBg="0"/>
      <p:bldP spid="14" grpId="0" autoUpdateAnimBg="0"/>
      <p:bldP spid="18" grpId="0" autoUpdateAnimBg="0"/>
      <p:bldP spid="19" grpId="0" uiExpand="1" build="p" animBg="1"/>
      <p:bldP spid="20" grpId="0" autoUpdateAnimBg="0"/>
      <p:bldP spid="34" grpId="0" animBg="1"/>
      <p:bldP spid="35" grpId="0" autoUpdateAnimBg="0"/>
      <p:bldP spid="45" grpId="0" uiExpand="1" build="p" animBg="1"/>
      <p:bldP spid="46" grpId="0" uiExpand="1" build="p" animBg="1"/>
      <p:bldP spid="47" grpId="0" uiExpand="1" build="p" animBg="1"/>
      <p:bldP spid="48" grpId="0" uiExpand="1" build="p" animBg="1"/>
      <p:bldP spid="41" grpId="0" autoUpdateAnimBg="0"/>
      <p:bldP spid="53" grpId="0" animBg="1"/>
      <p:bldP spid="54" grpId="0" autoUpdateAnimBg="0"/>
      <p:bldP spid="55" grpId="0" uiExpand="1" build="p" animBg="1"/>
      <p:bldP spid="58" grpId="0" autoUpdateAnimBg="0"/>
      <p:bldP spid="60" grpId="0" autoUpdateAnimBg="0"/>
      <p:bldP spid="61" grpId="0" uiExpand="1" build="p" animBg="1"/>
      <p:bldP spid="62" grpId="0" uiExpand="1" build="p"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t>42</a:t>
            </a:fld>
            <a:endParaRPr lang="en-US"/>
          </a:p>
        </p:txBody>
      </p:sp>
      <p:sp>
        <p:nvSpPr>
          <p:cNvPr id="7" name="Shape 519"/>
          <p:cNvSpPr txBox="1">
            <a:spLocks/>
          </p:cNvSpPr>
          <p:nvPr/>
        </p:nvSpPr>
        <p:spPr bwMode="white">
          <a:xfrm>
            <a:off x="1084878" y="228600"/>
            <a:ext cx="7924800" cy="941388"/>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a:lstStyle>
          <a:p>
            <a:r>
              <a:rPr lang="en-US" sz="2800" b="1" kern="0" err="1"/>
              <a:t>Câu</a:t>
            </a:r>
            <a:r>
              <a:rPr lang="en-US" sz="2800" b="1" kern="0"/>
              <a:t> </a:t>
            </a:r>
            <a:r>
              <a:rPr lang="en-US" sz="2800" b="1" kern="0" err="1"/>
              <a:t>hỏi</a:t>
            </a:r>
            <a:r>
              <a:rPr lang="en-US" sz="2800" b="1" kern="0"/>
              <a:t> </a:t>
            </a:r>
            <a:r>
              <a:rPr lang="en-US" sz="2800" b="1" kern="0" err="1"/>
              <a:t>lý</a:t>
            </a:r>
            <a:r>
              <a:rPr lang="en-US" sz="2800" b="1" kern="0"/>
              <a:t> </a:t>
            </a:r>
            <a:r>
              <a:rPr lang="en-US" sz="2800" b="1" kern="0" err="1"/>
              <a:t>thuyết</a:t>
            </a:r>
            <a:endParaRPr lang="vi-VN" sz="2800" b="1" kern="0"/>
          </a:p>
        </p:txBody>
      </p:sp>
      <p:sp>
        <p:nvSpPr>
          <p:cNvPr id="5" name="Shape 1331"/>
          <p:cNvSpPr>
            <a:spLocks noGrp="1"/>
          </p:cNvSpPr>
          <p:nvPr>
            <p:ph type="body" idx="4294967295"/>
          </p:nvPr>
        </p:nvSpPr>
        <p:spPr>
          <a:xfrm>
            <a:off x="606244" y="1371600"/>
            <a:ext cx="7865404" cy="4572002"/>
          </a:xfrm>
          <a:prstGeom prst="rect">
            <a:avLst/>
          </a:prstGeom>
          <a:extLst>
            <a:ext uri="{C572A759-6A51-4108-AA02-DFA0A04FC94B}">
              <ma14:wrappingTextBoxFlag xmlns:ma14="http://schemas.microsoft.com/office/mac/drawingml/2011/main" xmlns="" val="1"/>
            </a:ext>
          </a:extLst>
        </p:spPr>
        <p:txBody>
          <a:bodyPr>
            <a:normAutofit/>
          </a:bodyPr>
          <a:lstStyle/>
          <a:p>
            <a:pPr marL="514350" indent="-514350">
              <a:buFontTx/>
              <a:buAutoNum type="arabicPeriod"/>
            </a:pPr>
            <a:r>
              <a:rPr lang="en-US"/>
              <a:t>Adapter là gì? Ngoài ListView, Adapter có thể tương tác với View khác không?</a:t>
            </a:r>
          </a:p>
          <a:p>
            <a:pPr marL="514350" indent="-514350">
              <a:buFontTx/>
              <a:buAutoNum type="arabicPeriod"/>
            </a:pPr>
            <a:r>
              <a:rPr lang="en-US"/>
              <a:t>Nêu các loại Dialog khác mà bạn biết</a:t>
            </a:r>
          </a:p>
          <a:p>
            <a:pPr marL="514350" indent="-514350">
              <a:buFontTx/>
              <a:buAutoNum type="arabicPeriod"/>
            </a:pPr>
            <a:r>
              <a:rPr lang="en-US"/>
              <a:t>Chỉ ra ưu, nhược điểm của các cách xử lý sự kiện</a:t>
            </a:r>
          </a:p>
          <a:p>
            <a:pPr marL="514350" indent="-514350">
              <a:buFontTx/>
              <a:buAutoNum type="arabicPeriod"/>
            </a:pPr>
            <a:r>
              <a:rPr lang="en-US"/>
              <a:t>Trong những cách xử lý sự kiện trên, bạn thích cách nào nhất? Lý do?</a:t>
            </a:r>
            <a:endParaRPr lang="vi-VN"/>
          </a:p>
        </p:txBody>
      </p:sp>
    </p:spTree>
    <p:extLst>
      <p:ext uri="{BB962C8B-B14F-4D97-AF65-F5344CB8AC3E}">
        <p14:creationId xmlns:p14="http://schemas.microsoft.com/office/powerpoint/2010/main" val="3243880880"/>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t>43</a:t>
            </a:fld>
            <a:endParaRPr lang="en-US"/>
          </a:p>
        </p:txBody>
      </p:sp>
      <p:sp>
        <p:nvSpPr>
          <p:cNvPr id="7" name="Shape 519"/>
          <p:cNvSpPr txBox="1">
            <a:spLocks/>
          </p:cNvSpPr>
          <p:nvPr/>
        </p:nvSpPr>
        <p:spPr bwMode="white">
          <a:xfrm>
            <a:off x="1084878" y="228600"/>
            <a:ext cx="7924800" cy="941388"/>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a:lstStyle>
          <a:p>
            <a:r>
              <a:rPr lang="en-US" sz="2800" b="1" kern="0" err="1"/>
              <a:t>Bài</a:t>
            </a:r>
            <a:r>
              <a:rPr lang="en-US" sz="2800" b="1" kern="0"/>
              <a:t> </a:t>
            </a:r>
            <a:r>
              <a:rPr lang="en-US" sz="2800" b="1" kern="0" err="1"/>
              <a:t>tập</a:t>
            </a:r>
            <a:endParaRPr lang="vi-VN" sz="2800" b="1" kern="0"/>
          </a:p>
        </p:txBody>
      </p:sp>
      <p:sp>
        <p:nvSpPr>
          <p:cNvPr id="6" name="Shape 1336"/>
          <p:cNvSpPr>
            <a:spLocks noGrp="1"/>
          </p:cNvSpPr>
          <p:nvPr>
            <p:ph type="body" idx="4294967295"/>
          </p:nvPr>
        </p:nvSpPr>
        <p:spPr>
          <a:xfrm>
            <a:off x="576546" y="1169988"/>
            <a:ext cx="7772400" cy="1116012"/>
          </a:xfrm>
          <a:prstGeom prst="rect">
            <a:avLst/>
          </a:prstGeom>
          <a:extLst>
            <a:ext uri="{C572A759-6A51-4108-AA02-DFA0A04FC94B}">
              <ma14:wrappingTextBoxFlag xmlns:ma14="http://schemas.microsoft.com/office/mac/drawingml/2011/main" xmlns="" val="1"/>
            </a:ext>
          </a:extLst>
        </p:spPr>
        <p:txBody>
          <a:bodyPr>
            <a:normAutofit lnSpcReduction="10000"/>
          </a:bodyPr>
          <a:lstStyle/>
          <a:p>
            <a:pPr marL="514350" indent="-514350" defTabSz="886968">
              <a:lnSpc>
                <a:spcPct val="140000"/>
              </a:lnSpc>
              <a:spcBef>
                <a:spcPts val="0"/>
              </a:spcBef>
              <a:buFont typeface="+mj-lt"/>
              <a:buAutoNum type="arabicPeriod"/>
              <a:defRPr sz="2716"/>
            </a:pPr>
            <a:r>
              <a:rPr lang="en-US"/>
              <a:t>Sử dụng ListView và Adapter, xây dựng giao diện sau</a:t>
            </a:r>
            <a:endParaRPr/>
          </a:p>
        </p:txBody>
      </p:sp>
      <p:pic>
        <p:nvPicPr>
          <p:cNvPr id="5" name="Picture 4" descr="A screenshot of a phone&#10;&#10;Description automatically generated with medium confidence">
            <a:extLst>
              <a:ext uri="{FF2B5EF4-FFF2-40B4-BE49-F238E27FC236}">
                <a16:creationId xmlns:a16="http://schemas.microsoft.com/office/drawing/2014/main" id="{2F7C5BE5-4FAB-4B29-B530-A37FD02CCF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1000" y="1888520"/>
            <a:ext cx="2290031" cy="4813880"/>
          </a:xfrm>
          <a:prstGeom prst="rect">
            <a:avLst/>
          </a:prstGeom>
        </p:spPr>
      </p:pic>
    </p:spTree>
    <p:extLst>
      <p:ext uri="{BB962C8B-B14F-4D97-AF65-F5344CB8AC3E}">
        <p14:creationId xmlns:p14="http://schemas.microsoft.com/office/powerpoint/2010/main" val="2202967167"/>
      </p:ext>
    </p:extLst>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t>44</a:t>
            </a:fld>
            <a:endParaRPr lang="en-US"/>
          </a:p>
        </p:txBody>
      </p:sp>
      <p:sp>
        <p:nvSpPr>
          <p:cNvPr id="7" name="Shape 519"/>
          <p:cNvSpPr txBox="1">
            <a:spLocks/>
          </p:cNvSpPr>
          <p:nvPr/>
        </p:nvSpPr>
        <p:spPr bwMode="white">
          <a:xfrm>
            <a:off x="1084878" y="228600"/>
            <a:ext cx="7924800" cy="941388"/>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a:lstStyle>
          <a:p>
            <a:r>
              <a:rPr lang="en-US" sz="2800" b="1" kern="0" err="1"/>
              <a:t>Bài</a:t>
            </a:r>
            <a:r>
              <a:rPr lang="en-US" sz="2800" b="1" kern="0"/>
              <a:t> </a:t>
            </a:r>
            <a:r>
              <a:rPr lang="en-US" sz="2800" b="1" kern="0" err="1"/>
              <a:t>tập</a:t>
            </a:r>
            <a:endParaRPr lang="vi-VN" sz="2800" b="1" kern="0"/>
          </a:p>
        </p:txBody>
      </p:sp>
      <p:sp>
        <p:nvSpPr>
          <p:cNvPr id="6" name="Shape 1336"/>
          <p:cNvSpPr>
            <a:spLocks noGrp="1"/>
          </p:cNvSpPr>
          <p:nvPr>
            <p:ph type="body" idx="4294967295"/>
          </p:nvPr>
        </p:nvSpPr>
        <p:spPr>
          <a:xfrm>
            <a:off x="576546" y="1169988"/>
            <a:ext cx="7772400" cy="1116012"/>
          </a:xfrm>
          <a:prstGeom prst="rect">
            <a:avLst/>
          </a:prstGeom>
          <a:extLst>
            <a:ext uri="{C572A759-6A51-4108-AA02-DFA0A04FC94B}">
              <ma14:wrappingTextBoxFlag xmlns:ma14="http://schemas.microsoft.com/office/mac/drawingml/2011/main" xmlns="" val="1"/>
            </a:ext>
          </a:extLst>
        </p:spPr>
        <p:txBody>
          <a:bodyPr>
            <a:normAutofit/>
          </a:bodyPr>
          <a:lstStyle/>
          <a:p>
            <a:pPr marL="0" indent="0" defTabSz="886968">
              <a:lnSpc>
                <a:spcPct val="140000"/>
              </a:lnSpc>
              <a:spcBef>
                <a:spcPts val="0"/>
              </a:spcBef>
              <a:buNone/>
              <a:defRPr sz="2716"/>
            </a:pPr>
            <a:r>
              <a:rPr lang="en-US"/>
              <a:t>2. Sử dụng DiaLog xây dựng giao diện sau</a:t>
            </a:r>
            <a:endParaRPr/>
          </a:p>
        </p:txBody>
      </p:sp>
      <p:pic>
        <p:nvPicPr>
          <p:cNvPr id="4" name="Picture 3" descr="Graphical user interface, text, application&#10;&#10;Description automatically generated">
            <a:extLst>
              <a:ext uri="{FF2B5EF4-FFF2-40B4-BE49-F238E27FC236}">
                <a16:creationId xmlns:a16="http://schemas.microsoft.com/office/drawing/2014/main" id="{FC7BE1A4-5F78-45DF-87FA-2318CE801D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8600" y="1981200"/>
            <a:ext cx="2438400" cy="4354286"/>
          </a:xfrm>
          <a:prstGeom prst="rect">
            <a:avLst/>
          </a:prstGeom>
        </p:spPr>
      </p:pic>
    </p:spTree>
    <p:extLst>
      <p:ext uri="{BB962C8B-B14F-4D97-AF65-F5344CB8AC3E}">
        <p14:creationId xmlns:p14="http://schemas.microsoft.com/office/powerpoint/2010/main" val="1548852904"/>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t>45</a:t>
            </a:fld>
            <a:endParaRPr lang="en-US"/>
          </a:p>
        </p:txBody>
      </p:sp>
      <p:sp>
        <p:nvSpPr>
          <p:cNvPr id="7" name="Shape 519"/>
          <p:cNvSpPr txBox="1">
            <a:spLocks/>
          </p:cNvSpPr>
          <p:nvPr/>
        </p:nvSpPr>
        <p:spPr bwMode="white">
          <a:xfrm>
            <a:off x="1084878" y="228600"/>
            <a:ext cx="7924800" cy="941388"/>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a:lstStyle>
          <a:p>
            <a:r>
              <a:rPr lang="en-US" sz="2800" b="1" kern="0" err="1"/>
              <a:t>Bài</a:t>
            </a:r>
            <a:r>
              <a:rPr lang="en-US" sz="2800" b="1" kern="0"/>
              <a:t> </a:t>
            </a:r>
            <a:r>
              <a:rPr lang="en-US" sz="2800" b="1" kern="0" err="1"/>
              <a:t>tập</a:t>
            </a:r>
            <a:endParaRPr lang="vi-VN" sz="2800" b="1" kern="0"/>
          </a:p>
        </p:txBody>
      </p:sp>
      <p:sp>
        <p:nvSpPr>
          <p:cNvPr id="6" name="Shape 1336"/>
          <p:cNvSpPr>
            <a:spLocks noGrp="1"/>
          </p:cNvSpPr>
          <p:nvPr>
            <p:ph type="body" idx="4294967295"/>
          </p:nvPr>
        </p:nvSpPr>
        <p:spPr>
          <a:xfrm>
            <a:off x="576546" y="1169988"/>
            <a:ext cx="7772400" cy="1116012"/>
          </a:xfrm>
          <a:prstGeom prst="rect">
            <a:avLst/>
          </a:prstGeom>
          <a:extLst>
            <a:ext uri="{C572A759-6A51-4108-AA02-DFA0A04FC94B}">
              <ma14:wrappingTextBoxFlag xmlns:ma14="http://schemas.microsoft.com/office/mac/drawingml/2011/main" xmlns="" val="1"/>
            </a:ext>
          </a:extLst>
        </p:spPr>
        <p:txBody>
          <a:bodyPr>
            <a:normAutofit lnSpcReduction="10000"/>
          </a:bodyPr>
          <a:lstStyle/>
          <a:p>
            <a:pPr marL="0" indent="0" defTabSz="886968">
              <a:lnSpc>
                <a:spcPct val="140000"/>
              </a:lnSpc>
              <a:spcBef>
                <a:spcPts val="0"/>
              </a:spcBef>
              <a:buNone/>
              <a:defRPr sz="2716"/>
            </a:pPr>
            <a:r>
              <a:rPr lang="en-US"/>
              <a:t>3. Sử dụng webview, xây dựng giao diện sau</a:t>
            </a:r>
            <a:endParaRPr/>
          </a:p>
        </p:txBody>
      </p:sp>
      <p:pic>
        <p:nvPicPr>
          <p:cNvPr id="5" name="Picture 4" descr="Graphical user interface, application&#10;&#10;Description automatically generated">
            <a:extLst>
              <a:ext uri="{FF2B5EF4-FFF2-40B4-BE49-F238E27FC236}">
                <a16:creationId xmlns:a16="http://schemas.microsoft.com/office/drawing/2014/main" id="{3ABECB8E-31C0-4E97-88CE-FB12FB1F0A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8600" y="1894252"/>
            <a:ext cx="2985166" cy="4836723"/>
          </a:xfrm>
          <a:prstGeom prst="rect">
            <a:avLst/>
          </a:prstGeom>
        </p:spPr>
      </p:pic>
    </p:spTree>
    <p:extLst>
      <p:ext uri="{BB962C8B-B14F-4D97-AF65-F5344CB8AC3E}">
        <p14:creationId xmlns:p14="http://schemas.microsoft.com/office/powerpoint/2010/main" val="1726735685"/>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INKNOELEADERBOARD" val="659384857"/>
</p:tagLst>
</file>

<file path=ppt/theme/theme1.xml><?xml version="1.0" encoding="utf-8"?>
<a:theme xmlns:a="http://schemas.openxmlformats.org/drawingml/2006/main" name="cdb2004146l">
  <a:themeElements>
    <a:clrScheme name="cdb2004146l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fontScheme name="cdb2004146l">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68415" tIns="34208" rIns="68415" bIns="34208" numCol="1" anchor="t" anchorCtr="0" compatLnSpc="1">
        <a:prstTxWarp prst="textNoShape">
          <a:avLst/>
        </a:prstTxWarp>
        <a:spAutoFit/>
      </a:bodyPr>
      <a:lstStyle>
        <a:defPPr marL="0" marR="0" indent="0" algn="ctr" defTabSz="684213"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68415" tIns="34208" rIns="68415" bIns="34208" numCol="1" anchor="t" anchorCtr="0" compatLnSpc="1">
        <a:prstTxWarp prst="textNoShape">
          <a:avLst/>
        </a:prstTxWarp>
        <a:spAutoFit/>
      </a:bodyPr>
      <a:lstStyle>
        <a:defPPr marL="0" marR="0" indent="0" algn="ctr" defTabSz="684213"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bg1"/>
            </a:solidFill>
            <a:effectLst/>
            <a:latin typeface="Arial" charset="0"/>
          </a:defRPr>
        </a:defPPr>
      </a:lstStyle>
    </a:lnDef>
  </a:objectDefaults>
  <a:extraClrSchemeLst>
    <a:extraClrScheme>
      <a:clrScheme name="cdb2004146l 1">
        <a:dk1>
          <a:srgbClr val="48806B"/>
        </a:dk1>
        <a:lt1>
          <a:srgbClr val="FFFFFF"/>
        </a:lt1>
        <a:dk2>
          <a:srgbClr val="77956D"/>
        </a:dk2>
        <a:lt2>
          <a:srgbClr val="C0C0C0"/>
        </a:lt2>
        <a:accent1>
          <a:srgbClr val="6BB9C3"/>
        </a:accent1>
        <a:accent2>
          <a:srgbClr val="E7BA15"/>
        </a:accent2>
        <a:accent3>
          <a:srgbClr val="FFFFFF"/>
        </a:accent3>
        <a:accent4>
          <a:srgbClr val="3C6C5A"/>
        </a:accent4>
        <a:accent5>
          <a:srgbClr val="BAD9DE"/>
        </a:accent5>
        <a:accent6>
          <a:srgbClr val="D1A812"/>
        </a:accent6>
        <a:hlink>
          <a:srgbClr val="76C14D"/>
        </a:hlink>
        <a:folHlink>
          <a:srgbClr val="B0C29C"/>
        </a:folHlink>
      </a:clrScheme>
      <a:clrMap bg1="lt1" tx1="dk1" bg2="lt2" tx2="dk2" accent1="accent1" accent2="accent2" accent3="accent3" accent4="accent4" accent5="accent5" accent6="accent6" hlink="hlink" folHlink="folHlink"/>
    </a:extraClrScheme>
    <a:extraClrScheme>
      <a:clrScheme name="cdb2004146l 2">
        <a:dk1>
          <a:srgbClr val="5F5F5F"/>
        </a:dk1>
        <a:lt1>
          <a:srgbClr val="FFFFFF"/>
        </a:lt1>
        <a:dk2>
          <a:srgbClr val="8D8D8D"/>
        </a:dk2>
        <a:lt2>
          <a:srgbClr val="C0C0C0"/>
        </a:lt2>
        <a:accent1>
          <a:srgbClr val="8EC072"/>
        </a:accent1>
        <a:accent2>
          <a:srgbClr val="5DB8CD"/>
        </a:accent2>
        <a:accent3>
          <a:srgbClr val="FFFFFF"/>
        </a:accent3>
        <a:accent4>
          <a:srgbClr val="505050"/>
        </a:accent4>
        <a:accent5>
          <a:srgbClr val="C6DCBC"/>
        </a:accent5>
        <a:accent6>
          <a:srgbClr val="53A6BA"/>
        </a:accent6>
        <a:hlink>
          <a:srgbClr val="D68B40"/>
        </a:hlink>
        <a:folHlink>
          <a:srgbClr val="D5D179"/>
        </a:folHlink>
      </a:clrScheme>
      <a:clrMap bg1="lt1" tx1="dk1" bg2="lt2" tx2="dk2" accent1="accent1" accent2="accent2" accent3="accent3" accent4="accent4" accent5="accent5" accent6="accent6" hlink="hlink" folHlink="folHlink"/>
    </a:extraClrScheme>
    <a:extraClrScheme>
      <a:clrScheme name="cdb2004146l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cdb2004146l</Template>
  <TotalTime>24775</TotalTime>
  <Words>1704</Words>
  <Application>Microsoft Office PowerPoint</Application>
  <PresentationFormat>On-screen Show (4:3)</PresentationFormat>
  <Paragraphs>227</Paragraphs>
  <Slides>45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.VnArial Narrow</vt:lpstr>
      <vt:lpstr>Arial</vt:lpstr>
      <vt:lpstr>Tahoma</vt:lpstr>
      <vt:lpstr>Times New Roman</vt:lpstr>
      <vt:lpstr>Verdana</vt:lpstr>
      <vt:lpstr>Wingdings</vt:lpstr>
      <vt:lpstr>cdb2004146l</vt:lpstr>
      <vt:lpstr>PowerPoint Presentation</vt:lpstr>
      <vt:lpstr>Chương 4 – Lập trình User Interface nâng cao</vt:lpstr>
      <vt:lpstr>PowerPoint Presentation</vt:lpstr>
      <vt:lpstr>1.1 MENU VÀ CÁCH SỬ DỤNG</vt:lpstr>
      <vt:lpstr>1.1.1 OPTION MENU</vt:lpstr>
      <vt:lpstr>1.1.1 OPTION MENU</vt:lpstr>
      <vt:lpstr>1.1.1 OPTION MENU</vt:lpstr>
      <vt:lpstr>1.1.1 OPTION MENU</vt:lpstr>
      <vt:lpstr>1.1.1 OPTION MENU</vt:lpstr>
      <vt:lpstr>1.1.1 OPTION MENU</vt:lpstr>
      <vt:lpstr>1.1.1 OPTION MENU</vt:lpstr>
      <vt:lpstr>1.1.2 CONTEXT MENU</vt:lpstr>
      <vt:lpstr>1.1.2 CONTEXT MENU</vt:lpstr>
      <vt:lpstr>1.1.2 CONTEXT MENU</vt:lpstr>
      <vt:lpstr>PowerPoint Presentation</vt:lpstr>
      <vt:lpstr>1.2.1 ADAPTER</vt:lpstr>
      <vt:lpstr>1.2.1 ADAPTER</vt:lpstr>
      <vt:lpstr>1.2.1 ADAPTER</vt:lpstr>
      <vt:lpstr>1.2.1 ADAPTER</vt:lpstr>
      <vt:lpstr>1.2.1 ADAPTER</vt:lpstr>
      <vt:lpstr>1.2.1 ADAPTER</vt:lpstr>
      <vt:lpstr>1.2.2 ACTIONBAR</vt:lpstr>
      <vt:lpstr>1.2.2 ACTIONBAR</vt:lpstr>
      <vt:lpstr>1.2.2 ACTIONBAR</vt:lpstr>
      <vt:lpstr>1.2.2 ACTIONBAR</vt:lpstr>
      <vt:lpstr>1.2.3 WEB VIEW</vt:lpstr>
      <vt:lpstr>1.2.3 WEB VIEW</vt:lpstr>
      <vt:lpstr>1.2.3 WEB VIEW</vt:lpstr>
      <vt:lpstr>1.2.3 WEB VIEW</vt:lpstr>
      <vt:lpstr>1.2.4 DIALOG</vt:lpstr>
      <vt:lpstr>1.2.4 DIALOG</vt:lpstr>
      <vt:lpstr>1.2.4 DIALOG</vt:lpstr>
      <vt:lpstr>1.2.4 DIALOG</vt:lpstr>
      <vt:lpstr>PowerPoint Presentation</vt:lpstr>
      <vt:lpstr>1.3.1 SỰ KIỆN TRONG ANDROID</vt:lpstr>
      <vt:lpstr>1.3.2 CÁCH 1: Onclick in XML</vt:lpstr>
      <vt:lpstr>1.3.3 CÁCH 2: Inline anonymous listener</vt:lpstr>
      <vt:lpstr>1.3.4 CÁCH 3: Activity is listener</vt:lpstr>
      <vt:lpstr>1.3.5 CÁCH 4: Listener in variable</vt:lpstr>
      <vt:lpstr>1.3.6 MỘT SỐ CÁCH ÍT THÔNG DỤNG HƠN</vt:lpstr>
      <vt:lpstr>PowerPoint Presentation</vt:lpstr>
      <vt:lpstr>PowerPoint Presentation</vt:lpstr>
      <vt:lpstr>PowerPoint Presentation</vt:lpstr>
      <vt:lpstr>PowerPoint Presentation</vt:lpstr>
      <vt:lpstr>PowerPoint Presentation</vt:lpstr>
    </vt:vector>
  </TitlesOfParts>
  <Company>WORKGROUP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Đề tài: VPN</dc:title>
  <dc:creator>LATDAT</dc:creator>
  <cp:lastModifiedBy>Hoàng Hải Long</cp:lastModifiedBy>
  <cp:revision>1417</cp:revision>
  <dcterms:created xsi:type="dcterms:W3CDTF">2011-02-25T01:16:23Z</dcterms:created>
  <dcterms:modified xsi:type="dcterms:W3CDTF">2022-03-12T09:12:27Z</dcterms:modified>
</cp:coreProperties>
</file>