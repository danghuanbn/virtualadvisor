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2"/>
  </p:notesMasterIdLst>
  <p:handoutMasterIdLst>
    <p:handoutMasterId r:id="rId53"/>
  </p:handoutMasterIdLst>
  <p:sldIdLst>
    <p:sldId id="256" r:id="rId2"/>
    <p:sldId id="349" r:id="rId3"/>
    <p:sldId id="565" r:id="rId4"/>
    <p:sldId id="470" r:id="rId5"/>
    <p:sldId id="602" r:id="rId6"/>
    <p:sldId id="603" r:id="rId7"/>
    <p:sldId id="604" r:id="rId8"/>
    <p:sldId id="605" r:id="rId9"/>
    <p:sldId id="566" r:id="rId10"/>
    <p:sldId id="535" r:id="rId11"/>
    <p:sldId id="607" r:id="rId12"/>
    <p:sldId id="609" r:id="rId13"/>
    <p:sldId id="610" r:id="rId14"/>
    <p:sldId id="611" r:id="rId15"/>
    <p:sldId id="612" r:id="rId16"/>
    <p:sldId id="594" r:id="rId17"/>
    <p:sldId id="595" r:id="rId18"/>
    <p:sldId id="613" r:id="rId19"/>
    <p:sldId id="614" r:id="rId20"/>
    <p:sldId id="615" r:id="rId21"/>
    <p:sldId id="616" r:id="rId22"/>
    <p:sldId id="617" r:id="rId23"/>
    <p:sldId id="618" r:id="rId24"/>
    <p:sldId id="619" r:id="rId25"/>
    <p:sldId id="620" r:id="rId26"/>
    <p:sldId id="621" r:id="rId27"/>
    <p:sldId id="622" r:id="rId28"/>
    <p:sldId id="623" r:id="rId29"/>
    <p:sldId id="624" r:id="rId30"/>
    <p:sldId id="567" r:id="rId31"/>
    <p:sldId id="579" r:id="rId32"/>
    <p:sldId id="625" r:id="rId33"/>
    <p:sldId id="626" r:id="rId34"/>
    <p:sldId id="627" r:id="rId35"/>
    <p:sldId id="628" r:id="rId36"/>
    <p:sldId id="629" r:id="rId37"/>
    <p:sldId id="630" r:id="rId38"/>
    <p:sldId id="636" r:id="rId39"/>
    <p:sldId id="637" r:id="rId40"/>
    <p:sldId id="638" r:id="rId41"/>
    <p:sldId id="631" r:id="rId42"/>
    <p:sldId id="632" r:id="rId43"/>
    <p:sldId id="639" r:id="rId44"/>
    <p:sldId id="640" r:id="rId45"/>
    <p:sldId id="516" r:id="rId46"/>
    <p:sldId id="517" r:id="rId47"/>
    <p:sldId id="518" r:id="rId48"/>
    <p:sldId id="633" r:id="rId49"/>
    <p:sldId id="634" r:id="rId50"/>
    <p:sldId id="635" r:id="rId51"/>
  </p:sldIdLst>
  <p:sldSz cx="9144000" cy="6858000" type="screen4x3"/>
  <p:notesSz cx="6858000" cy="9144000"/>
  <p:custDataLst>
    <p:tags r:id="rId54"/>
  </p:custDataLst>
  <p:defaultTextStyle>
    <a:defPPr>
      <a:defRPr lang="en-US"/>
    </a:defPPr>
    <a:lvl1pPr algn="ctr" rtl="0" eaLnBrk="0" fontAlgn="base" hangingPunct="0">
      <a:spcBef>
        <a:spcPct val="0"/>
      </a:spcBef>
      <a:spcAft>
        <a:spcPct val="0"/>
      </a:spcAft>
      <a:defRPr sz="2400" kern="1200">
        <a:solidFill>
          <a:schemeClr val="bg1"/>
        </a:solidFill>
        <a:latin typeface="Arial" charset="0"/>
        <a:ea typeface="+mn-ea"/>
        <a:cs typeface="+mn-cs"/>
      </a:defRPr>
    </a:lvl1pPr>
    <a:lvl2pPr marL="457200" algn="ctr" rtl="0" eaLnBrk="0" fontAlgn="base" hangingPunct="0">
      <a:spcBef>
        <a:spcPct val="0"/>
      </a:spcBef>
      <a:spcAft>
        <a:spcPct val="0"/>
      </a:spcAft>
      <a:defRPr sz="2400" kern="1200">
        <a:solidFill>
          <a:schemeClr val="bg1"/>
        </a:solidFill>
        <a:latin typeface="Arial" charset="0"/>
        <a:ea typeface="+mn-ea"/>
        <a:cs typeface="+mn-cs"/>
      </a:defRPr>
    </a:lvl2pPr>
    <a:lvl3pPr marL="914400" algn="ctr" rtl="0" eaLnBrk="0" fontAlgn="base" hangingPunct="0">
      <a:spcBef>
        <a:spcPct val="0"/>
      </a:spcBef>
      <a:spcAft>
        <a:spcPct val="0"/>
      </a:spcAft>
      <a:defRPr sz="2400" kern="1200">
        <a:solidFill>
          <a:schemeClr val="bg1"/>
        </a:solidFill>
        <a:latin typeface="Arial" charset="0"/>
        <a:ea typeface="+mn-ea"/>
        <a:cs typeface="+mn-cs"/>
      </a:defRPr>
    </a:lvl3pPr>
    <a:lvl4pPr marL="1371600" algn="ctr" rtl="0" eaLnBrk="0" fontAlgn="base" hangingPunct="0">
      <a:spcBef>
        <a:spcPct val="0"/>
      </a:spcBef>
      <a:spcAft>
        <a:spcPct val="0"/>
      </a:spcAft>
      <a:defRPr sz="2400" kern="1200">
        <a:solidFill>
          <a:schemeClr val="bg1"/>
        </a:solidFill>
        <a:latin typeface="Arial" charset="0"/>
        <a:ea typeface="+mn-ea"/>
        <a:cs typeface="+mn-cs"/>
      </a:defRPr>
    </a:lvl4pPr>
    <a:lvl5pPr marL="1828800" algn="ctr" rtl="0" eaLnBrk="0" fontAlgn="base" hangingPunct="0">
      <a:spcBef>
        <a:spcPct val="0"/>
      </a:spcBef>
      <a:spcAft>
        <a:spcPct val="0"/>
      </a:spcAft>
      <a:defRPr sz="2400" kern="1200">
        <a:solidFill>
          <a:schemeClr val="bg1"/>
        </a:solidFill>
        <a:latin typeface="Arial" charset="0"/>
        <a:ea typeface="+mn-ea"/>
        <a:cs typeface="+mn-cs"/>
      </a:defRPr>
    </a:lvl5pPr>
    <a:lvl6pPr marL="2286000" algn="l" defTabSz="914400" rtl="0" eaLnBrk="1" latinLnBrk="0" hangingPunct="1">
      <a:defRPr sz="2400" kern="1200">
        <a:solidFill>
          <a:schemeClr val="bg1"/>
        </a:solidFill>
        <a:latin typeface="Arial" charset="0"/>
        <a:ea typeface="+mn-ea"/>
        <a:cs typeface="+mn-cs"/>
      </a:defRPr>
    </a:lvl6pPr>
    <a:lvl7pPr marL="2743200" algn="l" defTabSz="914400" rtl="0" eaLnBrk="1" latinLnBrk="0" hangingPunct="1">
      <a:defRPr sz="2400" kern="1200">
        <a:solidFill>
          <a:schemeClr val="bg1"/>
        </a:solidFill>
        <a:latin typeface="Arial" charset="0"/>
        <a:ea typeface="+mn-ea"/>
        <a:cs typeface="+mn-cs"/>
      </a:defRPr>
    </a:lvl7pPr>
    <a:lvl8pPr marL="3200400" algn="l" defTabSz="914400" rtl="0" eaLnBrk="1" latinLnBrk="0" hangingPunct="1">
      <a:defRPr sz="2400" kern="1200">
        <a:solidFill>
          <a:schemeClr val="bg1"/>
        </a:solidFill>
        <a:latin typeface="Arial" charset="0"/>
        <a:ea typeface="+mn-ea"/>
        <a:cs typeface="+mn-cs"/>
      </a:defRPr>
    </a:lvl8pPr>
    <a:lvl9pPr marL="3657600" algn="l" defTabSz="914400" rtl="0" eaLnBrk="1" latinLnBrk="0" hangingPunct="1">
      <a:defRPr sz="2400" kern="1200">
        <a:solidFill>
          <a:schemeClr val="bg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AFA"/>
    <a:srgbClr val="FF00AA"/>
    <a:srgbClr val="00AAFF"/>
    <a:srgbClr val="FFAA00"/>
    <a:srgbClr val="1A1A1A"/>
    <a:srgbClr val="411E00"/>
    <a:srgbClr val="CC0000"/>
    <a:srgbClr val="000000"/>
    <a:srgbClr val="FF0066"/>
    <a:srgbClr val="63C4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26" autoAdjust="0"/>
    <p:restoredTop sz="89844" autoAdjust="0"/>
  </p:normalViewPr>
  <p:slideViewPr>
    <p:cSldViewPr>
      <p:cViewPr varScale="1">
        <p:scale>
          <a:sx n="76" d="100"/>
          <a:sy n="76" d="100"/>
        </p:scale>
        <p:origin x="1373" y="67"/>
      </p:cViewPr>
      <p:guideLst>
        <p:guide orient="horz" pos="2160"/>
        <p:guide pos="2880"/>
      </p:guideLst>
    </p:cSldViewPr>
  </p:slideViewPr>
  <p:outlineViewPr>
    <p:cViewPr>
      <p:scale>
        <a:sx n="33" d="100"/>
        <a:sy n="33" d="100"/>
      </p:scale>
      <p:origin x="0" y="7182"/>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2880"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69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6691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defRPr>
            </a:lvl1pPr>
          </a:lstStyle>
          <a:p>
            <a:pPr>
              <a:defRPr/>
            </a:pPr>
            <a:endParaRPr lang="en-US"/>
          </a:p>
        </p:txBody>
      </p:sp>
      <p:sp>
        <p:nvSpPr>
          <p:cNvPr id="16691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6691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9E2B97F0-33F1-4001-BBE2-6DA117D757A1}" type="slidenum">
              <a:rPr lang="en-US"/>
              <a:pPr>
                <a:defRPr/>
              </a:pPr>
              <a:t>‹#›</a:t>
            </a:fld>
            <a:endParaRPr lang="en-US"/>
          </a:p>
        </p:txBody>
      </p:sp>
    </p:spTree>
    <p:extLst>
      <p:ext uri="{BB962C8B-B14F-4D97-AF65-F5344CB8AC3E}">
        <p14:creationId xmlns:p14="http://schemas.microsoft.com/office/powerpoint/2010/main" val="1476888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33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defRPr>
            </a:lvl1pPr>
          </a:lstStyle>
          <a:p>
            <a:pPr>
              <a:defRPr/>
            </a:pPr>
            <a:endParaRPr lang="en-US"/>
          </a:p>
        </p:txBody>
      </p:sp>
      <p:sp>
        <p:nvSpPr>
          <p:cNvPr id="430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33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33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03222506-91B9-4608-A17B-3DCA2CD2D529}" type="slidenum">
              <a:rPr lang="en-US"/>
              <a:pPr>
                <a:defRPr/>
              </a:pPr>
              <a:t>‹#›</a:t>
            </a:fld>
            <a:endParaRPr lang="en-US"/>
          </a:p>
        </p:txBody>
      </p:sp>
    </p:spTree>
    <p:extLst>
      <p:ext uri="{BB962C8B-B14F-4D97-AF65-F5344CB8AC3E}">
        <p14:creationId xmlns:p14="http://schemas.microsoft.com/office/powerpoint/2010/main" val="40677649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a:spLocks noChangeArrowheads="1"/>
          </p:cNvSpPr>
          <p:nvPr/>
        </p:nvSpPr>
        <p:spPr bwMode="gray">
          <a:xfrm>
            <a:off x="8004175" y="0"/>
            <a:ext cx="1139825" cy="6858000"/>
          </a:xfrm>
          <a:prstGeom prst="rect">
            <a:avLst/>
          </a:prstGeom>
          <a:solidFill>
            <a:schemeClr val="bg2">
              <a:alpha val="39999"/>
            </a:schemeClr>
          </a:solidFill>
          <a:ln w="9525">
            <a:noFill/>
            <a:miter lim="800000"/>
            <a:headEnd/>
            <a:tailEnd/>
          </a:ln>
          <a:effectLst/>
        </p:spPr>
        <p:txBody>
          <a:bodyPr wrap="none" anchor="ctr"/>
          <a:lstStyle/>
          <a:p>
            <a:pPr>
              <a:defRPr/>
            </a:pPr>
            <a:endParaRPr lang="en-US"/>
          </a:p>
        </p:txBody>
      </p:sp>
      <p:sp>
        <p:nvSpPr>
          <p:cNvPr id="5" name="Rectangle 4"/>
          <p:cNvSpPr>
            <a:spLocks noChangeArrowheads="1"/>
          </p:cNvSpPr>
          <p:nvPr/>
        </p:nvSpPr>
        <p:spPr bwMode="white">
          <a:xfrm>
            <a:off x="0" y="4638675"/>
            <a:ext cx="9144000" cy="2219325"/>
          </a:xfrm>
          <a:prstGeom prst="rect">
            <a:avLst/>
          </a:prstGeom>
          <a:solidFill>
            <a:schemeClr val="folHlink">
              <a:alpha val="31000"/>
            </a:schemeClr>
          </a:solidFill>
          <a:ln w="9525">
            <a:noFill/>
            <a:miter lim="800000"/>
            <a:headEnd/>
            <a:tailEnd/>
          </a:ln>
          <a:effectLst/>
        </p:spPr>
        <p:txBody>
          <a:bodyPr wrap="none" anchor="ctr"/>
          <a:lstStyle/>
          <a:p>
            <a:pPr>
              <a:defRPr/>
            </a:pPr>
            <a:endParaRPr lang="en-US"/>
          </a:p>
        </p:txBody>
      </p:sp>
      <p:sp>
        <p:nvSpPr>
          <p:cNvPr id="6" name="Rectangle 5"/>
          <p:cNvSpPr>
            <a:spLocks noChangeArrowheads="1"/>
          </p:cNvSpPr>
          <p:nvPr/>
        </p:nvSpPr>
        <p:spPr bwMode="gray">
          <a:xfrm>
            <a:off x="0" y="2149475"/>
            <a:ext cx="9144000" cy="2498725"/>
          </a:xfrm>
          <a:prstGeom prst="rect">
            <a:avLst/>
          </a:prstGeom>
          <a:solidFill>
            <a:schemeClr val="tx1"/>
          </a:solidFill>
          <a:ln w="9525">
            <a:noFill/>
            <a:miter lim="800000"/>
            <a:headEnd/>
            <a:tailEnd/>
          </a:ln>
          <a:effectLst/>
        </p:spPr>
        <p:txBody>
          <a:bodyPr wrap="none" anchor="ctr"/>
          <a:lstStyle/>
          <a:p>
            <a:pPr>
              <a:defRPr/>
            </a:pPr>
            <a:endParaRPr lang="en-US"/>
          </a:p>
        </p:txBody>
      </p:sp>
      <p:sp>
        <p:nvSpPr>
          <p:cNvPr id="7" name="Freeform 6"/>
          <p:cNvSpPr>
            <a:spLocks/>
          </p:cNvSpPr>
          <p:nvPr/>
        </p:nvSpPr>
        <p:spPr bwMode="gray">
          <a:xfrm>
            <a:off x="-9525" y="2138363"/>
            <a:ext cx="8015288" cy="2271712"/>
          </a:xfrm>
          <a:custGeom>
            <a:avLst/>
            <a:gdLst/>
            <a:ahLst/>
            <a:cxnLst>
              <a:cxn ang="0">
                <a:pos x="0" y="0"/>
              </a:cxn>
              <a:cxn ang="0">
                <a:pos x="5049" y="2"/>
              </a:cxn>
              <a:cxn ang="0">
                <a:pos x="5048" y="1458"/>
              </a:cxn>
              <a:cxn ang="0">
                <a:pos x="0" y="1471"/>
              </a:cxn>
              <a:cxn ang="0">
                <a:pos x="0" y="0"/>
              </a:cxn>
            </a:cxnLst>
            <a:rect l="0" t="0" r="r" b="b"/>
            <a:pathLst>
              <a:path w="5049" h="1471">
                <a:moveTo>
                  <a:pt x="0" y="0"/>
                </a:moveTo>
                <a:lnTo>
                  <a:pt x="5049" y="2"/>
                </a:lnTo>
                <a:lnTo>
                  <a:pt x="5048" y="1458"/>
                </a:lnTo>
                <a:lnTo>
                  <a:pt x="0" y="1471"/>
                </a:lnTo>
                <a:lnTo>
                  <a:pt x="0" y="0"/>
                </a:lnTo>
                <a:close/>
              </a:path>
            </a:pathLst>
          </a:custGeom>
          <a:solidFill>
            <a:schemeClr val="folHlink">
              <a:alpha val="73000"/>
            </a:schemeClr>
          </a:solidFill>
          <a:ln w="9525">
            <a:noFill/>
            <a:round/>
            <a:headEnd/>
            <a:tailEnd/>
          </a:ln>
          <a:effectLst/>
        </p:spPr>
        <p:txBody>
          <a:bodyPr/>
          <a:lstStyle/>
          <a:p>
            <a:pPr>
              <a:defRPr/>
            </a:pPr>
            <a:endParaRPr lang="en-US"/>
          </a:p>
        </p:txBody>
      </p:sp>
      <p:sp>
        <p:nvSpPr>
          <p:cNvPr id="8" name="AutoShape 21"/>
          <p:cNvSpPr>
            <a:spLocks noChangeArrowheads="1"/>
          </p:cNvSpPr>
          <p:nvPr/>
        </p:nvSpPr>
        <p:spPr bwMode="gray">
          <a:xfrm>
            <a:off x="7696200" y="594360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9" name="AutoShape 22"/>
          <p:cNvSpPr>
            <a:spLocks noChangeArrowheads="1"/>
          </p:cNvSpPr>
          <p:nvPr/>
        </p:nvSpPr>
        <p:spPr bwMode="gray">
          <a:xfrm>
            <a:off x="8229600" y="563880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10" name="AutoShape 23"/>
          <p:cNvSpPr>
            <a:spLocks noChangeArrowheads="1"/>
          </p:cNvSpPr>
          <p:nvPr/>
        </p:nvSpPr>
        <p:spPr bwMode="gray">
          <a:xfrm>
            <a:off x="8220075" y="622935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11" name="Text Box 14"/>
          <p:cNvSpPr txBox="1">
            <a:spLocks noChangeArrowheads="1"/>
          </p:cNvSpPr>
          <p:nvPr/>
        </p:nvSpPr>
        <p:spPr bwMode="auto">
          <a:xfrm>
            <a:off x="304800" y="228600"/>
            <a:ext cx="1447800" cy="519113"/>
          </a:xfrm>
          <a:prstGeom prst="rect">
            <a:avLst/>
          </a:prstGeom>
          <a:noFill/>
          <a:ln w="9525">
            <a:noFill/>
            <a:miter lim="800000"/>
            <a:headEnd/>
            <a:tailEnd/>
          </a:ln>
          <a:effectLst/>
        </p:spPr>
        <p:txBody>
          <a:bodyPr>
            <a:spAutoFit/>
          </a:bodyPr>
          <a:lstStyle/>
          <a:p>
            <a:pPr eaLnBrk="1" hangingPunct="1">
              <a:defRPr/>
            </a:pPr>
            <a:r>
              <a:rPr lang="en-US" sz="2800" b="1">
                <a:solidFill>
                  <a:schemeClr val="tx2"/>
                </a:solidFill>
                <a:latin typeface="Verdana" pitchFamily="34" charset="0"/>
              </a:rPr>
              <a:t>LOGO</a:t>
            </a:r>
          </a:p>
        </p:txBody>
      </p:sp>
      <p:grpSp>
        <p:nvGrpSpPr>
          <p:cNvPr id="12" name="Group 116"/>
          <p:cNvGrpSpPr>
            <a:grpSpLocks/>
          </p:cNvGrpSpPr>
          <p:nvPr/>
        </p:nvGrpSpPr>
        <p:grpSpPr bwMode="auto">
          <a:xfrm>
            <a:off x="190500" y="2324100"/>
            <a:ext cx="3276600" cy="3314700"/>
            <a:chOff x="120" y="1464"/>
            <a:chExt cx="2064" cy="2088"/>
          </a:xfrm>
        </p:grpSpPr>
        <p:sp>
          <p:nvSpPr>
            <p:cNvPr id="13" name="AutoShape 113" descr="gdd01"/>
            <p:cNvSpPr>
              <a:spLocks noChangeArrowheads="1"/>
            </p:cNvSpPr>
            <p:nvPr userDrawn="1"/>
          </p:nvSpPr>
          <p:spPr bwMode="gray">
            <a:xfrm>
              <a:off x="120" y="1992"/>
              <a:ext cx="1104" cy="1008"/>
            </a:xfrm>
            <a:prstGeom prst="hexagon">
              <a:avLst>
                <a:gd name="adj" fmla="val 27381"/>
                <a:gd name="vf" fmla="val 115470"/>
              </a:avLst>
            </a:prstGeom>
            <a:blipFill dpi="0" rotWithShape="1">
              <a:blip r:embed="rId2"/>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sp>
          <p:nvSpPr>
            <p:cNvPr id="14" name="AutoShape 114" descr="gdd04"/>
            <p:cNvSpPr>
              <a:spLocks noChangeArrowheads="1"/>
            </p:cNvSpPr>
            <p:nvPr userDrawn="1"/>
          </p:nvSpPr>
          <p:spPr bwMode="gray">
            <a:xfrm>
              <a:off x="1032" y="1464"/>
              <a:ext cx="1152" cy="1008"/>
            </a:xfrm>
            <a:prstGeom prst="hexagon">
              <a:avLst>
                <a:gd name="adj" fmla="val 28571"/>
                <a:gd name="vf" fmla="val 115470"/>
              </a:avLst>
            </a:prstGeom>
            <a:blipFill dpi="0" rotWithShape="1">
              <a:blip r:embed="rId3"/>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sp>
          <p:nvSpPr>
            <p:cNvPr id="15" name="AutoShape 115" descr="gdd03"/>
            <p:cNvSpPr>
              <a:spLocks noChangeArrowheads="1"/>
            </p:cNvSpPr>
            <p:nvPr userDrawn="1"/>
          </p:nvSpPr>
          <p:spPr bwMode="gray">
            <a:xfrm>
              <a:off x="1008" y="2544"/>
              <a:ext cx="1152" cy="1008"/>
            </a:xfrm>
            <a:prstGeom prst="hexagon">
              <a:avLst>
                <a:gd name="adj" fmla="val 28571"/>
                <a:gd name="vf" fmla="val 115470"/>
              </a:avLst>
            </a:prstGeom>
            <a:blipFill dpi="0" rotWithShape="1">
              <a:blip r:embed="rId4"/>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grpSp>
      <p:sp>
        <p:nvSpPr>
          <p:cNvPr id="3074" name="Rectangle 2"/>
          <p:cNvSpPr>
            <a:spLocks noGrp="1" noChangeArrowheads="1"/>
          </p:cNvSpPr>
          <p:nvPr>
            <p:ph type="ctrTitle"/>
          </p:nvPr>
        </p:nvSpPr>
        <p:spPr bwMode="gray">
          <a:xfrm>
            <a:off x="1143000" y="990600"/>
            <a:ext cx="6705600" cy="1012825"/>
          </a:xfrm>
        </p:spPr>
        <p:txBody>
          <a:bodyPr/>
          <a:lstStyle>
            <a:lvl1pPr algn="ctr">
              <a:defRPr sz="3600" b="1">
                <a:solidFill>
                  <a:schemeClr val="tx2"/>
                </a:solidFill>
              </a:defRPr>
            </a:lvl1pPr>
          </a:lstStyle>
          <a:p>
            <a:r>
              <a:rPr lang="en-US"/>
              <a:t>Click to edit Master title style</a:t>
            </a:r>
          </a:p>
        </p:txBody>
      </p:sp>
      <p:sp>
        <p:nvSpPr>
          <p:cNvPr id="3075" name="Rectangle 3"/>
          <p:cNvSpPr>
            <a:spLocks noGrp="1" noChangeArrowheads="1"/>
          </p:cNvSpPr>
          <p:nvPr>
            <p:ph type="subTitle" idx="1"/>
          </p:nvPr>
        </p:nvSpPr>
        <p:spPr bwMode="white">
          <a:xfrm>
            <a:off x="3505200" y="2971800"/>
            <a:ext cx="4343400" cy="685800"/>
          </a:xfrm>
        </p:spPr>
        <p:txBody>
          <a:bodyPr/>
          <a:lstStyle>
            <a:lvl1pPr marL="0" indent="0" algn="r">
              <a:buFont typeface="Wingdings" pitchFamily="2" charset="2"/>
              <a:buNone/>
              <a:defRPr sz="1600">
                <a:solidFill>
                  <a:schemeClr val="bg1"/>
                </a:solidFill>
              </a:defRPr>
            </a:lvl1pPr>
          </a:lstStyle>
          <a:p>
            <a:r>
              <a:rPr lang="en-US"/>
              <a:t>Click to edit Master subtitle style</a:t>
            </a:r>
          </a:p>
        </p:txBody>
      </p:sp>
      <p:sp>
        <p:nvSpPr>
          <p:cNvPr id="16" name="Rectangle 4"/>
          <p:cNvSpPr>
            <a:spLocks noGrp="1" noChangeArrowheads="1"/>
          </p:cNvSpPr>
          <p:nvPr>
            <p:ph type="dt" sz="half" idx="10"/>
          </p:nvPr>
        </p:nvSpPr>
        <p:spPr>
          <a:xfrm>
            <a:off x="3352800" y="6553200"/>
            <a:ext cx="2133600" cy="152400"/>
          </a:xfrm>
        </p:spPr>
        <p:txBody>
          <a:bodyPr/>
          <a:lstStyle>
            <a:lvl1pPr algn="r">
              <a:defRPr sz="1000">
                <a:solidFill>
                  <a:schemeClr val="tx2"/>
                </a:solidFill>
                <a:latin typeface="+mn-lt"/>
              </a:defRPr>
            </a:lvl1pPr>
          </a:lstStyle>
          <a:p>
            <a:pPr>
              <a:defRPr/>
            </a:pPr>
            <a:r>
              <a:rPr lang="en-US"/>
              <a:t>Khoa CNTT - UNETI</a:t>
            </a:r>
          </a:p>
        </p:txBody>
      </p:sp>
      <p:sp>
        <p:nvSpPr>
          <p:cNvPr id="17" name="Rectangle 5"/>
          <p:cNvSpPr>
            <a:spLocks noGrp="1" noChangeArrowheads="1"/>
          </p:cNvSpPr>
          <p:nvPr>
            <p:ph type="ftr" sz="quarter" idx="11"/>
          </p:nvPr>
        </p:nvSpPr>
        <p:spPr>
          <a:xfrm>
            <a:off x="304800" y="6477000"/>
            <a:ext cx="2590800" cy="228600"/>
          </a:xfrm>
        </p:spPr>
        <p:txBody>
          <a:bodyPr/>
          <a:lstStyle>
            <a:lvl1pPr algn="ctr">
              <a:defRPr sz="1200">
                <a:solidFill>
                  <a:schemeClr val="tx2"/>
                </a:solidFill>
                <a:latin typeface="Arial" charset="0"/>
              </a:defRPr>
            </a:lvl1pPr>
          </a:lstStyle>
          <a:p>
            <a:pPr>
              <a:defRPr/>
            </a:pPr>
            <a:endParaRPr lang="en-US"/>
          </a:p>
        </p:txBody>
      </p:sp>
      <p:sp>
        <p:nvSpPr>
          <p:cNvPr id="18" name="Rectangle 6"/>
          <p:cNvSpPr>
            <a:spLocks noGrp="1" noChangeArrowheads="1"/>
          </p:cNvSpPr>
          <p:nvPr>
            <p:ph type="sldNum" sz="quarter" idx="12"/>
          </p:nvPr>
        </p:nvSpPr>
        <p:spPr>
          <a:xfrm>
            <a:off x="8210550" y="6467475"/>
            <a:ext cx="533400" cy="244475"/>
          </a:xfrm>
        </p:spPr>
        <p:txBody>
          <a:bodyPr/>
          <a:lstStyle>
            <a:lvl1pPr>
              <a:defRPr sz="1200">
                <a:latin typeface="Arial" charset="0"/>
              </a:defRPr>
            </a:lvl1pPr>
          </a:lstStyle>
          <a:p>
            <a:pPr>
              <a:defRPr/>
            </a:pPr>
            <a:fld id="{C6D4949A-6AB1-4FC2-9B68-AD4CBDC61541}"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6"/>
          <p:cNvSpPr>
            <a:spLocks noGrp="1" noChangeArrowheads="1"/>
          </p:cNvSpPr>
          <p:nvPr>
            <p:ph type="sldNum" sz="quarter" idx="12"/>
          </p:nvPr>
        </p:nvSpPr>
        <p:spPr>
          <a:ln/>
        </p:spPr>
        <p:txBody>
          <a:bodyPr/>
          <a:lstStyle>
            <a:lvl1pPr>
              <a:defRPr/>
            </a:lvl1pPr>
          </a:lstStyle>
          <a:p>
            <a:pPr>
              <a:defRPr/>
            </a:pPr>
            <a:fld id="{38F16FD5-974A-40BB-8233-36E86F2AA73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2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6"/>
          <p:cNvSpPr>
            <a:spLocks noGrp="1" noChangeArrowheads="1"/>
          </p:cNvSpPr>
          <p:nvPr>
            <p:ph type="sldNum" sz="quarter" idx="12"/>
          </p:nvPr>
        </p:nvSpPr>
        <p:spPr>
          <a:ln/>
        </p:spPr>
        <p:txBody>
          <a:bodyPr/>
          <a:lstStyle>
            <a:lvl1pPr>
              <a:defRPr sz="1400">
                <a:solidFill>
                  <a:srgbClr val="002060"/>
                </a:solidFill>
              </a:defRPr>
            </a:lvl1pPr>
          </a:lstStyle>
          <a:p>
            <a:pPr>
              <a:defRPr/>
            </a:pPr>
            <a:fld id="{38F16FD5-974A-40BB-8233-36E86F2AA732}" type="slidenum">
              <a:rPr lang="en-US" smtClean="0"/>
              <a:pPr>
                <a:defRPr/>
              </a:pPr>
              <a:t>‹#›</a:t>
            </a:fld>
            <a:endParaRPr lang="en-US"/>
          </a:p>
        </p:txBody>
      </p:sp>
    </p:spTree>
    <p:extLst>
      <p:ext uri="{BB962C8B-B14F-4D97-AF65-F5344CB8AC3E}">
        <p14:creationId xmlns:p14="http://schemas.microsoft.com/office/powerpoint/2010/main" val="2416010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FA5E583-F5BB-4A7C-968E-806973EDB114}"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6EADD87-5DE4-4FC8-9754-98A33C5556A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09FAD1ED-0F27-4714-8A61-3EA2C1E8813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CB3A908F-56BE-4858-AD2D-1A4CAAE951CC}"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1136BFC-504A-480F-875D-D2CFCCA5FFC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CC38E81-E6E1-4595-9BE0-D4ED4704EBC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76259F6-250F-48F2-A908-7B59FD9010F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513BACE-ADF4-4A55-8B8C-495A02FEA026}"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943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81000"/>
            <a:ext cx="6019800" cy="5943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5B9936B-AF50-4F83-B203-9D59168E1E35}"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sp>
        <p:nvSpPr>
          <p:cNvPr id="17" name="Shape 17"/>
          <p:cNvSpPr>
            <a:spLocks noGrp="1"/>
          </p:cNvSpPr>
          <p:nvPr>
            <p:ph type="sldNum" sz="quarter" idx="2"/>
          </p:nvPr>
        </p:nvSpPr>
        <p:spPr>
          <a:xfrm>
            <a:off x="8226244" y="6475414"/>
            <a:ext cx="245404" cy="226986"/>
          </a:xfrm>
          <a:prstGeom prst="rect">
            <a:avLst/>
          </a:prstGeom>
        </p:spPr>
        <p:txBody>
          <a:bodyPr/>
          <a:lstStyle/>
          <a:p>
            <a:fld id="{86CB4B4D-7CA3-9044-876B-883B54F8677D}" type="slidenum">
              <a:rPr/>
              <a:t>‹#›</a:t>
            </a:fld>
            <a:endParaRPr/>
          </a:p>
        </p:txBody>
      </p:sp>
      <p:sp>
        <p:nvSpPr>
          <p:cNvPr id="3" name="Text Placeholder 2"/>
          <p:cNvSpPr>
            <a:spLocks noGrp="1"/>
          </p:cNvSpPr>
          <p:nvPr>
            <p:ph type="body" sz="quarter" idx="10" hasCustomPrompt="1"/>
          </p:nvPr>
        </p:nvSpPr>
        <p:spPr>
          <a:xfrm>
            <a:off x="914399" y="6475414"/>
            <a:ext cx="3294530" cy="234668"/>
          </a:xfrm>
        </p:spPr>
        <p:txBody>
          <a:bodyPr/>
          <a:lstStyle>
            <a:lvl1pPr marL="0" indent="0">
              <a:buNone/>
              <a:defRPr sz="1400" baseline="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err="1"/>
              <a:t>Khoa</a:t>
            </a:r>
            <a:r>
              <a:rPr lang="en-US" dirty="0"/>
              <a:t> </a:t>
            </a:r>
            <a:r>
              <a:rPr lang="en-US" dirty="0" err="1"/>
              <a:t>Công</a:t>
            </a:r>
            <a:r>
              <a:rPr lang="en-US" dirty="0"/>
              <a:t> </a:t>
            </a:r>
            <a:r>
              <a:rPr lang="en-US" dirty="0" err="1"/>
              <a:t>nghệ</a:t>
            </a:r>
            <a:r>
              <a:rPr lang="en-US" dirty="0"/>
              <a:t> </a:t>
            </a:r>
            <a:r>
              <a:rPr lang="en-US" dirty="0" err="1"/>
              <a:t>thông</a:t>
            </a:r>
            <a:r>
              <a:rPr lang="en-US" dirty="0"/>
              <a:t> tin - </a:t>
            </a:r>
            <a:r>
              <a:rPr lang="en-US" dirty="0" err="1"/>
              <a:t>Uneti</a:t>
            </a:r>
            <a:endParaRPr lang="en-US" dirty="0"/>
          </a:p>
        </p:txBody>
      </p:sp>
    </p:spTree>
    <p:extLst>
      <p:ext uri="{BB962C8B-B14F-4D97-AF65-F5344CB8AC3E}">
        <p14:creationId xmlns:p14="http://schemas.microsoft.com/office/powerpoint/2010/main" val="253966929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Freeform 15"/>
          <p:cNvSpPr>
            <a:spLocks/>
          </p:cNvSpPr>
          <p:nvPr/>
        </p:nvSpPr>
        <p:spPr bwMode="gray">
          <a:xfrm>
            <a:off x="-9525" y="344488"/>
            <a:ext cx="8194675" cy="633412"/>
          </a:xfrm>
          <a:custGeom>
            <a:avLst/>
            <a:gdLst/>
            <a:ahLst/>
            <a:cxnLst>
              <a:cxn ang="0">
                <a:pos x="0" y="0"/>
              </a:cxn>
              <a:cxn ang="0">
                <a:pos x="5049" y="2"/>
              </a:cxn>
              <a:cxn ang="0">
                <a:pos x="5048" y="1458"/>
              </a:cxn>
              <a:cxn ang="0">
                <a:pos x="0" y="1471"/>
              </a:cxn>
              <a:cxn ang="0">
                <a:pos x="0" y="0"/>
              </a:cxn>
            </a:cxnLst>
            <a:rect l="0" t="0" r="r" b="b"/>
            <a:pathLst>
              <a:path w="5049" h="1471">
                <a:moveTo>
                  <a:pt x="0" y="0"/>
                </a:moveTo>
                <a:lnTo>
                  <a:pt x="5049" y="2"/>
                </a:lnTo>
                <a:lnTo>
                  <a:pt x="5048" y="1458"/>
                </a:lnTo>
                <a:lnTo>
                  <a:pt x="0" y="1471"/>
                </a:lnTo>
                <a:lnTo>
                  <a:pt x="0" y="0"/>
                </a:lnTo>
                <a:close/>
              </a:path>
            </a:pathLst>
          </a:custGeom>
          <a:solidFill>
            <a:schemeClr val="tx2"/>
          </a:solidFill>
          <a:ln w="9525">
            <a:noFill/>
            <a:round/>
            <a:headEnd/>
            <a:tailEnd/>
          </a:ln>
          <a:effectLst/>
        </p:spPr>
        <p:txBody>
          <a:bodyPr/>
          <a:lstStyle/>
          <a:p>
            <a:pPr>
              <a:defRPr/>
            </a:pPr>
            <a:endParaRPr lang="en-US"/>
          </a:p>
        </p:txBody>
      </p:sp>
      <p:grpSp>
        <p:nvGrpSpPr>
          <p:cNvPr id="1027" name="Group 16"/>
          <p:cNvGrpSpPr>
            <a:grpSpLocks/>
          </p:cNvGrpSpPr>
          <p:nvPr/>
        </p:nvGrpSpPr>
        <p:grpSpPr bwMode="auto">
          <a:xfrm>
            <a:off x="8153400" y="0"/>
            <a:ext cx="990600" cy="6858000"/>
            <a:chOff x="5040" y="0"/>
            <a:chExt cx="720" cy="4320"/>
          </a:xfrm>
        </p:grpSpPr>
        <p:sp>
          <p:nvSpPr>
            <p:cNvPr id="1041" name="Rectangle 17"/>
            <p:cNvSpPr>
              <a:spLocks noChangeArrowheads="1"/>
            </p:cNvSpPr>
            <p:nvPr/>
          </p:nvSpPr>
          <p:spPr bwMode="gray">
            <a:xfrm>
              <a:off x="5042" y="0"/>
              <a:ext cx="718" cy="4320"/>
            </a:xfrm>
            <a:prstGeom prst="rect">
              <a:avLst/>
            </a:prstGeom>
            <a:solidFill>
              <a:schemeClr val="folHlink">
                <a:alpha val="39999"/>
              </a:schemeClr>
            </a:solidFill>
            <a:ln w="9525">
              <a:noFill/>
              <a:miter lim="800000"/>
              <a:headEnd/>
              <a:tailEnd/>
            </a:ln>
            <a:effectLst/>
          </p:spPr>
          <p:txBody>
            <a:bodyPr wrap="none" anchor="ctr"/>
            <a:lstStyle/>
            <a:p>
              <a:pPr>
                <a:defRPr/>
              </a:pPr>
              <a:endParaRPr lang="en-US"/>
            </a:p>
          </p:txBody>
        </p:sp>
        <p:sp>
          <p:nvSpPr>
            <p:cNvPr id="1042" name="Rectangle 18"/>
            <p:cNvSpPr>
              <a:spLocks noChangeArrowheads="1"/>
            </p:cNvSpPr>
            <p:nvPr/>
          </p:nvSpPr>
          <p:spPr bwMode="gray">
            <a:xfrm>
              <a:off x="5040" y="219"/>
              <a:ext cx="720" cy="393"/>
            </a:xfrm>
            <a:prstGeom prst="rect">
              <a:avLst/>
            </a:prstGeom>
            <a:solidFill>
              <a:schemeClr val="tx1"/>
            </a:solidFill>
            <a:ln w="9525">
              <a:noFill/>
              <a:miter lim="800000"/>
              <a:headEnd/>
              <a:tailEnd/>
            </a:ln>
            <a:effectLst/>
          </p:spPr>
          <p:txBody>
            <a:bodyPr wrap="none" anchor="ctr"/>
            <a:lstStyle/>
            <a:p>
              <a:pPr>
                <a:defRPr/>
              </a:pPr>
              <a:endParaRPr lang="en-US"/>
            </a:p>
          </p:txBody>
        </p:sp>
      </p:grpSp>
      <p:sp>
        <p:nvSpPr>
          <p:cNvPr id="1043" name="AutoShape 19"/>
          <p:cNvSpPr>
            <a:spLocks noChangeArrowheads="1"/>
          </p:cNvSpPr>
          <p:nvPr/>
        </p:nvSpPr>
        <p:spPr bwMode="gray">
          <a:xfrm>
            <a:off x="7696200" y="594360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44" name="AutoShape 20"/>
          <p:cNvSpPr>
            <a:spLocks noChangeArrowheads="1"/>
          </p:cNvSpPr>
          <p:nvPr/>
        </p:nvSpPr>
        <p:spPr bwMode="gray">
          <a:xfrm>
            <a:off x="8229600" y="563880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45" name="AutoShape 21"/>
          <p:cNvSpPr>
            <a:spLocks noChangeArrowheads="1"/>
          </p:cNvSpPr>
          <p:nvPr/>
        </p:nvSpPr>
        <p:spPr bwMode="gray">
          <a:xfrm>
            <a:off x="8220075" y="622935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31" name="Rectangle 3"/>
          <p:cNvSpPr>
            <a:spLocks noGrp="1" noChangeArrowheads="1"/>
          </p:cNvSpPr>
          <p:nvPr>
            <p:ph type="body" idx="1"/>
          </p:nvPr>
        </p:nvSpPr>
        <p:spPr bwMode="auto">
          <a:xfrm>
            <a:off x="457200" y="1076325"/>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519863"/>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a:solidFill>
                  <a:schemeClr val="tx1"/>
                </a:solidFill>
              </a:defRPr>
            </a:lvl1pPr>
          </a:lstStyle>
          <a:p>
            <a:pPr>
              <a:defRPr/>
            </a:pPr>
            <a:r>
              <a:rPr lang="en-US"/>
              <a:t>Khoa CNTT - UNETI</a:t>
            </a:r>
          </a:p>
        </p:txBody>
      </p:sp>
      <p:sp>
        <p:nvSpPr>
          <p:cNvPr id="1029" name="Rectangle 5"/>
          <p:cNvSpPr>
            <a:spLocks noGrp="1" noChangeArrowheads="1"/>
          </p:cNvSpPr>
          <p:nvPr>
            <p:ph type="ftr" sz="quarter" idx="3"/>
          </p:nvPr>
        </p:nvSpPr>
        <p:spPr bwMode="auto">
          <a:xfrm>
            <a:off x="5181600" y="6477000"/>
            <a:ext cx="2895600" cy="233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solidFill>
                  <a:schemeClr val="tx1"/>
                </a:solidFill>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8286750" y="6386513"/>
            <a:ext cx="4572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mn-lt"/>
              </a:defRPr>
            </a:lvl1pPr>
          </a:lstStyle>
          <a:p>
            <a:pPr>
              <a:defRPr/>
            </a:pPr>
            <a:fld id="{3DD6941D-3DCA-4DBC-80FB-7A196F783DA7}" type="slidenum">
              <a:rPr lang="en-US"/>
              <a:pPr>
                <a:defRPr/>
              </a:pPr>
              <a:t>‹#›</a:t>
            </a:fld>
            <a:endParaRPr lang="en-US"/>
          </a:p>
        </p:txBody>
      </p:sp>
      <p:grpSp>
        <p:nvGrpSpPr>
          <p:cNvPr id="1035" name="Group 22"/>
          <p:cNvGrpSpPr>
            <a:grpSpLocks/>
          </p:cNvGrpSpPr>
          <p:nvPr/>
        </p:nvGrpSpPr>
        <p:grpSpPr bwMode="auto">
          <a:xfrm>
            <a:off x="152400" y="228600"/>
            <a:ext cx="838200" cy="838200"/>
            <a:chOff x="18" y="144"/>
            <a:chExt cx="510" cy="480"/>
          </a:xfrm>
        </p:grpSpPr>
        <p:sp>
          <p:nvSpPr>
            <p:cNvPr id="1047" name="AutoShape 23"/>
            <p:cNvSpPr>
              <a:spLocks noChangeArrowheads="1"/>
            </p:cNvSpPr>
            <p:nvPr userDrawn="1"/>
          </p:nvSpPr>
          <p:spPr bwMode="gray">
            <a:xfrm>
              <a:off x="18" y="258"/>
              <a:ext cx="288" cy="240"/>
            </a:xfrm>
            <a:prstGeom prst="hexagon">
              <a:avLst>
                <a:gd name="adj" fmla="val 30000"/>
                <a:gd name="vf" fmla="val 115470"/>
              </a:avLst>
            </a:prstGeom>
            <a:solidFill>
              <a:schemeClr val="hlink"/>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sp>
          <p:nvSpPr>
            <p:cNvPr id="1048" name="AutoShape 24"/>
            <p:cNvSpPr>
              <a:spLocks noChangeArrowheads="1"/>
            </p:cNvSpPr>
            <p:nvPr userDrawn="1"/>
          </p:nvSpPr>
          <p:spPr bwMode="gray">
            <a:xfrm>
              <a:off x="240" y="144"/>
              <a:ext cx="288" cy="240"/>
            </a:xfrm>
            <a:prstGeom prst="hexagon">
              <a:avLst>
                <a:gd name="adj" fmla="val 30000"/>
                <a:gd name="vf" fmla="val 115470"/>
              </a:avLst>
            </a:prstGeom>
            <a:solidFill>
              <a:schemeClr val="accent2"/>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sp>
          <p:nvSpPr>
            <p:cNvPr id="1049" name="AutoShape 25"/>
            <p:cNvSpPr>
              <a:spLocks noChangeArrowheads="1"/>
            </p:cNvSpPr>
            <p:nvPr userDrawn="1"/>
          </p:nvSpPr>
          <p:spPr bwMode="gray">
            <a:xfrm>
              <a:off x="240" y="384"/>
              <a:ext cx="288" cy="240"/>
            </a:xfrm>
            <a:prstGeom prst="hexagon">
              <a:avLst>
                <a:gd name="adj" fmla="val 30000"/>
                <a:gd name="vf" fmla="val 115470"/>
              </a:avLst>
            </a:prstGeom>
            <a:solidFill>
              <a:schemeClr val="accent1"/>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grpSp>
      <p:sp>
        <p:nvSpPr>
          <p:cNvPr id="1036" name="Rectangle 2"/>
          <p:cNvSpPr>
            <a:spLocks noGrp="1" noChangeArrowheads="1"/>
          </p:cNvSpPr>
          <p:nvPr>
            <p:ph type="title"/>
          </p:nvPr>
        </p:nvSpPr>
        <p:spPr bwMode="white">
          <a:xfrm>
            <a:off x="1143000" y="381000"/>
            <a:ext cx="6705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3843" r:id="rId1"/>
    <p:sldLayoutId id="2147483833" r:id="rId2"/>
    <p:sldLayoutId id="2147483965"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967" r:id="rId13"/>
  </p:sldLayoutIdLst>
  <p:hf hdr="0" ftr="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p:titleStyle>
    <p:body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sp>
        <p:nvSpPr>
          <p:cNvPr id="6" name="Title 1"/>
          <p:cNvSpPr txBox="1">
            <a:spLocks/>
          </p:cNvSpPr>
          <p:nvPr/>
        </p:nvSpPr>
        <p:spPr bwMode="gray">
          <a:xfrm>
            <a:off x="-76200" y="228600"/>
            <a:ext cx="10210800" cy="762000"/>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chor="ctr"/>
          <a:lstStyle/>
          <a:p>
            <a:pPr>
              <a:defRPr/>
            </a:pPr>
            <a:r>
              <a:rPr lang="en-US" sz="1800" b="1" kern="0">
                <a:solidFill>
                  <a:schemeClr val="tx1"/>
                </a:solidFill>
                <a:latin typeface="+mj-lt"/>
                <a:ea typeface="+mj-ea"/>
                <a:cs typeface="+mj-cs"/>
              </a:rPr>
              <a:t>TRƯỜNG ĐẠI HỌC KINH TẾ KỸ THUẬT CÔNG NGHIỆP</a:t>
            </a:r>
          </a:p>
          <a:p>
            <a:pPr>
              <a:defRPr/>
            </a:pPr>
            <a:r>
              <a:rPr lang="en-US" sz="1800" b="1" kern="0" err="1">
                <a:solidFill>
                  <a:schemeClr val="tx1"/>
                </a:solidFill>
                <a:latin typeface="+mj-lt"/>
                <a:ea typeface="+mj-ea"/>
                <a:cs typeface="+mj-cs"/>
              </a:rPr>
              <a:t>Khoa</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Công</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Nghệ</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Thông</a:t>
            </a:r>
            <a:r>
              <a:rPr lang="en-US" sz="1800" b="1" kern="0">
                <a:solidFill>
                  <a:schemeClr val="tx1"/>
                </a:solidFill>
                <a:latin typeface="+mj-lt"/>
                <a:ea typeface="+mj-ea"/>
                <a:cs typeface="+mj-cs"/>
              </a:rPr>
              <a:t> Tin</a:t>
            </a:r>
          </a:p>
          <a:p>
            <a:pPr>
              <a:defRPr/>
            </a:pPr>
            <a:r>
              <a:rPr lang="en-US" sz="1800" b="1" kern="0">
                <a:solidFill>
                  <a:schemeClr val="tx1"/>
                </a:solidFill>
                <a:latin typeface="+mj-lt"/>
                <a:ea typeface="+mj-ea"/>
                <a:cs typeface="+mj-cs"/>
              </a:rPr>
              <a:t>-------</a:t>
            </a:r>
            <a:r>
              <a:rPr lang="en-US" sz="1800" b="1" kern="0">
                <a:solidFill>
                  <a:schemeClr val="tx1"/>
                </a:solidFill>
                <a:latin typeface="+mj-lt"/>
                <a:ea typeface="+mj-ea"/>
                <a:cs typeface="+mj-cs"/>
                <a:sym typeface="Wingdings"/>
              </a:rPr>
              <a:t></a:t>
            </a:r>
            <a:r>
              <a:rPr lang="en-US" sz="1800" b="1" kern="0">
                <a:solidFill>
                  <a:schemeClr val="tx1"/>
                </a:solidFill>
                <a:latin typeface="+mj-lt"/>
                <a:ea typeface="+mj-ea"/>
                <a:cs typeface="+mj-cs"/>
              </a:rPr>
              <a:t>------</a:t>
            </a:r>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8" name="Rectangle 2"/>
          <p:cNvSpPr txBox="1">
            <a:spLocks noChangeArrowheads="1"/>
          </p:cNvSpPr>
          <p:nvPr/>
        </p:nvSpPr>
        <p:spPr bwMode="gray">
          <a:xfrm>
            <a:off x="2133600" y="1219200"/>
            <a:ext cx="67056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000" b="1" i="0" u="none" strike="noStrike" kern="0" cap="none" spc="0" normalizeH="0" baseline="0" noProof="0">
                <a:ln>
                  <a:noFill/>
                </a:ln>
                <a:solidFill>
                  <a:srgbClr val="FF0000"/>
                </a:solidFill>
                <a:effectLst/>
                <a:uLnTx/>
                <a:uFillTx/>
                <a:latin typeface="+mj-lt"/>
                <a:ea typeface="+mj-ea"/>
                <a:cs typeface="+mj-cs"/>
              </a:rPr>
              <a:t>LẬP TR</a:t>
            </a:r>
            <a:r>
              <a:rPr lang="en-US" sz="4000" b="1" kern="0">
                <a:solidFill>
                  <a:srgbClr val="FF0000"/>
                </a:solidFill>
                <a:latin typeface="+mj-lt"/>
                <a:ea typeface="+mj-ea"/>
                <a:cs typeface="+mj-cs"/>
              </a:rPr>
              <a:t>ÌNH DI ĐỘNG</a:t>
            </a:r>
            <a:endParaRPr kumimoji="0" lang="en-US" sz="4000" b="1" i="0" u="none" strike="noStrike" kern="0" cap="none" spc="0" normalizeH="0" baseline="0" noProof="0">
              <a:ln>
                <a:noFill/>
              </a:ln>
              <a:solidFill>
                <a:srgbClr val="FF0000"/>
              </a:solidFill>
              <a:effectLst/>
              <a:uLnTx/>
              <a:uFillTx/>
              <a:latin typeface="+mj-lt"/>
              <a:ea typeface="+mj-ea"/>
              <a:cs typeface="+mj-cs"/>
            </a:endParaRPr>
          </a:p>
        </p:txBody>
      </p:sp>
      <p:sp>
        <p:nvSpPr>
          <p:cNvPr id="7" name="Shape 43"/>
          <p:cNvSpPr txBox="1">
            <a:spLocks/>
          </p:cNvSpPr>
          <p:nvPr/>
        </p:nvSpPr>
        <p:spPr bwMode="auto">
          <a:xfrm>
            <a:off x="3048000" y="2165888"/>
            <a:ext cx="5334000" cy="2209800"/>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lnSpcReduction="10000"/>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lgn="ctr">
              <a:spcBef>
                <a:spcPts val="900"/>
              </a:spcBef>
              <a:buFont typeface="Wingdings" pitchFamily="2" charset="2"/>
              <a:buNone/>
              <a:defRPr sz="4000" b="1">
                <a:solidFill>
                  <a:srgbClr val="260026"/>
                </a:solidFill>
              </a:defRPr>
            </a:pPr>
            <a:r>
              <a:rPr lang="vi-VN" sz="3600" b="1" kern="0">
                <a:solidFill>
                  <a:schemeClr val="bg1"/>
                </a:solidFill>
              </a:rPr>
              <a:t>CHƯƠNG </a:t>
            </a:r>
            <a:r>
              <a:rPr lang="en-US" sz="3600" b="1" kern="0">
                <a:solidFill>
                  <a:schemeClr val="bg1"/>
                </a:solidFill>
              </a:rPr>
              <a:t>3: LẬP TRÌNH USER INTERFACE TRONG ANDROID STUDIO</a:t>
            </a:r>
            <a:endParaRPr lang="vi-VN" sz="3600" b="1" kern="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81000"/>
            <a:ext cx="8458200" cy="563563"/>
          </a:xfrm>
        </p:spPr>
        <p:txBody>
          <a:bodyPr/>
          <a:lstStyle/>
          <a:p>
            <a:r>
              <a:rPr lang="en-US" sz="2400" b="1" err="1"/>
              <a:t>Chương</a:t>
            </a:r>
            <a:r>
              <a:rPr lang="en-US" sz="2400" b="1"/>
              <a:t> 1 – </a:t>
            </a:r>
            <a:r>
              <a:rPr lang="en-US" sz="2400" b="1" err="1"/>
              <a:t>Tổng</a:t>
            </a:r>
            <a:r>
              <a:rPr lang="en-US" sz="2400" b="1"/>
              <a:t> </a:t>
            </a:r>
            <a:r>
              <a:rPr lang="en-US" sz="2400" b="1" err="1"/>
              <a:t>quan</a:t>
            </a:r>
            <a:r>
              <a:rPr lang="en-US" sz="2400" b="1"/>
              <a:t> </a:t>
            </a:r>
            <a:r>
              <a:rPr lang="en-US" sz="2400" b="1" err="1"/>
              <a:t>về</a:t>
            </a:r>
            <a:r>
              <a:rPr lang="en-US" sz="2400" b="1"/>
              <a:t> </a:t>
            </a:r>
            <a:r>
              <a:rPr lang="en-US" sz="2400" b="1" err="1"/>
              <a:t>lập</a:t>
            </a:r>
            <a:r>
              <a:rPr lang="en-US" sz="2400" b="1"/>
              <a:t> </a:t>
            </a:r>
            <a:r>
              <a:rPr lang="en-US" sz="2400" b="1" err="1"/>
              <a:t>trình</a:t>
            </a:r>
            <a:r>
              <a:rPr lang="en-US" sz="2400" b="1"/>
              <a:t> Android</a:t>
            </a:r>
          </a:p>
        </p:txBody>
      </p:sp>
      <p:sp>
        <p:nvSpPr>
          <p:cNvPr id="19" name="Line 13"/>
          <p:cNvSpPr>
            <a:spLocks noChangeShapeType="1"/>
          </p:cNvSpPr>
          <p:nvPr/>
        </p:nvSpPr>
        <p:spPr bwMode="gray">
          <a:xfrm>
            <a:off x="1830001" y="4492628"/>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30" name="Rectangle 14"/>
          <p:cNvSpPr>
            <a:spLocks noChangeArrowheads="1"/>
          </p:cNvSpPr>
          <p:nvPr/>
        </p:nvSpPr>
        <p:spPr bwMode="gray">
          <a:xfrm rot="3419336">
            <a:off x="1545838" y="3916366"/>
            <a:ext cx="479425" cy="520700"/>
          </a:xfrm>
          <a:prstGeom prst="rect">
            <a:avLst/>
          </a:prstGeom>
          <a:gradFill rotWithShape="1">
            <a:gsLst>
              <a:gs pos="0">
                <a:schemeClr val="folHlink"/>
              </a:gs>
              <a:gs pos="100000">
                <a:schemeClr val="folHlink">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folHlink"/>
            </a:extrusionClr>
          </a:sp3d>
        </p:spPr>
        <p:txBody>
          <a:bodyPr wrap="none" anchor="ctr">
            <a:flatTx/>
          </a:bodyPr>
          <a:lstStyle/>
          <a:p>
            <a:endParaRPr lang="en-US"/>
          </a:p>
        </p:txBody>
      </p:sp>
      <p:sp>
        <p:nvSpPr>
          <p:cNvPr id="31" name="Text Box 15"/>
          <p:cNvSpPr txBox="1">
            <a:spLocks noChangeArrowheads="1"/>
          </p:cNvSpPr>
          <p:nvPr/>
        </p:nvSpPr>
        <p:spPr bwMode="gray">
          <a:xfrm>
            <a:off x="1472074" y="3959228"/>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1.3</a:t>
            </a:r>
          </a:p>
        </p:txBody>
      </p:sp>
      <p:sp>
        <p:nvSpPr>
          <p:cNvPr id="32" name="Line 16"/>
          <p:cNvSpPr>
            <a:spLocks noChangeShapeType="1"/>
          </p:cNvSpPr>
          <p:nvPr/>
        </p:nvSpPr>
        <p:spPr bwMode="gray">
          <a:xfrm>
            <a:off x="1843253" y="2933083"/>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33" name="Rectangle 17"/>
          <p:cNvSpPr>
            <a:spLocks noChangeArrowheads="1"/>
          </p:cNvSpPr>
          <p:nvPr/>
        </p:nvSpPr>
        <p:spPr bwMode="gray">
          <a:xfrm rot="3419336">
            <a:off x="1559090" y="2356821"/>
            <a:ext cx="479425" cy="520700"/>
          </a:xfrm>
          <a:prstGeom prst="rect">
            <a:avLst/>
          </a:prstGeom>
          <a:gradFill rotWithShape="1">
            <a:gsLst>
              <a:gs pos="0">
                <a:schemeClr val="accent1"/>
              </a:gs>
              <a:gs pos="100000">
                <a:schemeClr val="accent1">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accent1"/>
            </a:extrusionClr>
          </a:sp3d>
        </p:spPr>
        <p:txBody>
          <a:bodyPr wrap="none" anchor="ctr">
            <a:flatTx/>
          </a:bodyPr>
          <a:lstStyle/>
          <a:p>
            <a:endParaRPr lang="en-US"/>
          </a:p>
        </p:txBody>
      </p:sp>
      <p:sp>
        <p:nvSpPr>
          <p:cNvPr id="34" name="Text Box 18"/>
          <p:cNvSpPr txBox="1">
            <a:spLocks noChangeArrowheads="1"/>
          </p:cNvSpPr>
          <p:nvPr/>
        </p:nvSpPr>
        <p:spPr bwMode="gray">
          <a:xfrm>
            <a:off x="2274365" y="4750510"/>
            <a:ext cx="5182251" cy="430887"/>
          </a:xfrm>
          <a:prstGeom prst="rect">
            <a:avLst/>
          </a:prstGeom>
          <a:noFill/>
          <a:ln w="9525" algn="ctr">
            <a:noFill/>
            <a:miter lim="800000"/>
            <a:headEnd/>
            <a:tailEnd/>
          </a:ln>
          <a:effectLst/>
        </p:spPr>
        <p:txBody>
          <a:bodyPr wrap="square">
            <a:spAutoFit/>
          </a:bodyPr>
          <a:lstStyle/>
          <a:p>
            <a:pPr algn="l"/>
            <a:r>
              <a:rPr lang="en-US" sz="2200" b="1">
                <a:solidFill>
                  <a:schemeClr val="tx2"/>
                </a:solidFill>
              </a:rPr>
              <a:t>  MỘT SỐ VIEW THÔNG DỤNG</a:t>
            </a:r>
          </a:p>
        </p:txBody>
      </p:sp>
      <p:sp>
        <p:nvSpPr>
          <p:cNvPr id="35" name="Text Box 19"/>
          <p:cNvSpPr txBox="1">
            <a:spLocks noChangeArrowheads="1"/>
          </p:cNvSpPr>
          <p:nvPr/>
        </p:nvSpPr>
        <p:spPr bwMode="gray">
          <a:xfrm>
            <a:off x="1485326" y="2399683"/>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1.1</a:t>
            </a:r>
          </a:p>
        </p:txBody>
      </p:sp>
      <p:sp>
        <p:nvSpPr>
          <p:cNvPr id="36" name="Line 20"/>
          <p:cNvSpPr>
            <a:spLocks noChangeShapeType="1"/>
          </p:cNvSpPr>
          <p:nvPr/>
        </p:nvSpPr>
        <p:spPr bwMode="gray">
          <a:xfrm>
            <a:off x="1826688" y="5296010"/>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37" name="Rectangle 21"/>
          <p:cNvSpPr>
            <a:spLocks noChangeArrowheads="1"/>
          </p:cNvSpPr>
          <p:nvPr/>
        </p:nvSpPr>
        <p:spPr bwMode="gray">
          <a:xfrm rot="3419336">
            <a:off x="1542525" y="4719748"/>
            <a:ext cx="479425" cy="520700"/>
          </a:xfrm>
          <a:prstGeom prst="rect">
            <a:avLst/>
          </a:prstGeom>
          <a:gradFill rotWithShape="1">
            <a:gsLst>
              <a:gs pos="0">
                <a:schemeClr val="accent2"/>
              </a:gs>
              <a:gs pos="100000">
                <a:schemeClr val="accent2">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accent2"/>
            </a:extrusionClr>
          </a:sp3d>
        </p:spPr>
        <p:txBody>
          <a:bodyPr wrap="none" anchor="ctr">
            <a:flatTx/>
          </a:bodyPr>
          <a:lstStyle/>
          <a:p>
            <a:endParaRPr lang="en-US"/>
          </a:p>
        </p:txBody>
      </p:sp>
      <p:sp>
        <p:nvSpPr>
          <p:cNvPr id="38" name="Text Box 22"/>
          <p:cNvSpPr txBox="1">
            <a:spLocks noChangeArrowheads="1"/>
          </p:cNvSpPr>
          <p:nvPr/>
        </p:nvSpPr>
        <p:spPr bwMode="gray">
          <a:xfrm>
            <a:off x="1468761" y="4762610"/>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1.4</a:t>
            </a:r>
          </a:p>
        </p:txBody>
      </p:sp>
      <p:sp>
        <p:nvSpPr>
          <p:cNvPr id="39" name="Line 23"/>
          <p:cNvSpPr>
            <a:spLocks noChangeShapeType="1"/>
          </p:cNvSpPr>
          <p:nvPr/>
        </p:nvSpPr>
        <p:spPr bwMode="gray">
          <a:xfrm>
            <a:off x="1834902" y="3694476"/>
            <a:ext cx="4799012" cy="1587"/>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40" name="Rectangle 24"/>
          <p:cNvSpPr>
            <a:spLocks noChangeArrowheads="1"/>
          </p:cNvSpPr>
          <p:nvPr/>
        </p:nvSpPr>
        <p:spPr bwMode="gray">
          <a:xfrm rot="3419336">
            <a:off x="1549151" y="3119801"/>
            <a:ext cx="479425" cy="520700"/>
          </a:xfrm>
          <a:prstGeom prst="rect">
            <a:avLst/>
          </a:prstGeom>
          <a:gradFill rotWithShape="1">
            <a:gsLst>
              <a:gs pos="0">
                <a:schemeClr val="hlink"/>
              </a:gs>
              <a:gs pos="100000">
                <a:schemeClr val="hlink">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hlink"/>
            </a:extrusionClr>
          </a:sp3d>
        </p:spPr>
        <p:txBody>
          <a:bodyPr wrap="none" anchor="ctr">
            <a:flatTx/>
          </a:bodyPr>
          <a:lstStyle/>
          <a:p>
            <a:endParaRPr lang="en-US"/>
          </a:p>
        </p:txBody>
      </p:sp>
      <p:sp>
        <p:nvSpPr>
          <p:cNvPr id="41" name="Text Box 25"/>
          <p:cNvSpPr txBox="1">
            <a:spLocks noChangeArrowheads="1"/>
          </p:cNvSpPr>
          <p:nvPr/>
        </p:nvSpPr>
        <p:spPr bwMode="gray">
          <a:xfrm>
            <a:off x="1475387" y="3162663"/>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1.2</a:t>
            </a:r>
          </a:p>
        </p:txBody>
      </p:sp>
      <p:sp>
        <p:nvSpPr>
          <p:cNvPr id="42" name="Text Box 29"/>
          <p:cNvSpPr txBox="1">
            <a:spLocks noChangeArrowheads="1"/>
          </p:cNvSpPr>
          <p:nvPr/>
        </p:nvSpPr>
        <p:spPr bwMode="gray">
          <a:xfrm>
            <a:off x="2405610" y="3260203"/>
            <a:ext cx="5333255" cy="430887"/>
          </a:xfrm>
          <a:prstGeom prst="rect">
            <a:avLst/>
          </a:prstGeom>
          <a:noFill/>
          <a:ln w="9525" algn="ctr">
            <a:noFill/>
            <a:miter lim="800000"/>
            <a:headEnd/>
            <a:tailEnd/>
          </a:ln>
          <a:effectLst/>
        </p:spPr>
        <p:txBody>
          <a:bodyPr wrap="none">
            <a:spAutoFit/>
          </a:bodyPr>
          <a:lstStyle/>
          <a:p>
            <a:pPr algn="l" eaLnBrk="0" hangingPunct="0"/>
            <a:r>
              <a:rPr lang="en-US" sz="2200" b="1">
                <a:solidFill>
                  <a:schemeClr val="tx2"/>
                </a:solidFill>
              </a:rPr>
              <a:t>XÂY DỰNG GIAO DIỆN SỬ DỤNG XML</a:t>
            </a:r>
          </a:p>
        </p:txBody>
      </p:sp>
      <p:sp>
        <p:nvSpPr>
          <p:cNvPr id="43" name="Text Box 30"/>
          <p:cNvSpPr txBox="1">
            <a:spLocks noChangeArrowheads="1"/>
          </p:cNvSpPr>
          <p:nvPr/>
        </p:nvSpPr>
        <p:spPr bwMode="gray">
          <a:xfrm>
            <a:off x="2332378" y="3985541"/>
            <a:ext cx="4597477" cy="430887"/>
          </a:xfrm>
          <a:prstGeom prst="rect">
            <a:avLst/>
          </a:prstGeom>
          <a:noFill/>
          <a:ln w="9525" algn="ctr">
            <a:noFill/>
            <a:miter lim="800000"/>
            <a:headEnd/>
            <a:tailEnd/>
          </a:ln>
          <a:effectLst/>
        </p:spPr>
        <p:txBody>
          <a:bodyPr wrap="none">
            <a:spAutoFit/>
          </a:bodyPr>
          <a:lstStyle/>
          <a:p>
            <a:pPr algn="l" eaLnBrk="0" hangingPunct="0"/>
            <a:r>
              <a:rPr lang="en-US" sz="2200" b="1">
                <a:solidFill>
                  <a:schemeClr val="tx2"/>
                </a:solidFill>
              </a:rPr>
              <a:t> MỘT SỐ LAYOUT THÔNG DỤNG</a:t>
            </a:r>
          </a:p>
        </p:txBody>
      </p:sp>
      <p:sp>
        <p:nvSpPr>
          <p:cNvPr id="44" name="Text Box 18">
            <a:extLst>
              <a:ext uri="{FF2B5EF4-FFF2-40B4-BE49-F238E27FC236}">
                <a16:creationId xmlns:a16="http://schemas.microsoft.com/office/drawing/2014/main" id="{3B08D919-B9F7-4532-A6DF-0637E33C4F56}"/>
              </a:ext>
            </a:extLst>
          </p:cNvPr>
          <p:cNvSpPr txBox="1">
            <a:spLocks noChangeArrowheads="1"/>
          </p:cNvSpPr>
          <p:nvPr/>
        </p:nvSpPr>
        <p:spPr bwMode="gray">
          <a:xfrm>
            <a:off x="2147719" y="2437325"/>
            <a:ext cx="7038215" cy="430887"/>
          </a:xfrm>
          <a:prstGeom prst="rect">
            <a:avLst/>
          </a:prstGeom>
          <a:noFill/>
          <a:ln w="9525" algn="ctr">
            <a:noFill/>
            <a:miter lim="800000"/>
            <a:headEnd/>
            <a:tailEnd/>
          </a:ln>
          <a:effectLst/>
        </p:spPr>
        <p:txBody>
          <a:bodyPr wrap="square">
            <a:spAutoFit/>
          </a:bodyPr>
          <a:lstStyle/>
          <a:p>
            <a:pPr algn="l" eaLnBrk="0" hangingPunct="0"/>
            <a:r>
              <a:rPr lang="en-US" sz="2200" b="1">
                <a:solidFill>
                  <a:schemeClr val="tx2"/>
                </a:solidFill>
              </a:rPr>
              <a:t>   THÀNH PHẦN GIAO DIỆN TRONG ANDROID</a:t>
            </a:r>
          </a:p>
        </p:txBody>
      </p:sp>
      <p:sp>
        <p:nvSpPr>
          <p:cNvPr id="3" name="Date Placeholder 2"/>
          <p:cNvSpPr>
            <a:spLocks noGrp="1"/>
          </p:cNvSpPr>
          <p:nvPr>
            <p:ph type="dt" sz="half" idx="10"/>
          </p:nvPr>
        </p:nvSpPr>
        <p:spPr/>
        <p:txBody>
          <a:bodyPr/>
          <a:lstStyle/>
          <a:p>
            <a:pPr>
              <a:defRPr/>
            </a:pPr>
            <a:r>
              <a:rPr lang="en-US"/>
              <a:t>Khoa CNTT - UNETI</a:t>
            </a:r>
          </a:p>
        </p:txBody>
      </p:sp>
      <p:sp>
        <p:nvSpPr>
          <p:cNvPr id="4" name="Slide Number Placeholder 3"/>
          <p:cNvSpPr>
            <a:spLocks noGrp="1"/>
          </p:cNvSpPr>
          <p:nvPr>
            <p:ph type="sldNum" sz="quarter" idx="12"/>
          </p:nvPr>
        </p:nvSpPr>
        <p:spPr/>
        <p:txBody>
          <a:bodyPr/>
          <a:lstStyle/>
          <a:p>
            <a:pPr>
              <a:defRPr/>
            </a:pPr>
            <a:fld id="{38F16FD5-974A-40BB-8233-36E86F2AA732}" type="slidenum">
              <a:rPr lang="en-US" smtClean="0"/>
              <a:pPr>
                <a:defRPr/>
              </a:pPr>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ppt_x"/>
                                          </p:val>
                                        </p:tav>
                                        <p:tav tm="100000">
                                          <p:val>
                                            <p:strVal val="#ppt_x"/>
                                          </p:val>
                                        </p:tav>
                                      </p:tavLst>
                                    </p:anim>
                                    <p:anim calcmode="lin" valueType="num">
                                      <p:cBhvr additive="base">
                                        <p:cTn id="8" dur="500" fill="hold"/>
                                        <p:tgtEl>
                                          <p:spTgt spid="4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ppt_x"/>
                                          </p:val>
                                        </p:tav>
                                        <p:tav tm="100000">
                                          <p:val>
                                            <p:strVal val="#ppt_x"/>
                                          </p:val>
                                        </p:tav>
                                      </p:tavLst>
                                    </p:anim>
                                    <p:anim calcmode="lin" valueType="num">
                                      <p:cBhvr additive="base">
                                        <p:cTn id="12" dur="500" fill="hold"/>
                                        <p:tgtEl>
                                          <p:spTgt spid="3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ppt_x"/>
                                          </p:val>
                                        </p:tav>
                                        <p:tav tm="100000">
                                          <p:val>
                                            <p:strVal val="#ppt_x"/>
                                          </p:val>
                                        </p:tav>
                                      </p:tavLst>
                                    </p:anim>
                                    <p:anim calcmode="lin" valueType="num">
                                      <p:cBhvr additive="base">
                                        <p:cTn id="2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anim calcmode="lin" valueType="num">
                                      <p:cBhvr additive="base">
                                        <p:cTn id="25" dur="500" fill="hold"/>
                                        <p:tgtEl>
                                          <p:spTgt spid="41"/>
                                        </p:tgtEl>
                                        <p:attrNameLst>
                                          <p:attrName>ppt_x</p:attrName>
                                        </p:attrNameLst>
                                      </p:cBhvr>
                                      <p:tavLst>
                                        <p:tav tm="0">
                                          <p:val>
                                            <p:strVal val="#ppt_x"/>
                                          </p:val>
                                        </p:tav>
                                        <p:tav tm="100000">
                                          <p:val>
                                            <p:strVal val="#ppt_x"/>
                                          </p:val>
                                        </p:tav>
                                      </p:tavLst>
                                    </p:anim>
                                    <p:anim calcmode="lin" valueType="num">
                                      <p:cBhvr additive="base">
                                        <p:cTn id="26" dur="500" fill="hold"/>
                                        <p:tgtEl>
                                          <p:spTgt spid="4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anim calcmode="lin" valueType="num">
                                      <p:cBhvr additive="base">
                                        <p:cTn id="29" dur="500" fill="hold"/>
                                        <p:tgtEl>
                                          <p:spTgt spid="40"/>
                                        </p:tgtEl>
                                        <p:attrNameLst>
                                          <p:attrName>ppt_x</p:attrName>
                                        </p:attrNameLst>
                                      </p:cBhvr>
                                      <p:tavLst>
                                        <p:tav tm="0">
                                          <p:val>
                                            <p:strVal val="#ppt_x"/>
                                          </p:val>
                                        </p:tav>
                                        <p:tav tm="100000">
                                          <p:val>
                                            <p:strVal val="#ppt_x"/>
                                          </p:val>
                                        </p:tav>
                                      </p:tavLst>
                                    </p:anim>
                                    <p:anim calcmode="lin" valueType="num">
                                      <p:cBhvr additive="base">
                                        <p:cTn id="30" dur="500" fill="hold"/>
                                        <p:tgtEl>
                                          <p:spTgt spid="4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anim calcmode="lin" valueType="num">
                                      <p:cBhvr additive="base">
                                        <p:cTn id="33" dur="500" fill="hold"/>
                                        <p:tgtEl>
                                          <p:spTgt spid="42"/>
                                        </p:tgtEl>
                                        <p:attrNameLst>
                                          <p:attrName>ppt_x</p:attrName>
                                        </p:attrNameLst>
                                      </p:cBhvr>
                                      <p:tavLst>
                                        <p:tav tm="0">
                                          <p:val>
                                            <p:strVal val="#ppt_x"/>
                                          </p:val>
                                        </p:tav>
                                        <p:tav tm="100000">
                                          <p:val>
                                            <p:strVal val="#ppt_x"/>
                                          </p:val>
                                        </p:tav>
                                      </p:tavLst>
                                    </p:anim>
                                    <p:anim calcmode="lin" valueType="num">
                                      <p:cBhvr additive="base">
                                        <p:cTn id="34" dur="500" fill="hold"/>
                                        <p:tgtEl>
                                          <p:spTgt spid="4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additive="base">
                                        <p:cTn id="37" dur="500" fill="hold"/>
                                        <p:tgtEl>
                                          <p:spTgt spid="39"/>
                                        </p:tgtEl>
                                        <p:attrNameLst>
                                          <p:attrName>ppt_x</p:attrName>
                                        </p:attrNameLst>
                                      </p:cBhvr>
                                      <p:tavLst>
                                        <p:tav tm="0">
                                          <p:val>
                                            <p:strVal val="#ppt_x"/>
                                          </p:val>
                                        </p:tav>
                                        <p:tav tm="100000">
                                          <p:val>
                                            <p:strVal val="#ppt_x"/>
                                          </p:val>
                                        </p:tav>
                                      </p:tavLst>
                                    </p:anim>
                                    <p:anim calcmode="lin" valueType="num">
                                      <p:cBhvr additive="base">
                                        <p:cTn id="3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additive="base">
                                        <p:cTn id="43" dur="500" fill="hold"/>
                                        <p:tgtEl>
                                          <p:spTgt spid="31"/>
                                        </p:tgtEl>
                                        <p:attrNameLst>
                                          <p:attrName>ppt_x</p:attrName>
                                        </p:attrNameLst>
                                      </p:cBhvr>
                                      <p:tavLst>
                                        <p:tav tm="0">
                                          <p:val>
                                            <p:strVal val="#ppt_x"/>
                                          </p:val>
                                        </p:tav>
                                        <p:tav tm="100000">
                                          <p:val>
                                            <p:strVal val="#ppt_x"/>
                                          </p:val>
                                        </p:tav>
                                      </p:tavLst>
                                    </p:anim>
                                    <p:anim calcmode="lin" valueType="num">
                                      <p:cBhvr additive="base">
                                        <p:cTn id="44" dur="500" fill="hold"/>
                                        <p:tgtEl>
                                          <p:spTgt spid="3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additive="base">
                                        <p:cTn id="47" dur="500" fill="hold"/>
                                        <p:tgtEl>
                                          <p:spTgt spid="30"/>
                                        </p:tgtEl>
                                        <p:attrNameLst>
                                          <p:attrName>ppt_x</p:attrName>
                                        </p:attrNameLst>
                                      </p:cBhvr>
                                      <p:tavLst>
                                        <p:tav tm="0">
                                          <p:val>
                                            <p:strVal val="#ppt_x"/>
                                          </p:val>
                                        </p:tav>
                                        <p:tav tm="100000">
                                          <p:val>
                                            <p:strVal val="#ppt_x"/>
                                          </p:val>
                                        </p:tav>
                                      </p:tavLst>
                                    </p:anim>
                                    <p:anim calcmode="lin" valueType="num">
                                      <p:cBhvr additive="base">
                                        <p:cTn id="48" dur="500" fill="hold"/>
                                        <p:tgtEl>
                                          <p:spTgt spid="3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 calcmode="lin" valueType="num">
                                      <p:cBhvr additive="base">
                                        <p:cTn id="51" dur="500" fill="hold"/>
                                        <p:tgtEl>
                                          <p:spTgt spid="43"/>
                                        </p:tgtEl>
                                        <p:attrNameLst>
                                          <p:attrName>ppt_x</p:attrName>
                                        </p:attrNameLst>
                                      </p:cBhvr>
                                      <p:tavLst>
                                        <p:tav tm="0">
                                          <p:val>
                                            <p:strVal val="#ppt_x"/>
                                          </p:val>
                                        </p:tav>
                                        <p:tav tm="100000">
                                          <p:val>
                                            <p:strVal val="#ppt_x"/>
                                          </p:val>
                                        </p:tav>
                                      </p:tavLst>
                                    </p:anim>
                                    <p:anim calcmode="lin" valueType="num">
                                      <p:cBhvr additive="base">
                                        <p:cTn id="52" dur="500" fill="hold"/>
                                        <p:tgtEl>
                                          <p:spTgt spid="4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8"/>
                                        </p:tgtEl>
                                        <p:attrNameLst>
                                          <p:attrName>style.visibility</p:attrName>
                                        </p:attrNameLst>
                                      </p:cBhvr>
                                      <p:to>
                                        <p:strVal val="visible"/>
                                      </p:to>
                                    </p:set>
                                    <p:anim calcmode="lin" valueType="num">
                                      <p:cBhvr additive="base">
                                        <p:cTn id="61" dur="500" fill="hold"/>
                                        <p:tgtEl>
                                          <p:spTgt spid="38"/>
                                        </p:tgtEl>
                                        <p:attrNameLst>
                                          <p:attrName>ppt_x</p:attrName>
                                        </p:attrNameLst>
                                      </p:cBhvr>
                                      <p:tavLst>
                                        <p:tav tm="0">
                                          <p:val>
                                            <p:strVal val="#ppt_x"/>
                                          </p:val>
                                        </p:tav>
                                        <p:tav tm="100000">
                                          <p:val>
                                            <p:strVal val="#ppt_x"/>
                                          </p:val>
                                        </p:tav>
                                      </p:tavLst>
                                    </p:anim>
                                    <p:anim calcmode="lin" valueType="num">
                                      <p:cBhvr additive="base">
                                        <p:cTn id="62" dur="500" fill="hold"/>
                                        <p:tgtEl>
                                          <p:spTgt spid="38"/>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 calcmode="lin" valueType="num">
                                      <p:cBhvr additive="base">
                                        <p:cTn id="65" dur="500" fill="hold"/>
                                        <p:tgtEl>
                                          <p:spTgt spid="37"/>
                                        </p:tgtEl>
                                        <p:attrNameLst>
                                          <p:attrName>ppt_x</p:attrName>
                                        </p:attrNameLst>
                                      </p:cBhvr>
                                      <p:tavLst>
                                        <p:tav tm="0">
                                          <p:val>
                                            <p:strVal val="#ppt_x"/>
                                          </p:val>
                                        </p:tav>
                                        <p:tav tm="100000">
                                          <p:val>
                                            <p:strVal val="#ppt_x"/>
                                          </p:val>
                                        </p:tav>
                                      </p:tavLst>
                                    </p:anim>
                                    <p:anim calcmode="lin" valueType="num">
                                      <p:cBhvr additive="base">
                                        <p:cTn id="66" dur="500" fill="hold"/>
                                        <p:tgtEl>
                                          <p:spTgt spid="37"/>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 calcmode="lin" valueType="num">
                                      <p:cBhvr additive="base">
                                        <p:cTn id="69" dur="500" fill="hold"/>
                                        <p:tgtEl>
                                          <p:spTgt spid="34"/>
                                        </p:tgtEl>
                                        <p:attrNameLst>
                                          <p:attrName>ppt_x</p:attrName>
                                        </p:attrNameLst>
                                      </p:cBhvr>
                                      <p:tavLst>
                                        <p:tav tm="0">
                                          <p:val>
                                            <p:strVal val="#ppt_x"/>
                                          </p:val>
                                        </p:tav>
                                        <p:tav tm="100000">
                                          <p:val>
                                            <p:strVal val="#ppt_x"/>
                                          </p:val>
                                        </p:tav>
                                      </p:tavLst>
                                    </p:anim>
                                    <p:anim calcmode="lin" valueType="num">
                                      <p:cBhvr additive="base">
                                        <p:cTn id="70" dur="500" fill="hold"/>
                                        <p:tgtEl>
                                          <p:spTgt spid="34"/>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ppt_x"/>
                                          </p:val>
                                        </p:tav>
                                        <p:tav tm="100000">
                                          <p:val>
                                            <p:strVal val="#ppt_x"/>
                                          </p:val>
                                        </p:tav>
                                      </p:tavLst>
                                    </p:anim>
                                    <p:anim calcmode="lin" valueType="num">
                                      <p:cBhvr additive="base">
                                        <p:cTn id="7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0" grpId="0" animBg="1"/>
      <p:bldP spid="31" grpId="0"/>
      <p:bldP spid="32" grpId="0" animBg="1"/>
      <p:bldP spid="33" grpId="0" animBg="1"/>
      <p:bldP spid="34" grpId="0"/>
      <p:bldP spid="35" grpId="0"/>
      <p:bldP spid="36" grpId="0" animBg="1"/>
      <p:bldP spid="37" grpId="0" animBg="1"/>
      <p:bldP spid="38" grpId="0"/>
      <p:bldP spid="39" grpId="0" animBg="1"/>
      <p:bldP spid="40" grpId="0" animBg="1"/>
      <p:bldP spid="41" grpId="0"/>
      <p:bldP spid="42" grpId="0"/>
      <p:bldP spid="43" grpId="0"/>
      <p:bldP spid="4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1.1 THÀNH PHẦN TRONG GIAO DIỆN ANDROID</a:t>
            </a:r>
            <a:endParaRPr lang="vi-VN" sz="3600" b="1" kern="0">
              <a:solidFill>
                <a:schemeClr val="bg1"/>
              </a:solidFill>
            </a:endParaRPr>
          </a:p>
        </p:txBody>
      </p:sp>
    </p:spTree>
    <p:extLst>
      <p:ext uri="{BB962C8B-B14F-4D97-AF65-F5344CB8AC3E}">
        <p14:creationId xmlns:p14="http://schemas.microsoft.com/office/powerpoint/2010/main" val="3037575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 THÀNH PHẦN TRONG GIAO DIỆN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457200" y="1247590"/>
            <a:ext cx="7772400" cy="1133965"/>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View – Widget</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ViewGroup – Layout</a:t>
            </a:r>
          </a:p>
        </p:txBody>
      </p:sp>
      <p:pic>
        <p:nvPicPr>
          <p:cNvPr id="5" name="Picture 4" descr="Diagram&#10;&#10;Description automatically generated">
            <a:extLst>
              <a:ext uri="{FF2B5EF4-FFF2-40B4-BE49-F238E27FC236}">
                <a16:creationId xmlns:a16="http://schemas.microsoft.com/office/drawing/2014/main" id="{D5AAD407-6BBA-4D9B-BC96-95F2D73634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2458" y="2819400"/>
            <a:ext cx="5342083" cy="3002540"/>
          </a:xfrm>
          <a:prstGeom prst="rect">
            <a:avLst/>
          </a:prstGeom>
        </p:spPr>
      </p:pic>
    </p:spTree>
    <p:extLst>
      <p:ext uri="{BB962C8B-B14F-4D97-AF65-F5344CB8AC3E}">
        <p14:creationId xmlns:p14="http://schemas.microsoft.com/office/powerpoint/2010/main" val="3781611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1.1.1 VIEW - WIDGET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5</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427383" y="1143000"/>
            <a:ext cx="7772400" cy="5011949"/>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b="1">
                <a:solidFill>
                  <a:schemeClr val="accent4">
                    <a:lumMod val="90000"/>
                    <a:lumOff val="10000"/>
                  </a:schemeClr>
                </a:solidFill>
                <a:latin typeface="Times New Roman" panose="02020603050405020304" pitchFamily="18" charset="0"/>
                <a:cs typeface="Times New Roman" panose="02020603050405020304" pitchFamily="18" charset="0"/>
              </a:rPr>
              <a:t>View</a:t>
            </a:r>
            <a:r>
              <a:rPr lang="vi-VN">
                <a:solidFill>
                  <a:schemeClr val="accent4">
                    <a:lumMod val="90000"/>
                    <a:lumOff val="10000"/>
                  </a:schemeClr>
                </a:solidFill>
                <a:latin typeface="Times New Roman" panose="02020603050405020304" pitchFamily="18" charset="0"/>
                <a:cs typeface="Times New Roman" panose="02020603050405020304" pitchFamily="18" charset="0"/>
              </a:rPr>
              <a:t> là đối tượng cơ bản để xây dựng mọi thành</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a:solidFill>
                  <a:schemeClr val="accent4">
                    <a:lumMod val="90000"/>
                    <a:lumOff val="10000"/>
                  </a:schemeClr>
                </a:solidFill>
                <a:latin typeface="Times New Roman" panose="02020603050405020304" pitchFamily="18" charset="0"/>
                <a:cs typeface="Times New Roman" panose="02020603050405020304" pitchFamily="18" charset="0"/>
              </a:rPr>
              <a:t>phần của giao diện đồ họa</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Hầu hết các thành phần cơ bản của giao diện đều kế thừa từ View: </a:t>
            </a:r>
            <a:r>
              <a:rPr lang="vi-VN">
                <a:solidFill>
                  <a:schemeClr val="accent2">
                    <a:lumMod val="75000"/>
                  </a:schemeClr>
                </a:solidFill>
                <a:latin typeface="Times New Roman" panose="02020603050405020304" pitchFamily="18" charset="0"/>
                <a:cs typeface="Times New Roman" panose="02020603050405020304" pitchFamily="18" charset="0"/>
              </a:rPr>
              <a:t>TextView</a:t>
            </a:r>
            <a:r>
              <a:rPr lang="vi-VN">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a:solidFill>
                  <a:schemeClr val="accent2">
                    <a:lumMod val="75000"/>
                  </a:schemeClr>
                </a:solidFill>
                <a:latin typeface="Times New Roman" panose="02020603050405020304" pitchFamily="18" charset="0"/>
                <a:cs typeface="Times New Roman" panose="02020603050405020304" pitchFamily="18" charset="0"/>
              </a:rPr>
              <a:t>Button</a:t>
            </a:r>
            <a:r>
              <a:rPr lang="vi-VN">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a:solidFill>
                  <a:schemeClr val="accent2">
                    <a:lumMod val="75000"/>
                  </a:schemeClr>
                </a:solidFill>
                <a:latin typeface="Times New Roman" panose="02020603050405020304" pitchFamily="18" charset="0"/>
                <a:cs typeface="Times New Roman" panose="02020603050405020304" pitchFamily="18" charset="0"/>
              </a:rPr>
              <a:t>Spinner</a:t>
            </a:r>
            <a:r>
              <a:rPr lang="vi-VN">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a:solidFill>
                  <a:schemeClr val="accent2">
                    <a:lumMod val="75000"/>
                  </a:schemeClr>
                </a:solidFill>
                <a:latin typeface="Times New Roman" panose="02020603050405020304" pitchFamily="18" charset="0"/>
                <a:cs typeface="Times New Roman" panose="02020603050405020304" pitchFamily="18" charset="0"/>
              </a:rPr>
              <a:t>ToggleButton</a:t>
            </a:r>
            <a:r>
              <a:rPr lang="vi-VN">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a:solidFill>
                  <a:schemeClr val="accent2">
                    <a:lumMod val="75000"/>
                  </a:schemeClr>
                </a:solidFill>
                <a:latin typeface="Times New Roman" panose="02020603050405020304" pitchFamily="18" charset="0"/>
                <a:cs typeface="Times New Roman" panose="02020603050405020304" pitchFamily="18" charset="0"/>
              </a:rPr>
              <a:t>RadioButton</a:t>
            </a:r>
            <a:r>
              <a:rPr lang="vi-VN">
                <a:solidFill>
                  <a:schemeClr val="accent4">
                    <a:lumMod val="90000"/>
                    <a:lumOff val="10000"/>
                  </a:schemeClr>
                </a:solidFill>
                <a:latin typeface="Times New Roman" panose="02020603050405020304" pitchFamily="18" charset="0"/>
                <a:cs typeface="Times New Roman" panose="02020603050405020304" pitchFamily="18" charset="0"/>
              </a:rPr>
              <a:t>,…</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Các thành phần này hầu hết đều nằm trong gói </a:t>
            </a:r>
            <a:r>
              <a:rPr lang="vi-VN" b="1">
                <a:solidFill>
                  <a:schemeClr val="accent4">
                    <a:lumMod val="90000"/>
                    <a:lumOff val="10000"/>
                  </a:schemeClr>
                </a:solidFill>
                <a:latin typeface="Times New Roman" panose="02020603050405020304" pitchFamily="18" charset="0"/>
                <a:cs typeface="Times New Roman" panose="02020603050405020304" pitchFamily="18" charset="0"/>
              </a:rPr>
              <a:t>android.widget </a:t>
            </a:r>
            <a:r>
              <a:rPr lang="vi-VN">
                <a:solidFill>
                  <a:schemeClr val="accent4">
                    <a:lumMod val="90000"/>
                    <a:lumOff val="10000"/>
                  </a:schemeClr>
                </a:solidFill>
                <a:latin typeface="Times New Roman" panose="02020603050405020304" pitchFamily="18" charset="0"/>
                <a:cs typeface="Times New Roman" panose="02020603050405020304" pitchFamily="18" charset="0"/>
              </a:rPr>
              <a:t>nên thường gọi là </a:t>
            </a:r>
            <a:r>
              <a:rPr lang="vi-VN" b="1">
                <a:solidFill>
                  <a:schemeClr val="accent4">
                    <a:lumMod val="90000"/>
                    <a:lumOff val="10000"/>
                  </a:schemeClr>
                </a:solidFill>
                <a:latin typeface="Times New Roman" panose="02020603050405020304" pitchFamily="18" charset="0"/>
                <a:cs typeface="Times New Roman" panose="02020603050405020304" pitchFamily="18" charset="0"/>
              </a:rPr>
              <a:t>widget</a:t>
            </a:r>
            <a:endParaRPr lang="en-US" b="1">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Lập trình viên có thể tự tạo </a:t>
            </a:r>
            <a:r>
              <a:rPr lang="en-US" b="1">
                <a:solidFill>
                  <a:schemeClr val="accent4">
                    <a:lumMod val="90000"/>
                    <a:lumOff val="10000"/>
                  </a:schemeClr>
                </a:solidFill>
                <a:latin typeface="Times New Roman" panose="02020603050405020304" pitchFamily="18" charset="0"/>
                <a:cs typeface="Times New Roman" panose="02020603050405020304" pitchFamily="18" charset="0"/>
              </a:rPr>
              <a:t>widget</a:t>
            </a:r>
            <a:r>
              <a:rPr lang="en-US">
                <a:solidFill>
                  <a:schemeClr val="accent4">
                    <a:lumMod val="90000"/>
                    <a:lumOff val="10000"/>
                  </a:schemeClr>
                </a:solidFill>
                <a:latin typeface="Times New Roman" panose="02020603050405020304" pitchFamily="18" charset="0"/>
                <a:cs typeface="Times New Roman" panose="02020603050405020304" pitchFamily="18" charset="0"/>
              </a:rPr>
              <a:t> của riêng mình bằng cách tùy biến view theo cách của riêng mình </a:t>
            </a:r>
          </a:p>
        </p:txBody>
      </p:sp>
    </p:spTree>
    <p:extLst>
      <p:ext uri="{BB962C8B-B14F-4D97-AF65-F5344CB8AC3E}">
        <p14:creationId xmlns:p14="http://schemas.microsoft.com/office/powerpoint/2010/main" val="2155979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1.1.2 VIEWGROUP - LAYOUT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6</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427383" y="1143000"/>
            <a:ext cx="7772400" cy="4827284"/>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ViewGroup</a:t>
            </a:r>
            <a:r>
              <a:rPr lang="en-US">
                <a:solidFill>
                  <a:schemeClr val="accent4">
                    <a:lumMod val="90000"/>
                    <a:lumOff val="10000"/>
                  </a:schemeClr>
                </a:solidFill>
                <a:latin typeface="Times New Roman" panose="02020603050405020304" pitchFamily="18" charset="0"/>
                <a:cs typeface="Times New Roman" panose="02020603050405020304" pitchFamily="18" charset="0"/>
              </a:rPr>
              <a:t> là các view đặc biệt, có thể chứa bên trong nó các view khác</a:t>
            </a:r>
          </a:p>
          <a:p>
            <a:pPr marL="800100" lvl="1"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VD1: trong một bài báo gồm các textview, imageview,…</a:t>
            </a:r>
          </a:p>
          <a:p>
            <a:pPr marL="800100" lvl="1"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VD2: một thư viện ảnh gồm các listview, imageview,…</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ViewGroup là cửa sổ cha của các view con</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Một view nằm trong ViewGroup cần phải có thông tin về vị trí của nó trong cửa sổ cha</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ViewGroup = các view con + cách bố trí các view con đó bên trong</a:t>
            </a:r>
          </a:p>
        </p:txBody>
      </p:sp>
    </p:spTree>
    <p:extLst>
      <p:ext uri="{BB962C8B-B14F-4D97-AF65-F5344CB8AC3E}">
        <p14:creationId xmlns:p14="http://schemas.microsoft.com/office/powerpoint/2010/main" val="3236176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1.1.3 THAM SỐ CỦA LAYOUT VÀ VIEW</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7</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427383" y="1143000"/>
            <a:ext cx="7772400" cy="4838312"/>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Bản thân layout và view cũng có các tham số của nó khi được đặt vào view cha</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en-US" sz="2000" b="1">
                <a:solidFill>
                  <a:schemeClr val="accent2">
                    <a:lumMod val="50000"/>
                  </a:schemeClr>
                </a:solidFill>
                <a:latin typeface="Times New Roman" panose="02020603050405020304" pitchFamily="18" charset="0"/>
                <a:cs typeface="Times New Roman" panose="02020603050405020304" pitchFamily="18" charset="0"/>
              </a:rPr>
              <a:t>Vị trí </a:t>
            </a: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(position): cặp tọa độ Left/Top</a:t>
            </a:r>
          </a:p>
          <a:p>
            <a:pPr marL="800100" lvl="1" indent="-342900" algn="l">
              <a:lnSpc>
                <a:spcPct val="150000"/>
              </a:lnSpc>
              <a:buClr>
                <a:srgbClr val="FF0000"/>
              </a:buClr>
              <a:buFont typeface="Arial" panose="020B0604020202020204" pitchFamily="34" charset="0"/>
              <a:buChar char="•"/>
            </a:pPr>
            <a:r>
              <a:rPr lang="vi-VN" sz="2000" b="1">
                <a:solidFill>
                  <a:schemeClr val="accent2">
                    <a:lumMod val="50000"/>
                  </a:schemeClr>
                </a:solidFill>
                <a:latin typeface="Times New Roman" panose="02020603050405020304" pitchFamily="18" charset="0"/>
                <a:cs typeface="Times New Roman" panose="02020603050405020304" pitchFamily="18" charset="0"/>
              </a:rPr>
              <a:t>Kích thước </a:t>
            </a: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(size): cặp giá trị Width/Height</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en-US" sz="2000" b="1">
                <a:solidFill>
                  <a:schemeClr val="accent2">
                    <a:lumMod val="50000"/>
                  </a:schemeClr>
                </a:solidFill>
                <a:latin typeface="Times New Roman" panose="02020603050405020304" pitchFamily="18" charset="0"/>
                <a:cs typeface="Times New Roman" panose="02020603050405020304" pitchFamily="18" charset="0"/>
              </a:rPr>
              <a:t>Lề</a:t>
            </a: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 (margin): tham số trong LayoutParams (kiểu MarginLayoutParams), quy định khoảng cách của view với các thành phần xung quanh</a:t>
            </a:r>
          </a:p>
          <a:p>
            <a:pPr marL="800100" lvl="1" indent="-342900" algn="l">
              <a:lnSpc>
                <a:spcPct val="150000"/>
              </a:lnSpc>
              <a:buClr>
                <a:srgbClr val="FF0000"/>
              </a:buClr>
              <a:buFont typeface="Arial" panose="020B0604020202020204" pitchFamily="34" charset="0"/>
              <a:buChar char="•"/>
            </a:pPr>
            <a:r>
              <a:rPr lang="vi-VN" sz="2000" b="1">
                <a:solidFill>
                  <a:schemeClr val="accent2">
                    <a:lumMod val="50000"/>
                  </a:schemeClr>
                </a:solidFill>
                <a:latin typeface="Times New Roman" panose="02020603050405020304" pitchFamily="18" charset="0"/>
                <a:cs typeface="Times New Roman" panose="02020603050405020304" pitchFamily="18" charset="0"/>
              </a:rPr>
              <a:t>Đệm</a:t>
            </a: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 (padding): vùng trống từ nội dung của view ra các viền, sử dụng phương thức setPadding(int,int,int,int) để điều chỉnh, đơn vị đo thường là dp</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9946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6705600" cy="563563"/>
          </a:xfrm>
        </p:spPr>
        <p:txBody>
          <a:bodyPr vert="horz" wrap="square" lIns="91440" tIns="45720" rIns="91440" bIns="45720" numCol="1" anchor="ctr" anchorCtr="0" compatLnSpc="1">
            <a:prstTxWarp prst="textNoShape">
              <a:avLst/>
            </a:prstTxWarp>
            <a:normAutofit/>
          </a:bodyPr>
          <a:lstStyle/>
          <a:p>
            <a:pPr>
              <a:lnSpc>
                <a:spcPct val="90000"/>
              </a:lnSpc>
            </a:pPr>
            <a:r>
              <a:rPr lang="en-US" sz="2200" b="1">
                <a:latin typeface="+mj-lt"/>
                <a:ea typeface="+mj-ea"/>
                <a:cs typeface="+mj-cs"/>
              </a:rPr>
              <a:t>1.1.3 THAM SỐ CỦA LAYOUT VÀ VIEW</a:t>
            </a:r>
          </a:p>
        </p:txBody>
      </p:sp>
      <p:sp>
        <p:nvSpPr>
          <p:cNvPr id="7" name="TextBox 6">
            <a:extLst>
              <a:ext uri="{FF2B5EF4-FFF2-40B4-BE49-F238E27FC236}">
                <a16:creationId xmlns:a16="http://schemas.microsoft.com/office/drawing/2014/main" id="{BC47B393-5FE7-4B91-BF5C-D18FFB821917}"/>
              </a:ext>
            </a:extLst>
          </p:cNvPr>
          <p:cNvSpPr txBox="1"/>
          <p:nvPr/>
        </p:nvSpPr>
        <p:spPr bwMode="auto">
          <a:xfrm>
            <a:off x="457200" y="1076325"/>
            <a:ext cx="4038600" cy="5248275"/>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p>
            <a:pPr marL="342900" indent="-342900" algn="l">
              <a:lnSpc>
                <a:spcPct val="150000"/>
              </a:lnSpc>
              <a:spcBef>
                <a:spcPct val="20000"/>
              </a:spcBef>
              <a:buClr>
                <a:srgbClr val="FF0000"/>
              </a:buClr>
              <a:buFont typeface="Arial" panose="020B0604020202020204" pitchFamily="34" charset="0"/>
              <a:buChar char="•"/>
            </a:pPr>
            <a:r>
              <a:rPr lang="en-US">
                <a:solidFill>
                  <a:schemeClr val="tx1"/>
                </a:solidFill>
                <a:latin typeface="Times New Roman" panose="02020603050405020304" pitchFamily="18" charset="0"/>
                <a:cs typeface="Times New Roman" panose="02020603050405020304" pitchFamily="18" charset="0"/>
              </a:rPr>
              <a:t>Kích thước của view không bao gồm độ dày của margin</a:t>
            </a:r>
          </a:p>
          <a:p>
            <a:pPr marL="342900" indent="-342900" algn="l">
              <a:lnSpc>
                <a:spcPct val="150000"/>
              </a:lnSpc>
              <a:spcBef>
                <a:spcPct val="20000"/>
              </a:spcBef>
              <a:buClr>
                <a:srgbClr val="FF0000"/>
              </a:buClr>
              <a:buFont typeface="Arial" panose="020B0604020202020204" pitchFamily="34" charset="0"/>
              <a:buChar char="•"/>
            </a:pPr>
            <a:r>
              <a:rPr lang="en-US">
                <a:solidFill>
                  <a:schemeClr val="tx1"/>
                </a:solidFill>
                <a:latin typeface="Times New Roman" panose="02020603050405020304" pitchFamily="18" charset="0"/>
                <a:cs typeface="Times New Roman" panose="02020603050405020304" pitchFamily="18" charset="0"/>
              </a:rPr>
              <a:t>Trong android không có khái niệm border</a:t>
            </a:r>
          </a:p>
          <a:p>
            <a:pPr marL="342900" indent="-342900" algn="l">
              <a:lnSpc>
                <a:spcPct val="150000"/>
              </a:lnSpc>
              <a:spcBef>
                <a:spcPct val="20000"/>
              </a:spcBef>
              <a:buClr>
                <a:srgbClr val="FF0000"/>
              </a:buClr>
              <a:buFont typeface="Arial" panose="020B0604020202020204" pitchFamily="34" charset="0"/>
              <a:buChar char="•"/>
            </a:pPr>
            <a:r>
              <a:rPr lang="en-US">
                <a:solidFill>
                  <a:schemeClr val="tx1"/>
                </a:solidFill>
                <a:latin typeface="Times New Roman" panose="02020603050405020304" pitchFamily="18" charset="0"/>
                <a:cs typeface="Times New Roman" panose="02020603050405020304" pitchFamily="18" charset="0"/>
              </a:rPr>
              <a:t>Muốn một view có border, lập trình viên sử dụng thủ thuật thiết lập border thông qua background</a:t>
            </a:r>
          </a:p>
        </p:txBody>
      </p:sp>
      <p:pic>
        <p:nvPicPr>
          <p:cNvPr id="5" name="Picture 4" descr="Graphical user interface, diagram, table&#10;&#10;Description automatically generated">
            <a:extLst>
              <a:ext uri="{FF2B5EF4-FFF2-40B4-BE49-F238E27FC236}">
                <a16:creationId xmlns:a16="http://schemas.microsoft.com/office/drawing/2014/main" id="{E2F9EB10-9DD9-4CBF-89A7-A44B30B3B9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1295400"/>
            <a:ext cx="4343400" cy="3539870"/>
          </a:xfrm>
          <a:prstGeom prst="rect">
            <a:avLst/>
          </a:prstGeom>
          <a:noFill/>
        </p:spPr>
      </p:pic>
      <p:sp>
        <p:nvSpPr>
          <p:cNvPr id="48" name="Date Placeholder 47"/>
          <p:cNvSpPr>
            <a:spLocks noGrp="1"/>
          </p:cNvSpPr>
          <p:nvPr>
            <p:ph type="dt" sz="half" idx="10"/>
          </p:nvPr>
        </p:nvSpPr>
        <p:spPr>
          <a:xfrm>
            <a:off x="457200" y="6519863"/>
            <a:ext cx="2133600" cy="244475"/>
          </a:xfrm>
        </p:spPr>
        <p:txBody>
          <a:bodyPr vert="horz" wrap="square" lIns="91440" tIns="45720" rIns="91440" bIns="45720" numCol="1" anchor="t" anchorCtr="0" compatLnSpc="1">
            <a:prstTxWarp prst="textNoShape">
              <a:avLst/>
            </a:prstTxWarp>
            <a:normAutofit/>
          </a:bodyPr>
          <a:lstStyle/>
          <a:p>
            <a:pPr>
              <a:lnSpc>
                <a:spcPct val="90000"/>
              </a:lnSpc>
              <a:spcAft>
                <a:spcPts val="600"/>
              </a:spcAft>
              <a:defRPr/>
            </a:pPr>
            <a:r>
              <a:rPr lang="en-US" sz="1100" kern="1200">
                <a:latin typeface="Arial" charset="0"/>
                <a:ea typeface="+mn-ea"/>
                <a:cs typeface="+mn-cs"/>
              </a:rPr>
              <a:t>Khoa CNTT - UNETI</a:t>
            </a:r>
          </a:p>
        </p:txBody>
      </p:sp>
      <p:sp>
        <p:nvSpPr>
          <p:cNvPr id="3" name="Slide Number Placeholder 2"/>
          <p:cNvSpPr>
            <a:spLocks noGrp="1"/>
          </p:cNvSpPr>
          <p:nvPr>
            <p:ph type="sldNum" sz="quarter" idx="12"/>
          </p:nvPr>
        </p:nvSpPr>
        <p:spPr>
          <a:xfrm>
            <a:off x="8286750" y="6386513"/>
            <a:ext cx="457200" cy="228600"/>
          </a:xfrm>
        </p:spPr>
        <p:txBody>
          <a:bodyPr vert="horz" wrap="square" lIns="91440" tIns="45720" rIns="91440" bIns="45720" numCol="1" anchor="t" anchorCtr="0" compatLnSpc="1">
            <a:prstTxWarp prst="textNoShape">
              <a:avLst/>
            </a:prstTxWarp>
            <a:normAutofit/>
          </a:bodyPr>
          <a:lstStyle/>
          <a:p>
            <a:pPr>
              <a:lnSpc>
                <a:spcPct val="90000"/>
              </a:lnSpc>
              <a:spcAft>
                <a:spcPts val="600"/>
              </a:spcAft>
              <a:defRPr/>
            </a:pPr>
            <a:fld id="{38F16FD5-974A-40BB-8233-36E86F2AA732}" type="slidenum">
              <a:rPr lang="en-US" kern="1200">
                <a:latin typeface="+mn-lt"/>
                <a:ea typeface="+mn-ea"/>
                <a:cs typeface="+mn-cs"/>
              </a:rPr>
              <a:pPr>
                <a:lnSpc>
                  <a:spcPct val="90000"/>
                </a:lnSpc>
                <a:spcAft>
                  <a:spcPts val="600"/>
                </a:spcAft>
                <a:defRPr/>
              </a:pPr>
              <a:t>8</a:t>
            </a:fld>
            <a:endParaRPr lang="en-US" kern="1200">
              <a:latin typeface="+mn-lt"/>
              <a:ea typeface="+mn-ea"/>
              <a:cs typeface="+mn-cs"/>
            </a:endParaRPr>
          </a:p>
        </p:txBody>
      </p:sp>
    </p:spTree>
    <p:extLst>
      <p:ext uri="{BB962C8B-B14F-4D97-AF65-F5344CB8AC3E}">
        <p14:creationId xmlns:p14="http://schemas.microsoft.com/office/powerpoint/2010/main" val="2299512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1.2 XÂY DỰNG GIAO DIỆN SỬ DỤNG XML</a:t>
            </a:r>
            <a:endParaRPr lang="vi-VN" sz="3600" b="1" kern="0">
              <a:solidFill>
                <a:schemeClr val="bg1"/>
              </a:solidFill>
            </a:endParaRPr>
          </a:p>
        </p:txBody>
      </p:sp>
    </p:spTree>
    <p:extLst>
      <p:ext uri="{BB962C8B-B14F-4D97-AF65-F5344CB8AC3E}">
        <p14:creationId xmlns:p14="http://schemas.microsoft.com/office/powerpoint/2010/main" val="1787279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 XÂY DỰNG GIAO DIỆN SỬ DỤNG XML</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10</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28600" y="1076153"/>
            <a:ext cx="8686800" cy="2795958"/>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XML l</a:t>
            </a:r>
            <a:r>
              <a:rPr lang="vi-VN">
                <a:solidFill>
                  <a:schemeClr val="accent4">
                    <a:lumMod val="90000"/>
                    <a:lumOff val="10000"/>
                  </a:schemeClr>
                </a:solidFill>
                <a:latin typeface="Times New Roman" panose="02020603050405020304" pitchFamily="18" charset="0"/>
                <a:cs typeface="Times New Roman" panose="02020603050405020304" pitchFamily="18" charset="0"/>
              </a:rPr>
              <a:t>à phương pháp tạo giao diện phổ biến nhất</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XML có cấu trúc dễ hiểu, phân cấp, giống HTML</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Tên của thành phần XML tương ứng với lớp java trong code</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Dễ chỉnh sửa trên bằng design hoặc sửa file XML</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Text, letter&#10;&#10;Description automatically generated">
            <a:extLst>
              <a:ext uri="{FF2B5EF4-FFF2-40B4-BE49-F238E27FC236}">
                <a16:creationId xmlns:a16="http://schemas.microsoft.com/office/drawing/2014/main" id="{C4EBA169-DE3C-4BA3-8CFD-DD93D00482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3429000"/>
            <a:ext cx="6019800" cy="2821781"/>
          </a:xfrm>
          <a:prstGeom prst="rect">
            <a:avLst/>
          </a:prstGeom>
        </p:spPr>
      </p:pic>
    </p:spTree>
    <p:extLst>
      <p:ext uri="{BB962C8B-B14F-4D97-AF65-F5344CB8AC3E}">
        <p14:creationId xmlns:p14="http://schemas.microsoft.com/office/powerpoint/2010/main" val="3971557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 XÂY DỰNG GIAO DIỆN SỬ DỤNG XML</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11</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152400" y="941250"/>
            <a:ext cx="86868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Các bước tạo Layout sử dụng XML:</a:t>
            </a:r>
          </a:p>
        </p:txBody>
      </p:sp>
      <p:pic>
        <p:nvPicPr>
          <p:cNvPr id="11" name="Picture 10">
            <a:extLst>
              <a:ext uri="{FF2B5EF4-FFF2-40B4-BE49-F238E27FC236}">
                <a16:creationId xmlns:a16="http://schemas.microsoft.com/office/drawing/2014/main" id="{A7CE6282-733C-486C-B378-E2471F1A69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504812"/>
            <a:ext cx="7086600" cy="4995897"/>
          </a:xfrm>
          <a:prstGeom prst="rect">
            <a:avLst/>
          </a:prstGeom>
        </p:spPr>
      </p:pic>
    </p:spTree>
    <p:extLst>
      <p:ext uri="{BB962C8B-B14F-4D97-AF65-F5344CB8AC3E}">
        <p14:creationId xmlns:p14="http://schemas.microsoft.com/office/powerpoint/2010/main" val="1028706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 XÂY DỰNG GIAO DIỆN SỬ DỤNG XML</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12</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152400" y="941250"/>
            <a:ext cx="86868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Các bước tạo Layout sử dụng XML</a:t>
            </a:r>
          </a:p>
        </p:txBody>
      </p:sp>
      <p:pic>
        <p:nvPicPr>
          <p:cNvPr id="8" name="Picture 7" descr="Graphical user interface, text, application&#10;&#10;Description automatically generated">
            <a:extLst>
              <a:ext uri="{FF2B5EF4-FFF2-40B4-BE49-F238E27FC236}">
                <a16:creationId xmlns:a16="http://schemas.microsoft.com/office/drawing/2014/main" id="{43D97136-82E3-473E-8919-1C0B14E4B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490962"/>
            <a:ext cx="6837040" cy="4986037"/>
          </a:xfrm>
          <a:prstGeom prst="rect">
            <a:avLst/>
          </a:prstGeom>
        </p:spPr>
      </p:pic>
    </p:spTree>
    <p:extLst>
      <p:ext uri="{BB962C8B-B14F-4D97-AF65-F5344CB8AC3E}">
        <p14:creationId xmlns:p14="http://schemas.microsoft.com/office/powerpoint/2010/main" val="3520789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 XÂY DỰNG GIAO DIỆN SỬ DỤNG XML</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13</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152400" y="941250"/>
            <a:ext cx="86868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Sử dụng giao diện kéo thả của Android Studio</a:t>
            </a:r>
          </a:p>
        </p:txBody>
      </p:sp>
      <p:pic>
        <p:nvPicPr>
          <p:cNvPr id="9" name="Picture 8" descr="Graphical user interface, application&#10;&#10;Description automatically generated">
            <a:extLst>
              <a:ext uri="{FF2B5EF4-FFF2-40B4-BE49-F238E27FC236}">
                <a16:creationId xmlns:a16="http://schemas.microsoft.com/office/drawing/2014/main" id="{AE085553-AF05-4F6C-91F9-7BD081B2D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710" y="1613051"/>
            <a:ext cx="8776579" cy="4548279"/>
          </a:xfrm>
          <a:prstGeom prst="rect">
            <a:avLst/>
          </a:prstGeom>
        </p:spPr>
      </p:pic>
    </p:spTree>
    <p:extLst>
      <p:ext uri="{BB962C8B-B14F-4D97-AF65-F5344CB8AC3E}">
        <p14:creationId xmlns:p14="http://schemas.microsoft.com/office/powerpoint/2010/main" val="2961390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 XÂY DỰNG GIAO DIỆN SỬ DỤNG XML</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14</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152400" y="941250"/>
            <a:ext cx="86868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Code trực tiếp trên file xml</a:t>
            </a:r>
          </a:p>
        </p:txBody>
      </p:sp>
      <p:pic>
        <p:nvPicPr>
          <p:cNvPr id="5" name="Picture 4" descr="Text&#10;&#10;Description automatically generated">
            <a:extLst>
              <a:ext uri="{FF2B5EF4-FFF2-40B4-BE49-F238E27FC236}">
                <a16:creationId xmlns:a16="http://schemas.microsoft.com/office/drawing/2014/main" id="{FF587A27-470E-43BF-9079-ED28F0A6BD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530" y="1631767"/>
            <a:ext cx="8793744" cy="4644196"/>
          </a:xfrm>
          <a:prstGeom prst="rect">
            <a:avLst/>
          </a:prstGeom>
        </p:spPr>
      </p:pic>
    </p:spTree>
    <p:extLst>
      <p:ext uri="{BB962C8B-B14F-4D97-AF65-F5344CB8AC3E}">
        <p14:creationId xmlns:p14="http://schemas.microsoft.com/office/powerpoint/2010/main" val="3600322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 XÂY DỰNG GIAO DIỆN SỬ DỤNG XML</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15</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152400" y="941250"/>
            <a:ext cx="86868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Gọi file layout xml và chạy </a:t>
            </a:r>
          </a:p>
        </p:txBody>
      </p:sp>
      <p:pic>
        <p:nvPicPr>
          <p:cNvPr id="6" name="Picture 5" descr="A screenshot of a cell phone&#10;&#10;Description automatically generated with medium confidence">
            <a:extLst>
              <a:ext uri="{FF2B5EF4-FFF2-40B4-BE49-F238E27FC236}">
                <a16:creationId xmlns:a16="http://schemas.microsoft.com/office/drawing/2014/main" id="{AC525207-BDF8-46A5-8E9A-B531069F3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493825"/>
            <a:ext cx="7079146" cy="4920080"/>
          </a:xfrm>
          <a:prstGeom prst="rect">
            <a:avLst/>
          </a:prstGeom>
        </p:spPr>
      </p:pic>
    </p:spTree>
    <p:extLst>
      <p:ext uri="{BB962C8B-B14F-4D97-AF65-F5344CB8AC3E}">
        <p14:creationId xmlns:p14="http://schemas.microsoft.com/office/powerpoint/2010/main" val="647924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1.3 MỘT SỐ LAYOUT THÔNG DỤNG</a:t>
            </a:r>
            <a:endParaRPr lang="vi-VN" sz="3600" b="1" kern="0">
              <a:solidFill>
                <a:schemeClr val="bg1"/>
              </a:solidFill>
            </a:endParaRPr>
          </a:p>
        </p:txBody>
      </p:sp>
    </p:spTree>
    <p:extLst>
      <p:ext uri="{BB962C8B-B14F-4D97-AF65-F5344CB8AC3E}">
        <p14:creationId xmlns:p14="http://schemas.microsoft.com/office/powerpoint/2010/main" val="777601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LinearLayout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17</a:t>
            </a:fld>
            <a:endParaRPr lang="en-US"/>
          </a:p>
        </p:txBody>
      </p:sp>
      <p:pic>
        <p:nvPicPr>
          <p:cNvPr id="5" name="Picture 4" descr="Text&#10;&#10;Description automatically generated">
            <a:extLst>
              <a:ext uri="{FF2B5EF4-FFF2-40B4-BE49-F238E27FC236}">
                <a16:creationId xmlns:a16="http://schemas.microsoft.com/office/drawing/2014/main" id="{24096070-748E-41D8-BD8C-6EBFA673EB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413" y="1295400"/>
            <a:ext cx="8695173" cy="4343400"/>
          </a:xfrm>
          <a:prstGeom prst="rect">
            <a:avLst/>
          </a:prstGeom>
        </p:spPr>
      </p:pic>
    </p:spTree>
    <p:extLst>
      <p:ext uri="{BB962C8B-B14F-4D97-AF65-F5344CB8AC3E}">
        <p14:creationId xmlns:p14="http://schemas.microsoft.com/office/powerpoint/2010/main" val="2638751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LinearLayout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18</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28600" y="1066800"/>
            <a:ext cx="7772400" cy="5042727"/>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Các view bên trong nó được xếp liên tiếp thành một</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a:solidFill>
                  <a:schemeClr val="accent4">
                    <a:lumMod val="90000"/>
                    <a:lumOff val="10000"/>
                  </a:schemeClr>
                </a:solidFill>
                <a:latin typeface="Times New Roman" panose="02020603050405020304" pitchFamily="18" charset="0"/>
                <a:cs typeface="Times New Roman" panose="02020603050405020304" pitchFamily="18" charset="0"/>
              </a:rPr>
              <a:t>hàng hoặc một cột</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Thuộc tính </a:t>
            </a:r>
            <a:r>
              <a:rPr lang="fr-FR">
                <a:solidFill>
                  <a:schemeClr val="accent2">
                    <a:lumMod val="50000"/>
                  </a:schemeClr>
                </a:solidFill>
                <a:latin typeface="Times New Roman" panose="02020603050405020304" pitchFamily="18" charset="0"/>
                <a:cs typeface="Times New Roman" panose="02020603050405020304" pitchFamily="18" charset="0"/>
              </a:rPr>
              <a:t>android:orientation </a:t>
            </a:r>
            <a:r>
              <a:rPr lang="fr-FR">
                <a:solidFill>
                  <a:schemeClr val="accent4">
                    <a:lumMod val="90000"/>
                    <a:lumOff val="10000"/>
                  </a:schemeClr>
                </a:solidFill>
                <a:latin typeface="Times New Roman" panose="02020603050405020304" pitchFamily="18" charset="0"/>
                <a:cs typeface="Times New Roman" panose="02020603050405020304" pitchFamily="18" charset="0"/>
              </a:rPr>
              <a:t>quy định cách bố cục theo hàng hay theo cột, giá trị có thể là:</a:t>
            </a:r>
          </a:p>
          <a:p>
            <a:pPr marL="800100" lvl="1" indent="-342900" algn="l">
              <a:lnSpc>
                <a:spcPct val="150000"/>
              </a:lnSpc>
              <a:spcBef>
                <a:spcPts val="600"/>
              </a:spcBef>
              <a:buClr>
                <a:srgbClr val="FF0000"/>
              </a:buClr>
              <a:buFont typeface="Arial" panose="020B0604020202020204" pitchFamily="34" charset="0"/>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a:t>
            </a:r>
            <a:r>
              <a:rPr lang="vi-VN" sz="2000">
                <a:solidFill>
                  <a:srgbClr val="0070C0"/>
                </a:solidFill>
                <a:latin typeface="Times New Roman" panose="02020603050405020304" pitchFamily="18" charset="0"/>
                <a:cs typeface="Times New Roman" panose="02020603050405020304" pitchFamily="18" charset="0"/>
              </a:rPr>
              <a:t>vertical</a:t>
            </a: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 các view bên trong LinearLayout được sắp</a:t>
            </a: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xếp theo chiều dọc</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spcBef>
                <a:spcPts val="600"/>
              </a:spcBef>
              <a:buClr>
                <a:srgbClr val="FF0000"/>
              </a:buClr>
              <a:buFont typeface="Arial" panose="020B0604020202020204" pitchFamily="34" charset="0"/>
              <a:buChar char="•"/>
            </a:pPr>
            <a:r>
              <a:rPr lang="fr-FR" sz="200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sz="2000">
                <a:solidFill>
                  <a:srgbClr val="0070C0"/>
                </a:solidFill>
                <a:latin typeface="Times New Roman" panose="02020603050405020304" pitchFamily="18" charset="0"/>
                <a:cs typeface="Times New Roman" panose="02020603050405020304" pitchFamily="18" charset="0"/>
              </a:rPr>
              <a:t>horizontal</a:t>
            </a:r>
            <a:r>
              <a:rPr lang="fr-FR" sz="2000">
                <a:solidFill>
                  <a:schemeClr val="accent4">
                    <a:lumMod val="90000"/>
                    <a:lumOff val="10000"/>
                  </a:schemeClr>
                </a:solidFill>
                <a:latin typeface="Times New Roman" panose="02020603050405020304" pitchFamily="18" charset="0"/>
                <a:cs typeface="Times New Roman" panose="02020603050405020304" pitchFamily="18" charset="0"/>
              </a:rPr>
              <a:t>”: các view bên trong sắp xếp theo chiều ngang</a:t>
            </a:r>
          </a:p>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LinearLayout không thay đổi kích thước các view con, chỉ điều chỉnh vị trí của chúng</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0891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LinearLayout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19</a:t>
            </a:fld>
            <a:endParaRPr lang="en-US"/>
          </a:p>
        </p:txBody>
      </p:sp>
      <p:pic>
        <p:nvPicPr>
          <p:cNvPr id="5" name="Picture 4" descr="Graphical user interface&#10;&#10;Description automatically generated">
            <a:extLst>
              <a:ext uri="{FF2B5EF4-FFF2-40B4-BE49-F238E27FC236}">
                <a16:creationId xmlns:a16="http://schemas.microsoft.com/office/drawing/2014/main" id="{C5D2828B-13B2-4725-8148-6F5E46E3E8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226926"/>
            <a:ext cx="7315834" cy="4877223"/>
          </a:xfrm>
          <a:prstGeom prst="rect">
            <a:avLst/>
          </a:prstGeom>
        </p:spPr>
      </p:pic>
    </p:spTree>
    <p:extLst>
      <p:ext uri="{BB962C8B-B14F-4D97-AF65-F5344CB8AC3E}">
        <p14:creationId xmlns:p14="http://schemas.microsoft.com/office/powerpoint/2010/main" val="2167897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RelativeLayout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20</a:t>
            </a:fld>
            <a:endParaRPr lang="en-US"/>
          </a:p>
        </p:txBody>
      </p:sp>
      <p:sp>
        <p:nvSpPr>
          <p:cNvPr id="6" name="TextBox 5">
            <a:extLst>
              <a:ext uri="{FF2B5EF4-FFF2-40B4-BE49-F238E27FC236}">
                <a16:creationId xmlns:a16="http://schemas.microsoft.com/office/drawing/2014/main" id="{B60BA41A-9D0A-45C1-A5FB-210C1EBBD477}"/>
              </a:ext>
            </a:extLst>
          </p:cNvPr>
          <p:cNvSpPr txBox="1"/>
          <p:nvPr/>
        </p:nvSpPr>
        <p:spPr>
          <a:xfrm>
            <a:off x="228600" y="1066800"/>
            <a:ext cx="3733800" cy="5088894"/>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Các view con trong layout xác định vị trí và kích thước dựa trên quan hệ với view cha hoặc các view con khác</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Dùng trong trường hợp đặt trọng tâm vào mối quan hệ giữa các thành phần</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7" name="Picture 6" descr="Text&#10;&#10;Description automatically generated">
            <a:extLst>
              <a:ext uri="{FF2B5EF4-FFF2-40B4-BE49-F238E27FC236}">
                <a16:creationId xmlns:a16="http://schemas.microsoft.com/office/drawing/2014/main" id="{733266DF-9DAE-410A-8267-53CBF8D7A4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5591" y="1083365"/>
            <a:ext cx="4660588" cy="5303148"/>
          </a:xfrm>
          <a:prstGeom prst="rect">
            <a:avLst/>
          </a:prstGeom>
        </p:spPr>
      </p:pic>
    </p:spTree>
    <p:extLst>
      <p:ext uri="{BB962C8B-B14F-4D97-AF65-F5344CB8AC3E}">
        <p14:creationId xmlns:p14="http://schemas.microsoft.com/office/powerpoint/2010/main" val="3003808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RelativeLayout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21</a:t>
            </a:fld>
            <a:endParaRPr lang="en-US"/>
          </a:p>
        </p:txBody>
      </p:sp>
      <p:pic>
        <p:nvPicPr>
          <p:cNvPr id="5" name="Picture 4" descr="Text&#10;&#10;Description automatically generated">
            <a:extLst>
              <a:ext uri="{FF2B5EF4-FFF2-40B4-BE49-F238E27FC236}">
                <a16:creationId xmlns:a16="http://schemas.microsoft.com/office/drawing/2014/main" id="{4B219A89-6BA1-4D07-A21D-EE9956DE45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930" y="1247890"/>
            <a:ext cx="8756139" cy="4701947"/>
          </a:xfrm>
          <a:prstGeom prst="rect">
            <a:avLst/>
          </a:prstGeom>
        </p:spPr>
      </p:pic>
    </p:spTree>
    <p:extLst>
      <p:ext uri="{BB962C8B-B14F-4D97-AF65-F5344CB8AC3E}">
        <p14:creationId xmlns:p14="http://schemas.microsoft.com/office/powerpoint/2010/main" val="4128521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RelativeLayout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22</a:t>
            </a:fld>
            <a:endParaRPr lang="en-US"/>
          </a:p>
        </p:txBody>
      </p:sp>
      <p:pic>
        <p:nvPicPr>
          <p:cNvPr id="6" name="Picture 5" descr="Graphical user interface, text&#10;&#10;Description automatically generated">
            <a:extLst>
              <a:ext uri="{FF2B5EF4-FFF2-40B4-BE49-F238E27FC236}">
                <a16:creationId xmlns:a16="http://schemas.microsoft.com/office/drawing/2014/main" id="{AE0A2A37-DC55-48E4-9B1C-6B1903A02D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396" y="1098867"/>
            <a:ext cx="8855207" cy="5113463"/>
          </a:xfrm>
          <a:prstGeom prst="rect">
            <a:avLst/>
          </a:prstGeom>
        </p:spPr>
      </p:pic>
    </p:spTree>
    <p:extLst>
      <p:ext uri="{BB962C8B-B14F-4D97-AF65-F5344CB8AC3E}">
        <p14:creationId xmlns:p14="http://schemas.microsoft.com/office/powerpoint/2010/main" val="1737557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1.3.3. FrameLayout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23</a:t>
            </a:fld>
            <a:endParaRPr lang="en-US"/>
          </a:p>
        </p:txBody>
      </p:sp>
      <p:sp>
        <p:nvSpPr>
          <p:cNvPr id="7" name="TextBox 6">
            <a:extLst>
              <a:ext uri="{FF2B5EF4-FFF2-40B4-BE49-F238E27FC236}">
                <a16:creationId xmlns:a16="http://schemas.microsoft.com/office/drawing/2014/main" id="{0FB9AF76-9A3C-40DE-A8DB-55CB70A6452D}"/>
              </a:ext>
            </a:extLst>
          </p:cNvPr>
          <p:cNvSpPr txBox="1"/>
          <p:nvPr/>
        </p:nvSpPr>
        <p:spPr>
          <a:xfrm>
            <a:off x="228600" y="1066800"/>
            <a:ext cx="5181600" cy="4134786"/>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Các view con được đặt liên tiếp chồng lên nhau, view sau đặt lên trên view trước</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Layout không tự động đổi kích thước của view con</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Có</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thể</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chuyển</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view</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con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lên</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trên</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bằng</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code:</a:t>
            </a:r>
          </a:p>
        </p:txBody>
      </p:sp>
      <p:pic>
        <p:nvPicPr>
          <p:cNvPr id="5" name="Picture 4" descr="A picture containing text&#10;&#10;Description automatically generated">
            <a:extLst>
              <a:ext uri="{FF2B5EF4-FFF2-40B4-BE49-F238E27FC236}">
                <a16:creationId xmlns:a16="http://schemas.microsoft.com/office/drawing/2014/main" id="{F3732A2F-BF1F-4CA6-AB2B-925F668A76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017" y="5318658"/>
            <a:ext cx="6027942" cy="998307"/>
          </a:xfrm>
          <a:prstGeom prst="rect">
            <a:avLst/>
          </a:prstGeom>
        </p:spPr>
      </p:pic>
      <p:pic>
        <p:nvPicPr>
          <p:cNvPr id="9" name="Picture 8" descr="A picture containing shape&#10;&#10;Description automatically generated">
            <a:extLst>
              <a:ext uri="{FF2B5EF4-FFF2-40B4-BE49-F238E27FC236}">
                <a16:creationId xmlns:a16="http://schemas.microsoft.com/office/drawing/2014/main" id="{4DA68745-1CA8-42E3-8187-6D781491E4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1383" y="1080052"/>
            <a:ext cx="2842506" cy="4134786"/>
          </a:xfrm>
          <a:prstGeom prst="rect">
            <a:avLst/>
          </a:prstGeom>
        </p:spPr>
      </p:pic>
    </p:spTree>
    <p:extLst>
      <p:ext uri="{BB962C8B-B14F-4D97-AF65-F5344CB8AC3E}">
        <p14:creationId xmlns:p14="http://schemas.microsoft.com/office/powerpoint/2010/main" val="1944351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1.3.3. FrameLayout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24</a:t>
            </a:fld>
            <a:endParaRPr lang="en-US"/>
          </a:p>
        </p:txBody>
      </p:sp>
      <p:sp>
        <p:nvSpPr>
          <p:cNvPr id="7" name="TextBox 6">
            <a:extLst>
              <a:ext uri="{FF2B5EF4-FFF2-40B4-BE49-F238E27FC236}">
                <a16:creationId xmlns:a16="http://schemas.microsoft.com/office/drawing/2014/main" id="{0FB9AF76-9A3C-40DE-A8DB-55CB70A6452D}"/>
              </a:ext>
            </a:extLst>
          </p:cNvPr>
          <p:cNvSpPr txBox="1"/>
          <p:nvPr/>
        </p:nvSpPr>
        <p:spPr>
          <a:xfrm>
            <a:off x="19878" y="964441"/>
            <a:ext cx="9047922" cy="5319726"/>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fr-FR" b="1" dirty="0" err="1">
                <a:solidFill>
                  <a:schemeClr val="accent4">
                    <a:lumMod val="90000"/>
                    <a:lumOff val="10000"/>
                  </a:schemeClr>
                </a:solidFill>
                <a:latin typeface="Times New Roman" panose="02020603050405020304" pitchFamily="18" charset="0"/>
                <a:cs typeface="Times New Roman" panose="02020603050405020304" pitchFamily="18" charset="0"/>
              </a:rPr>
              <a:t>ScrollView</a:t>
            </a:r>
            <a:r>
              <a:rPr lang="fr-FR" b="1" dirty="0">
                <a:solidFill>
                  <a:schemeClr val="accent4">
                    <a:lumMod val="90000"/>
                    <a:lumOff val="10000"/>
                  </a:schemeClr>
                </a:solidFill>
                <a:latin typeface="Times New Roman" panose="02020603050405020304" pitchFamily="18" charset="0"/>
                <a:cs typeface="Times New Roman" panose="02020603050405020304" pitchFamily="18" charset="0"/>
              </a:rPr>
              <a:t> &amp; </a:t>
            </a:r>
            <a:r>
              <a:rPr lang="fr-FR" b="1" dirty="0" err="1">
                <a:solidFill>
                  <a:schemeClr val="accent4">
                    <a:lumMod val="90000"/>
                    <a:lumOff val="10000"/>
                  </a:schemeClr>
                </a:solidFill>
                <a:latin typeface="Times New Roman" panose="02020603050405020304" pitchFamily="18" charset="0"/>
                <a:cs typeface="Times New Roman" panose="02020603050405020304" pitchFamily="18" charset="0"/>
              </a:rPr>
              <a:t>HorizontalScrollView</a:t>
            </a:r>
            <a:endParaRPr lang="fr-FR" b="1"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spcBef>
                <a:spcPts val="600"/>
              </a:spcBef>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ScrollView và</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HorizontalScrollView là trường hợp đặc biệt của FrameLayout</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spcBef>
                <a:spcPts val="600"/>
              </a:spcBef>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Cho phép view con có thể có kích thước lớn hơn view cha</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spcBef>
                <a:spcPts val="600"/>
              </a:spcBef>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Trong trường hợp view con nhỏ hơn view cha, người dùng chỉ nhìn và tương tác với view con</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spcBef>
                <a:spcPts val="600"/>
              </a:spcBef>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Trường hợp view con có kích thước lớn hơn view cha, ScrollView và HorizontalScrollView sẽ tự động xuất hiện các thanh cuộn phù hợp</a:t>
            </a:r>
            <a:endParaRPr lang="fr-FR" dirty="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3380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1.3.4 TableLayout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25</a:t>
            </a:fld>
            <a:endParaRPr lang="en-US"/>
          </a:p>
        </p:txBody>
      </p:sp>
      <p:sp>
        <p:nvSpPr>
          <p:cNvPr id="7" name="TextBox 6">
            <a:extLst>
              <a:ext uri="{FF2B5EF4-FFF2-40B4-BE49-F238E27FC236}">
                <a16:creationId xmlns:a16="http://schemas.microsoft.com/office/drawing/2014/main" id="{0FB9AF76-9A3C-40DE-A8DB-55CB70A6452D}"/>
              </a:ext>
            </a:extLst>
          </p:cNvPr>
          <p:cNvSpPr txBox="1"/>
          <p:nvPr/>
        </p:nvSpPr>
        <p:spPr>
          <a:xfrm>
            <a:off x="124239" y="951503"/>
            <a:ext cx="8895522" cy="4765728"/>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TableLayout dùng để tổ chức các đối tượng view dưới dạng một bảng gồm nhiều dòng và cột</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Mỗi dòng nằm trong một thẻ &lt;TableRow&gt;</a:t>
            </a:r>
          </a:p>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Mỗi đối tượng view đặt trên một dòng sẽ tạo thành một ô trong giao diện lưới do TableLayout tạo ra</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Chiều rộng của mỗi cột được xác định bằng chiều rộng lớn nhất của các ô nằm trên cùng một cột</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Kích thước của mỗi dòng cột không nhất thiết phải bằng nhau</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27485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1.3.4 TableLayout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26</a:t>
            </a:fld>
            <a:endParaRPr lang="en-US"/>
          </a:p>
        </p:txBody>
      </p:sp>
      <p:pic>
        <p:nvPicPr>
          <p:cNvPr id="5" name="Picture 4" descr="Graphical user interface, application&#10;&#10;Description automatically generated">
            <a:extLst>
              <a:ext uri="{FF2B5EF4-FFF2-40B4-BE49-F238E27FC236}">
                <a16:creationId xmlns:a16="http://schemas.microsoft.com/office/drawing/2014/main" id="{1080C05C-2FFF-408E-B132-010EB9F1D1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58340"/>
            <a:ext cx="8946655" cy="5014395"/>
          </a:xfrm>
          <a:prstGeom prst="rect">
            <a:avLst/>
          </a:prstGeom>
        </p:spPr>
      </p:pic>
    </p:spTree>
    <p:extLst>
      <p:ext uri="{BB962C8B-B14F-4D97-AF65-F5344CB8AC3E}">
        <p14:creationId xmlns:p14="http://schemas.microsoft.com/office/powerpoint/2010/main" val="9741497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1.3.4 TableLayout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27</a:t>
            </a:fld>
            <a:endParaRPr lang="en-US"/>
          </a:p>
        </p:txBody>
      </p:sp>
      <p:sp>
        <p:nvSpPr>
          <p:cNvPr id="6" name="TextBox 5">
            <a:extLst>
              <a:ext uri="{FF2B5EF4-FFF2-40B4-BE49-F238E27FC236}">
                <a16:creationId xmlns:a16="http://schemas.microsoft.com/office/drawing/2014/main" id="{B412DA26-A1F0-4278-952B-7DA32899106A}"/>
              </a:ext>
            </a:extLst>
          </p:cNvPr>
          <p:cNvSpPr txBox="1"/>
          <p:nvPr/>
        </p:nvSpPr>
        <p:spPr>
          <a:xfrm>
            <a:off x="124239" y="1492998"/>
            <a:ext cx="8895522" cy="4211730"/>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Thông thường mỗi view sẽ chiếm một ô trên lưới</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Trường hợp muốn để trống ô ta có thể đặt vào đó một textview trống (bằng thẻ &lt;TextView /&gt;)</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Tuy nhiên ta cũng có thể chỉ định kích thước và vị trí của view thông qua các thuộc tính ẩn:</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spcBef>
                <a:spcPts val="600"/>
              </a:spcBef>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a:t>
            </a:r>
            <a:r>
              <a:rPr lang="fr-FR">
                <a:solidFill>
                  <a:srgbClr val="0070C0"/>
                </a:solidFill>
                <a:latin typeface="Times New Roman" panose="02020603050405020304" pitchFamily="18" charset="0"/>
                <a:cs typeface="Times New Roman" panose="02020603050405020304" pitchFamily="18" charset="0"/>
              </a:rPr>
              <a:t>android:layout_span</a:t>
            </a:r>
            <a:r>
              <a:rPr lang="fr-FR">
                <a:solidFill>
                  <a:schemeClr val="accent4">
                    <a:lumMod val="90000"/>
                    <a:lumOff val="10000"/>
                  </a:schemeClr>
                </a:solidFill>
                <a:latin typeface="Times New Roman" panose="02020603050405020304" pitchFamily="18" charset="0"/>
                <a:cs typeface="Times New Roman" panose="02020603050405020304" pitchFamily="18" charset="0"/>
              </a:rPr>
              <a:t>”: cỡ của view (bao nhiêu cột)</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spcBef>
                <a:spcPts val="600"/>
              </a:spcBef>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a:t>
            </a:r>
            <a:r>
              <a:rPr lang="fr-FR">
                <a:solidFill>
                  <a:srgbClr val="0070C0"/>
                </a:solidFill>
                <a:latin typeface="Times New Roman" panose="02020603050405020304" pitchFamily="18" charset="0"/>
                <a:cs typeface="Times New Roman" panose="02020603050405020304" pitchFamily="18" charset="0"/>
              </a:rPr>
              <a:t>android:layout_column</a:t>
            </a:r>
            <a:r>
              <a:rPr lang="fr-FR">
                <a:solidFill>
                  <a:schemeClr val="accent4">
                    <a:lumMod val="90000"/>
                    <a:lumOff val="10000"/>
                  </a:schemeClr>
                </a:solidFill>
                <a:latin typeface="Times New Roman" panose="02020603050405020304" pitchFamily="18" charset="0"/>
                <a:cs typeface="Times New Roman" panose="02020603050405020304" pitchFamily="18" charset="0"/>
              </a:rPr>
              <a:t>”: vị trí cột đặt view</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2055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1.3.5 AbsoluteLayout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28</a:t>
            </a:fld>
            <a:endParaRPr lang="en-US"/>
          </a:p>
        </p:txBody>
      </p:sp>
      <p:sp>
        <p:nvSpPr>
          <p:cNvPr id="6" name="TextBox 5">
            <a:extLst>
              <a:ext uri="{FF2B5EF4-FFF2-40B4-BE49-F238E27FC236}">
                <a16:creationId xmlns:a16="http://schemas.microsoft.com/office/drawing/2014/main" id="{B412DA26-A1F0-4278-952B-7DA32899106A}"/>
              </a:ext>
            </a:extLst>
          </p:cNvPr>
          <p:cNvSpPr txBox="1"/>
          <p:nvPr/>
        </p:nvSpPr>
        <p:spPr>
          <a:xfrm>
            <a:off x="124239" y="1492998"/>
            <a:ext cx="4447761" cy="4534896"/>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Absolute Layout trong Android giúp bạn xác định vị trí chính xác (các tọa độ x/y) của view con.</a:t>
            </a:r>
          </a:p>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Absolute Layout là ít linh động và khó duy trì hơn các loại Layout mà không có vị trí tuyệt đối khác.</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C2AD969-BD28-41ED-8C36-E0202251C4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4400" y="1295400"/>
            <a:ext cx="4019550" cy="4578098"/>
          </a:xfrm>
          <a:prstGeom prst="rect">
            <a:avLst/>
          </a:prstGeom>
        </p:spPr>
      </p:pic>
    </p:spTree>
    <p:extLst>
      <p:ext uri="{BB962C8B-B14F-4D97-AF65-F5344CB8AC3E}">
        <p14:creationId xmlns:p14="http://schemas.microsoft.com/office/powerpoint/2010/main" val="8870399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1.3.5 AbsoluteLayout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29</a:t>
            </a:fld>
            <a:endParaRPr lang="en-US"/>
          </a:p>
        </p:txBody>
      </p:sp>
      <p:pic>
        <p:nvPicPr>
          <p:cNvPr id="7" name="Picture 6" descr="Text&#10;&#10;Description automatically generated">
            <a:extLst>
              <a:ext uri="{FF2B5EF4-FFF2-40B4-BE49-F238E27FC236}">
                <a16:creationId xmlns:a16="http://schemas.microsoft.com/office/drawing/2014/main" id="{5502F3CD-232E-4590-B564-53DDF9F9B6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371600"/>
            <a:ext cx="8229600" cy="4573378"/>
          </a:xfrm>
          <a:prstGeom prst="rect">
            <a:avLst/>
          </a:prstGeom>
        </p:spPr>
      </p:pic>
      <p:pic>
        <p:nvPicPr>
          <p:cNvPr id="9" name="Picture 8" descr="Graphical user interface, text, application&#10;&#10;Description automatically generated">
            <a:extLst>
              <a:ext uri="{FF2B5EF4-FFF2-40B4-BE49-F238E27FC236}">
                <a16:creationId xmlns:a16="http://schemas.microsoft.com/office/drawing/2014/main" id="{0A80BA88-C138-4146-BA01-9E3587DCBE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7400" y="2126554"/>
            <a:ext cx="2270957" cy="4374259"/>
          </a:xfrm>
          <a:prstGeom prst="rect">
            <a:avLst/>
          </a:prstGeom>
        </p:spPr>
      </p:pic>
    </p:spTree>
    <p:extLst>
      <p:ext uri="{BB962C8B-B14F-4D97-AF65-F5344CB8AC3E}">
        <p14:creationId xmlns:p14="http://schemas.microsoft.com/office/powerpoint/2010/main" val="39911689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1.4 MỘT SỐ VIEW THÔNG DỤNG</a:t>
            </a:r>
            <a:endParaRPr lang="vi-VN" sz="3600" b="1" kern="0">
              <a:solidFill>
                <a:schemeClr val="bg1"/>
              </a:solidFill>
            </a:endParaRPr>
          </a:p>
        </p:txBody>
      </p:sp>
    </p:spTree>
    <p:extLst>
      <p:ext uri="{BB962C8B-B14F-4D97-AF65-F5344CB8AC3E}">
        <p14:creationId xmlns:p14="http://schemas.microsoft.com/office/powerpoint/2010/main" val="17626129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1.4.1 TextView </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31</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43000"/>
            <a:ext cx="7772400" cy="3914983"/>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Mục đích: hiển thị văn bản</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Một số thuộc tính hay được sử dụng: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fr-FR" sz="2000">
                <a:solidFill>
                  <a:srgbClr val="0070C0"/>
                </a:solidFill>
                <a:latin typeface="Times New Roman" panose="02020603050405020304" pitchFamily="18" charset="0"/>
                <a:cs typeface="Times New Roman" panose="02020603050405020304" pitchFamily="18" charset="0"/>
              </a:rPr>
              <a:t>android:layout_width</a:t>
            </a:r>
          </a:p>
          <a:p>
            <a:pPr marL="800100" lvl="1" indent="-342900" algn="l">
              <a:lnSpc>
                <a:spcPct val="150000"/>
              </a:lnSpc>
              <a:buClr>
                <a:srgbClr val="FF0000"/>
              </a:buClr>
              <a:buFont typeface="Arial" panose="020B0604020202020204" pitchFamily="34" charset="0"/>
              <a:buChar char="•"/>
            </a:pPr>
            <a:r>
              <a:rPr lang="fr-FR" sz="2000">
                <a:solidFill>
                  <a:srgbClr val="0070C0"/>
                </a:solidFill>
                <a:latin typeface="Times New Roman" panose="02020603050405020304" pitchFamily="18" charset="0"/>
                <a:cs typeface="Times New Roman" panose="02020603050405020304" pitchFamily="18" charset="0"/>
              </a:rPr>
              <a:t>android:layout_height</a:t>
            </a:r>
          </a:p>
          <a:p>
            <a:pPr marL="800100" lvl="1" indent="-342900" algn="l">
              <a:lnSpc>
                <a:spcPct val="150000"/>
              </a:lnSpc>
              <a:buClr>
                <a:srgbClr val="FF0000"/>
              </a:buClr>
              <a:buFont typeface="Arial" panose="020B0604020202020204" pitchFamily="34" charset="0"/>
              <a:buChar char="•"/>
            </a:pPr>
            <a:r>
              <a:rPr lang="fr-FR" sz="2000">
                <a:solidFill>
                  <a:srgbClr val="0070C0"/>
                </a:solidFill>
                <a:latin typeface="Times New Roman" panose="02020603050405020304" pitchFamily="18" charset="0"/>
                <a:cs typeface="Times New Roman" panose="02020603050405020304" pitchFamily="18" charset="0"/>
              </a:rPr>
              <a:t>android:text</a:t>
            </a:r>
          </a:p>
          <a:p>
            <a:pPr marL="800100" lvl="1" indent="-342900" algn="l">
              <a:lnSpc>
                <a:spcPct val="150000"/>
              </a:lnSpc>
              <a:buClr>
                <a:srgbClr val="FF0000"/>
              </a:buClr>
              <a:buFont typeface="Arial" panose="020B0604020202020204" pitchFamily="34" charset="0"/>
              <a:buChar char="•"/>
            </a:pPr>
            <a:r>
              <a:rPr lang="fr-FR" sz="2000">
                <a:solidFill>
                  <a:srgbClr val="0070C0"/>
                </a:solidFill>
                <a:latin typeface="Times New Roman" panose="02020603050405020304" pitchFamily="18" charset="0"/>
                <a:cs typeface="Times New Roman" panose="02020603050405020304" pitchFamily="18" charset="0"/>
              </a:rPr>
              <a:t>android:textColor</a:t>
            </a:r>
          </a:p>
          <a:p>
            <a:pPr marL="800100" lvl="1" indent="-342900" algn="l">
              <a:lnSpc>
                <a:spcPct val="150000"/>
              </a:lnSpc>
              <a:buClr>
                <a:srgbClr val="FF0000"/>
              </a:buClr>
              <a:buFont typeface="Arial" panose="020B0604020202020204" pitchFamily="34" charset="0"/>
              <a:buChar char="•"/>
            </a:pPr>
            <a:r>
              <a:rPr lang="fr-FR" sz="2000">
                <a:solidFill>
                  <a:srgbClr val="0070C0"/>
                </a:solidFill>
                <a:latin typeface="Times New Roman" panose="02020603050405020304" pitchFamily="18" charset="0"/>
                <a:cs typeface="Times New Roman" panose="02020603050405020304" pitchFamily="18" charset="0"/>
              </a:rPr>
              <a:t>android:textSize</a:t>
            </a:r>
          </a:p>
          <a:p>
            <a:pPr marL="800100" lvl="1" indent="-342900" algn="l">
              <a:lnSpc>
                <a:spcPct val="150000"/>
              </a:lnSpc>
              <a:buClr>
                <a:srgbClr val="FF0000"/>
              </a:buClr>
              <a:buFont typeface="Arial" panose="020B0604020202020204" pitchFamily="34" charset="0"/>
              <a:buChar char="•"/>
            </a:pPr>
            <a:r>
              <a:rPr lang="fr-FR" sz="2000">
                <a:solidFill>
                  <a:srgbClr val="0070C0"/>
                </a:solidFill>
                <a:latin typeface="Times New Roman" panose="02020603050405020304" pitchFamily="18" charset="0"/>
                <a:cs typeface="Times New Roman" panose="02020603050405020304" pitchFamily="18" charset="0"/>
              </a:rPr>
              <a:t>android:gravity</a:t>
            </a:r>
          </a:p>
        </p:txBody>
      </p:sp>
      <p:pic>
        <p:nvPicPr>
          <p:cNvPr id="5" name="Picture 4" descr="Text&#10;&#10;Description automatically generated">
            <a:extLst>
              <a:ext uri="{FF2B5EF4-FFF2-40B4-BE49-F238E27FC236}">
                <a16:creationId xmlns:a16="http://schemas.microsoft.com/office/drawing/2014/main" id="{AEC4B5D0-3F3C-43E2-B8C6-AE41A9A383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8946" y="2819400"/>
            <a:ext cx="4549534" cy="3071126"/>
          </a:xfrm>
          <a:prstGeom prst="rect">
            <a:avLst/>
          </a:prstGeom>
        </p:spPr>
      </p:pic>
    </p:spTree>
    <p:extLst>
      <p:ext uri="{BB962C8B-B14F-4D97-AF65-F5344CB8AC3E}">
        <p14:creationId xmlns:p14="http://schemas.microsoft.com/office/powerpoint/2010/main" val="30668986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1.4.2 EditText </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32</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43000"/>
            <a:ext cx="7772400" cy="3453318"/>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Mục đích: hiển thị và cho phép nhập dữ liệu</a:t>
            </a:r>
          </a:p>
          <a:p>
            <a:pPr marL="342900" indent="-342900" algn="l">
              <a:lnSpc>
                <a:spcPct val="150000"/>
              </a:lnSpc>
              <a:buClr>
                <a:srgbClr val="FF0000"/>
              </a:buClr>
              <a:buFont typeface="Arial" panose="020B0604020202020204" pitchFamily="34" charset="0"/>
              <a:buChar char="•"/>
            </a:pPr>
            <a:r>
              <a:rPr lang="fr-FR">
                <a:solidFill>
                  <a:schemeClr val="tx1">
                    <a:lumMod val="75000"/>
                  </a:schemeClr>
                </a:solidFill>
                <a:latin typeface="Times New Roman" panose="02020603050405020304" pitchFamily="18" charset="0"/>
                <a:cs typeface="Times New Roman" panose="02020603050405020304" pitchFamily="18" charset="0"/>
              </a:rPr>
              <a:t>Chú ý:</a:t>
            </a:r>
          </a:p>
          <a:p>
            <a:pPr marL="800100" lvl="1" indent="-342900" algn="l">
              <a:lnSpc>
                <a:spcPct val="150000"/>
              </a:lnSpc>
              <a:buClr>
                <a:srgbClr val="FF0000"/>
              </a:buClr>
              <a:buFont typeface="Arial" panose="020B0604020202020204" pitchFamily="34" charset="0"/>
              <a:buChar char="•"/>
            </a:pPr>
            <a:r>
              <a:rPr lang="vi-VN" sz="2000">
                <a:solidFill>
                  <a:schemeClr val="tx1">
                    <a:lumMod val="75000"/>
                  </a:schemeClr>
                </a:solidFill>
                <a:latin typeface="Times New Roman" panose="02020603050405020304" pitchFamily="18" charset="0"/>
                <a:cs typeface="Times New Roman" panose="02020603050405020304" pitchFamily="18" charset="0"/>
              </a:rPr>
              <a:t>Thuộc tính “</a:t>
            </a:r>
            <a:r>
              <a:rPr lang="vi-VN" sz="2000">
                <a:solidFill>
                  <a:schemeClr val="accent6">
                    <a:lumMod val="75000"/>
                  </a:schemeClr>
                </a:solidFill>
                <a:latin typeface="Times New Roman" panose="02020603050405020304" pitchFamily="18" charset="0"/>
                <a:cs typeface="Times New Roman" panose="02020603050405020304" pitchFamily="18" charset="0"/>
              </a:rPr>
              <a:t>android:singleLine</a:t>
            </a:r>
            <a:r>
              <a:rPr lang="vi-VN" sz="2000">
                <a:solidFill>
                  <a:schemeClr val="tx1">
                    <a:lumMod val="75000"/>
                  </a:schemeClr>
                </a:solidFill>
                <a:latin typeface="Times New Roman" panose="02020603050405020304" pitchFamily="18" charset="0"/>
                <a:cs typeface="Times New Roman" panose="02020603050405020304" pitchFamily="18" charset="0"/>
              </a:rPr>
              <a:t>” bằng false thì EditText sẽ là một Textbox, ngược lại nó là một TextField (cho phép nhập liệu nhiều dòng)</a:t>
            </a:r>
            <a:endParaRPr lang="fr-FR" sz="2000">
              <a:solidFill>
                <a:schemeClr val="tx1">
                  <a:lumMod val="75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fr-FR" sz="2000">
                <a:solidFill>
                  <a:schemeClr val="tx1">
                    <a:lumMod val="75000"/>
                  </a:schemeClr>
                </a:solidFill>
                <a:latin typeface="Times New Roman" panose="02020603050405020304" pitchFamily="18" charset="0"/>
                <a:cs typeface="Times New Roman" panose="02020603050405020304" pitchFamily="18" charset="0"/>
              </a:rPr>
              <a:t>Lấy nội dung: </a:t>
            </a:r>
            <a:r>
              <a:rPr lang="fr-FR" sz="2000">
                <a:solidFill>
                  <a:schemeClr val="accent6">
                    <a:lumMod val="75000"/>
                  </a:schemeClr>
                </a:solidFill>
                <a:latin typeface="Times New Roman" panose="02020603050405020304" pitchFamily="18" charset="0"/>
                <a:cs typeface="Times New Roman" panose="02020603050405020304" pitchFamily="18" charset="0"/>
              </a:rPr>
              <a:t>editText.getText().toString()</a:t>
            </a:r>
          </a:p>
          <a:p>
            <a:pPr marL="800100" lvl="1" indent="-342900" algn="l">
              <a:lnSpc>
                <a:spcPct val="150000"/>
              </a:lnSpc>
              <a:buClr>
                <a:srgbClr val="FF0000"/>
              </a:buClr>
              <a:buFont typeface="Arial" panose="020B0604020202020204" pitchFamily="34" charset="0"/>
              <a:buChar char="•"/>
            </a:pPr>
            <a:endParaRPr lang="fr-FR" sz="2000">
              <a:solidFill>
                <a:srgbClr val="0070C0"/>
              </a:solidFill>
              <a:latin typeface="Times New Roman" panose="02020603050405020304" pitchFamily="18" charset="0"/>
              <a:cs typeface="Times New Roman" panose="02020603050405020304" pitchFamily="18" charset="0"/>
            </a:endParaRPr>
          </a:p>
        </p:txBody>
      </p:sp>
      <p:pic>
        <p:nvPicPr>
          <p:cNvPr id="6" name="Picture 5" descr="Graphical user interface, application&#10;&#10;Description automatically generated">
            <a:extLst>
              <a:ext uri="{FF2B5EF4-FFF2-40B4-BE49-F238E27FC236}">
                <a16:creationId xmlns:a16="http://schemas.microsoft.com/office/drawing/2014/main" id="{11E37DBE-5282-446D-BF26-C10835BF83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7944" y="4200198"/>
            <a:ext cx="6828112" cy="2339543"/>
          </a:xfrm>
          <a:prstGeom prst="rect">
            <a:avLst/>
          </a:prstGeom>
        </p:spPr>
      </p:pic>
    </p:spTree>
    <p:extLst>
      <p:ext uri="{BB962C8B-B14F-4D97-AF65-F5344CB8AC3E}">
        <p14:creationId xmlns:p14="http://schemas.microsoft.com/office/powerpoint/2010/main" val="2351059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1.4.2 Button &amp; ImageButton </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33</a:t>
            </a:fld>
            <a:endParaRPr lang="en-US"/>
          </a:p>
        </p:txBody>
      </p:sp>
      <p:sp>
        <p:nvSpPr>
          <p:cNvPr id="8" name="TextBox 7">
            <a:extLst>
              <a:ext uri="{FF2B5EF4-FFF2-40B4-BE49-F238E27FC236}">
                <a16:creationId xmlns:a16="http://schemas.microsoft.com/office/drawing/2014/main" id="{FC92D2F6-0DC1-4557-B969-2DA4C148CE59}"/>
              </a:ext>
            </a:extLst>
          </p:cNvPr>
          <p:cNvSpPr txBox="1"/>
          <p:nvPr/>
        </p:nvSpPr>
        <p:spPr>
          <a:xfrm>
            <a:off x="124239" y="1282674"/>
            <a:ext cx="8895522" cy="2395849"/>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Mục đích: nhận lệnh bấm từ người dùng</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Thuộc tính “</a:t>
            </a:r>
            <a:r>
              <a:rPr lang="vi-VN" dirty="0">
                <a:solidFill>
                  <a:schemeClr val="accent6">
                    <a:lumMod val="75000"/>
                  </a:schemeClr>
                </a:solidFill>
                <a:latin typeface="Times New Roman" panose="02020603050405020304" pitchFamily="18" charset="0"/>
                <a:cs typeface="Times New Roman" panose="02020603050405020304" pitchFamily="18" charset="0"/>
              </a:rPr>
              <a:t>android:onClick</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 chỉ ra phương thức sẽ</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khởi chạy khi nút được bấm</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ImageButton</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sử</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dụng</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hình</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ảnh</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thay</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vì</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text</a:t>
            </a:r>
            <a:endParaRPr lang="fr-FR" dirty="0">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Graphical user interface, text, application&#10;&#10;Description automatically generated">
            <a:extLst>
              <a:ext uri="{FF2B5EF4-FFF2-40B4-BE49-F238E27FC236}">
                <a16:creationId xmlns:a16="http://schemas.microsoft.com/office/drawing/2014/main" id="{7D7A281D-0751-4728-9079-BDC96AE048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09" y="3738792"/>
            <a:ext cx="8801863" cy="2674852"/>
          </a:xfrm>
          <a:prstGeom prst="rect">
            <a:avLst/>
          </a:prstGeom>
        </p:spPr>
      </p:pic>
    </p:spTree>
    <p:extLst>
      <p:ext uri="{BB962C8B-B14F-4D97-AF65-F5344CB8AC3E}">
        <p14:creationId xmlns:p14="http://schemas.microsoft.com/office/powerpoint/2010/main" val="17911329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1.4.3 ToggleButton</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34</a:t>
            </a:fld>
            <a:endParaRPr lang="en-US"/>
          </a:p>
        </p:txBody>
      </p:sp>
      <p:sp>
        <p:nvSpPr>
          <p:cNvPr id="8" name="TextBox 7">
            <a:extLst>
              <a:ext uri="{FF2B5EF4-FFF2-40B4-BE49-F238E27FC236}">
                <a16:creationId xmlns:a16="http://schemas.microsoft.com/office/drawing/2014/main" id="{FC92D2F6-0DC1-4557-B969-2DA4C148CE59}"/>
              </a:ext>
            </a:extLst>
          </p:cNvPr>
          <p:cNvSpPr txBox="1"/>
          <p:nvPr/>
        </p:nvSpPr>
        <p:spPr>
          <a:xfrm>
            <a:off x="124239" y="1282674"/>
            <a:ext cx="8895522" cy="4919616"/>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Mục đích: hiển thị trạng thái on/off</a:t>
            </a:r>
          </a:p>
          <a:p>
            <a:pPr marL="342900" indent="-342900" algn="l">
              <a:lnSpc>
                <a:spcPct val="150000"/>
              </a:lnSpc>
              <a:spcBef>
                <a:spcPts val="600"/>
              </a:spcBef>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Thuộc tính quan trọng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spcBef>
                <a:spcPts val="600"/>
              </a:spcBef>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a:t>
            </a:r>
            <a:r>
              <a:rPr lang="fr-FR">
                <a:solidFill>
                  <a:schemeClr val="accent6">
                    <a:lumMod val="75000"/>
                  </a:schemeClr>
                </a:solidFill>
                <a:latin typeface="Times New Roman" panose="02020603050405020304" pitchFamily="18" charset="0"/>
                <a:cs typeface="Times New Roman" panose="02020603050405020304" pitchFamily="18" charset="0"/>
              </a:rPr>
              <a:t>android:textOn</a:t>
            </a:r>
            <a:r>
              <a:rPr lang="fr-FR">
                <a:solidFill>
                  <a:schemeClr val="accent4">
                    <a:lumMod val="90000"/>
                    <a:lumOff val="10000"/>
                  </a:schemeClr>
                </a:solidFill>
                <a:latin typeface="Times New Roman" panose="02020603050405020304" pitchFamily="18" charset="0"/>
                <a:cs typeface="Times New Roman" panose="02020603050405020304" pitchFamily="18" charset="0"/>
              </a:rPr>
              <a:t>”: text hiện ở trạng thái on</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spcBef>
                <a:spcPts val="6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a:t>
            </a:r>
            <a:r>
              <a:rPr lang="en-US">
                <a:solidFill>
                  <a:schemeClr val="accent6">
                    <a:lumMod val="75000"/>
                  </a:schemeClr>
                </a:solidFill>
                <a:latin typeface="Times New Roman" panose="02020603050405020304" pitchFamily="18" charset="0"/>
                <a:cs typeface="Times New Roman" panose="02020603050405020304" pitchFamily="18" charset="0"/>
              </a:rPr>
              <a:t>android:textOff</a:t>
            </a:r>
            <a:r>
              <a:rPr lang="en-US">
                <a:solidFill>
                  <a:schemeClr val="accent4">
                    <a:lumMod val="90000"/>
                    <a:lumOff val="10000"/>
                  </a:schemeClr>
                </a:solidFill>
                <a:latin typeface="Times New Roman" panose="02020603050405020304" pitchFamily="18" charset="0"/>
                <a:cs typeface="Times New Roman" panose="02020603050405020304" pitchFamily="18" charset="0"/>
              </a:rPr>
              <a:t>”: text hiện ở trạng thái off</a:t>
            </a:r>
          </a:p>
          <a:p>
            <a:pPr marL="800100" lvl="1"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a:t>
            </a:r>
            <a:r>
              <a:rPr lang="vi-VN">
                <a:solidFill>
                  <a:schemeClr val="accent6">
                    <a:lumMod val="75000"/>
                  </a:schemeClr>
                </a:solidFill>
                <a:latin typeface="Times New Roman" panose="02020603050405020304" pitchFamily="18" charset="0"/>
                <a:cs typeface="Times New Roman" panose="02020603050405020304" pitchFamily="18" charset="0"/>
              </a:rPr>
              <a:t>android:onClick</a:t>
            </a:r>
            <a:r>
              <a:rPr lang="vi-VN">
                <a:solidFill>
                  <a:schemeClr val="accent4">
                    <a:lumMod val="90000"/>
                    <a:lumOff val="10000"/>
                  </a:schemeClr>
                </a:solidFill>
                <a:latin typeface="Times New Roman" panose="02020603050405020304" pitchFamily="18" charset="0"/>
                <a:cs typeface="Times New Roman" panose="02020603050405020304" pitchFamily="18" charset="0"/>
              </a:rPr>
              <a:t>”: tương tự như ở Button</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Phương thức “</a:t>
            </a:r>
            <a:r>
              <a:rPr lang="en-US">
                <a:solidFill>
                  <a:schemeClr val="accent6">
                    <a:lumMod val="75000"/>
                  </a:schemeClr>
                </a:solidFill>
                <a:latin typeface="Times New Roman" panose="02020603050405020304" pitchFamily="18" charset="0"/>
                <a:cs typeface="Times New Roman" panose="02020603050405020304" pitchFamily="18" charset="0"/>
              </a:rPr>
              <a:t>bool isChecked()</a:t>
            </a:r>
            <a:r>
              <a:rPr lang="en-US">
                <a:solidFill>
                  <a:schemeClr val="accent4">
                    <a:lumMod val="90000"/>
                    <a:lumOff val="10000"/>
                  </a:schemeClr>
                </a:solidFill>
                <a:latin typeface="Times New Roman" panose="02020603050405020304" pitchFamily="18" charset="0"/>
                <a:cs typeface="Times New Roman" panose="02020603050405020304" pitchFamily="18" charset="0"/>
              </a:rPr>
              <a:t>” trả về trạng thái on/off</a:t>
            </a:r>
          </a:p>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Từ phiên bản 4.0, android có điều khiển Switch tương tự như ToggleButton nhưng khác về cách hiển thị thông tin</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9039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1.4.4 CheckBox</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35</a:t>
            </a:fld>
            <a:endParaRPr lang="en-US"/>
          </a:p>
        </p:txBody>
      </p:sp>
      <p:sp>
        <p:nvSpPr>
          <p:cNvPr id="8" name="TextBox 7">
            <a:extLst>
              <a:ext uri="{FF2B5EF4-FFF2-40B4-BE49-F238E27FC236}">
                <a16:creationId xmlns:a16="http://schemas.microsoft.com/office/drawing/2014/main" id="{FC92D2F6-0DC1-4557-B969-2DA4C148CE59}"/>
              </a:ext>
            </a:extLst>
          </p:cNvPr>
          <p:cNvSpPr txBox="1"/>
          <p:nvPr/>
        </p:nvSpPr>
        <p:spPr>
          <a:xfrm>
            <a:off x="124239" y="1282674"/>
            <a:ext cx="8895522" cy="4919616"/>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Mục đích: đưa ra một ô check để người dùng có thể xác nhận có lựa chọn hay không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Thuộc tính quan trọng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spcBef>
                <a:spcPts val="600"/>
              </a:spcBef>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a:t>
            </a:r>
            <a:r>
              <a:rPr lang="fr-FR">
                <a:solidFill>
                  <a:schemeClr val="accent6">
                    <a:lumMod val="75000"/>
                  </a:schemeClr>
                </a:solidFill>
                <a:latin typeface="Times New Roman" panose="02020603050405020304" pitchFamily="18" charset="0"/>
                <a:cs typeface="Times New Roman" panose="02020603050405020304" pitchFamily="18" charset="0"/>
              </a:rPr>
              <a:t>android:checked</a:t>
            </a:r>
            <a:r>
              <a:rPr lang="fr-FR">
                <a:solidFill>
                  <a:schemeClr val="accent4">
                    <a:lumMod val="90000"/>
                    <a:lumOff val="10000"/>
                  </a:schemeClr>
                </a:solidFill>
                <a:latin typeface="Times New Roman" panose="02020603050405020304" pitchFamily="18" charset="0"/>
                <a:cs typeface="Times New Roman" panose="02020603050405020304" pitchFamily="18" charset="0"/>
              </a:rPr>
              <a:t>”: thiết lập trạng thái ban đầu</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spcBef>
                <a:spcPts val="600"/>
              </a:spcBef>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a:t>
            </a:r>
            <a:r>
              <a:rPr lang="fr-FR">
                <a:solidFill>
                  <a:schemeClr val="accent6">
                    <a:lumMod val="75000"/>
                  </a:schemeClr>
                </a:solidFill>
                <a:latin typeface="Times New Roman" panose="02020603050405020304" pitchFamily="18" charset="0"/>
                <a:cs typeface="Times New Roman" panose="02020603050405020304" pitchFamily="18" charset="0"/>
              </a:rPr>
              <a:t>android:text</a:t>
            </a:r>
            <a:r>
              <a:rPr lang="fr-FR">
                <a:solidFill>
                  <a:schemeClr val="accent4">
                    <a:lumMod val="90000"/>
                    <a:lumOff val="10000"/>
                  </a:schemeClr>
                </a:solidFill>
                <a:latin typeface="Times New Roman" panose="02020603050405020304" pitchFamily="18" charset="0"/>
                <a:cs typeface="Times New Roman" panose="02020603050405020304" pitchFamily="18" charset="0"/>
              </a:rPr>
              <a:t>”: nội dung đi kèm với check box</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a:t>
            </a:r>
            <a:r>
              <a:rPr lang="vi-VN">
                <a:solidFill>
                  <a:schemeClr val="accent6">
                    <a:lumMod val="75000"/>
                  </a:schemeClr>
                </a:solidFill>
                <a:latin typeface="Times New Roman" panose="02020603050405020304" pitchFamily="18" charset="0"/>
                <a:cs typeface="Times New Roman" panose="02020603050405020304" pitchFamily="18" charset="0"/>
              </a:rPr>
              <a:t>android:onClick</a:t>
            </a:r>
            <a:r>
              <a:rPr lang="vi-VN">
                <a:solidFill>
                  <a:schemeClr val="accent4">
                    <a:lumMod val="90000"/>
                    <a:lumOff val="10000"/>
                  </a:schemeClr>
                </a:solidFill>
                <a:latin typeface="Times New Roman" panose="02020603050405020304" pitchFamily="18" charset="0"/>
                <a:cs typeface="Times New Roman" panose="02020603050405020304" pitchFamily="18" charset="0"/>
              </a:rPr>
              <a:t>”: tương tự như ở Button</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Phương thức “</a:t>
            </a:r>
            <a:r>
              <a:rPr lang="en-US">
                <a:solidFill>
                  <a:schemeClr val="accent6">
                    <a:lumMod val="75000"/>
                  </a:schemeClr>
                </a:solidFill>
                <a:latin typeface="Times New Roman" panose="02020603050405020304" pitchFamily="18" charset="0"/>
                <a:cs typeface="Times New Roman" panose="02020603050405020304" pitchFamily="18" charset="0"/>
              </a:rPr>
              <a:t>bool isChecked()</a:t>
            </a:r>
            <a:r>
              <a:rPr lang="en-US">
                <a:solidFill>
                  <a:schemeClr val="accent4">
                    <a:lumMod val="90000"/>
                    <a:lumOff val="10000"/>
                  </a:schemeClr>
                </a:solidFill>
                <a:latin typeface="Times New Roman" panose="02020603050405020304" pitchFamily="18" charset="0"/>
                <a:cs typeface="Times New Roman" panose="02020603050405020304" pitchFamily="18" charset="0"/>
              </a:rPr>
              <a:t>” trả về trạng thái on/off</a:t>
            </a:r>
          </a:p>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Phương thức “</a:t>
            </a:r>
            <a:r>
              <a:rPr lang="vi-VN">
                <a:solidFill>
                  <a:schemeClr val="accent6">
                    <a:lumMod val="75000"/>
                  </a:schemeClr>
                </a:solidFill>
                <a:latin typeface="Times New Roman" panose="02020603050405020304" pitchFamily="18" charset="0"/>
                <a:cs typeface="Times New Roman" panose="02020603050405020304" pitchFamily="18" charset="0"/>
              </a:rPr>
              <a:t>void setChecked(bool)</a:t>
            </a:r>
            <a:r>
              <a:rPr lang="vi-VN">
                <a:solidFill>
                  <a:schemeClr val="accent4">
                    <a:lumMod val="90000"/>
                    <a:lumOff val="10000"/>
                  </a:schemeClr>
                </a:solidFill>
                <a:latin typeface="Times New Roman" panose="02020603050405020304" pitchFamily="18" charset="0"/>
                <a:cs typeface="Times New Roman" panose="02020603050405020304" pitchFamily="18" charset="0"/>
              </a:rPr>
              <a:t>” để thiết lập trạng thái on/off</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64971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1.4.5 RadioGroup &amp; RadioButton</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36</a:t>
            </a:fld>
            <a:endParaRPr lang="en-US"/>
          </a:p>
        </p:txBody>
      </p:sp>
      <p:pic>
        <p:nvPicPr>
          <p:cNvPr id="5" name="Picture 4" descr="Graphical user interface, text&#10;&#10;Description automatically generated">
            <a:extLst>
              <a:ext uri="{FF2B5EF4-FFF2-40B4-BE49-F238E27FC236}">
                <a16:creationId xmlns:a16="http://schemas.microsoft.com/office/drawing/2014/main" id="{00086151-F8CD-4D3B-BB51-C911719937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 y="1524000"/>
            <a:ext cx="8610600" cy="4328912"/>
          </a:xfrm>
          <a:prstGeom prst="rect">
            <a:avLst/>
          </a:prstGeom>
        </p:spPr>
      </p:pic>
    </p:spTree>
    <p:extLst>
      <p:ext uri="{BB962C8B-B14F-4D97-AF65-F5344CB8AC3E}">
        <p14:creationId xmlns:p14="http://schemas.microsoft.com/office/powerpoint/2010/main" val="9471062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1.4.5 RadioGroup &amp; RadioButton</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37</a:t>
            </a:fld>
            <a:endParaRPr lang="en-US"/>
          </a:p>
        </p:txBody>
      </p:sp>
      <p:sp>
        <p:nvSpPr>
          <p:cNvPr id="6" name="TextBox 5">
            <a:extLst>
              <a:ext uri="{FF2B5EF4-FFF2-40B4-BE49-F238E27FC236}">
                <a16:creationId xmlns:a16="http://schemas.microsoft.com/office/drawing/2014/main" id="{65AF195C-712E-49FF-9020-7ADA04F8E132}"/>
              </a:ext>
            </a:extLst>
          </p:cNvPr>
          <p:cNvSpPr txBox="1"/>
          <p:nvPr/>
        </p:nvSpPr>
        <p:spPr>
          <a:xfrm>
            <a:off x="124239" y="984276"/>
            <a:ext cx="8895522" cy="5873724"/>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RadioGroup</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kế</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thừa</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từ</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LinearLayout</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mặc</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định</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là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căn</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theo</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cột</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 vertical)</a:t>
            </a:r>
          </a:p>
          <a:p>
            <a:pPr marL="342900" indent="-342900" algn="l">
              <a:lnSpc>
                <a:spcPct val="150000"/>
              </a:lnSpc>
              <a:spcBef>
                <a:spcPts val="600"/>
              </a:spcBef>
              <a:buClr>
                <a:srgbClr val="FF0000"/>
              </a:buClr>
              <a:buFont typeface="Arial" panose="020B0604020202020204" pitchFamily="34" charset="0"/>
              <a:buChar char="•"/>
            </a:pP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RadioButton</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là</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các</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view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cho</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phép</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lựa</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chọn</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on/off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dùng</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a:solidFill>
                  <a:schemeClr val="accent6">
                    <a:lumMod val="75000"/>
                  </a:schemeClr>
                </a:solidFill>
                <a:latin typeface="Times New Roman" panose="02020603050405020304" pitchFamily="18" charset="0"/>
                <a:cs typeface="Times New Roman" panose="02020603050405020304" pitchFamily="18" charset="0"/>
              </a:rPr>
              <a:t>bool </a:t>
            </a:r>
            <a:r>
              <a:rPr lang="en-US" dirty="0" err="1">
                <a:solidFill>
                  <a:schemeClr val="accent6">
                    <a:lumMod val="75000"/>
                  </a:schemeClr>
                </a:solidFill>
                <a:latin typeface="Times New Roman" panose="02020603050405020304" pitchFamily="18" charset="0"/>
                <a:cs typeface="Times New Roman" panose="02020603050405020304" pitchFamily="18" charset="0"/>
              </a:rPr>
              <a:t>isChecked</a:t>
            </a:r>
            <a:r>
              <a:rPr lang="en-US" dirty="0">
                <a:solidFill>
                  <a:schemeClr val="accent6">
                    <a:lumMod val="75000"/>
                  </a:schemeClr>
                </a:solidFill>
                <a:latin typeface="Times New Roman" panose="02020603050405020304" pitchFamily="18" charset="0"/>
                <a:cs typeface="Times New Roman" panose="02020603050405020304" pitchFamily="18" charset="0"/>
              </a:rPr>
              <a:t>()</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để</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kiểm</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tra</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a:t>
            </a:r>
          </a:p>
          <a:p>
            <a:pPr marL="342900" indent="-342900" algn="l">
              <a:lnSpc>
                <a:spcPct val="150000"/>
              </a:lnSpc>
              <a:spcBef>
                <a:spcPts val="600"/>
              </a:spcBef>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RadioGroup đảm bảo chỉ tối đa một RadioButton</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được chọn vào một thời điểm</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Từ RadioGroup để lấy ID của RadioButton đang bật, dùng hàm “</a:t>
            </a:r>
            <a:r>
              <a:rPr lang="vi-VN" dirty="0">
                <a:solidFill>
                  <a:schemeClr val="accent6">
                    <a:lumMod val="75000"/>
                  </a:schemeClr>
                </a:solidFill>
                <a:latin typeface="Times New Roman" panose="02020603050405020304" pitchFamily="18" charset="0"/>
                <a:cs typeface="Times New Roman" panose="02020603050405020304" pitchFamily="18" charset="0"/>
              </a:rPr>
              <a:t>int getCheckedRadioButtonId()</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 (nếu không có RadioButton nào được lựa chọn thì hàm trả về -1)</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endParaRPr lang="fr-FR" dirty="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71365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1.4.6 ListView</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38</a:t>
            </a:fld>
            <a:endParaRPr lang="en-US"/>
          </a:p>
        </p:txBody>
      </p:sp>
      <p:sp>
        <p:nvSpPr>
          <p:cNvPr id="6" name="TextBox 5">
            <a:extLst>
              <a:ext uri="{FF2B5EF4-FFF2-40B4-BE49-F238E27FC236}">
                <a16:creationId xmlns:a16="http://schemas.microsoft.com/office/drawing/2014/main" id="{65AF195C-712E-49FF-9020-7ADA04F8E132}"/>
              </a:ext>
            </a:extLst>
          </p:cNvPr>
          <p:cNvSpPr txBox="1"/>
          <p:nvPr/>
        </p:nvSpPr>
        <p:spPr>
          <a:xfrm>
            <a:off x="124239" y="984276"/>
            <a:ext cx="8895522" cy="1764907"/>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ListView hiển thị một danh sách các phần tử trên một giao diện cho phép cuộn theo chiều dọc</a:t>
            </a:r>
          </a:p>
          <a:p>
            <a:pPr marL="342900" indent="-342900" algn="l">
              <a:lnSpc>
                <a:spcPct val="150000"/>
              </a:lnSpc>
              <a:spcBef>
                <a:spcPts val="600"/>
              </a:spcBef>
              <a:buClr>
                <a:srgbClr val="FF0000"/>
              </a:buClr>
              <a:buFont typeface="Arial" panose="020B0604020202020204" pitchFamily="34" charset="0"/>
              <a:buChar char="•"/>
            </a:pP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Graphical user interface, text&#10;&#10;Description automatically generated">
            <a:extLst>
              <a:ext uri="{FF2B5EF4-FFF2-40B4-BE49-F238E27FC236}">
                <a16:creationId xmlns:a16="http://schemas.microsoft.com/office/drawing/2014/main" id="{15EBA548-162E-4C75-A814-78C3C57FC9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365" y="2345687"/>
            <a:ext cx="8748518" cy="3551228"/>
          </a:xfrm>
          <a:prstGeom prst="rect">
            <a:avLst/>
          </a:prstGeom>
        </p:spPr>
      </p:pic>
    </p:spTree>
    <p:extLst>
      <p:ext uri="{BB962C8B-B14F-4D97-AF65-F5344CB8AC3E}">
        <p14:creationId xmlns:p14="http://schemas.microsoft.com/office/powerpoint/2010/main" val="27333962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1.4.6 ListView</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39</a:t>
            </a:fld>
            <a:endParaRPr lang="en-US"/>
          </a:p>
        </p:txBody>
      </p:sp>
      <p:sp>
        <p:nvSpPr>
          <p:cNvPr id="6" name="TextBox 5">
            <a:extLst>
              <a:ext uri="{FF2B5EF4-FFF2-40B4-BE49-F238E27FC236}">
                <a16:creationId xmlns:a16="http://schemas.microsoft.com/office/drawing/2014/main" id="{65AF195C-712E-49FF-9020-7ADA04F8E132}"/>
              </a:ext>
            </a:extLst>
          </p:cNvPr>
          <p:cNvSpPr txBox="1"/>
          <p:nvPr/>
        </p:nvSpPr>
        <p:spPr>
          <a:xfrm>
            <a:off x="124239" y="984276"/>
            <a:ext cx="8895522" cy="579967"/>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Thiết</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lập</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nội</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dung</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cho</a:t>
            </a:r>
            <a:r>
              <a:rPr lang="fr-FR"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fr-FR" dirty="0" err="1">
                <a:solidFill>
                  <a:schemeClr val="accent4">
                    <a:lumMod val="90000"/>
                    <a:lumOff val="10000"/>
                  </a:schemeClr>
                </a:solidFill>
                <a:latin typeface="Times New Roman" panose="02020603050405020304" pitchFamily="18" charset="0"/>
                <a:cs typeface="Times New Roman" panose="02020603050405020304" pitchFamily="18" charset="0"/>
              </a:rPr>
              <a:t>ListView</a:t>
            </a:r>
            <a:endParaRPr lang="fr-FR" dirty="0">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7" name="Picture 6" descr="Text&#10;&#10;Description automatically generated">
            <a:extLst>
              <a:ext uri="{FF2B5EF4-FFF2-40B4-BE49-F238E27FC236}">
                <a16:creationId xmlns:a16="http://schemas.microsoft.com/office/drawing/2014/main" id="{2E9F2497-AC5A-4A99-85E1-A57A82CA2F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564243"/>
            <a:ext cx="7045345" cy="4566691"/>
          </a:xfrm>
          <a:prstGeom prst="rect">
            <a:avLst/>
          </a:prstGeom>
        </p:spPr>
      </p:pic>
    </p:spTree>
    <p:extLst>
      <p:ext uri="{BB962C8B-B14F-4D97-AF65-F5344CB8AC3E}">
        <p14:creationId xmlns:p14="http://schemas.microsoft.com/office/powerpoint/2010/main" val="26934309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1.4.6 ListView</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40</a:t>
            </a:fld>
            <a:endParaRPr lang="en-US"/>
          </a:p>
        </p:txBody>
      </p:sp>
      <p:sp>
        <p:nvSpPr>
          <p:cNvPr id="6" name="TextBox 5">
            <a:extLst>
              <a:ext uri="{FF2B5EF4-FFF2-40B4-BE49-F238E27FC236}">
                <a16:creationId xmlns:a16="http://schemas.microsoft.com/office/drawing/2014/main" id="{65AF195C-712E-49FF-9020-7ADA04F8E132}"/>
              </a:ext>
            </a:extLst>
          </p:cNvPr>
          <p:cNvSpPr txBox="1"/>
          <p:nvPr/>
        </p:nvSpPr>
        <p:spPr>
          <a:xfrm>
            <a:off x="124239" y="984276"/>
            <a:ext cx="8895522" cy="579967"/>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Xử lý sự kiện</a:t>
            </a:r>
          </a:p>
        </p:txBody>
      </p:sp>
      <p:pic>
        <p:nvPicPr>
          <p:cNvPr id="5" name="Picture 4" descr="Graphical user interface, text, application&#10;&#10;Description automatically generated">
            <a:extLst>
              <a:ext uri="{FF2B5EF4-FFF2-40B4-BE49-F238E27FC236}">
                <a16:creationId xmlns:a16="http://schemas.microsoft.com/office/drawing/2014/main" id="{6FBDB74C-BFEE-4FA7-B074-7F4545883B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564243"/>
            <a:ext cx="6781800" cy="4523474"/>
          </a:xfrm>
          <a:prstGeom prst="rect">
            <a:avLst/>
          </a:prstGeom>
        </p:spPr>
      </p:pic>
    </p:spTree>
    <p:extLst>
      <p:ext uri="{BB962C8B-B14F-4D97-AF65-F5344CB8AC3E}">
        <p14:creationId xmlns:p14="http://schemas.microsoft.com/office/powerpoint/2010/main" val="29512835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1.4.7 Cách tương tác với các View</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41</a:t>
            </a:fld>
            <a:endParaRPr lang="en-US"/>
          </a:p>
        </p:txBody>
      </p:sp>
      <p:sp>
        <p:nvSpPr>
          <p:cNvPr id="6" name="TextBox 5">
            <a:extLst>
              <a:ext uri="{FF2B5EF4-FFF2-40B4-BE49-F238E27FC236}">
                <a16:creationId xmlns:a16="http://schemas.microsoft.com/office/drawing/2014/main" id="{65AF195C-712E-49FF-9020-7ADA04F8E132}"/>
              </a:ext>
            </a:extLst>
          </p:cNvPr>
          <p:cNvSpPr txBox="1"/>
          <p:nvPr/>
        </p:nvSpPr>
        <p:spPr>
          <a:xfrm>
            <a:off x="124239" y="990600"/>
            <a:ext cx="8895522" cy="4761368"/>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Để tương tác được với các điều khiển (view), cần làm 2 việc:</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spcBef>
                <a:spcPts val="600"/>
              </a:spcBef>
              <a:buClr>
                <a:srgbClr val="FF0000"/>
              </a:buClr>
              <a:buFont typeface="Arial" panose="020B0604020202020204" pitchFamily="34" charset="0"/>
              <a:buChar char="•"/>
            </a:pPr>
            <a:r>
              <a:rPr lang="fr-FR" sz="2000">
                <a:solidFill>
                  <a:schemeClr val="accent4">
                    <a:lumMod val="90000"/>
                    <a:lumOff val="10000"/>
                  </a:schemeClr>
                </a:solidFill>
                <a:latin typeface="Times New Roman" panose="02020603050405020304" pitchFamily="18" charset="0"/>
                <a:cs typeface="Times New Roman" panose="02020603050405020304" pitchFamily="18" charset="0"/>
              </a:rPr>
              <a:t>Tìm đúng điều khiển cần xử lý</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spcBef>
                <a:spcPts val="600"/>
              </a:spcBef>
              <a:buClr>
                <a:srgbClr val="FF0000"/>
              </a:buClr>
              <a:buFont typeface="Arial" panose="020B0604020202020204" pitchFamily="34" charset="0"/>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Gọi các hàm phù hợp cho điều khiển đó (chặng hạn như thiết lập màu chữ, nội dung hiển thị, font chữ, các thuộc tính… hoặc xác định cách xử lý sự kiện)</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Tìm đúng điều khiển cần xử lý:</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spcBef>
                <a:spcPts val="600"/>
              </a:spcBef>
              <a:buClr>
                <a:srgbClr val="FF0000"/>
              </a:buClr>
              <a:buFont typeface="Arial" panose="020B0604020202020204" pitchFamily="34" charset="0"/>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Nếu có một biến lưu trữ điều khiển cần xử lý thì bỏ qua</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spcBef>
                <a:spcPts val="600"/>
              </a:spcBef>
              <a:buClr>
                <a:srgbClr val="FF0000"/>
              </a:buClr>
              <a:buFont typeface="Arial" panose="020B0604020202020204" pitchFamily="34" charset="0"/>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Nếu chưa có thì ta cần tìm điều khiển đó thông qua các hàm tìm kiếm của layout</a:t>
            </a:r>
            <a:endParaRPr lang="fr-FR" sz="200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9596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1.4.7 Cách tương tác với các View</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42</a:t>
            </a:fld>
            <a:endParaRPr lang="en-US"/>
          </a:p>
        </p:txBody>
      </p:sp>
      <p:sp>
        <p:nvSpPr>
          <p:cNvPr id="6" name="TextBox 5">
            <a:extLst>
              <a:ext uri="{FF2B5EF4-FFF2-40B4-BE49-F238E27FC236}">
                <a16:creationId xmlns:a16="http://schemas.microsoft.com/office/drawing/2014/main" id="{65AF195C-712E-49FF-9020-7ADA04F8E132}"/>
              </a:ext>
            </a:extLst>
          </p:cNvPr>
          <p:cNvSpPr txBox="1"/>
          <p:nvPr/>
        </p:nvSpPr>
        <p:spPr>
          <a:xfrm>
            <a:off x="124239" y="990600"/>
            <a:ext cx="8895522" cy="3277820"/>
          </a:xfrm>
          <a:prstGeom prst="rect">
            <a:avLst/>
          </a:prstGeom>
          <a:noFill/>
        </p:spPr>
        <p:txBody>
          <a:bodyPr wrap="square" rtlCol="0">
            <a:spAutoFit/>
          </a:bodyPr>
          <a:lstStyle/>
          <a:p>
            <a:pPr marL="342900" indent="-342900" algn="l">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Khi nạp layout từ XML, mỗi view sẽ có một mã số của riêng nó (giống như CMT), mã số này là một hằng số khai báo trong thuộc tính “</a:t>
            </a:r>
            <a:r>
              <a:rPr lang="vi-VN">
                <a:solidFill>
                  <a:schemeClr val="accent6">
                    <a:lumMod val="75000"/>
                  </a:schemeClr>
                </a:solidFill>
                <a:latin typeface="Times New Roman" panose="02020603050405020304" pitchFamily="18" charset="0"/>
                <a:cs typeface="Times New Roman" panose="02020603050405020304" pitchFamily="18" charset="0"/>
              </a:rPr>
              <a:t>android:id</a:t>
            </a:r>
            <a:r>
              <a:rPr lang="vi-VN">
                <a:solidFill>
                  <a:schemeClr val="accent4">
                    <a:lumMod val="90000"/>
                    <a:lumOff val="10000"/>
                  </a:schemeClr>
                </a:solidFill>
                <a:latin typeface="Times New Roman" panose="02020603050405020304" pitchFamily="18" charset="0"/>
                <a:cs typeface="Times New Roman" panose="02020603050405020304" pitchFamily="18" charset="0"/>
              </a:rPr>
              <a:t>”</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Hàm “</a:t>
            </a:r>
            <a:r>
              <a:rPr lang="vi-VN">
                <a:solidFill>
                  <a:schemeClr val="accent6">
                    <a:lumMod val="75000"/>
                  </a:schemeClr>
                </a:solidFill>
                <a:latin typeface="Times New Roman" panose="02020603050405020304" pitchFamily="18" charset="0"/>
                <a:cs typeface="Times New Roman" panose="02020603050405020304" pitchFamily="18" charset="0"/>
              </a:rPr>
              <a:t>view findViewById(R.id.xyz)</a:t>
            </a:r>
            <a:r>
              <a:rPr lang="vi-VN">
                <a:solidFill>
                  <a:schemeClr val="accent4">
                    <a:lumMod val="90000"/>
                    <a:lumOff val="10000"/>
                  </a:schemeClr>
                </a:solidFill>
                <a:latin typeface="Times New Roman" panose="02020603050405020304" pitchFamily="18" charset="0"/>
                <a:cs typeface="Times New Roman" panose="02020603050405020304" pitchFamily="18" charset="0"/>
              </a:rPr>
              <a:t>” cho phép tìm đối tượng có mã số là xyz</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Sau khi tìm được view, ta chuyển kiểu view về control đúng của nó để xử lý</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spcBef>
                <a:spcPts val="600"/>
              </a:spcBef>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Chú ý quan trọng: mỗi lần nạp lại layout sẽ xóa toàn bộ các view cũ</a:t>
            </a:r>
          </a:p>
        </p:txBody>
      </p:sp>
      <p:pic>
        <p:nvPicPr>
          <p:cNvPr id="7" name="Picture 6" descr="Text&#10;&#10;Description automatically generated">
            <a:extLst>
              <a:ext uri="{FF2B5EF4-FFF2-40B4-BE49-F238E27FC236}">
                <a16:creationId xmlns:a16="http://schemas.microsoft.com/office/drawing/2014/main" id="{2DB9E02C-B30A-4912-80B5-022313A3E0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4268420"/>
            <a:ext cx="6968474" cy="1794382"/>
          </a:xfrm>
          <a:prstGeom prst="rect">
            <a:avLst/>
          </a:prstGeom>
          <a:noFill/>
        </p:spPr>
      </p:pic>
    </p:spTree>
    <p:extLst>
      <p:ext uri="{BB962C8B-B14F-4D97-AF65-F5344CB8AC3E}">
        <p14:creationId xmlns:p14="http://schemas.microsoft.com/office/powerpoint/2010/main" val="25141201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DD325-0BA8-0ED1-E938-33CC300357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1434CD-4E45-E8E4-CD9A-45F40A194398}"/>
              </a:ext>
            </a:extLst>
          </p:cNvPr>
          <p:cNvSpPr>
            <a:spLocks noGrp="1"/>
          </p:cNvSpPr>
          <p:nvPr>
            <p:ph idx="1"/>
          </p:nvPr>
        </p:nvSpPr>
        <p:spPr>
          <a:xfrm>
            <a:off x="457200" y="1076325"/>
            <a:ext cx="8229600" cy="828675"/>
          </a:xfrm>
        </p:spPr>
        <p:txBody>
          <a:bodyPr/>
          <a:lstStyle/>
          <a:p>
            <a:r>
              <a:rPr lang="en-US" dirty="0" err="1"/>
              <a:t>Bài</a:t>
            </a:r>
            <a:r>
              <a:rPr lang="en-US" dirty="0"/>
              <a:t> </a:t>
            </a:r>
            <a:r>
              <a:rPr lang="en-US" dirty="0" err="1"/>
              <a:t>tập</a:t>
            </a:r>
            <a:r>
              <a:rPr lang="en-US" dirty="0"/>
              <a:t>: </a:t>
            </a:r>
            <a:r>
              <a:rPr lang="en-US" dirty="0" err="1"/>
              <a:t>Thiết</a:t>
            </a:r>
            <a:r>
              <a:rPr lang="en-US" dirty="0"/>
              <a:t> </a:t>
            </a:r>
            <a:r>
              <a:rPr lang="en-US" dirty="0" err="1"/>
              <a:t>kế</a:t>
            </a:r>
            <a:r>
              <a:rPr lang="en-US" dirty="0"/>
              <a:t> </a:t>
            </a:r>
            <a:r>
              <a:rPr lang="en-US" dirty="0" err="1"/>
              <a:t>giao</a:t>
            </a:r>
            <a:r>
              <a:rPr lang="en-US" dirty="0"/>
              <a:t> </a:t>
            </a:r>
            <a:r>
              <a:rPr lang="en-US" dirty="0" err="1"/>
              <a:t>diện</a:t>
            </a:r>
            <a:r>
              <a:rPr lang="en-US" dirty="0"/>
              <a:t> </a:t>
            </a:r>
            <a:r>
              <a:rPr lang="en-US" dirty="0" err="1"/>
              <a:t>như</a:t>
            </a:r>
            <a:r>
              <a:rPr lang="en-US" dirty="0"/>
              <a:t> </a:t>
            </a:r>
            <a:r>
              <a:rPr lang="en-US" dirty="0" err="1"/>
              <a:t>sau</a:t>
            </a:r>
            <a:r>
              <a:rPr lang="en-US" dirty="0"/>
              <a:t>:</a:t>
            </a:r>
          </a:p>
        </p:txBody>
      </p:sp>
      <p:sp>
        <p:nvSpPr>
          <p:cNvPr id="4" name="Date Placeholder 3">
            <a:extLst>
              <a:ext uri="{FF2B5EF4-FFF2-40B4-BE49-F238E27FC236}">
                <a16:creationId xmlns:a16="http://schemas.microsoft.com/office/drawing/2014/main" id="{6C433973-1384-324D-2F27-654121A7C9A8}"/>
              </a:ext>
            </a:extLst>
          </p:cNvPr>
          <p:cNvSpPr>
            <a:spLocks noGrp="1"/>
          </p:cNvSpPr>
          <p:nvPr>
            <p:ph type="dt" sz="half" idx="10"/>
          </p:nvPr>
        </p:nvSpPr>
        <p:spPr/>
        <p:txBody>
          <a:bodyPr/>
          <a:lstStyle/>
          <a:p>
            <a:pPr>
              <a:defRPr/>
            </a:pPr>
            <a:r>
              <a:rPr lang="en-US"/>
              <a:t>Khoa CNTT - UNETI</a:t>
            </a:r>
          </a:p>
        </p:txBody>
      </p:sp>
      <p:sp>
        <p:nvSpPr>
          <p:cNvPr id="5" name="Slide Number Placeholder 4">
            <a:extLst>
              <a:ext uri="{FF2B5EF4-FFF2-40B4-BE49-F238E27FC236}">
                <a16:creationId xmlns:a16="http://schemas.microsoft.com/office/drawing/2014/main" id="{2C8D287B-9708-7633-DD29-799DC1A6E59E}"/>
              </a:ext>
            </a:extLst>
          </p:cNvPr>
          <p:cNvSpPr>
            <a:spLocks noGrp="1"/>
          </p:cNvSpPr>
          <p:nvPr>
            <p:ph type="sldNum" sz="quarter" idx="12"/>
          </p:nvPr>
        </p:nvSpPr>
        <p:spPr/>
        <p:txBody>
          <a:bodyPr/>
          <a:lstStyle/>
          <a:p>
            <a:pPr>
              <a:defRPr/>
            </a:pPr>
            <a:fld id="{38F16FD5-974A-40BB-8233-36E86F2AA732}" type="slidenum">
              <a:rPr lang="en-US" smtClean="0"/>
              <a:pPr>
                <a:defRPr/>
              </a:pPr>
              <a:t>43</a:t>
            </a:fld>
            <a:endParaRPr lang="en-US"/>
          </a:p>
        </p:txBody>
      </p:sp>
      <p:sp>
        <p:nvSpPr>
          <p:cNvPr id="8" name="Rectangle 7">
            <a:extLst>
              <a:ext uri="{FF2B5EF4-FFF2-40B4-BE49-F238E27FC236}">
                <a16:creationId xmlns:a16="http://schemas.microsoft.com/office/drawing/2014/main" id="{73D4D3C6-9369-9D76-F55A-3B3F46A3716D}"/>
              </a:ext>
            </a:extLst>
          </p:cNvPr>
          <p:cNvSpPr/>
          <p:nvPr/>
        </p:nvSpPr>
        <p:spPr bwMode="auto">
          <a:xfrm>
            <a:off x="2819400" y="2362200"/>
            <a:ext cx="2209800" cy="3124200"/>
          </a:xfrm>
          <a:prstGeom prst="rect">
            <a:avLst/>
          </a:prstGeom>
          <a:noFill/>
          <a:ln w="9525" cap="flat" cmpd="sng" algn="ctr">
            <a:noFill/>
            <a:prstDash val="solid"/>
            <a:round/>
            <a:headEnd type="none" w="med" len="med"/>
            <a:tailEnd type="none" w="med" len="med"/>
          </a:ln>
          <a:effectLst/>
        </p:spPr>
        <p:txBody>
          <a:bodyPr vert="horz" wrap="non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9" name="Rectangle 8">
            <a:extLst>
              <a:ext uri="{FF2B5EF4-FFF2-40B4-BE49-F238E27FC236}">
                <a16:creationId xmlns:a16="http://schemas.microsoft.com/office/drawing/2014/main" id="{AC68106E-56F5-0D7C-75CE-A87CE35CE238}"/>
              </a:ext>
            </a:extLst>
          </p:cNvPr>
          <p:cNvSpPr/>
          <p:nvPr/>
        </p:nvSpPr>
        <p:spPr bwMode="auto">
          <a:xfrm>
            <a:off x="1066800" y="2209800"/>
            <a:ext cx="2209800" cy="3505200"/>
          </a:xfrm>
          <a:prstGeom prst="rect">
            <a:avLst/>
          </a:prstGeom>
          <a:solidFill>
            <a:schemeClr val="bg1"/>
          </a:solidFill>
          <a:ln w="9525" cap="flat" cmpd="sng" algn="ctr">
            <a:solidFill>
              <a:srgbClr val="0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bg1"/>
              </a:solidFill>
              <a:effectLst/>
              <a:latin typeface="Arial" charset="0"/>
            </a:endParaRPr>
          </a:p>
        </p:txBody>
      </p:sp>
      <p:sp>
        <p:nvSpPr>
          <p:cNvPr id="10" name="Rectangle 9">
            <a:extLst>
              <a:ext uri="{FF2B5EF4-FFF2-40B4-BE49-F238E27FC236}">
                <a16:creationId xmlns:a16="http://schemas.microsoft.com/office/drawing/2014/main" id="{53233F79-6656-B139-E262-58A2FB769AC7}"/>
              </a:ext>
            </a:extLst>
          </p:cNvPr>
          <p:cNvSpPr/>
          <p:nvPr/>
        </p:nvSpPr>
        <p:spPr bwMode="auto">
          <a:xfrm>
            <a:off x="1828800" y="2514600"/>
            <a:ext cx="1175004" cy="244475"/>
          </a:xfrm>
          <a:prstGeom prst="rect">
            <a:avLst/>
          </a:prstGeom>
          <a:solidFill>
            <a:schemeClr val="bg2">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11" name="Rectangle 10">
            <a:extLst>
              <a:ext uri="{FF2B5EF4-FFF2-40B4-BE49-F238E27FC236}">
                <a16:creationId xmlns:a16="http://schemas.microsoft.com/office/drawing/2014/main" id="{DF188CEF-C766-1ECF-0BFD-BC236BE019AB}"/>
              </a:ext>
            </a:extLst>
          </p:cNvPr>
          <p:cNvSpPr/>
          <p:nvPr/>
        </p:nvSpPr>
        <p:spPr bwMode="auto">
          <a:xfrm>
            <a:off x="1828800" y="3063082"/>
            <a:ext cx="1175004" cy="244475"/>
          </a:xfrm>
          <a:prstGeom prst="rect">
            <a:avLst/>
          </a:prstGeom>
          <a:solidFill>
            <a:schemeClr val="bg2">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12" name="Rectangle 11">
            <a:extLst>
              <a:ext uri="{FF2B5EF4-FFF2-40B4-BE49-F238E27FC236}">
                <a16:creationId xmlns:a16="http://schemas.microsoft.com/office/drawing/2014/main" id="{7FEC8A1B-4299-DB1C-DC02-752C907F287C}"/>
              </a:ext>
            </a:extLst>
          </p:cNvPr>
          <p:cNvSpPr/>
          <p:nvPr/>
        </p:nvSpPr>
        <p:spPr bwMode="auto">
          <a:xfrm>
            <a:off x="1828800" y="3611564"/>
            <a:ext cx="1175004" cy="244475"/>
          </a:xfrm>
          <a:prstGeom prst="rect">
            <a:avLst/>
          </a:prstGeom>
          <a:solidFill>
            <a:schemeClr val="bg2">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13" name="TextBox 12">
            <a:extLst>
              <a:ext uri="{FF2B5EF4-FFF2-40B4-BE49-F238E27FC236}">
                <a16:creationId xmlns:a16="http://schemas.microsoft.com/office/drawing/2014/main" id="{64065571-8743-B5B4-D6FA-EBA5C89AFFCB}"/>
              </a:ext>
            </a:extLst>
          </p:cNvPr>
          <p:cNvSpPr txBox="1"/>
          <p:nvPr/>
        </p:nvSpPr>
        <p:spPr>
          <a:xfrm>
            <a:off x="1269707" y="2374392"/>
            <a:ext cx="356188" cy="461665"/>
          </a:xfrm>
          <a:prstGeom prst="rect">
            <a:avLst/>
          </a:prstGeom>
          <a:noFill/>
        </p:spPr>
        <p:txBody>
          <a:bodyPr wrap="none" rtlCol="0">
            <a:spAutoFit/>
          </a:bodyPr>
          <a:lstStyle/>
          <a:p>
            <a:r>
              <a:rPr lang="en-US" dirty="0">
                <a:solidFill>
                  <a:schemeClr val="tx1"/>
                </a:solidFill>
              </a:rPr>
              <a:t>a</a:t>
            </a:r>
          </a:p>
        </p:txBody>
      </p:sp>
      <p:sp>
        <p:nvSpPr>
          <p:cNvPr id="14" name="TextBox 13">
            <a:extLst>
              <a:ext uri="{FF2B5EF4-FFF2-40B4-BE49-F238E27FC236}">
                <a16:creationId xmlns:a16="http://schemas.microsoft.com/office/drawing/2014/main" id="{E3C80BE0-335E-0EF3-758C-D2E9C2622BBB}"/>
              </a:ext>
            </a:extLst>
          </p:cNvPr>
          <p:cNvSpPr txBox="1"/>
          <p:nvPr/>
        </p:nvSpPr>
        <p:spPr>
          <a:xfrm>
            <a:off x="1269707" y="2910024"/>
            <a:ext cx="356188" cy="461665"/>
          </a:xfrm>
          <a:prstGeom prst="rect">
            <a:avLst/>
          </a:prstGeom>
          <a:noFill/>
        </p:spPr>
        <p:txBody>
          <a:bodyPr wrap="none" rtlCol="0">
            <a:spAutoFit/>
          </a:bodyPr>
          <a:lstStyle/>
          <a:p>
            <a:r>
              <a:rPr lang="en-US" dirty="0">
                <a:solidFill>
                  <a:schemeClr val="tx1"/>
                </a:solidFill>
              </a:rPr>
              <a:t>b</a:t>
            </a:r>
          </a:p>
        </p:txBody>
      </p:sp>
      <p:sp>
        <p:nvSpPr>
          <p:cNvPr id="15" name="TextBox 14">
            <a:extLst>
              <a:ext uri="{FF2B5EF4-FFF2-40B4-BE49-F238E27FC236}">
                <a16:creationId xmlns:a16="http://schemas.microsoft.com/office/drawing/2014/main" id="{8B25EC25-B9B3-6B01-93F9-8B87FA93D5F6}"/>
              </a:ext>
            </a:extLst>
          </p:cNvPr>
          <p:cNvSpPr txBox="1"/>
          <p:nvPr/>
        </p:nvSpPr>
        <p:spPr>
          <a:xfrm>
            <a:off x="1278524" y="3464818"/>
            <a:ext cx="338554" cy="461665"/>
          </a:xfrm>
          <a:prstGeom prst="rect">
            <a:avLst/>
          </a:prstGeom>
          <a:noFill/>
        </p:spPr>
        <p:txBody>
          <a:bodyPr wrap="none" rtlCol="0">
            <a:spAutoFit/>
          </a:bodyPr>
          <a:lstStyle/>
          <a:p>
            <a:r>
              <a:rPr lang="en-US" dirty="0">
                <a:solidFill>
                  <a:schemeClr val="tx1"/>
                </a:solidFill>
              </a:rPr>
              <a:t>c</a:t>
            </a:r>
          </a:p>
        </p:txBody>
      </p:sp>
      <p:sp>
        <p:nvSpPr>
          <p:cNvPr id="16" name="TextBox 15">
            <a:extLst>
              <a:ext uri="{FF2B5EF4-FFF2-40B4-BE49-F238E27FC236}">
                <a16:creationId xmlns:a16="http://schemas.microsoft.com/office/drawing/2014/main" id="{752ED939-73BE-B0C3-5A3C-67A3C7B474E4}"/>
              </a:ext>
            </a:extLst>
          </p:cNvPr>
          <p:cNvSpPr txBox="1"/>
          <p:nvPr/>
        </p:nvSpPr>
        <p:spPr>
          <a:xfrm>
            <a:off x="1173723" y="4014535"/>
            <a:ext cx="2089033" cy="400110"/>
          </a:xfrm>
          <a:prstGeom prst="rect">
            <a:avLst/>
          </a:prstGeom>
          <a:noFill/>
        </p:spPr>
        <p:txBody>
          <a:bodyPr wrap="none" rtlCol="0">
            <a:spAutoFit/>
          </a:bodyPr>
          <a:lstStyle/>
          <a:p>
            <a:r>
              <a:rPr lang="en-US" sz="2000" dirty="0">
                <a:solidFill>
                  <a:schemeClr val="tx1"/>
                </a:solidFill>
              </a:rPr>
              <a:t>ax^2 + bx +c = 0</a:t>
            </a:r>
          </a:p>
        </p:txBody>
      </p:sp>
      <p:sp>
        <p:nvSpPr>
          <p:cNvPr id="17" name="TextBox 16">
            <a:extLst>
              <a:ext uri="{FF2B5EF4-FFF2-40B4-BE49-F238E27FC236}">
                <a16:creationId xmlns:a16="http://schemas.microsoft.com/office/drawing/2014/main" id="{79CFF45F-0D6F-B8F1-0518-083A8C0C42A5}"/>
              </a:ext>
            </a:extLst>
          </p:cNvPr>
          <p:cNvSpPr txBox="1"/>
          <p:nvPr/>
        </p:nvSpPr>
        <p:spPr>
          <a:xfrm>
            <a:off x="1442793" y="4411410"/>
            <a:ext cx="1457813" cy="461665"/>
          </a:xfrm>
          <a:prstGeom prst="rect">
            <a:avLst/>
          </a:prstGeom>
          <a:solidFill>
            <a:srgbClr val="FFFF00"/>
          </a:solidFill>
          <a:ln>
            <a:solidFill>
              <a:srgbClr val="000000"/>
            </a:solidFill>
          </a:ln>
        </p:spPr>
        <p:txBody>
          <a:bodyPr wrap="square" rtlCol="0">
            <a:spAutoFit/>
          </a:bodyPr>
          <a:lstStyle/>
          <a:p>
            <a:r>
              <a:rPr lang="en-US" dirty="0">
                <a:solidFill>
                  <a:schemeClr val="tx1"/>
                </a:solidFill>
              </a:rPr>
              <a:t>result</a:t>
            </a:r>
          </a:p>
        </p:txBody>
      </p:sp>
      <p:sp>
        <p:nvSpPr>
          <p:cNvPr id="19" name="TextBox 18">
            <a:extLst>
              <a:ext uri="{FF2B5EF4-FFF2-40B4-BE49-F238E27FC236}">
                <a16:creationId xmlns:a16="http://schemas.microsoft.com/office/drawing/2014/main" id="{16F52974-4BD7-A6CA-B361-6F0A55344A06}"/>
              </a:ext>
            </a:extLst>
          </p:cNvPr>
          <p:cNvSpPr txBox="1"/>
          <p:nvPr/>
        </p:nvSpPr>
        <p:spPr>
          <a:xfrm>
            <a:off x="1350749" y="4988675"/>
            <a:ext cx="1677439" cy="461665"/>
          </a:xfrm>
          <a:prstGeom prst="rect">
            <a:avLst/>
          </a:prstGeom>
          <a:noFill/>
        </p:spPr>
        <p:txBody>
          <a:bodyPr wrap="square" rtlCol="0">
            <a:spAutoFit/>
          </a:bodyPr>
          <a:lstStyle/>
          <a:p>
            <a:r>
              <a:rPr lang="en-US" dirty="0" err="1">
                <a:solidFill>
                  <a:schemeClr val="tx1"/>
                </a:solidFill>
              </a:rPr>
              <a:t>vo</a:t>
            </a:r>
            <a:r>
              <a:rPr lang="en-US" dirty="0">
                <a:solidFill>
                  <a:schemeClr val="tx1"/>
                </a:solidFill>
              </a:rPr>
              <a:t> </a:t>
            </a:r>
            <a:r>
              <a:rPr lang="en-US" dirty="0" err="1">
                <a:solidFill>
                  <a:schemeClr val="tx1"/>
                </a:solidFill>
              </a:rPr>
              <a:t>nghiem</a:t>
            </a:r>
            <a:endParaRPr lang="en-US" dirty="0">
              <a:solidFill>
                <a:schemeClr val="tx1"/>
              </a:solidFill>
            </a:endParaRPr>
          </a:p>
        </p:txBody>
      </p:sp>
      <p:sp>
        <p:nvSpPr>
          <p:cNvPr id="20" name="Rectangle 19">
            <a:extLst>
              <a:ext uri="{FF2B5EF4-FFF2-40B4-BE49-F238E27FC236}">
                <a16:creationId xmlns:a16="http://schemas.microsoft.com/office/drawing/2014/main" id="{DC8A725F-5862-8C50-91A6-1A737155DAFD}"/>
              </a:ext>
            </a:extLst>
          </p:cNvPr>
          <p:cNvSpPr/>
          <p:nvPr/>
        </p:nvSpPr>
        <p:spPr bwMode="auto">
          <a:xfrm>
            <a:off x="4456261" y="2209800"/>
            <a:ext cx="2209800" cy="3505200"/>
          </a:xfrm>
          <a:prstGeom prst="rect">
            <a:avLst/>
          </a:prstGeom>
          <a:solidFill>
            <a:schemeClr val="bg1"/>
          </a:solidFill>
          <a:ln w="9525" cap="flat" cmpd="sng" algn="ctr">
            <a:solidFill>
              <a:srgbClr val="0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bg1"/>
              </a:solidFill>
              <a:effectLst/>
              <a:latin typeface="Arial" charset="0"/>
            </a:endParaRPr>
          </a:p>
        </p:txBody>
      </p:sp>
      <p:sp>
        <p:nvSpPr>
          <p:cNvPr id="21" name="Rectangle 20">
            <a:extLst>
              <a:ext uri="{FF2B5EF4-FFF2-40B4-BE49-F238E27FC236}">
                <a16:creationId xmlns:a16="http://schemas.microsoft.com/office/drawing/2014/main" id="{6A7A1024-448E-0857-5EC7-9DAD9F5F1959}"/>
              </a:ext>
            </a:extLst>
          </p:cNvPr>
          <p:cNvSpPr/>
          <p:nvPr/>
        </p:nvSpPr>
        <p:spPr bwMode="auto">
          <a:xfrm>
            <a:off x="5218261" y="2514600"/>
            <a:ext cx="1175004" cy="244475"/>
          </a:xfrm>
          <a:prstGeom prst="rect">
            <a:avLst/>
          </a:prstGeom>
          <a:solidFill>
            <a:schemeClr val="bg2">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22" name="Rectangle 21">
            <a:extLst>
              <a:ext uri="{FF2B5EF4-FFF2-40B4-BE49-F238E27FC236}">
                <a16:creationId xmlns:a16="http://schemas.microsoft.com/office/drawing/2014/main" id="{EC6E45CF-C789-DF12-C941-A9D3C9BDE598}"/>
              </a:ext>
            </a:extLst>
          </p:cNvPr>
          <p:cNvSpPr/>
          <p:nvPr/>
        </p:nvSpPr>
        <p:spPr bwMode="auto">
          <a:xfrm>
            <a:off x="5218261" y="3063082"/>
            <a:ext cx="1175004" cy="244475"/>
          </a:xfrm>
          <a:prstGeom prst="rect">
            <a:avLst/>
          </a:prstGeom>
          <a:solidFill>
            <a:schemeClr val="bg2">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23" name="Rectangle 22">
            <a:extLst>
              <a:ext uri="{FF2B5EF4-FFF2-40B4-BE49-F238E27FC236}">
                <a16:creationId xmlns:a16="http://schemas.microsoft.com/office/drawing/2014/main" id="{B7B4E37A-F4AF-C1AB-76F6-BB678BBFA8BC}"/>
              </a:ext>
            </a:extLst>
          </p:cNvPr>
          <p:cNvSpPr/>
          <p:nvPr/>
        </p:nvSpPr>
        <p:spPr bwMode="auto">
          <a:xfrm>
            <a:off x="5218261" y="3611564"/>
            <a:ext cx="1175004" cy="244475"/>
          </a:xfrm>
          <a:prstGeom prst="rect">
            <a:avLst/>
          </a:prstGeom>
          <a:solidFill>
            <a:schemeClr val="bg2">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24" name="TextBox 23">
            <a:extLst>
              <a:ext uri="{FF2B5EF4-FFF2-40B4-BE49-F238E27FC236}">
                <a16:creationId xmlns:a16="http://schemas.microsoft.com/office/drawing/2014/main" id="{4066E617-1666-4280-B0BA-8AFFDB2B0CD3}"/>
              </a:ext>
            </a:extLst>
          </p:cNvPr>
          <p:cNvSpPr txBox="1"/>
          <p:nvPr/>
        </p:nvSpPr>
        <p:spPr>
          <a:xfrm>
            <a:off x="4659168" y="2374392"/>
            <a:ext cx="356188" cy="461665"/>
          </a:xfrm>
          <a:prstGeom prst="rect">
            <a:avLst/>
          </a:prstGeom>
          <a:noFill/>
        </p:spPr>
        <p:txBody>
          <a:bodyPr wrap="none" rtlCol="0">
            <a:spAutoFit/>
          </a:bodyPr>
          <a:lstStyle/>
          <a:p>
            <a:r>
              <a:rPr lang="en-US" dirty="0">
                <a:solidFill>
                  <a:schemeClr val="tx1"/>
                </a:solidFill>
              </a:rPr>
              <a:t>a</a:t>
            </a:r>
          </a:p>
        </p:txBody>
      </p:sp>
      <p:sp>
        <p:nvSpPr>
          <p:cNvPr id="25" name="TextBox 24">
            <a:extLst>
              <a:ext uri="{FF2B5EF4-FFF2-40B4-BE49-F238E27FC236}">
                <a16:creationId xmlns:a16="http://schemas.microsoft.com/office/drawing/2014/main" id="{2BC09386-9EC7-0ECE-0284-99D74A3AA2D6}"/>
              </a:ext>
            </a:extLst>
          </p:cNvPr>
          <p:cNvSpPr txBox="1"/>
          <p:nvPr/>
        </p:nvSpPr>
        <p:spPr>
          <a:xfrm>
            <a:off x="4659168" y="2910024"/>
            <a:ext cx="356188" cy="461665"/>
          </a:xfrm>
          <a:prstGeom prst="rect">
            <a:avLst/>
          </a:prstGeom>
          <a:noFill/>
        </p:spPr>
        <p:txBody>
          <a:bodyPr wrap="none" rtlCol="0">
            <a:spAutoFit/>
          </a:bodyPr>
          <a:lstStyle/>
          <a:p>
            <a:r>
              <a:rPr lang="en-US" dirty="0">
                <a:solidFill>
                  <a:schemeClr val="tx1"/>
                </a:solidFill>
              </a:rPr>
              <a:t>b</a:t>
            </a:r>
          </a:p>
        </p:txBody>
      </p:sp>
      <p:sp>
        <p:nvSpPr>
          <p:cNvPr id="26" name="TextBox 25">
            <a:extLst>
              <a:ext uri="{FF2B5EF4-FFF2-40B4-BE49-F238E27FC236}">
                <a16:creationId xmlns:a16="http://schemas.microsoft.com/office/drawing/2014/main" id="{2B875DE4-A7AB-3B2C-94BC-00A882A3EC6E}"/>
              </a:ext>
            </a:extLst>
          </p:cNvPr>
          <p:cNvSpPr txBox="1"/>
          <p:nvPr/>
        </p:nvSpPr>
        <p:spPr>
          <a:xfrm>
            <a:off x="4667985" y="3464818"/>
            <a:ext cx="338554" cy="461665"/>
          </a:xfrm>
          <a:prstGeom prst="rect">
            <a:avLst/>
          </a:prstGeom>
          <a:noFill/>
        </p:spPr>
        <p:txBody>
          <a:bodyPr wrap="none" rtlCol="0">
            <a:spAutoFit/>
          </a:bodyPr>
          <a:lstStyle/>
          <a:p>
            <a:r>
              <a:rPr lang="en-US" dirty="0">
                <a:solidFill>
                  <a:schemeClr val="tx1"/>
                </a:solidFill>
              </a:rPr>
              <a:t>c</a:t>
            </a:r>
          </a:p>
        </p:txBody>
      </p:sp>
      <p:sp>
        <p:nvSpPr>
          <p:cNvPr id="27" name="TextBox 26">
            <a:extLst>
              <a:ext uri="{FF2B5EF4-FFF2-40B4-BE49-F238E27FC236}">
                <a16:creationId xmlns:a16="http://schemas.microsoft.com/office/drawing/2014/main" id="{E02CBF5F-4E62-CE08-931D-4CAD121F83BB}"/>
              </a:ext>
            </a:extLst>
          </p:cNvPr>
          <p:cNvSpPr txBox="1"/>
          <p:nvPr/>
        </p:nvSpPr>
        <p:spPr>
          <a:xfrm>
            <a:off x="4563184" y="4014535"/>
            <a:ext cx="2089033" cy="400110"/>
          </a:xfrm>
          <a:prstGeom prst="rect">
            <a:avLst/>
          </a:prstGeom>
          <a:noFill/>
        </p:spPr>
        <p:txBody>
          <a:bodyPr wrap="none" rtlCol="0">
            <a:spAutoFit/>
          </a:bodyPr>
          <a:lstStyle/>
          <a:p>
            <a:r>
              <a:rPr lang="en-US" sz="2000" dirty="0">
                <a:solidFill>
                  <a:schemeClr val="tx1"/>
                </a:solidFill>
              </a:rPr>
              <a:t>ax^2 + bx +c = 0</a:t>
            </a:r>
          </a:p>
        </p:txBody>
      </p:sp>
      <p:sp>
        <p:nvSpPr>
          <p:cNvPr id="28" name="TextBox 27">
            <a:extLst>
              <a:ext uri="{FF2B5EF4-FFF2-40B4-BE49-F238E27FC236}">
                <a16:creationId xmlns:a16="http://schemas.microsoft.com/office/drawing/2014/main" id="{7D80B9DE-0452-DB2D-BE7B-A1BEF3621474}"/>
              </a:ext>
            </a:extLst>
          </p:cNvPr>
          <p:cNvSpPr txBox="1"/>
          <p:nvPr/>
        </p:nvSpPr>
        <p:spPr>
          <a:xfrm>
            <a:off x="4832254" y="4411410"/>
            <a:ext cx="1457813" cy="461665"/>
          </a:xfrm>
          <a:prstGeom prst="rect">
            <a:avLst/>
          </a:prstGeom>
          <a:solidFill>
            <a:srgbClr val="FFFF00"/>
          </a:solidFill>
          <a:ln>
            <a:solidFill>
              <a:srgbClr val="000000"/>
            </a:solidFill>
          </a:ln>
        </p:spPr>
        <p:txBody>
          <a:bodyPr wrap="square" rtlCol="0">
            <a:spAutoFit/>
          </a:bodyPr>
          <a:lstStyle/>
          <a:p>
            <a:r>
              <a:rPr lang="en-US" dirty="0">
                <a:solidFill>
                  <a:schemeClr val="tx1"/>
                </a:solidFill>
              </a:rPr>
              <a:t>result</a:t>
            </a:r>
          </a:p>
        </p:txBody>
      </p:sp>
      <p:sp>
        <p:nvSpPr>
          <p:cNvPr id="29" name="TextBox 28">
            <a:extLst>
              <a:ext uri="{FF2B5EF4-FFF2-40B4-BE49-F238E27FC236}">
                <a16:creationId xmlns:a16="http://schemas.microsoft.com/office/drawing/2014/main" id="{55FB1B06-F0FF-BAE6-7711-D54E8FA4B9AA}"/>
              </a:ext>
            </a:extLst>
          </p:cNvPr>
          <p:cNvSpPr txBox="1"/>
          <p:nvPr/>
        </p:nvSpPr>
        <p:spPr>
          <a:xfrm>
            <a:off x="4496839" y="4988675"/>
            <a:ext cx="2155377" cy="461665"/>
          </a:xfrm>
          <a:prstGeom prst="rect">
            <a:avLst/>
          </a:prstGeom>
          <a:noFill/>
        </p:spPr>
        <p:txBody>
          <a:bodyPr wrap="square" rtlCol="0">
            <a:spAutoFit/>
          </a:bodyPr>
          <a:lstStyle/>
          <a:p>
            <a:r>
              <a:rPr lang="en-US" dirty="0" err="1">
                <a:solidFill>
                  <a:schemeClr val="tx1"/>
                </a:solidFill>
              </a:rPr>
              <a:t>vo</a:t>
            </a:r>
            <a:r>
              <a:rPr lang="en-US" dirty="0">
                <a:solidFill>
                  <a:schemeClr val="tx1"/>
                </a:solidFill>
              </a:rPr>
              <a:t> so </a:t>
            </a:r>
            <a:r>
              <a:rPr lang="en-US" dirty="0" err="1">
                <a:solidFill>
                  <a:schemeClr val="tx1"/>
                </a:solidFill>
              </a:rPr>
              <a:t>nghiem</a:t>
            </a:r>
            <a:endParaRPr lang="en-US" dirty="0">
              <a:solidFill>
                <a:schemeClr val="tx1"/>
              </a:solidFill>
            </a:endParaRPr>
          </a:p>
        </p:txBody>
      </p:sp>
    </p:spTree>
    <p:extLst>
      <p:ext uri="{BB962C8B-B14F-4D97-AF65-F5344CB8AC3E}">
        <p14:creationId xmlns:p14="http://schemas.microsoft.com/office/powerpoint/2010/main" val="15377486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DD325-0BA8-0ED1-E938-33CC300357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1434CD-4E45-E8E4-CD9A-45F40A194398}"/>
              </a:ext>
            </a:extLst>
          </p:cNvPr>
          <p:cNvSpPr>
            <a:spLocks noGrp="1"/>
          </p:cNvSpPr>
          <p:nvPr>
            <p:ph idx="1"/>
          </p:nvPr>
        </p:nvSpPr>
        <p:spPr>
          <a:xfrm>
            <a:off x="457200" y="1076325"/>
            <a:ext cx="8229600" cy="828675"/>
          </a:xfrm>
        </p:spPr>
        <p:txBody>
          <a:bodyPr/>
          <a:lstStyle/>
          <a:p>
            <a:r>
              <a:rPr lang="en-US" dirty="0" err="1"/>
              <a:t>Bài</a:t>
            </a:r>
            <a:r>
              <a:rPr lang="en-US" dirty="0"/>
              <a:t> </a:t>
            </a:r>
            <a:r>
              <a:rPr lang="en-US" dirty="0" err="1"/>
              <a:t>tập</a:t>
            </a:r>
            <a:r>
              <a:rPr lang="en-US" dirty="0"/>
              <a:t>: </a:t>
            </a:r>
            <a:r>
              <a:rPr lang="en-US" dirty="0" err="1"/>
              <a:t>Thiết</a:t>
            </a:r>
            <a:r>
              <a:rPr lang="en-US" dirty="0"/>
              <a:t> </a:t>
            </a:r>
            <a:r>
              <a:rPr lang="en-US" dirty="0" err="1"/>
              <a:t>kế</a:t>
            </a:r>
            <a:r>
              <a:rPr lang="en-US" dirty="0"/>
              <a:t> </a:t>
            </a:r>
            <a:r>
              <a:rPr lang="en-US" dirty="0" err="1"/>
              <a:t>giao</a:t>
            </a:r>
            <a:r>
              <a:rPr lang="en-US" dirty="0"/>
              <a:t> </a:t>
            </a:r>
            <a:r>
              <a:rPr lang="en-US" dirty="0" err="1"/>
              <a:t>diện</a:t>
            </a:r>
            <a:r>
              <a:rPr lang="en-US" dirty="0"/>
              <a:t> </a:t>
            </a:r>
            <a:r>
              <a:rPr lang="en-US" dirty="0" err="1"/>
              <a:t>như</a:t>
            </a:r>
            <a:r>
              <a:rPr lang="en-US" dirty="0"/>
              <a:t> </a:t>
            </a:r>
            <a:r>
              <a:rPr lang="en-US" dirty="0" err="1"/>
              <a:t>sau</a:t>
            </a:r>
            <a:r>
              <a:rPr lang="en-US" dirty="0"/>
              <a:t>:</a:t>
            </a:r>
          </a:p>
        </p:txBody>
      </p:sp>
      <p:sp>
        <p:nvSpPr>
          <p:cNvPr id="4" name="Date Placeholder 3">
            <a:extLst>
              <a:ext uri="{FF2B5EF4-FFF2-40B4-BE49-F238E27FC236}">
                <a16:creationId xmlns:a16="http://schemas.microsoft.com/office/drawing/2014/main" id="{6C433973-1384-324D-2F27-654121A7C9A8}"/>
              </a:ext>
            </a:extLst>
          </p:cNvPr>
          <p:cNvSpPr>
            <a:spLocks noGrp="1"/>
          </p:cNvSpPr>
          <p:nvPr>
            <p:ph type="dt" sz="half" idx="10"/>
          </p:nvPr>
        </p:nvSpPr>
        <p:spPr/>
        <p:txBody>
          <a:bodyPr/>
          <a:lstStyle/>
          <a:p>
            <a:pPr>
              <a:defRPr/>
            </a:pPr>
            <a:r>
              <a:rPr lang="en-US"/>
              <a:t>Khoa CNTT - UNETI</a:t>
            </a:r>
          </a:p>
        </p:txBody>
      </p:sp>
      <p:sp>
        <p:nvSpPr>
          <p:cNvPr id="5" name="Slide Number Placeholder 4">
            <a:extLst>
              <a:ext uri="{FF2B5EF4-FFF2-40B4-BE49-F238E27FC236}">
                <a16:creationId xmlns:a16="http://schemas.microsoft.com/office/drawing/2014/main" id="{2C8D287B-9708-7633-DD29-799DC1A6E59E}"/>
              </a:ext>
            </a:extLst>
          </p:cNvPr>
          <p:cNvSpPr>
            <a:spLocks noGrp="1"/>
          </p:cNvSpPr>
          <p:nvPr>
            <p:ph type="sldNum" sz="quarter" idx="12"/>
          </p:nvPr>
        </p:nvSpPr>
        <p:spPr/>
        <p:txBody>
          <a:bodyPr/>
          <a:lstStyle/>
          <a:p>
            <a:pPr>
              <a:defRPr/>
            </a:pPr>
            <a:fld id="{38F16FD5-974A-40BB-8233-36E86F2AA732}" type="slidenum">
              <a:rPr lang="en-US" smtClean="0"/>
              <a:pPr>
                <a:defRPr/>
              </a:pPr>
              <a:t>44</a:t>
            </a:fld>
            <a:endParaRPr lang="en-US"/>
          </a:p>
        </p:txBody>
      </p:sp>
      <p:sp>
        <p:nvSpPr>
          <p:cNvPr id="8" name="Rectangle 7">
            <a:extLst>
              <a:ext uri="{FF2B5EF4-FFF2-40B4-BE49-F238E27FC236}">
                <a16:creationId xmlns:a16="http://schemas.microsoft.com/office/drawing/2014/main" id="{73D4D3C6-9369-9D76-F55A-3B3F46A3716D}"/>
              </a:ext>
            </a:extLst>
          </p:cNvPr>
          <p:cNvSpPr/>
          <p:nvPr/>
        </p:nvSpPr>
        <p:spPr bwMode="auto">
          <a:xfrm>
            <a:off x="2819400" y="2362200"/>
            <a:ext cx="2209800" cy="3124200"/>
          </a:xfrm>
          <a:prstGeom prst="rect">
            <a:avLst/>
          </a:prstGeom>
          <a:noFill/>
          <a:ln w="9525" cap="flat" cmpd="sng" algn="ctr">
            <a:noFill/>
            <a:prstDash val="solid"/>
            <a:round/>
            <a:headEnd type="none" w="med" len="med"/>
            <a:tailEnd type="none" w="med" len="med"/>
          </a:ln>
          <a:effectLst/>
        </p:spPr>
        <p:txBody>
          <a:bodyPr vert="horz" wrap="non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9" name="Rectangle 8">
            <a:extLst>
              <a:ext uri="{FF2B5EF4-FFF2-40B4-BE49-F238E27FC236}">
                <a16:creationId xmlns:a16="http://schemas.microsoft.com/office/drawing/2014/main" id="{AC68106E-56F5-0D7C-75CE-A87CE35CE238}"/>
              </a:ext>
            </a:extLst>
          </p:cNvPr>
          <p:cNvSpPr/>
          <p:nvPr/>
        </p:nvSpPr>
        <p:spPr bwMode="auto">
          <a:xfrm>
            <a:off x="1066800" y="2209800"/>
            <a:ext cx="2209800" cy="3505200"/>
          </a:xfrm>
          <a:prstGeom prst="rect">
            <a:avLst/>
          </a:prstGeom>
          <a:solidFill>
            <a:schemeClr val="bg1"/>
          </a:solidFill>
          <a:ln w="9525" cap="flat" cmpd="sng" algn="ctr">
            <a:solidFill>
              <a:srgbClr val="0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bg1"/>
              </a:solidFill>
              <a:effectLst/>
              <a:latin typeface="Arial" charset="0"/>
            </a:endParaRPr>
          </a:p>
        </p:txBody>
      </p:sp>
      <p:sp>
        <p:nvSpPr>
          <p:cNvPr id="10" name="Rectangle 9">
            <a:extLst>
              <a:ext uri="{FF2B5EF4-FFF2-40B4-BE49-F238E27FC236}">
                <a16:creationId xmlns:a16="http://schemas.microsoft.com/office/drawing/2014/main" id="{53233F79-6656-B139-E262-58A2FB769AC7}"/>
              </a:ext>
            </a:extLst>
          </p:cNvPr>
          <p:cNvSpPr/>
          <p:nvPr/>
        </p:nvSpPr>
        <p:spPr bwMode="auto">
          <a:xfrm>
            <a:off x="1828800" y="2514600"/>
            <a:ext cx="1175004" cy="244475"/>
          </a:xfrm>
          <a:prstGeom prst="rect">
            <a:avLst/>
          </a:prstGeom>
          <a:solidFill>
            <a:schemeClr val="bg2">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11" name="Rectangle 10">
            <a:extLst>
              <a:ext uri="{FF2B5EF4-FFF2-40B4-BE49-F238E27FC236}">
                <a16:creationId xmlns:a16="http://schemas.microsoft.com/office/drawing/2014/main" id="{DF188CEF-C766-1ECF-0BFD-BC236BE019AB}"/>
              </a:ext>
            </a:extLst>
          </p:cNvPr>
          <p:cNvSpPr/>
          <p:nvPr/>
        </p:nvSpPr>
        <p:spPr bwMode="auto">
          <a:xfrm>
            <a:off x="1828800" y="3063082"/>
            <a:ext cx="1175004" cy="244475"/>
          </a:xfrm>
          <a:prstGeom prst="rect">
            <a:avLst/>
          </a:prstGeom>
          <a:solidFill>
            <a:schemeClr val="bg2">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12" name="Rectangle 11">
            <a:extLst>
              <a:ext uri="{FF2B5EF4-FFF2-40B4-BE49-F238E27FC236}">
                <a16:creationId xmlns:a16="http://schemas.microsoft.com/office/drawing/2014/main" id="{7FEC8A1B-4299-DB1C-DC02-752C907F287C}"/>
              </a:ext>
            </a:extLst>
          </p:cNvPr>
          <p:cNvSpPr/>
          <p:nvPr/>
        </p:nvSpPr>
        <p:spPr bwMode="auto">
          <a:xfrm>
            <a:off x="1828800" y="3611564"/>
            <a:ext cx="1175004" cy="244475"/>
          </a:xfrm>
          <a:prstGeom prst="rect">
            <a:avLst/>
          </a:prstGeom>
          <a:solidFill>
            <a:schemeClr val="bg2">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13" name="TextBox 12">
            <a:extLst>
              <a:ext uri="{FF2B5EF4-FFF2-40B4-BE49-F238E27FC236}">
                <a16:creationId xmlns:a16="http://schemas.microsoft.com/office/drawing/2014/main" id="{64065571-8743-B5B4-D6FA-EBA5C89AFFCB}"/>
              </a:ext>
            </a:extLst>
          </p:cNvPr>
          <p:cNvSpPr txBox="1"/>
          <p:nvPr/>
        </p:nvSpPr>
        <p:spPr>
          <a:xfrm>
            <a:off x="1269707" y="2374392"/>
            <a:ext cx="356188" cy="461665"/>
          </a:xfrm>
          <a:prstGeom prst="rect">
            <a:avLst/>
          </a:prstGeom>
          <a:noFill/>
        </p:spPr>
        <p:txBody>
          <a:bodyPr wrap="none" rtlCol="0">
            <a:spAutoFit/>
          </a:bodyPr>
          <a:lstStyle/>
          <a:p>
            <a:r>
              <a:rPr lang="en-US" dirty="0">
                <a:solidFill>
                  <a:schemeClr val="tx1"/>
                </a:solidFill>
              </a:rPr>
              <a:t>a</a:t>
            </a:r>
          </a:p>
        </p:txBody>
      </p:sp>
      <p:sp>
        <p:nvSpPr>
          <p:cNvPr id="14" name="TextBox 13">
            <a:extLst>
              <a:ext uri="{FF2B5EF4-FFF2-40B4-BE49-F238E27FC236}">
                <a16:creationId xmlns:a16="http://schemas.microsoft.com/office/drawing/2014/main" id="{E3C80BE0-335E-0EF3-758C-D2E9C2622BBB}"/>
              </a:ext>
            </a:extLst>
          </p:cNvPr>
          <p:cNvSpPr txBox="1"/>
          <p:nvPr/>
        </p:nvSpPr>
        <p:spPr>
          <a:xfrm>
            <a:off x="1269707" y="2910024"/>
            <a:ext cx="356188" cy="461665"/>
          </a:xfrm>
          <a:prstGeom prst="rect">
            <a:avLst/>
          </a:prstGeom>
          <a:noFill/>
        </p:spPr>
        <p:txBody>
          <a:bodyPr wrap="none" rtlCol="0">
            <a:spAutoFit/>
          </a:bodyPr>
          <a:lstStyle/>
          <a:p>
            <a:r>
              <a:rPr lang="en-US" dirty="0">
                <a:solidFill>
                  <a:schemeClr val="tx1"/>
                </a:solidFill>
              </a:rPr>
              <a:t>b</a:t>
            </a:r>
          </a:p>
        </p:txBody>
      </p:sp>
      <p:sp>
        <p:nvSpPr>
          <p:cNvPr id="15" name="TextBox 14">
            <a:extLst>
              <a:ext uri="{FF2B5EF4-FFF2-40B4-BE49-F238E27FC236}">
                <a16:creationId xmlns:a16="http://schemas.microsoft.com/office/drawing/2014/main" id="{8B25EC25-B9B3-6B01-93F9-8B87FA93D5F6}"/>
              </a:ext>
            </a:extLst>
          </p:cNvPr>
          <p:cNvSpPr txBox="1"/>
          <p:nvPr/>
        </p:nvSpPr>
        <p:spPr>
          <a:xfrm>
            <a:off x="1278524" y="3464818"/>
            <a:ext cx="338554" cy="461665"/>
          </a:xfrm>
          <a:prstGeom prst="rect">
            <a:avLst/>
          </a:prstGeom>
          <a:noFill/>
        </p:spPr>
        <p:txBody>
          <a:bodyPr wrap="none" rtlCol="0">
            <a:spAutoFit/>
          </a:bodyPr>
          <a:lstStyle/>
          <a:p>
            <a:r>
              <a:rPr lang="en-US" dirty="0">
                <a:solidFill>
                  <a:schemeClr val="tx1"/>
                </a:solidFill>
              </a:rPr>
              <a:t>c</a:t>
            </a:r>
          </a:p>
        </p:txBody>
      </p:sp>
      <p:sp>
        <p:nvSpPr>
          <p:cNvPr id="16" name="TextBox 15">
            <a:extLst>
              <a:ext uri="{FF2B5EF4-FFF2-40B4-BE49-F238E27FC236}">
                <a16:creationId xmlns:a16="http://schemas.microsoft.com/office/drawing/2014/main" id="{752ED939-73BE-B0C3-5A3C-67A3C7B474E4}"/>
              </a:ext>
            </a:extLst>
          </p:cNvPr>
          <p:cNvSpPr txBox="1"/>
          <p:nvPr/>
        </p:nvSpPr>
        <p:spPr>
          <a:xfrm>
            <a:off x="1173723" y="4014535"/>
            <a:ext cx="2089033" cy="400110"/>
          </a:xfrm>
          <a:prstGeom prst="rect">
            <a:avLst/>
          </a:prstGeom>
          <a:noFill/>
        </p:spPr>
        <p:txBody>
          <a:bodyPr wrap="none" rtlCol="0">
            <a:spAutoFit/>
          </a:bodyPr>
          <a:lstStyle/>
          <a:p>
            <a:r>
              <a:rPr lang="en-US" sz="2000" dirty="0">
                <a:solidFill>
                  <a:schemeClr val="tx1"/>
                </a:solidFill>
              </a:rPr>
              <a:t>ax^2 + bx +c = 0</a:t>
            </a:r>
          </a:p>
        </p:txBody>
      </p:sp>
      <p:sp>
        <p:nvSpPr>
          <p:cNvPr id="17" name="TextBox 16">
            <a:extLst>
              <a:ext uri="{FF2B5EF4-FFF2-40B4-BE49-F238E27FC236}">
                <a16:creationId xmlns:a16="http://schemas.microsoft.com/office/drawing/2014/main" id="{79CFF45F-0D6F-B8F1-0518-083A8C0C42A5}"/>
              </a:ext>
            </a:extLst>
          </p:cNvPr>
          <p:cNvSpPr txBox="1"/>
          <p:nvPr/>
        </p:nvSpPr>
        <p:spPr>
          <a:xfrm>
            <a:off x="1442793" y="4411410"/>
            <a:ext cx="1457813" cy="461665"/>
          </a:xfrm>
          <a:prstGeom prst="rect">
            <a:avLst/>
          </a:prstGeom>
          <a:solidFill>
            <a:srgbClr val="FFFF00"/>
          </a:solidFill>
          <a:ln>
            <a:solidFill>
              <a:srgbClr val="000000"/>
            </a:solidFill>
          </a:ln>
        </p:spPr>
        <p:txBody>
          <a:bodyPr wrap="square" rtlCol="0">
            <a:spAutoFit/>
          </a:bodyPr>
          <a:lstStyle/>
          <a:p>
            <a:r>
              <a:rPr lang="en-US" dirty="0">
                <a:solidFill>
                  <a:schemeClr val="tx1"/>
                </a:solidFill>
              </a:rPr>
              <a:t>result</a:t>
            </a:r>
          </a:p>
        </p:txBody>
      </p:sp>
      <p:sp>
        <p:nvSpPr>
          <p:cNvPr id="19" name="TextBox 18">
            <a:extLst>
              <a:ext uri="{FF2B5EF4-FFF2-40B4-BE49-F238E27FC236}">
                <a16:creationId xmlns:a16="http://schemas.microsoft.com/office/drawing/2014/main" id="{16F52974-4BD7-A6CA-B361-6F0A55344A06}"/>
              </a:ext>
            </a:extLst>
          </p:cNvPr>
          <p:cNvSpPr txBox="1"/>
          <p:nvPr/>
        </p:nvSpPr>
        <p:spPr>
          <a:xfrm>
            <a:off x="1350749" y="4988675"/>
            <a:ext cx="1677439" cy="461665"/>
          </a:xfrm>
          <a:prstGeom prst="rect">
            <a:avLst/>
          </a:prstGeom>
          <a:noFill/>
        </p:spPr>
        <p:txBody>
          <a:bodyPr wrap="square" rtlCol="0">
            <a:spAutoFit/>
          </a:bodyPr>
          <a:lstStyle/>
          <a:p>
            <a:r>
              <a:rPr lang="en-US" dirty="0">
                <a:solidFill>
                  <a:schemeClr val="tx1"/>
                </a:solidFill>
              </a:rPr>
              <a:t>x = 1</a:t>
            </a:r>
          </a:p>
        </p:txBody>
      </p:sp>
      <p:sp>
        <p:nvSpPr>
          <p:cNvPr id="20" name="Rectangle 19">
            <a:extLst>
              <a:ext uri="{FF2B5EF4-FFF2-40B4-BE49-F238E27FC236}">
                <a16:creationId xmlns:a16="http://schemas.microsoft.com/office/drawing/2014/main" id="{DC8A725F-5862-8C50-91A6-1A737155DAFD}"/>
              </a:ext>
            </a:extLst>
          </p:cNvPr>
          <p:cNvSpPr/>
          <p:nvPr/>
        </p:nvSpPr>
        <p:spPr bwMode="auto">
          <a:xfrm>
            <a:off x="4456261" y="2209800"/>
            <a:ext cx="2209800" cy="3505200"/>
          </a:xfrm>
          <a:prstGeom prst="rect">
            <a:avLst/>
          </a:prstGeom>
          <a:solidFill>
            <a:schemeClr val="bg1"/>
          </a:solidFill>
          <a:ln w="9525" cap="flat" cmpd="sng" algn="ctr">
            <a:solidFill>
              <a:srgbClr val="0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bg1"/>
              </a:solidFill>
              <a:effectLst/>
              <a:latin typeface="Arial" charset="0"/>
            </a:endParaRPr>
          </a:p>
        </p:txBody>
      </p:sp>
      <p:sp>
        <p:nvSpPr>
          <p:cNvPr id="21" name="Rectangle 20">
            <a:extLst>
              <a:ext uri="{FF2B5EF4-FFF2-40B4-BE49-F238E27FC236}">
                <a16:creationId xmlns:a16="http://schemas.microsoft.com/office/drawing/2014/main" id="{6A7A1024-448E-0857-5EC7-9DAD9F5F1959}"/>
              </a:ext>
            </a:extLst>
          </p:cNvPr>
          <p:cNvSpPr/>
          <p:nvPr/>
        </p:nvSpPr>
        <p:spPr bwMode="auto">
          <a:xfrm>
            <a:off x="5218261" y="2514600"/>
            <a:ext cx="1175004" cy="244475"/>
          </a:xfrm>
          <a:prstGeom prst="rect">
            <a:avLst/>
          </a:prstGeom>
          <a:solidFill>
            <a:schemeClr val="bg2">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22" name="Rectangle 21">
            <a:extLst>
              <a:ext uri="{FF2B5EF4-FFF2-40B4-BE49-F238E27FC236}">
                <a16:creationId xmlns:a16="http://schemas.microsoft.com/office/drawing/2014/main" id="{EC6E45CF-C789-DF12-C941-A9D3C9BDE598}"/>
              </a:ext>
            </a:extLst>
          </p:cNvPr>
          <p:cNvSpPr/>
          <p:nvPr/>
        </p:nvSpPr>
        <p:spPr bwMode="auto">
          <a:xfrm>
            <a:off x="5218261" y="3063082"/>
            <a:ext cx="1175004" cy="244475"/>
          </a:xfrm>
          <a:prstGeom prst="rect">
            <a:avLst/>
          </a:prstGeom>
          <a:solidFill>
            <a:schemeClr val="bg2">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23" name="Rectangle 22">
            <a:extLst>
              <a:ext uri="{FF2B5EF4-FFF2-40B4-BE49-F238E27FC236}">
                <a16:creationId xmlns:a16="http://schemas.microsoft.com/office/drawing/2014/main" id="{B7B4E37A-F4AF-C1AB-76F6-BB678BBFA8BC}"/>
              </a:ext>
            </a:extLst>
          </p:cNvPr>
          <p:cNvSpPr/>
          <p:nvPr/>
        </p:nvSpPr>
        <p:spPr bwMode="auto">
          <a:xfrm>
            <a:off x="5218261" y="3611564"/>
            <a:ext cx="1175004" cy="244475"/>
          </a:xfrm>
          <a:prstGeom prst="rect">
            <a:avLst/>
          </a:prstGeom>
          <a:solidFill>
            <a:schemeClr val="bg2">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24" name="TextBox 23">
            <a:extLst>
              <a:ext uri="{FF2B5EF4-FFF2-40B4-BE49-F238E27FC236}">
                <a16:creationId xmlns:a16="http://schemas.microsoft.com/office/drawing/2014/main" id="{4066E617-1666-4280-B0BA-8AFFDB2B0CD3}"/>
              </a:ext>
            </a:extLst>
          </p:cNvPr>
          <p:cNvSpPr txBox="1"/>
          <p:nvPr/>
        </p:nvSpPr>
        <p:spPr>
          <a:xfrm>
            <a:off x="4659168" y="2374392"/>
            <a:ext cx="356188" cy="461665"/>
          </a:xfrm>
          <a:prstGeom prst="rect">
            <a:avLst/>
          </a:prstGeom>
          <a:noFill/>
        </p:spPr>
        <p:txBody>
          <a:bodyPr wrap="none" rtlCol="0">
            <a:spAutoFit/>
          </a:bodyPr>
          <a:lstStyle/>
          <a:p>
            <a:r>
              <a:rPr lang="en-US" dirty="0">
                <a:solidFill>
                  <a:schemeClr val="tx1"/>
                </a:solidFill>
              </a:rPr>
              <a:t>a</a:t>
            </a:r>
          </a:p>
        </p:txBody>
      </p:sp>
      <p:sp>
        <p:nvSpPr>
          <p:cNvPr id="25" name="TextBox 24">
            <a:extLst>
              <a:ext uri="{FF2B5EF4-FFF2-40B4-BE49-F238E27FC236}">
                <a16:creationId xmlns:a16="http://schemas.microsoft.com/office/drawing/2014/main" id="{2BC09386-9EC7-0ECE-0284-99D74A3AA2D6}"/>
              </a:ext>
            </a:extLst>
          </p:cNvPr>
          <p:cNvSpPr txBox="1"/>
          <p:nvPr/>
        </p:nvSpPr>
        <p:spPr>
          <a:xfrm>
            <a:off x="4659168" y="2910024"/>
            <a:ext cx="356188" cy="461665"/>
          </a:xfrm>
          <a:prstGeom prst="rect">
            <a:avLst/>
          </a:prstGeom>
          <a:noFill/>
        </p:spPr>
        <p:txBody>
          <a:bodyPr wrap="none" rtlCol="0">
            <a:spAutoFit/>
          </a:bodyPr>
          <a:lstStyle/>
          <a:p>
            <a:r>
              <a:rPr lang="en-US" dirty="0">
                <a:solidFill>
                  <a:schemeClr val="tx1"/>
                </a:solidFill>
              </a:rPr>
              <a:t>b</a:t>
            </a:r>
          </a:p>
        </p:txBody>
      </p:sp>
      <p:sp>
        <p:nvSpPr>
          <p:cNvPr id="26" name="TextBox 25">
            <a:extLst>
              <a:ext uri="{FF2B5EF4-FFF2-40B4-BE49-F238E27FC236}">
                <a16:creationId xmlns:a16="http://schemas.microsoft.com/office/drawing/2014/main" id="{2B875DE4-A7AB-3B2C-94BC-00A882A3EC6E}"/>
              </a:ext>
            </a:extLst>
          </p:cNvPr>
          <p:cNvSpPr txBox="1"/>
          <p:nvPr/>
        </p:nvSpPr>
        <p:spPr>
          <a:xfrm>
            <a:off x="4667985" y="3464818"/>
            <a:ext cx="338554" cy="461665"/>
          </a:xfrm>
          <a:prstGeom prst="rect">
            <a:avLst/>
          </a:prstGeom>
          <a:noFill/>
        </p:spPr>
        <p:txBody>
          <a:bodyPr wrap="none" rtlCol="0">
            <a:spAutoFit/>
          </a:bodyPr>
          <a:lstStyle/>
          <a:p>
            <a:r>
              <a:rPr lang="en-US" dirty="0">
                <a:solidFill>
                  <a:schemeClr val="tx1"/>
                </a:solidFill>
              </a:rPr>
              <a:t>c</a:t>
            </a:r>
          </a:p>
        </p:txBody>
      </p:sp>
      <p:sp>
        <p:nvSpPr>
          <p:cNvPr id="27" name="TextBox 26">
            <a:extLst>
              <a:ext uri="{FF2B5EF4-FFF2-40B4-BE49-F238E27FC236}">
                <a16:creationId xmlns:a16="http://schemas.microsoft.com/office/drawing/2014/main" id="{E02CBF5F-4E62-CE08-931D-4CAD121F83BB}"/>
              </a:ext>
            </a:extLst>
          </p:cNvPr>
          <p:cNvSpPr txBox="1"/>
          <p:nvPr/>
        </p:nvSpPr>
        <p:spPr>
          <a:xfrm>
            <a:off x="4563184" y="4014535"/>
            <a:ext cx="2089033" cy="400110"/>
          </a:xfrm>
          <a:prstGeom prst="rect">
            <a:avLst/>
          </a:prstGeom>
          <a:noFill/>
        </p:spPr>
        <p:txBody>
          <a:bodyPr wrap="none" rtlCol="0">
            <a:spAutoFit/>
          </a:bodyPr>
          <a:lstStyle/>
          <a:p>
            <a:r>
              <a:rPr lang="en-US" sz="2000" dirty="0">
                <a:solidFill>
                  <a:schemeClr val="tx1"/>
                </a:solidFill>
              </a:rPr>
              <a:t>ax^2 + bx +c = 0</a:t>
            </a:r>
          </a:p>
        </p:txBody>
      </p:sp>
      <p:sp>
        <p:nvSpPr>
          <p:cNvPr id="28" name="TextBox 27">
            <a:extLst>
              <a:ext uri="{FF2B5EF4-FFF2-40B4-BE49-F238E27FC236}">
                <a16:creationId xmlns:a16="http://schemas.microsoft.com/office/drawing/2014/main" id="{7D80B9DE-0452-DB2D-BE7B-A1BEF3621474}"/>
              </a:ext>
            </a:extLst>
          </p:cNvPr>
          <p:cNvSpPr txBox="1"/>
          <p:nvPr/>
        </p:nvSpPr>
        <p:spPr>
          <a:xfrm>
            <a:off x="4832254" y="4411410"/>
            <a:ext cx="1457813" cy="461665"/>
          </a:xfrm>
          <a:prstGeom prst="rect">
            <a:avLst/>
          </a:prstGeom>
          <a:solidFill>
            <a:srgbClr val="FFFF00"/>
          </a:solidFill>
          <a:ln>
            <a:solidFill>
              <a:srgbClr val="000000"/>
            </a:solidFill>
          </a:ln>
        </p:spPr>
        <p:txBody>
          <a:bodyPr wrap="square" rtlCol="0">
            <a:spAutoFit/>
          </a:bodyPr>
          <a:lstStyle/>
          <a:p>
            <a:r>
              <a:rPr lang="en-US" dirty="0">
                <a:solidFill>
                  <a:schemeClr val="tx1"/>
                </a:solidFill>
              </a:rPr>
              <a:t>result</a:t>
            </a:r>
          </a:p>
        </p:txBody>
      </p:sp>
      <p:sp>
        <p:nvSpPr>
          <p:cNvPr id="29" name="TextBox 28">
            <a:extLst>
              <a:ext uri="{FF2B5EF4-FFF2-40B4-BE49-F238E27FC236}">
                <a16:creationId xmlns:a16="http://schemas.microsoft.com/office/drawing/2014/main" id="{55FB1B06-F0FF-BAE6-7711-D54E8FA4B9AA}"/>
              </a:ext>
            </a:extLst>
          </p:cNvPr>
          <p:cNvSpPr txBox="1"/>
          <p:nvPr/>
        </p:nvSpPr>
        <p:spPr>
          <a:xfrm>
            <a:off x="4496839" y="4988675"/>
            <a:ext cx="2155377" cy="461665"/>
          </a:xfrm>
          <a:prstGeom prst="rect">
            <a:avLst/>
          </a:prstGeom>
          <a:noFill/>
        </p:spPr>
        <p:txBody>
          <a:bodyPr wrap="square" rtlCol="0">
            <a:spAutoFit/>
          </a:bodyPr>
          <a:lstStyle/>
          <a:p>
            <a:r>
              <a:rPr lang="en-US" dirty="0">
                <a:solidFill>
                  <a:schemeClr val="tx1"/>
                </a:solidFill>
              </a:rPr>
              <a:t>x1 = 1, x2 = 2</a:t>
            </a:r>
          </a:p>
        </p:txBody>
      </p:sp>
    </p:spTree>
    <p:extLst>
      <p:ext uri="{BB962C8B-B14F-4D97-AF65-F5344CB8AC3E}">
        <p14:creationId xmlns:p14="http://schemas.microsoft.com/office/powerpoint/2010/main" val="31507819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45</a:t>
            </a:fld>
            <a:endParaRPr lang="en-US"/>
          </a:p>
        </p:txBody>
      </p:sp>
      <p:sp>
        <p:nvSpPr>
          <p:cNvPr id="9" name="Line 74"/>
          <p:cNvSpPr>
            <a:spLocks noChangeShapeType="1"/>
          </p:cNvSpPr>
          <p:nvPr/>
        </p:nvSpPr>
        <p:spPr bwMode="auto">
          <a:xfrm flipV="1">
            <a:off x="1722737" y="3104970"/>
            <a:ext cx="1242789" cy="377223"/>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AutoShape 5"/>
          <p:cNvSpPr>
            <a:spLocks noChangeArrowheads="1"/>
          </p:cNvSpPr>
          <p:nvPr/>
        </p:nvSpPr>
        <p:spPr bwMode="auto">
          <a:xfrm>
            <a:off x="-7564" y="2637157"/>
            <a:ext cx="1905000" cy="1828800"/>
          </a:xfrm>
          <a:prstGeom prst="star8">
            <a:avLst>
              <a:gd name="adj" fmla="val 40139"/>
            </a:avLst>
          </a:prstGeom>
          <a:solidFill>
            <a:srgbClr val="CC3300"/>
          </a:solidFill>
          <a:ln w="952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800" b="1">
                <a:solidFill>
                  <a:srgbClr val="FFFFFF"/>
                </a:solidFill>
                <a:cs typeface="Tahoma" panose="020B0604030504040204" pitchFamily="34" charset="0"/>
              </a:rPr>
              <a:t>User Interface</a:t>
            </a:r>
          </a:p>
        </p:txBody>
      </p:sp>
      <p:sp>
        <p:nvSpPr>
          <p:cNvPr id="11" name="Text Box 8"/>
          <p:cNvSpPr txBox="1">
            <a:spLocks noChangeArrowheads="1"/>
          </p:cNvSpPr>
          <p:nvPr/>
        </p:nvSpPr>
        <p:spPr bwMode="auto">
          <a:xfrm>
            <a:off x="1676752" y="2700310"/>
            <a:ext cx="110839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600" b="1">
                <a:latin typeface="Verdana" panose="020B0604030504040204" pitchFamily="34" charset="0"/>
                <a:ea typeface="Verdana" panose="020B0604030504040204" pitchFamily="34" charset="0"/>
              </a:rPr>
              <a:t>Layout</a:t>
            </a:r>
          </a:p>
          <a:p>
            <a:r>
              <a:rPr lang="en-US" altLang="en-US" sz="1600" b="1">
                <a:latin typeface="Verdana" panose="020B0604030504040204" pitchFamily="34" charset="0"/>
                <a:ea typeface="Verdana" panose="020B0604030504040204" pitchFamily="34" charset="0"/>
              </a:rPr>
              <a:t>XML</a:t>
            </a:r>
          </a:p>
        </p:txBody>
      </p:sp>
      <p:sp>
        <p:nvSpPr>
          <p:cNvPr id="13" name="Text Box 26"/>
          <p:cNvSpPr txBox="1">
            <a:spLocks noChangeArrowheads="1"/>
          </p:cNvSpPr>
          <p:nvPr/>
        </p:nvSpPr>
        <p:spPr bwMode="auto">
          <a:xfrm>
            <a:off x="2843693" y="4776660"/>
            <a:ext cx="171111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1600" b="1">
                <a:solidFill>
                  <a:srgbClr val="993300"/>
                </a:solidFill>
                <a:latin typeface="Verdana" panose="020B0604030504040204" pitchFamily="34" charset="0"/>
                <a:ea typeface="Verdana" panose="020B0604030504040204" pitchFamily="34" charset="0"/>
                <a:cs typeface="Verdana" panose="020B0604030504040204" pitchFamily="34" charset="0"/>
              </a:rPr>
              <a:t>Tổng quan</a:t>
            </a:r>
          </a:p>
        </p:txBody>
      </p:sp>
      <p:sp>
        <p:nvSpPr>
          <p:cNvPr id="14" name="Text Box 37"/>
          <p:cNvSpPr txBox="1">
            <a:spLocks noChangeArrowheads="1"/>
          </p:cNvSpPr>
          <p:nvPr/>
        </p:nvSpPr>
        <p:spPr bwMode="auto">
          <a:xfrm>
            <a:off x="929678" y="1717995"/>
            <a:ext cx="13014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600" b="1">
                <a:latin typeface="Verdana" panose="020B0604030504040204" pitchFamily="34" charset="0"/>
                <a:ea typeface="Verdana" panose="020B0604030504040204" pitchFamily="34" charset="0"/>
                <a:cs typeface="Verdana" panose="020B0604030504040204" pitchFamily="34" charset="0"/>
              </a:rPr>
              <a:t>Thành </a:t>
            </a:r>
          </a:p>
          <a:p>
            <a:r>
              <a:rPr lang="en-US" altLang="en-US" sz="1600" b="1">
                <a:latin typeface="Verdana" panose="020B0604030504040204" pitchFamily="34" charset="0"/>
                <a:ea typeface="Verdana" panose="020B0604030504040204" pitchFamily="34" charset="0"/>
                <a:cs typeface="Verdana" panose="020B0604030504040204" pitchFamily="34" charset="0"/>
              </a:rPr>
              <a:t>phần </a:t>
            </a:r>
          </a:p>
        </p:txBody>
      </p:sp>
      <p:sp>
        <p:nvSpPr>
          <p:cNvPr id="16" name="Text Box 41"/>
          <p:cNvSpPr txBox="1">
            <a:spLocks noChangeArrowheads="1"/>
          </p:cNvSpPr>
          <p:nvPr/>
        </p:nvSpPr>
        <p:spPr bwMode="auto">
          <a:xfrm>
            <a:off x="760785" y="4814121"/>
            <a:ext cx="13716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1600" b="1">
                <a:latin typeface="Verdana" panose="020B0604030504040204" pitchFamily="34" charset="0"/>
                <a:ea typeface="Verdana" panose="020B0604030504040204" pitchFamily="34" charset="0"/>
              </a:rPr>
              <a:t>View </a:t>
            </a:r>
            <a:endParaRPr lang="en-US" altLang="en-US" sz="2000" b="1">
              <a:solidFill>
                <a:srgbClr val="FFFF00"/>
              </a:solidFill>
              <a:latin typeface=".VnArial Narrow" panose="020B7200000000000000" pitchFamily="34" charset="0"/>
            </a:endParaRPr>
          </a:p>
        </p:txBody>
      </p:sp>
      <p:sp>
        <p:nvSpPr>
          <p:cNvPr id="18" name="Text Box 48"/>
          <p:cNvSpPr txBox="1">
            <a:spLocks noChangeArrowheads="1"/>
          </p:cNvSpPr>
          <p:nvPr/>
        </p:nvSpPr>
        <p:spPr bwMode="auto">
          <a:xfrm>
            <a:off x="2583236" y="1036957"/>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View</a:t>
            </a:r>
          </a:p>
        </p:txBody>
      </p:sp>
      <p:sp>
        <p:nvSpPr>
          <p:cNvPr id="19" name="Text Box 50"/>
          <p:cNvSpPr txBox="1">
            <a:spLocks noChangeArrowheads="1"/>
          </p:cNvSpPr>
          <p:nvPr/>
        </p:nvSpPr>
        <p:spPr bwMode="auto">
          <a:xfrm>
            <a:off x="4756691" y="2466027"/>
            <a:ext cx="4176122"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l">
              <a:buFont typeface="Wingdings" panose="05000000000000000000" pitchFamily="2" charset="2"/>
              <a:buChar char="Ø"/>
              <a:defRPr/>
            </a:pPr>
            <a:r>
              <a:rPr lang="en-US" altLang="en-US" sz="1600" b="1">
                <a:solidFill>
                  <a:schemeClr val="tx1"/>
                </a:solidFill>
              </a:rPr>
              <a:t>Phương pháp phổ biến</a:t>
            </a:r>
          </a:p>
          <a:p>
            <a:pPr marL="285750" indent="-285750" algn="l">
              <a:buFont typeface="Wingdings" panose="05000000000000000000" pitchFamily="2" charset="2"/>
              <a:buChar char="Ø"/>
              <a:defRPr/>
            </a:pPr>
            <a:r>
              <a:rPr lang="en-US" altLang="en-US" sz="1600" b="1">
                <a:solidFill>
                  <a:schemeClr val="tx1"/>
                </a:solidFill>
              </a:rPr>
              <a:t>Cấu trúc phân cấp,…</a:t>
            </a:r>
          </a:p>
        </p:txBody>
      </p:sp>
      <p:sp>
        <p:nvSpPr>
          <p:cNvPr id="20" name="Text Box 56"/>
          <p:cNvSpPr txBox="1">
            <a:spLocks noChangeArrowheads="1"/>
          </p:cNvSpPr>
          <p:nvPr/>
        </p:nvSpPr>
        <p:spPr bwMode="auto">
          <a:xfrm>
            <a:off x="2980649" y="5728664"/>
            <a:ext cx="157124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1600" b="1">
                <a:solidFill>
                  <a:srgbClr val="993300"/>
                </a:solidFill>
                <a:latin typeface="Verdana" panose="020B0604030504040204" pitchFamily="34" charset="0"/>
                <a:ea typeface="Verdana" panose="020B0604030504040204" pitchFamily="34" charset="0"/>
                <a:cs typeface="Verdana" panose="020B0604030504040204" pitchFamily="34" charset="0"/>
              </a:rPr>
              <a:t>View cơ bản</a:t>
            </a:r>
          </a:p>
        </p:txBody>
      </p:sp>
      <p:sp>
        <p:nvSpPr>
          <p:cNvPr id="22" name="Line 78"/>
          <p:cNvSpPr>
            <a:spLocks noChangeShapeType="1"/>
          </p:cNvSpPr>
          <p:nvPr/>
        </p:nvSpPr>
        <p:spPr bwMode="auto">
          <a:xfrm>
            <a:off x="2934235" y="5120308"/>
            <a:ext cx="11998" cy="1051889"/>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Line 72"/>
          <p:cNvSpPr>
            <a:spLocks noChangeShapeType="1"/>
          </p:cNvSpPr>
          <p:nvPr/>
        </p:nvSpPr>
        <p:spPr bwMode="auto">
          <a:xfrm flipV="1">
            <a:off x="1592636" y="1717995"/>
            <a:ext cx="1295400" cy="1223962"/>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Line 73"/>
          <p:cNvSpPr>
            <a:spLocks noChangeShapeType="1"/>
          </p:cNvSpPr>
          <p:nvPr/>
        </p:nvSpPr>
        <p:spPr bwMode="auto">
          <a:xfrm>
            <a:off x="1592636" y="4161157"/>
            <a:ext cx="1184684" cy="1695906"/>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76"/>
          <p:cNvSpPr>
            <a:spLocks noChangeShapeType="1"/>
          </p:cNvSpPr>
          <p:nvPr/>
        </p:nvSpPr>
        <p:spPr bwMode="auto">
          <a:xfrm flipV="1">
            <a:off x="2915589" y="1375095"/>
            <a:ext cx="1841102"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Line 81"/>
          <p:cNvSpPr>
            <a:spLocks noChangeShapeType="1"/>
          </p:cNvSpPr>
          <p:nvPr/>
        </p:nvSpPr>
        <p:spPr bwMode="auto">
          <a:xfrm flipV="1">
            <a:off x="2890116" y="5165238"/>
            <a:ext cx="1885950"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82"/>
          <p:cNvSpPr>
            <a:spLocks noChangeShapeType="1"/>
          </p:cNvSpPr>
          <p:nvPr/>
        </p:nvSpPr>
        <p:spPr bwMode="auto">
          <a:xfrm flipV="1">
            <a:off x="2896427" y="6172197"/>
            <a:ext cx="1917728"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Line 78"/>
          <p:cNvSpPr>
            <a:spLocks noChangeShapeType="1"/>
          </p:cNvSpPr>
          <p:nvPr/>
        </p:nvSpPr>
        <p:spPr bwMode="auto">
          <a:xfrm>
            <a:off x="2965526" y="1375095"/>
            <a:ext cx="0" cy="758505"/>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80"/>
          <p:cNvSpPr>
            <a:spLocks noChangeShapeType="1"/>
          </p:cNvSpPr>
          <p:nvPr/>
        </p:nvSpPr>
        <p:spPr bwMode="auto">
          <a:xfrm flipV="1">
            <a:off x="2950028" y="2098353"/>
            <a:ext cx="1843010"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Text Box 48"/>
          <p:cNvSpPr txBox="1">
            <a:spLocks noChangeArrowheads="1"/>
          </p:cNvSpPr>
          <p:nvPr/>
        </p:nvSpPr>
        <p:spPr bwMode="auto">
          <a:xfrm>
            <a:off x="2771395" y="1701057"/>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ViewGroup</a:t>
            </a:r>
          </a:p>
        </p:txBody>
      </p:sp>
      <p:sp>
        <p:nvSpPr>
          <p:cNvPr id="36" name="Line 78"/>
          <p:cNvSpPr>
            <a:spLocks noChangeShapeType="1"/>
          </p:cNvSpPr>
          <p:nvPr/>
        </p:nvSpPr>
        <p:spPr bwMode="auto">
          <a:xfrm>
            <a:off x="3028341" y="3962400"/>
            <a:ext cx="0" cy="766866"/>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Line 79"/>
          <p:cNvSpPr>
            <a:spLocks noChangeShapeType="1"/>
          </p:cNvSpPr>
          <p:nvPr/>
        </p:nvSpPr>
        <p:spPr bwMode="auto">
          <a:xfrm flipV="1">
            <a:off x="3011568" y="4007638"/>
            <a:ext cx="1745123" cy="6849"/>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Line 80"/>
          <p:cNvSpPr>
            <a:spLocks noChangeShapeType="1"/>
          </p:cNvSpPr>
          <p:nvPr/>
        </p:nvSpPr>
        <p:spPr bwMode="auto">
          <a:xfrm>
            <a:off x="2990515" y="4713892"/>
            <a:ext cx="1766175" cy="1034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Line 81"/>
          <p:cNvSpPr>
            <a:spLocks noChangeShapeType="1"/>
          </p:cNvSpPr>
          <p:nvPr/>
        </p:nvSpPr>
        <p:spPr bwMode="auto">
          <a:xfrm>
            <a:off x="1176921" y="4080455"/>
            <a:ext cx="1834645" cy="216394"/>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Text Box 50"/>
          <p:cNvSpPr txBox="1">
            <a:spLocks noChangeArrowheads="1"/>
          </p:cNvSpPr>
          <p:nvPr/>
        </p:nvSpPr>
        <p:spPr bwMode="auto">
          <a:xfrm>
            <a:off x="4768002" y="4196909"/>
            <a:ext cx="4176122"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Arial" panose="020B0604020202020204" pitchFamily="34" charset="0"/>
                <a:cs typeface="Arial" panose="020B0604020202020204" pitchFamily="34" charset="0"/>
              </a:rPr>
              <a:t>FrameLayout, LinearLayout, AbsoluteLayout, RelativeLayout,…</a:t>
            </a:r>
          </a:p>
        </p:txBody>
      </p:sp>
      <p:sp>
        <p:nvSpPr>
          <p:cNvPr id="44" name="Text Box 50"/>
          <p:cNvSpPr txBox="1">
            <a:spLocks noChangeArrowheads="1"/>
          </p:cNvSpPr>
          <p:nvPr/>
        </p:nvSpPr>
        <p:spPr bwMode="auto">
          <a:xfrm>
            <a:off x="4756691" y="3784863"/>
            <a:ext cx="4176122" cy="338554"/>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Arial" panose="020B0604020202020204" pitchFamily="34" charset="0"/>
                <a:cs typeface="Arial" panose="020B0604020202020204" pitchFamily="34" charset="0"/>
              </a:rPr>
              <a:t>Những Layout bao ngoài các View</a:t>
            </a:r>
          </a:p>
        </p:txBody>
      </p:sp>
      <p:sp>
        <p:nvSpPr>
          <p:cNvPr id="45" name="Text Box 50"/>
          <p:cNvSpPr txBox="1">
            <a:spLocks noChangeArrowheads="1"/>
          </p:cNvSpPr>
          <p:nvPr/>
        </p:nvSpPr>
        <p:spPr bwMode="auto">
          <a:xfrm>
            <a:off x="4773477" y="1138879"/>
            <a:ext cx="4143293"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rPr>
              <a:t>Đối tượng cơ bản để xây dựng giao diện đồ họa</a:t>
            </a:r>
          </a:p>
        </p:txBody>
      </p:sp>
      <p:sp>
        <p:nvSpPr>
          <p:cNvPr id="46" name="Text Box 50"/>
          <p:cNvSpPr txBox="1">
            <a:spLocks noChangeArrowheads="1"/>
          </p:cNvSpPr>
          <p:nvPr/>
        </p:nvSpPr>
        <p:spPr bwMode="auto">
          <a:xfrm>
            <a:off x="4768002" y="1818945"/>
            <a:ext cx="4176122"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Arial" panose="020B0604020202020204" pitchFamily="34" charset="0"/>
                <a:cs typeface="Arial" panose="020B0604020202020204" pitchFamily="34" charset="0"/>
              </a:rPr>
              <a:t>Là View đặc biệt có thể chứa các View khác bên trong nó</a:t>
            </a:r>
          </a:p>
        </p:txBody>
      </p:sp>
      <p:sp>
        <p:nvSpPr>
          <p:cNvPr id="47" name="Text Box 50"/>
          <p:cNvSpPr txBox="1">
            <a:spLocks noChangeArrowheads="1"/>
          </p:cNvSpPr>
          <p:nvPr/>
        </p:nvSpPr>
        <p:spPr bwMode="auto">
          <a:xfrm>
            <a:off x="4805359" y="4897667"/>
            <a:ext cx="4143293" cy="338554"/>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Arial" panose="020B0604020202020204" pitchFamily="34" charset="0"/>
                <a:cs typeface="Arial" panose="020B0604020202020204" pitchFamily="34" charset="0"/>
              </a:rPr>
              <a:t>Các thành phần giao diện hiển thị</a:t>
            </a:r>
          </a:p>
        </p:txBody>
      </p:sp>
      <p:sp>
        <p:nvSpPr>
          <p:cNvPr id="48" name="Text Box 50"/>
          <p:cNvSpPr txBox="1">
            <a:spLocks noChangeArrowheads="1"/>
          </p:cNvSpPr>
          <p:nvPr/>
        </p:nvSpPr>
        <p:spPr bwMode="auto">
          <a:xfrm>
            <a:off x="4789820" y="5552481"/>
            <a:ext cx="4143293" cy="830997"/>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Arial" panose="020B0604020202020204" pitchFamily="34" charset="0"/>
                <a:cs typeface="Arial" panose="020B0604020202020204" pitchFamily="34" charset="0"/>
              </a:rPr>
              <a:t>Button, TextView, Edittext, CheckBox, Radiobutton, RadioGroup, ImageView, ImageButton, ListView,…</a:t>
            </a:r>
          </a:p>
        </p:txBody>
      </p:sp>
      <p:sp>
        <p:nvSpPr>
          <p:cNvPr id="49" name="Shape 519"/>
          <p:cNvSpPr txBox="1">
            <a:spLocks/>
          </p:cNvSpPr>
          <p:nvPr/>
        </p:nvSpPr>
        <p:spPr bwMode="white">
          <a:xfrm>
            <a:off x="1041777" y="180655"/>
            <a:ext cx="7924800" cy="941388"/>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b="1" kern="0" err="1"/>
              <a:t>Tổng</a:t>
            </a:r>
            <a:r>
              <a:rPr lang="en-US" b="1" kern="0"/>
              <a:t> </a:t>
            </a:r>
            <a:r>
              <a:rPr lang="en-US" b="1" kern="0" err="1"/>
              <a:t>kết</a:t>
            </a:r>
            <a:endParaRPr lang="vi-VN" b="1" kern="0"/>
          </a:p>
        </p:txBody>
      </p:sp>
      <p:sp>
        <p:nvSpPr>
          <p:cNvPr id="43" name="Text Box 8">
            <a:extLst>
              <a:ext uri="{FF2B5EF4-FFF2-40B4-BE49-F238E27FC236}">
                <a16:creationId xmlns:a16="http://schemas.microsoft.com/office/drawing/2014/main" id="{EA8FA9D7-44BD-4425-95A1-4AD1F358AAEC}"/>
              </a:ext>
            </a:extLst>
          </p:cNvPr>
          <p:cNvSpPr txBox="1">
            <a:spLocks noChangeArrowheads="1"/>
          </p:cNvSpPr>
          <p:nvPr/>
        </p:nvSpPr>
        <p:spPr bwMode="auto">
          <a:xfrm>
            <a:off x="1417335" y="3796805"/>
            <a:ext cx="168672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600" b="1">
                <a:latin typeface="Verdana" panose="020B0604030504040204" pitchFamily="34" charset="0"/>
                <a:ea typeface="Verdana" panose="020B0604030504040204" pitchFamily="34" charset="0"/>
              </a:rPr>
              <a:t>ViewGroup</a:t>
            </a:r>
            <a:endParaRPr lang="en-US" altLang="en-US" sz="1600" b="1">
              <a:solidFill>
                <a:srgbClr val="FFFF00"/>
              </a:solidFill>
              <a:latin typeface=".VnArial Narrow" panose="020B7200000000000000" pitchFamily="34" charset="0"/>
            </a:endParaRPr>
          </a:p>
        </p:txBody>
      </p:sp>
      <p:sp>
        <p:nvSpPr>
          <p:cNvPr id="50" name="Text Box 48">
            <a:extLst>
              <a:ext uri="{FF2B5EF4-FFF2-40B4-BE49-F238E27FC236}">
                <a16:creationId xmlns:a16="http://schemas.microsoft.com/office/drawing/2014/main" id="{13DA80C7-54E8-4AEF-BEAF-32627DD920DA}"/>
              </a:ext>
            </a:extLst>
          </p:cNvPr>
          <p:cNvSpPr txBox="1">
            <a:spLocks noChangeArrowheads="1"/>
          </p:cNvSpPr>
          <p:nvPr/>
        </p:nvSpPr>
        <p:spPr bwMode="auto">
          <a:xfrm>
            <a:off x="2653392" y="3583674"/>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Tổng quan</a:t>
            </a:r>
          </a:p>
        </p:txBody>
      </p:sp>
      <p:sp>
        <p:nvSpPr>
          <p:cNvPr id="51" name="Text Box 48">
            <a:extLst>
              <a:ext uri="{FF2B5EF4-FFF2-40B4-BE49-F238E27FC236}">
                <a16:creationId xmlns:a16="http://schemas.microsoft.com/office/drawing/2014/main" id="{174C01D1-6C94-48C3-8150-882C60D4911A}"/>
              </a:ext>
            </a:extLst>
          </p:cNvPr>
          <p:cNvSpPr txBox="1">
            <a:spLocks noChangeArrowheads="1"/>
          </p:cNvSpPr>
          <p:nvPr/>
        </p:nvSpPr>
        <p:spPr bwMode="auto">
          <a:xfrm>
            <a:off x="2667054" y="4104786"/>
            <a:ext cx="22002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ViewGoup</a:t>
            </a:r>
          </a:p>
          <a:p>
            <a:pPr algn="ctr">
              <a:defRPr/>
            </a:pPr>
            <a:r>
              <a:rPr lang="en-US" altLang="en-US" sz="1600" b="1">
                <a:solidFill>
                  <a:srgbClr val="993300"/>
                </a:solidFill>
                <a:latin typeface="+mj-lt"/>
              </a:rPr>
              <a:t>Cơ bản</a:t>
            </a:r>
          </a:p>
        </p:txBody>
      </p:sp>
      <p:sp>
        <p:nvSpPr>
          <p:cNvPr id="41" name="Text Box 48">
            <a:extLst>
              <a:ext uri="{FF2B5EF4-FFF2-40B4-BE49-F238E27FC236}">
                <a16:creationId xmlns:a16="http://schemas.microsoft.com/office/drawing/2014/main" id="{228CC597-71EB-4429-ADAA-6B5E65D9D2A8}"/>
              </a:ext>
            </a:extLst>
          </p:cNvPr>
          <p:cNvSpPr txBox="1">
            <a:spLocks noChangeArrowheads="1"/>
          </p:cNvSpPr>
          <p:nvPr/>
        </p:nvSpPr>
        <p:spPr bwMode="auto">
          <a:xfrm>
            <a:off x="2613880" y="2379831"/>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XML</a:t>
            </a:r>
          </a:p>
        </p:txBody>
      </p:sp>
      <p:sp>
        <p:nvSpPr>
          <p:cNvPr id="42" name="Line 76">
            <a:extLst>
              <a:ext uri="{FF2B5EF4-FFF2-40B4-BE49-F238E27FC236}">
                <a16:creationId xmlns:a16="http://schemas.microsoft.com/office/drawing/2014/main" id="{9AB0556B-2643-4252-879B-62B27A9DC5AA}"/>
              </a:ext>
            </a:extLst>
          </p:cNvPr>
          <p:cNvSpPr>
            <a:spLocks noChangeShapeType="1"/>
          </p:cNvSpPr>
          <p:nvPr/>
        </p:nvSpPr>
        <p:spPr bwMode="auto">
          <a:xfrm flipV="1">
            <a:off x="2946233" y="2717969"/>
            <a:ext cx="1841102"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 name="Line 78">
            <a:extLst>
              <a:ext uri="{FF2B5EF4-FFF2-40B4-BE49-F238E27FC236}">
                <a16:creationId xmlns:a16="http://schemas.microsoft.com/office/drawing/2014/main" id="{FE19FF29-0AC6-4025-A371-7173FA89BAD5}"/>
              </a:ext>
            </a:extLst>
          </p:cNvPr>
          <p:cNvSpPr>
            <a:spLocks noChangeShapeType="1"/>
          </p:cNvSpPr>
          <p:nvPr/>
        </p:nvSpPr>
        <p:spPr bwMode="auto">
          <a:xfrm>
            <a:off x="2996170" y="2717969"/>
            <a:ext cx="0" cy="758505"/>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 name="Line 80">
            <a:extLst>
              <a:ext uri="{FF2B5EF4-FFF2-40B4-BE49-F238E27FC236}">
                <a16:creationId xmlns:a16="http://schemas.microsoft.com/office/drawing/2014/main" id="{2A9F57C1-5A13-4046-861C-20D5BF2918B5}"/>
              </a:ext>
            </a:extLst>
          </p:cNvPr>
          <p:cNvSpPr>
            <a:spLocks noChangeShapeType="1"/>
          </p:cNvSpPr>
          <p:nvPr/>
        </p:nvSpPr>
        <p:spPr bwMode="auto">
          <a:xfrm flipV="1">
            <a:off x="2980672" y="3441227"/>
            <a:ext cx="1843010"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 name="Text Box 48">
            <a:extLst>
              <a:ext uri="{FF2B5EF4-FFF2-40B4-BE49-F238E27FC236}">
                <a16:creationId xmlns:a16="http://schemas.microsoft.com/office/drawing/2014/main" id="{AA1A802E-7019-4D64-9E6D-79582810C595}"/>
              </a:ext>
            </a:extLst>
          </p:cNvPr>
          <p:cNvSpPr txBox="1">
            <a:spLocks noChangeArrowheads="1"/>
          </p:cNvSpPr>
          <p:nvPr/>
        </p:nvSpPr>
        <p:spPr bwMode="auto">
          <a:xfrm>
            <a:off x="2802039" y="3043931"/>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Cách tạo</a:t>
            </a:r>
          </a:p>
        </p:txBody>
      </p:sp>
      <p:sp>
        <p:nvSpPr>
          <p:cNvPr id="55" name="Text Box 50">
            <a:extLst>
              <a:ext uri="{FF2B5EF4-FFF2-40B4-BE49-F238E27FC236}">
                <a16:creationId xmlns:a16="http://schemas.microsoft.com/office/drawing/2014/main" id="{E48B7EB7-554A-4074-927B-AF2415A72063}"/>
              </a:ext>
            </a:extLst>
          </p:cNvPr>
          <p:cNvSpPr txBox="1">
            <a:spLocks noChangeArrowheads="1"/>
          </p:cNvSpPr>
          <p:nvPr/>
        </p:nvSpPr>
        <p:spPr bwMode="auto">
          <a:xfrm>
            <a:off x="4777712" y="3126596"/>
            <a:ext cx="4176122"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rPr>
              <a:t>Thư mục Layout -&gt; New -&gt; Layout XML File -&gt; Finish</a:t>
            </a:r>
          </a:p>
        </p:txBody>
      </p:sp>
    </p:spTree>
    <p:extLst>
      <p:ext uri="{BB962C8B-B14F-4D97-AF65-F5344CB8AC3E}">
        <p14:creationId xmlns:p14="http://schemas.microsoft.com/office/powerpoint/2010/main" val="2405444126"/>
      </p:ext>
    </p:extLst>
  </p:cSld>
  <p:clrMapOvr>
    <a:masterClrMapping/>
  </p:clrMapOvr>
  <p:transition spd="slow"/>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strVal val="(6*min(max(#ppt_w*#ppt_h,.3),1)-7.4)/-.7*#ppt_w"/>
                                          </p:val>
                                        </p:tav>
                                        <p:tav tm="100000">
                                          <p:val>
                                            <p:strVal val="#ppt_w"/>
                                          </p:val>
                                        </p:tav>
                                      </p:tavLst>
                                    </p:anim>
                                    <p:anim calcmode="lin" valueType="num">
                                      <p:cBhvr>
                                        <p:cTn id="8" dur="500" fill="hold"/>
                                        <p:tgtEl>
                                          <p:spTgt spid="10"/>
                                        </p:tgtEl>
                                        <p:attrNameLst>
                                          <p:attrName>ppt_h</p:attrName>
                                        </p:attrNameLst>
                                      </p:cBhvr>
                                      <p:tavLst>
                                        <p:tav tm="0">
                                          <p:val>
                                            <p:strVal val="(6*min(max(#ppt_w*#ppt_h,.3),1)-7.4)/-.7*#ppt_h"/>
                                          </p:val>
                                        </p:tav>
                                        <p:tav tm="100000">
                                          <p:val>
                                            <p:strVal val="#ppt_h"/>
                                          </p:val>
                                        </p:tav>
                                      </p:tavLst>
                                    </p:anim>
                                    <p:anim calcmode="lin" valueType="num">
                                      <p:cBhvr>
                                        <p:cTn id="9" dur="500" fill="hold"/>
                                        <p:tgtEl>
                                          <p:spTgt spid="10"/>
                                        </p:tgtEl>
                                        <p:attrNameLst>
                                          <p:attrName>ppt_x</p:attrName>
                                        </p:attrNameLst>
                                      </p:cBhvr>
                                      <p:tavLst>
                                        <p:tav tm="0">
                                          <p:val>
                                            <p:fltVal val="0.5"/>
                                          </p:val>
                                        </p:tav>
                                        <p:tav tm="100000">
                                          <p:val>
                                            <p:strVal val="#ppt_x"/>
                                          </p:val>
                                        </p:tav>
                                      </p:tavLst>
                                    </p:anim>
                                    <p:anim calcmode="lin" valueType="num">
                                      <p:cBhvr>
                                        <p:cTn id="10" dur="500" fill="hold"/>
                                        <p:tgtEl>
                                          <p:spTgt spid="10"/>
                                        </p:tgtEl>
                                        <p:attrNameLst>
                                          <p:attrName>ppt_y</p:attrName>
                                        </p:attrNameLst>
                                      </p:cBhvr>
                                      <p:tavLst>
                                        <p:tav tm="0">
                                          <p:val>
                                            <p:strVal val="1+(6*min(max(#ppt_w*#ppt_h,.3),1)-7.4)/-.7*#ppt_h/2"/>
                                          </p:val>
                                        </p:tav>
                                        <p:tav tm="100000">
                                          <p:val>
                                            <p:strVal val="#ppt_y"/>
                                          </p:val>
                                        </p:tav>
                                      </p:tavLst>
                                    </p:anim>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down)">
                                      <p:cBhvr>
                                        <p:cTn id="14" dur="500"/>
                                        <p:tgtEl>
                                          <p:spTgt spid="23"/>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up)">
                                      <p:cBhvr>
                                        <p:cTn id="30" dur="500"/>
                                        <p:tgtEl>
                                          <p:spTgt spid="24"/>
                                        </p:tgtEl>
                                      </p:cBhvr>
                                    </p:animEffect>
                                  </p:childTnLst>
                                </p:cTn>
                              </p:par>
                            </p:childTnLst>
                          </p:cTn>
                        </p:par>
                        <p:par>
                          <p:cTn id="31" fill="hold">
                            <p:stCondLst>
                              <p:cond delay="3000"/>
                            </p:stCondLst>
                            <p:childTnLst>
                              <p:par>
                                <p:cTn id="32" presetID="22" presetClass="entr" presetSubtype="1" fill="hold" nodeType="after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wipe(up)">
                                      <p:cBhvr>
                                        <p:cTn id="34" dur="500"/>
                                        <p:tgtEl>
                                          <p:spTgt spid="33"/>
                                        </p:tgtEl>
                                      </p:cBhvr>
                                    </p:animEffect>
                                  </p:childTnLst>
                                </p:cTn>
                              </p:par>
                            </p:childTnLst>
                          </p:cTn>
                        </p:par>
                        <p:par>
                          <p:cTn id="35" fill="hold">
                            <p:stCondLst>
                              <p:cond delay="3500"/>
                            </p:stCondLst>
                            <p:childTnLst>
                              <p:par>
                                <p:cTn id="36" presetID="22" presetClass="entr" presetSubtype="8" fill="hold" nodeType="after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wipe(left)">
                                      <p:cBhvr>
                                        <p:cTn id="38" dur="500"/>
                                        <p:tgtEl>
                                          <p:spTgt spid="25"/>
                                        </p:tgtEl>
                                      </p:cBhvr>
                                    </p:animEffect>
                                  </p:childTnLst>
                                </p:cTn>
                              </p:par>
                            </p:childTnLst>
                          </p:cTn>
                        </p:par>
                        <p:par>
                          <p:cTn id="39" fill="hold">
                            <p:stCondLst>
                              <p:cond delay="4000"/>
                            </p:stCondLst>
                            <p:childTnLst>
                              <p:par>
                                <p:cTn id="40" presetID="22" presetClass="entr" presetSubtype="8" fill="hold" grpId="0"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par>
                          <p:cTn id="43" fill="hold">
                            <p:stCondLst>
                              <p:cond delay="4500"/>
                            </p:stCondLst>
                            <p:childTnLst>
                              <p:par>
                                <p:cTn id="44" presetID="22" presetClass="entr" presetSubtype="8" fill="hold" grpId="0" nodeType="after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wipe(left)">
                                      <p:cBhvr>
                                        <p:cTn id="46" dur="500"/>
                                        <p:tgtEl>
                                          <p:spTgt spid="34"/>
                                        </p:tgtEl>
                                      </p:cBhvr>
                                    </p:animEffect>
                                  </p:childTnLst>
                                </p:cTn>
                              </p:par>
                            </p:childTnLst>
                          </p:cTn>
                        </p:par>
                        <p:par>
                          <p:cTn id="47" fill="hold">
                            <p:stCondLst>
                              <p:cond delay="5000"/>
                            </p:stCondLst>
                            <p:childTnLst>
                              <p:par>
                                <p:cTn id="48" presetID="22" presetClass="entr" presetSubtype="8" fill="hold" grpId="0" nodeType="after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wipe(left)">
                                      <p:cBhvr>
                                        <p:cTn id="50" dur="500"/>
                                        <p:tgtEl>
                                          <p:spTgt spid="35"/>
                                        </p:tgtEl>
                                      </p:cBhvr>
                                    </p:animEffect>
                                  </p:childTnLst>
                                </p:cTn>
                              </p:par>
                            </p:childTnLst>
                          </p:cTn>
                        </p:par>
                        <p:par>
                          <p:cTn id="51" fill="hold">
                            <p:stCondLst>
                              <p:cond delay="5500"/>
                            </p:stCondLst>
                            <p:childTnLst>
                              <p:par>
                                <p:cTn id="52" presetID="22" presetClass="exit" presetSubtype="8" repeatCount="indefinite" nodeType="afterEffect">
                                  <p:stCondLst>
                                    <p:cond delay="0"/>
                                  </p:stCondLst>
                                  <p:endCondLst>
                                    <p:cond evt="onNext" delay="0">
                                      <p:tgtEl>
                                        <p:sldTgt/>
                                      </p:tgtEl>
                                    </p:cond>
                                  </p:endCondLst>
                                  <p:childTnLst>
                                    <p:animEffect transition="out" filter="wipe(left)">
                                      <p:cBhvr>
                                        <p:cTn id="53" dur="500"/>
                                        <p:tgtEl>
                                          <p:spTgt spid="25"/>
                                        </p:tgtEl>
                                      </p:cBhvr>
                                    </p:animEffect>
                                    <p:set>
                                      <p:cBhvr>
                                        <p:cTn id="54" dur="1" fill="hold">
                                          <p:stCondLst>
                                            <p:cond delay="499"/>
                                          </p:stCondLst>
                                        </p:cTn>
                                        <p:tgtEl>
                                          <p:spTgt spid="25"/>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5" presetClass="entr" presetSubtype="10" fill="hold" grpId="0" nodeType="clickEffect">
                                  <p:stCondLst>
                                    <p:cond delay="0"/>
                                  </p:stCondLst>
                                  <p:childTnLst>
                                    <p:set>
                                      <p:cBhvr>
                                        <p:cTn id="58" dur="1" fill="hold">
                                          <p:stCondLst>
                                            <p:cond delay="0"/>
                                          </p:stCondLst>
                                        </p:cTn>
                                        <p:tgtEl>
                                          <p:spTgt spid="45">
                                            <p:bg/>
                                          </p:spTgt>
                                        </p:tgtEl>
                                        <p:attrNameLst>
                                          <p:attrName>style.visibility</p:attrName>
                                        </p:attrNameLst>
                                      </p:cBhvr>
                                      <p:to>
                                        <p:strVal val="visible"/>
                                      </p:to>
                                    </p:set>
                                    <p:animEffect transition="in" filter="checkerboard(across)">
                                      <p:cBhvr>
                                        <p:cTn id="59" dur="500"/>
                                        <p:tgtEl>
                                          <p:spTgt spid="45">
                                            <p:bg/>
                                          </p:spTgt>
                                        </p:tgtEl>
                                      </p:cBhvr>
                                    </p:animEffect>
                                  </p:childTnLst>
                                </p:cTn>
                              </p:par>
                            </p:childTnLst>
                          </p:cTn>
                        </p:par>
                        <p:par>
                          <p:cTn id="60" fill="hold">
                            <p:stCondLst>
                              <p:cond delay="500"/>
                            </p:stCondLst>
                            <p:childTnLst>
                              <p:par>
                                <p:cTn id="61" presetID="5" presetClass="entr" presetSubtype="10" fill="hold" grpId="0" nodeType="afterEffect">
                                  <p:stCondLst>
                                    <p:cond delay="0"/>
                                  </p:stCondLst>
                                  <p:childTnLst>
                                    <p:set>
                                      <p:cBhvr>
                                        <p:cTn id="62" dur="1" fill="hold">
                                          <p:stCondLst>
                                            <p:cond delay="0"/>
                                          </p:stCondLst>
                                        </p:cTn>
                                        <p:tgtEl>
                                          <p:spTgt spid="45">
                                            <p:txEl>
                                              <p:pRg st="0" end="0"/>
                                            </p:txEl>
                                          </p:spTgt>
                                        </p:tgtEl>
                                        <p:attrNameLst>
                                          <p:attrName>style.visibility</p:attrName>
                                        </p:attrNameLst>
                                      </p:cBhvr>
                                      <p:to>
                                        <p:strVal val="visible"/>
                                      </p:to>
                                    </p:set>
                                    <p:animEffect transition="in" filter="checkerboard(across)">
                                      <p:cBhvr>
                                        <p:cTn id="63" dur="500"/>
                                        <p:tgtEl>
                                          <p:spTgt spid="45">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5" presetClass="entr" presetSubtype="10" fill="hold" grpId="0" nodeType="clickEffect">
                                  <p:stCondLst>
                                    <p:cond delay="0"/>
                                  </p:stCondLst>
                                  <p:childTnLst>
                                    <p:set>
                                      <p:cBhvr>
                                        <p:cTn id="67" dur="1" fill="hold">
                                          <p:stCondLst>
                                            <p:cond delay="0"/>
                                          </p:stCondLst>
                                        </p:cTn>
                                        <p:tgtEl>
                                          <p:spTgt spid="46">
                                            <p:bg/>
                                          </p:spTgt>
                                        </p:tgtEl>
                                        <p:attrNameLst>
                                          <p:attrName>style.visibility</p:attrName>
                                        </p:attrNameLst>
                                      </p:cBhvr>
                                      <p:to>
                                        <p:strVal val="visible"/>
                                      </p:to>
                                    </p:set>
                                    <p:animEffect transition="in" filter="checkerboard(across)">
                                      <p:cBhvr>
                                        <p:cTn id="68" dur="500"/>
                                        <p:tgtEl>
                                          <p:spTgt spid="46">
                                            <p:bg/>
                                          </p:spTgt>
                                        </p:tgtEl>
                                      </p:cBhvr>
                                    </p:animEffect>
                                  </p:childTnLst>
                                </p:cTn>
                              </p:par>
                              <p:par>
                                <p:cTn id="69" presetID="5" presetClass="entr" presetSubtype="10" fill="hold" grpId="0" nodeType="withEffect">
                                  <p:stCondLst>
                                    <p:cond delay="0"/>
                                  </p:stCondLst>
                                  <p:childTnLst>
                                    <p:set>
                                      <p:cBhvr>
                                        <p:cTn id="70" dur="1" fill="hold">
                                          <p:stCondLst>
                                            <p:cond delay="0"/>
                                          </p:stCondLst>
                                        </p:cTn>
                                        <p:tgtEl>
                                          <p:spTgt spid="46">
                                            <p:txEl>
                                              <p:pRg st="0" end="0"/>
                                            </p:txEl>
                                          </p:spTgt>
                                        </p:tgtEl>
                                        <p:attrNameLst>
                                          <p:attrName>style.visibility</p:attrName>
                                        </p:attrNameLst>
                                      </p:cBhvr>
                                      <p:to>
                                        <p:strVal val="visible"/>
                                      </p:to>
                                    </p:set>
                                    <p:animEffect transition="in" filter="checkerboard(across)">
                                      <p:cBhvr>
                                        <p:cTn id="71" dur="500"/>
                                        <p:tgtEl>
                                          <p:spTgt spid="46">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wipe(left)">
                                      <p:cBhvr>
                                        <p:cTn id="76" dur="1100"/>
                                        <p:tgtEl>
                                          <p:spTgt spid="36"/>
                                        </p:tgtEl>
                                      </p:cBhvr>
                                    </p:animEffect>
                                  </p:childTnLst>
                                </p:cTn>
                              </p:par>
                            </p:childTnLst>
                          </p:cTn>
                        </p:par>
                        <p:par>
                          <p:cTn id="77" fill="hold">
                            <p:stCondLst>
                              <p:cond delay="1100"/>
                            </p:stCondLst>
                            <p:childTnLst>
                              <p:par>
                                <p:cTn id="78" presetID="22" presetClass="entr" presetSubtype="8" fill="hold" nodeType="afterEffect">
                                  <p:stCondLst>
                                    <p:cond delay="0"/>
                                  </p:stCondLst>
                                  <p:childTnLst>
                                    <p:set>
                                      <p:cBhvr>
                                        <p:cTn id="79" dur="1" fill="hold">
                                          <p:stCondLst>
                                            <p:cond delay="0"/>
                                          </p:stCondLst>
                                        </p:cTn>
                                        <p:tgtEl>
                                          <p:spTgt spid="37"/>
                                        </p:tgtEl>
                                        <p:attrNameLst>
                                          <p:attrName>style.visibility</p:attrName>
                                        </p:attrNameLst>
                                      </p:cBhvr>
                                      <p:to>
                                        <p:strVal val="visible"/>
                                      </p:to>
                                    </p:set>
                                    <p:animEffect transition="in" filter="wipe(left)">
                                      <p:cBhvr>
                                        <p:cTn id="80" dur="500"/>
                                        <p:tgtEl>
                                          <p:spTgt spid="3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38"/>
                                        </p:tgtEl>
                                        <p:attrNameLst>
                                          <p:attrName>style.visibility</p:attrName>
                                        </p:attrNameLst>
                                      </p:cBhvr>
                                      <p:to>
                                        <p:strVal val="visible"/>
                                      </p:to>
                                    </p:set>
                                    <p:animEffect transition="in" filter="wipe(left)">
                                      <p:cBhvr>
                                        <p:cTn id="85" dur="500"/>
                                        <p:tgtEl>
                                          <p:spTgt spid="38"/>
                                        </p:tgtEl>
                                      </p:cBhvr>
                                    </p:animEffect>
                                  </p:childTnLst>
                                </p:cTn>
                              </p:par>
                            </p:childTnLst>
                          </p:cTn>
                        </p:par>
                        <p:par>
                          <p:cTn id="86" fill="hold">
                            <p:stCondLst>
                              <p:cond delay="500"/>
                            </p:stCondLst>
                            <p:childTnLst>
                              <p:par>
                                <p:cTn id="87" presetID="22" presetClass="entr" presetSubtype="8" fill="hold" nodeType="after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wipe(left)">
                                      <p:cBhvr>
                                        <p:cTn id="89" dur="500"/>
                                        <p:tgtEl>
                                          <p:spTgt spid="39"/>
                                        </p:tgtEl>
                                      </p:cBhvr>
                                    </p:animEffect>
                                  </p:childTnLst>
                                </p:cTn>
                              </p:par>
                              <p:par>
                                <p:cTn id="90" presetID="22" presetClass="exit" presetSubtype="8" repeatCount="indefinite" nodeType="withEffect">
                                  <p:stCondLst>
                                    <p:cond delay="0"/>
                                  </p:stCondLst>
                                  <p:endCondLst>
                                    <p:cond evt="onNext" delay="0">
                                      <p:tgtEl>
                                        <p:sldTgt/>
                                      </p:tgtEl>
                                    </p:cond>
                                  </p:endCondLst>
                                  <p:childTnLst>
                                    <p:animEffect transition="out" filter="wipe(left)">
                                      <p:cBhvr>
                                        <p:cTn id="91" dur="500"/>
                                        <p:tgtEl>
                                          <p:spTgt spid="37"/>
                                        </p:tgtEl>
                                      </p:cBhvr>
                                    </p:animEffect>
                                    <p:set>
                                      <p:cBhvr>
                                        <p:cTn id="92" dur="1" fill="hold">
                                          <p:stCondLst>
                                            <p:cond delay="499"/>
                                          </p:stCondLst>
                                        </p:cTn>
                                        <p:tgtEl>
                                          <p:spTgt spid="37"/>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5" presetClass="entr" presetSubtype="10" fill="hold" grpId="0" nodeType="clickEffect">
                                  <p:stCondLst>
                                    <p:cond delay="0"/>
                                  </p:stCondLst>
                                  <p:childTnLst>
                                    <p:set>
                                      <p:cBhvr>
                                        <p:cTn id="96" dur="1" fill="hold">
                                          <p:stCondLst>
                                            <p:cond delay="0"/>
                                          </p:stCondLst>
                                        </p:cTn>
                                        <p:tgtEl>
                                          <p:spTgt spid="19">
                                            <p:bg/>
                                          </p:spTgt>
                                        </p:tgtEl>
                                        <p:attrNameLst>
                                          <p:attrName>style.visibility</p:attrName>
                                        </p:attrNameLst>
                                      </p:cBhvr>
                                      <p:to>
                                        <p:strVal val="visible"/>
                                      </p:to>
                                    </p:set>
                                    <p:animEffect transition="in" filter="checkerboard(across)">
                                      <p:cBhvr>
                                        <p:cTn id="97" dur="500"/>
                                        <p:tgtEl>
                                          <p:spTgt spid="19">
                                            <p:bg/>
                                          </p:spTgt>
                                        </p:tgtEl>
                                      </p:cBhvr>
                                    </p:animEffect>
                                  </p:childTnLst>
                                </p:cTn>
                              </p:par>
                              <p:par>
                                <p:cTn id="98" presetID="5" presetClass="entr" presetSubtype="10" fill="hold" grpId="0" nodeType="withEffect">
                                  <p:stCondLst>
                                    <p:cond delay="0"/>
                                  </p:stCondLst>
                                  <p:childTnLst>
                                    <p:set>
                                      <p:cBhvr>
                                        <p:cTn id="99" dur="1" fill="hold">
                                          <p:stCondLst>
                                            <p:cond delay="0"/>
                                          </p:stCondLst>
                                        </p:cTn>
                                        <p:tgtEl>
                                          <p:spTgt spid="19">
                                            <p:txEl>
                                              <p:pRg st="0" end="0"/>
                                            </p:txEl>
                                          </p:spTgt>
                                        </p:tgtEl>
                                        <p:attrNameLst>
                                          <p:attrName>style.visibility</p:attrName>
                                        </p:attrNameLst>
                                      </p:cBhvr>
                                      <p:to>
                                        <p:strVal val="visible"/>
                                      </p:to>
                                    </p:set>
                                    <p:animEffect transition="in" filter="checkerboard(across)">
                                      <p:cBhvr>
                                        <p:cTn id="100" dur="500"/>
                                        <p:tgtEl>
                                          <p:spTgt spid="19">
                                            <p:txEl>
                                              <p:pRg st="0" end="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5" presetClass="entr" presetSubtype="10" fill="hold" grpId="0" nodeType="clickEffect">
                                  <p:stCondLst>
                                    <p:cond delay="0"/>
                                  </p:stCondLst>
                                  <p:childTnLst>
                                    <p:set>
                                      <p:cBhvr>
                                        <p:cTn id="104" dur="1" fill="hold">
                                          <p:stCondLst>
                                            <p:cond delay="0"/>
                                          </p:stCondLst>
                                        </p:cTn>
                                        <p:tgtEl>
                                          <p:spTgt spid="19">
                                            <p:txEl>
                                              <p:pRg st="1" end="1"/>
                                            </p:txEl>
                                          </p:spTgt>
                                        </p:tgtEl>
                                        <p:attrNameLst>
                                          <p:attrName>style.visibility</p:attrName>
                                        </p:attrNameLst>
                                      </p:cBhvr>
                                      <p:to>
                                        <p:strVal val="visible"/>
                                      </p:to>
                                    </p:set>
                                    <p:animEffect transition="in" filter="checkerboard(across)">
                                      <p:cBhvr>
                                        <p:cTn id="105" dur="500"/>
                                        <p:tgtEl>
                                          <p:spTgt spid="19">
                                            <p:txEl>
                                              <p:pRg st="1" end="1"/>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xit" presetSubtype="8" repeatCount="indefinite" nodeType="clickEffect">
                                  <p:stCondLst>
                                    <p:cond delay="0"/>
                                  </p:stCondLst>
                                  <p:endCondLst>
                                    <p:cond evt="onNext" delay="0">
                                      <p:tgtEl>
                                        <p:sldTgt/>
                                      </p:tgtEl>
                                    </p:cond>
                                  </p:endCondLst>
                                  <p:childTnLst>
                                    <p:animEffect transition="out" filter="wipe(left)">
                                      <p:cBhvr>
                                        <p:cTn id="109" dur="500"/>
                                        <p:tgtEl>
                                          <p:spTgt spid="38"/>
                                        </p:tgtEl>
                                      </p:cBhvr>
                                    </p:animEffect>
                                    <p:set>
                                      <p:cBhvr>
                                        <p:cTn id="110" dur="1" fill="hold">
                                          <p:stCondLst>
                                            <p:cond delay="499"/>
                                          </p:stCondLst>
                                        </p:cTn>
                                        <p:tgtEl>
                                          <p:spTgt spid="38"/>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5" presetClass="entr" presetSubtype="10" fill="hold" grpId="0" nodeType="clickEffect">
                                  <p:stCondLst>
                                    <p:cond delay="0"/>
                                  </p:stCondLst>
                                  <p:childTnLst>
                                    <p:set>
                                      <p:cBhvr>
                                        <p:cTn id="114" dur="1" fill="hold">
                                          <p:stCondLst>
                                            <p:cond delay="0"/>
                                          </p:stCondLst>
                                        </p:cTn>
                                        <p:tgtEl>
                                          <p:spTgt spid="40">
                                            <p:bg/>
                                          </p:spTgt>
                                        </p:tgtEl>
                                        <p:attrNameLst>
                                          <p:attrName>style.visibility</p:attrName>
                                        </p:attrNameLst>
                                      </p:cBhvr>
                                      <p:to>
                                        <p:strVal val="visible"/>
                                      </p:to>
                                    </p:set>
                                    <p:animEffect transition="in" filter="checkerboard(across)">
                                      <p:cBhvr>
                                        <p:cTn id="115" dur="500"/>
                                        <p:tgtEl>
                                          <p:spTgt spid="40">
                                            <p:bg/>
                                          </p:spTgt>
                                        </p:tgtEl>
                                      </p:cBhvr>
                                    </p:animEffect>
                                  </p:childTnLst>
                                </p:cTn>
                              </p:par>
                              <p:par>
                                <p:cTn id="116" presetID="5" presetClass="entr" presetSubtype="10" fill="hold" grpId="0" nodeType="withEffect">
                                  <p:stCondLst>
                                    <p:cond delay="0"/>
                                  </p:stCondLst>
                                  <p:childTnLst>
                                    <p:set>
                                      <p:cBhvr>
                                        <p:cTn id="117" dur="1" fill="hold">
                                          <p:stCondLst>
                                            <p:cond delay="0"/>
                                          </p:stCondLst>
                                        </p:cTn>
                                        <p:tgtEl>
                                          <p:spTgt spid="40">
                                            <p:txEl>
                                              <p:pRg st="0" end="0"/>
                                            </p:txEl>
                                          </p:spTgt>
                                        </p:tgtEl>
                                        <p:attrNameLst>
                                          <p:attrName>style.visibility</p:attrName>
                                        </p:attrNameLst>
                                      </p:cBhvr>
                                      <p:to>
                                        <p:strVal val="visible"/>
                                      </p:to>
                                    </p:set>
                                    <p:animEffect transition="in" filter="checkerboard(across)">
                                      <p:cBhvr>
                                        <p:cTn id="118" dur="500"/>
                                        <p:tgtEl>
                                          <p:spTgt spid="40">
                                            <p:txEl>
                                              <p:pRg st="0" end="0"/>
                                            </p:txEl>
                                          </p:spTgt>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xit" presetSubtype="8" repeatCount="indefinite" nodeType="clickEffect">
                                  <p:stCondLst>
                                    <p:cond delay="0"/>
                                  </p:stCondLst>
                                  <p:endCondLst>
                                    <p:cond evt="onNext" delay="0">
                                      <p:tgtEl>
                                        <p:sldTgt/>
                                      </p:tgtEl>
                                    </p:cond>
                                  </p:endCondLst>
                                  <p:childTnLst>
                                    <p:animEffect transition="out" filter="wipe(left)">
                                      <p:cBhvr>
                                        <p:cTn id="122" dur="500"/>
                                        <p:tgtEl>
                                          <p:spTgt spid="39"/>
                                        </p:tgtEl>
                                      </p:cBhvr>
                                    </p:animEffect>
                                    <p:set>
                                      <p:cBhvr>
                                        <p:cTn id="123" dur="1" fill="hold">
                                          <p:stCondLst>
                                            <p:cond delay="499"/>
                                          </p:stCondLst>
                                        </p:cTn>
                                        <p:tgtEl>
                                          <p:spTgt spid="39"/>
                                        </p:tgtEl>
                                        <p:attrNameLst>
                                          <p:attrName>style.visibility</p:attrName>
                                        </p:attrNameLst>
                                      </p:cBhvr>
                                      <p:to>
                                        <p:strVal val="hidden"/>
                                      </p:to>
                                    </p:set>
                                  </p:childTnLst>
                                </p:cTn>
                              </p:par>
                            </p:childTnLst>
                          </p:cTn>
                        </p:par>
                      </p:childTnLst>
                    </p:cTn>
                  </p:par>
                  <p:par>
                    <p:cTn id="124" fill="hold">
                      <p:stCondLst>
                        <p:cond delay="indefinite"/>
                      </p:stCondLst>
                      <p:childTnLst>
                        <p:par>
                          <p:cTn id="125" fill="hold">
                            <p:stCondLst>
                              <p:cond delay="0"/>
                            </p:stCondLst>
                            <p:childTnLst>
                              <p:par>
                                <p:cTn id="126" presetID="5" presetClass="entr" presetSubtype="10" fill="hold" grpId="0" nodeType="clickEffect">
                                  <p:stCondLst>
                                    <p:cond delay="0"/>
                                  </p:stCondLst>
                                  <p:childTnLst>
                                    <p:set>
                                      <p:cBhvr>
                                        <p:cTn id="127" dur="1" fill="hold">
                                          <p:stCondLst>
                                            <p:cond delay="0"/>
                                          </p:stCondLst>
                                        </p:cTn>
                                        <p:tgtEl>
                                          <p:spTgt spid="44">
                                            <p:bg/>
                                          </p:spTgt>
                                        </p:tgtEl>
                                        <p:attrNameLst>
                                          <p:attrName>style.visibility</p:attrName>
                                        </p:attrNameLst>
                                      </p:cBhvr>
                                      <p:to>
                                        <p:strVal val="visible"/>
                                      </p:to>
                                    </p:set>
                                    <p:animEffect transition="in" filter="checkerboard(across)">
                                      <p:cBhvr>
                                        <p:cTn id="128" dur="500"/>
                                        <p:tgtEl>
                                          <p:spTgt spid="44">
                                            <p:bg/>
                                          </p:spTgt>
                                        </p:tgtEl>
                                      </p:cBhvr>
                                    </p:animEffect>
                                  </p:childTnLst>
                                </p:cTn>
                              </p:par>
                              <p:par>
                                <p:cTn id="129" presetID="5" presetClass="entr" presetSubtype="10" fill="hold" grpId="0" nodeType="withEffect">
                                  <p:stCondLst>
                                    <p:cond delay="0"/>
                                  </p:stCondLst>
                                  <p:childTnLst>
                                    <p:set>
                                      <p:cBhvr>
                                        <p:cTn id="130" dur="1" fill="hold">
                                          <p:stCondLst>
                                            <p:cond delay="0"/>
                                          </p:stCondLst>
                                        </p:cTn>
                                        <p:tgtEl>
                                          <p:spTgt spid="44">
                                            <p:txEl>
                                              <p:pRg st="0" end="0"/>
                                            </p:txEl>
                                          </p:spTgt>
                                        </p:tgtEl>
                                        <p:attrNameLst>
                                          <p:attrName>style.visibility</p:attrName>
                                        </p:attrNameLst>
                                      </p:cBhvr>
                                      <p:to>
                                        <p:strVal val="visible"/>
                                      </p:to>
                                    </p:set>
                                    <p:animEffect transition="in" filter="checkerboard(across)">
                                      <p:cBhvr>
                                        <p:cTn id="131" dur="500"/>
                                        <p:tgtEl>
                                          <p:spTgt spid="44">
                                            <p:txEl>
                                              <p:pRg st="0" end="0"/>
                                            </p:txEl>
                                          </p:spTgt>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nodeType="clickEffect">
                                  <p:stCondLst>
                                    <p:cond delay="0"/>
                                  </p:stCondLst>
                                  <p:childTnLst>
                                    <p:set>
                                      <p:cBhvr>
                                        <p:cTn id="135" dur="1" fill="hold">
                                          <p:stCondLst>
                                            <p:cond delay="0"/>
                                          </p:stCondLst>
                                        </p:cTn>
                                        <p:tgtEl>
                                          <p:spTgt spid="22"/>
                                        </p:tgtEl>
                                        <p:attrNameLst>
                                          <p:attrName>style.visibility</p:attrName>
                                        </p:attrNameLst>
                                      </p:cBhvr>
                                      <p:to>
                                        <p:strVal val="visible"/>
                                      </p:to>
                                    </p:set>
                                    <p:animEffect transition="in" filter="wipe(left)">
                                      <p:cBhvr>
                                        <p:cTn id="136" dur="1100"/>
                                        <p:tgtEl>
                                          <p:spTgt spid="22"/>
                                        </p:tgtEl>
                                      </p:cBhvr>
                                    </p:animEffec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499"/>
                                          </p:stCondLst>
                                        </p:cTn>
                                        <p:tgtEl>
                                          <p:spTgt spid="13"/>
                                        </p:tgtEl>
                                        <p:attrNameLst>
                                          <p:attrName>style.visibility</p:attrName>
                                        </p:attrNameLst>
                                      </p:cBhvr>
                                      <p:to>
                                        <p:strVal val="visible"/>
                                      </p:to>
                                    </p:set>
                                  </p:childTnLst>
                                </p:cTn>
                              </p:par>
                              <p:par>
                                <p:cTn id="141" presetID="22" presetClass="entr" presetSubtype="8" fill="hold" nodeType="withEffect">
                                  <p:stCondLst>
                                    <p:cond delay="0"/>
                                  </p:stCondLst>
                                  <p:childTnLst>
                                    <p:set>
                                      <p:cBhvr>
                                        <p:cTn id="142" dur="1" fill="hold">
                                          <p:stCondLst>
                                            <p:cond delay="0"/>
                                          </p:stCondLst>
                                        </p:cTn>
                                        <p:tgtEl>
                                          <p:spTgt spid="28"/>
                                        </p:tgtEl>
                                        <p:attrNameLst>
                                          <p:attrName>style.visibility</p:attrName>
                                        </p:attrNameLst>
                                      </p:cBhvr>
                                      <p:to>
                                        <p:strVal val="visible"/>
                                      </p:to>
                                    </p:set>
                                    <p:animEffect transition="in" filter="wipe(left)">
                                      <p:cBhvr>
                                        <p:cTn id="143" dur="500"/>
                                        <p:tgtEl>
                                          <p:spTgt spid="28"/>
                                        </p:tgtEl>
                                      </p:cBhvr>
                                    </p:animEffect>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grpId="0" nodeType="clickEffect">
                                  <p:stCondLst>
                                    <p:cond delay="0"/>
                                  </p:stCondLst>
                                  <p:childTnLst>
                                    <p:set>
                                      <p:cBhvr>
                                        <p:cTn id="147" dur="1" fill="hold">
                                          <p:stCondLst>
                                            <p:cond delay="499"/>
                                          </p:stCondLst>
                                        </p:cTn>
                                        <p:tgtEl>
                                          <p:spTgt spid="20"/>
                                        </p:tgtEl>
                                        <p:attrNameLst>
                                          <p:attrName>style.visibility</p:attrName>
                                        </p:attrNameLst>
                                      </p:cBhvr>
                                      <p:to>
                                        <p:strVal val="visible"/>
                                      </p:to>
                                    </p:set>
                                  </p:childTnLst>
                                </p:cTn>
                              </p:par>
                              <p:par>
                                <p:cTn id="148" presetID="22" presetClass="entr" presetSubtype="8" fill="hold" nodeType="withEffect">
                                  <p:stCondLst>
                                    <p:cond delay="0"/>
                                  </p:stCondLst>
                                  <p:childTnLst>
                                    <p:set>
                                      <p:cBhvr>
                                        <p:cTn id="149" dur="1" fill="hold">
                                          <p:stCondLst>
                                            <p:cond delay="0"/>
                                          </p:stCondLst>
                                        </p:cTn>
                                        <p:tgtEl>
                                          <p:spTgt spid="29"/>
                                        </p:tgtEl>
                                        <p:attrNameLst>
                                          <p:attrName>style.visibility</p:attrName>
                                        </p:attrNameLst>
                                      </p:cBhvr>
                                      <p:to>
                                        <p:strVal val="visible"/>
                                      </p:to>
                                    </p:set>
                                    <p:animEffect transition="in" filter="wipe(left)">
                                      <p:cBhvr>
                                        <p:cTn id="150" dur="500"/>
                                        <p:tgtEl>
                                          <p:spTgt spid="29"/>
                                        </p:tgtEl>
                                      </p:cBhvr>
                                    </p:animEffect>
                                  </p:childTnLst>
                                </p:cTn>
                              </p:par>
                            </p:childTnLst>
                          </p:cTn>
                        </p:par>
                      </p:childTnLst>
                    </p:cTn>
                  </p:par>
                  <p:par>
                    <p:cTn id="151" fill="hold">
                      <p:stCondLst>
                        <p:cond delay="indefinite"/>
                      </p:stCondLst>
                      <p:childTnLst>
                        <p:par>
                          <p:cTn id="152" fill="hold">
                            <p:stCondLst>
                              <p:cond delay="0"/>
                            </p:stCondLst>
                            <p:childTnLst>
                              <p:par>
                                <p:cTn id="153" presetID="22" presetClass="exit" presetSubtype="8" repeatCount="indefinite" nodeType="clickEffect">
                                  <p:stCondLst>
                                    <p:cond delay="0"/>
                                  </p:stCondLst>
                                  <p:endCondLst>
                                    <p:cond evt="onNext" delay="0">
                                      <p:tgtEl>
                                        <p:sldTgt/>
                                      </p:tgtEl>
                                    </p:cond>
                                  </p:endCondLst>
                                  <p:childTnLst>
                                    <p:animEffect transition="out" filter="wipe(left)">
                                      <p:cBhvr>
                                        <p:cTn id="154" dur="500"/>
                                        <p:tgtEl>
                                          <p:spTgt spid="28"/>
                                        </p:tgtEl>
                                      </p:cBhvr>
                                    </p:animEffect>
                                    <p:set>
                                      <p:cBhvr>
                                        <p:cTn id="155" dur="1" fill="hold">
                                          <p:stCondLst>
                                            <p:cond delay="499"/>
                                          </p:stCondLst>
                                        </p:cTn>
                                        <p:tgtEl>
                                          <p:spTgt spid="28"/>
                                        </p:tgtEl>
                                        <p:attrNameLst>
                                          <p:attrName>style.visibility</p:attrName>
                                        </p:attrNameLst>
                                      </p:cBhvr>
                                      <p:to>
                                        <p:strVal val="hidden"/>
                                      </p:to>
                                    </p:set>
                                  </p:childTnLst>
                                </p:cTn>
                              </p:par>
                            </p:childTnLst>
                          </p:cTn>
                        </p:par>
                      </p:childTnLst>
                    </p:cTn>
                  </p:par>
                  <p:par>
                    <p:cTn id="156" fill="hold">
                      <p:stCondLst>
                        <p:cond delay="indefinite"/>
                      </p:stCondLst>
                      <p:childTnLst>
                        <p:par>
                          <p:cTn id="157" fill="hold">
                            <p:stCondLst>
                              <p:cond delay="0"/>
                            </p:stCondLst>
                            <p:childTnLst>
                              <p:par>
                                <p:cTn id="158" presetID="5" presetClass="entr" presetSubtype="10" fill="hold" grpId="0" nodeType="clickEffect">
                                  <p:stCondLst>
                                    <p:cond delay="0"/>
                                  </p:stCondLst>
                                  <p:childTnLst>
                                    <p:set>
                                      <p:cBhvr>
                                        <p:cTn id="159" dur="1" fill="hold">
                                          <p:stCondLst>
                                            <p:cond delay="0"/>
                                          </p:stCondLst>
                                        </p:cTn>
                                        <p:tgtEl>
                                          <p:spTgt spid="47">
                                            <p:bg/>
                                          </p:spTgt>
                                        </p:tgtEl>
                                        <p:attrNameLst>
                                          <p:attrName>style.visibility</p:attrName>
                                        </p:attrNameLst>
                                      </p:cBhvr>
                                      <p:to>
                                        <p:strVal val="visible"/>
                                      </p:to>
                                    </p:set>
                                    <p:animEffect transition="in" filter="checkerboard(across)">
                                      <p:cBhvr>
                                        <p:cTn id="160" dur="500"/>
                                        <p:tgtEl>
                                          <p:spTgt spid="47">
                                            <p:bg/>
                                          </p:spTgt>
                                        </p:tgtEl>
                                      </p:cBhvr>
                                    </p:animEffect>
                                  </p:childTnLst>
                                </p:cTn>
                              </p:par>
                            </p:childTnLst>
                          </p:cTn>
                        </p:par>
                      </p:childTnLst>
                    </p:cTn>
                  </p:par>
                  <p:par>
                    <p:cTn id="161" fill="hold">
                      <p:stCondLst>
                        <p:cond delay="indefinite"/>
                      </p:stCondLst>
                      <p:childTnLst>
                        <p:par>
                          <p:cTn id="162" fill="hold">
                            <p:stCondLst>
                              <p:cond delay="0"/>
                            </p:stCondLst>
                            <p:childTnLst>
                              <p:par>
                                <p:cTn id="163" presetID="5" presetClass="entr" presetSubtype="10" fill="hold" grpId="0" nodeType="clickEffect">
                                  <p:stCondLst>
                                    <p:cond delay="0"/>
                                  </p:stCondLst>
                                  <p:childTnLst>
                                    <p:set>
                                      <p:cBhvr>
                                        <p:cTn id="164" dur="1" fill="hold">
                                          <p:stCondLst>
                                            <p:cond delay="0"/>
                                          </p:stCondLst>
                                        </p:cTn>
                                        <p:tgtEl>
                                          <p:spTgt spid="47">
                                            <p:txEl>
                                              <p:pRg st="0" end="0"/>
                                            </p:txEl>
                                          </p:spTgt>
                                        </p:tgtEl>
                                        <p:attrNameLst>
                                          <p:attrName>style.visibility</p:attrName>
                                        </p:attrNameLst>
                                      </p:cBhvr>
                                      <p:to>
                                        <p:strVal val="visible"/>
                                      </p:to>
                                    </p:set>
                                    <p:animEffect transition="in" filter="checkerboard(across)">
                                      <p:cBhvr>
                                        <p:cTn id="165" dur="500"/>
                                        <p:tgtEl>
                                          <p:spTgt spid="47">
                                            <p:txEl>
                                              <p:pRg st="0" end="0"/>
                                            </p:txEl>
                                          </p:spTgt>
                                        </p:tgtEl>
                                      </p:cBhvr>
                                    </p:animEffect>
                                  </p:childTnLst>
                                </p:cTn>
                              </p:par>
                            </p:childTnLst>
                          </p:cTn>
                        </p:par>
                      </p:childTnLst>
                    </p:cTn>
                  </p:par>
                  <p:par>
                    <p:cTn id="166" fill="hold">
                      <p:stCondLst>
                        <p:cond delay="indefinite"/>
                      </p:stCondLst>
                      <p:childTnLst>
                        <p:par>
                          <p:cTn id="167" fill="hold">
                            <p:stCondLst>
                              <p:cond delay="0"/>
                            </p:stCondLst>
                            <p:childTnLst>
                              <p:par>
                                <p:cTn id="168" presetID="22" presetClass="exit" presetSubtype="8" repeatCount="indefinite" nodeType="clickEffect">
                                  <p:stCondLst>
                                    <p:cond delay="0"/>
                                  </p:stCondLst>
                                  <p:endCondLst>
                                    <p:cond evt="onNext" delay="0">
                                      <p:tgtEl>
                                        <p:sldTgt/>
                                      </p:tgtEl>
                                    </p:cond>
                                  </p:endCondLst>
                                  <p:childTnLst>
                                    <p:animEffect transition="out" filter="wipe(left)">
                                      <p:cBhvr>
                                        <p:cTn id="169" dur="500"/>
                                        <p:tgtEl>
                                          <p:spTgt spid="29"/>
                                        </p:tgtEl>
                                      </p:cBhvr>
                                    </p:animEffect>
                                    <p:set>
                                      <p:cBhvr>
                                        <p:cTn id="170" dur="1" fill="hold">
                                          <p:stCondLst>
                                            <p:cond delay="499"/>
                                          </p:stCondLst>
                                        </p:cTn>
                                        <p:tgtEl>
                                          <p:spTgt spid="29"/>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5" presetClass="entr" presetSubtype="10" fill="hold" grpId="0" nodeType="clickEffect">
                                  <p:stCondLst>
                                    <p:cond delay="0"/>
                                  </p:stCondLst>
                                  <p:childTnLst>
                                    <p:set>
                                      <p:cBhvr>
                                        <p:cTn id="174" dur="1" fill="hold">
                                          <p:stCondLst>
                                            <p:cond delay="0"/>
                                          </p:stCondLst>
                                        </p:cTn>
                                        <p:tgtEl>
                                          <p:spTgt spid="48">
                                            <p:bg/>
                                          </p:spTgt>
                                        </p:tgtEl>
                                        <p:attrNameLst>
                                          <p:attrName>style.visibility</p:attrName>
                                        </p:attrNameLst>
                                      </p:cBhvr>
                                      <p:to>
                                        <p:strVal val="visible"/>
                                      </p:to>
                                    </p:set>
                                    <p:animEffect transition="in" filter="checkerboard(across)">
                                      <p:cBhvr>
                                        <p:cTn id="175" dur="500"/>
                                        <p:tgtEl>
                                          <p:spTgt spid="48">
                                            <p:bg/>
                                          </p:spTgt>
                                        </p:tgtEl>
                                      </p:cBhvr>
                                    </p:animEffect>
                                  </p:childTnLst>
                                </p:cTn>
                              </p:par>
                            </p:childTnLst>
                          </p:cTn>
                        </p:par>
                        <p:par>
                          <p:cTn id="176" fill="hold">
                            <p:stCondLst>
                              <p:cond delay="500"/>
                            </p:stCondLst>
                            <p:childTnLst>
                              <p:par>
                                <p:cTn id="177" presetID="5" presetClass="entr" presetSubtype="10" fill="hold" grpId="0" nodeType="afterEffect">
                                  <p:stCondLst>
                                    <p:cond delay="0"/>
                                  </p:stCondLst>
                                  <p:childTnLst>
                                    <p:set>
                                      <p:cBhvr>
                                        <p:cTn id="178" dur="1" fill="hold">
                                          <p:stCondLst>
                                            <p:cond delay="0"/>
                                          </p:stCondLst>
                                        </p:cTn>
                                        <p:tgtEl>
                                          <p:spTgt spid="48">
                                            <p:txEl>
                                              <p:pRg st="0" end="0"/>
                                            </p:txEl>
                                          </p:spTgt>
                                        </p:tgtEl>
                                        <p:attrNameLst>
                                          <p:attrName>style.visibility</p:attrName>
                                        </p:attrNameLst>
                                      </p:cBhvr>
                                      <p:to>
                                        <p:strVal val="visible"/>
                                      </p:to>
                                    </p:set>
                                    <p:animEffect transition="in" filter="checkerboard(across)">
                                      <p:cBhvr>
                                        <p:cTn id="179" dur="500"/>
                                        <p:tgtEl>
                                          <p:spTgt spid="48">
                                            <p:txEl>
                                              <p:pRg st="0" end="0"/>
                                            </p:txEl>
                                          </p:spTgt>
                                        </p:tgtEl>
                                      </p:cBhvr>
                                    </p:animEffect>
                                  </p:childTnLst>
                                </p:cTn>
                              </p:par>
                            </p:childTnLst>
                          </p:cTn>
                        </p:par>
                        <p:par>
                          <p:cTn id="180" fill="hold">
                            <p:stCondLst>
                              <p:cond delay="1000"/>
                            </p:stCondLst>
                            <p:childTnLst>
                              <p:par>
                                <p:cTn id="181" presetID="22" presetClass="entr" presetSubtype="8" fill="hold" grpId="0" nodeType="afterEffect">
                                  <p:stCondLst>
                                    <p:cond delay="0"/>
                                  </p:stCondLst>
                                  <p:childTnLst>
                                    <p:set>
                                      <p:cBhvr>
                                        <p:cTn id="182" dur="1" fill="hold">
                                          <p:stCondLst>
                                            <p:cond delay="0"/>
                                          </p:stCondLst>
                                        </p:cTn>
                                        <p:tgtEl>
                                          <p:spTgt spid="43"/>
                                        </p:tgtEl>
                                        <p:attrNameLst>
                                          <p:attrName>style.visibility</p:attrName>
                                        </p:attrNameLst>
                                      </p:cBhvr>
                                      <p:to>
                                        <p:strVal val="visible"/>
                                      </p:to>
                                    </p:set>
                                    <p:animEffect transition="in" filter="wipe(left)">
                                      <p:cBhvr>
                                        <p:cTn id="183" dur="500"/>
                                        <p:tgtEl>
                                          <p:spTgt spid="43"/>
                                        </p:tgtEl>
                                      </p:cBhvr>
                                    </p:animEffect>
                                  </p:childTnLst>
                                </p:cTn>
                              </p:par>
                            </p:childTnLst>
                          </p:cTn>
                        </p:par>
                        <p:par>
                          <p:cTn id="184" fill="hold">
                            <p:stCondLst>
                              <p:cond delay="1500"/>
                            </p:stCondLst>
                            <p:childTnLst>
                              <p:par>
                                <p:cTn id="185" presetID="22" presetClass="entr" presetSubtype="8" fill="hold" grpId="0" nodeType="afterEffect">
                                  <p:stCondLst>
                                    <p:cond delay="0"/>
                                  </p:stCondLst>
                                  <p:childTnLst>
                                    <p:set>
                                      <p:cBhvr>
                                        <p:cTn id="186" dur="1" fill="hold">
                                          <p:stCondLst>
                                            <p:cond delay="0"/>
                                          </p:stCondLst>
                                        </p:cTn>
                                        <p:tgtEl>
                                          <p:spTgt spid="50"/>
                                        </p:tgtEl>
                                        <p:attrNameLst>
                                          <p:attrName>style.visibility</p:attrName>
                                        </p:attrNameLst>
                                      </p:cBhvr>
                                      <p:to>
                                        <p:strVal val="visible"/>
                                      </p:to>
                                    </p:set>
                                    <p:animEffect transition="in" filter="wipe(left)">
                                      <p:cBhvr>
                                        <p:cTn id="187" dur="500"/>
                                        <p:tgtEl>
                                          <p:spTgt spid="50"/>
                                        </p:tgtEl>
                                      </p:cBhvr>
                                    </p:animEffect>
                                  </p:childTnLst>
                                </p:cTn>
                              </p:par>
                            </p:childTnLst>
                          </p:cTn>
                        </p:par>
                        <p:par>
                          <p:cTn id="188" fill="hold">
                            <p:stCondLst>
                              <p:cond delay="2000"/>
                            </p:stCondLst>
                            <p:childTnLst>
                              <p:par>
                                <p:cTn id="189" presetID="22" presetClass="entr" presetSubtype="8" fill="hold" grpId="0" nodeType="afterEffect">
                                  <p:stCondLst>
                                    <p:cond delay="0"/>
                                  </p:stCondLst>
                                  <p:childTnLst>
                                    <p:set>
                                      <p:cBhvr>
                                        <p:cTn id="190" dur="1" fill="hold">
                                          <p:stCondLst>
                                            <p:cond delay="0"/>
                                          </p:stCondLst>
                                        </p:cTn>
                                        <p:tgtEl>
                                          <p:spTgt spid="51"/>
                                        </p:tgtEl>
                                        <p:attrNameLst>
                                          <p:attrName>style.visibility</p:attrName>
                                        </p:attrNameLst>
                                      </p:cBhvr>
                                      <p:to>
                                        <p:strVal val="visible"/>
                                      </p:to>
                                    </p:set>
                                    <p:animEffect transition="in" filter="wipe(left)">
                                      <p:cBhvr>
                                        <p:cTn id="191" dur="500"/>
                                        <p:tgtEl>
                                          <p:spTgt spid="51"/>
                                        </p:tgtEl>
                                      </p:cBhvr>
                                    </p:animEffect>
                                  </p:childTnLst>
                                </p:cTn>
                              </p:par>
                            </p:childTnLst>
                          </p:cTn>
                        </p:par>
                        <p:par>
                          <p:cTn id="192" fill="hold">
                            <p:stCondLst>
                              <p:cond delay="2500"/>
                            </p:stCondLst>
                            <p:childTnLst>
                              <p:par>
                                <p:cTn id="193" presetID="22" presetClass="entr" presetSubtype="1" fill="hold" nodeType="afterEffect">
                                  <p:stCondLst>
                                    <p:cond delay="0"/>
                                  </p:stCondLst>
                                  <p:childTnLst>
                                    <p:set>
                                      <p:cBhvr>
                                        <p:cTn id="194" dur="1" fill="hold">
                                          <p:stCondLst>
                                            <p:cond delay="0"/>
                                          </p:stCondLst>
                                        </p:cTn>
                                        <p:tgtEl>
                                          <p:spTgt spid="52"/>
                                        </p:tgtEl>
                                        <p:attrNameLst>
                                          <p:attrName>style.visibility</p:attrName>
                                        </p:attrNameLst>
                                      </p:cBhvr>
                                      <p:to>
                                        <p:strVal val="visible"/>
                                      </p:to>
                                    </p:set>
                                    <p:animEffect transition="in" filter="wipe(up)">
                                      <p:cBhvr>
                                        <p:cTn id="195" dur="500"/>
                                        <p:tgtEl>
                                          <p:spTgt spid="52"/>
                                        </p:tgtEl>
                                      </p:cBhvr>
                                    </p:animEffect>
                                  </p:childTnLst>
                                </p:cTn>
                              </p:par>
                            </p:childTnLst>
                          </p:cTn>
                        </p:par>
                        <p:par>
                          <p:cTn id="196" fill="hold">
                            <p:stCondLst>
                              <p:cond delay="3000"/>
                            </p:stCondLst>
                            <p:childTnLst>
                              <p:par>
                                <p:cTn id="197" presetID="22" presetClass="entr" presetSubtype="8" fill="hold" nodeType="afterEffect">
                                  <p:stCondLst>
                                    <p:cond delay="0"/>
                                  </p:stCondLst>
                                  <p:childTnLst>
                                    <p:set>
                                      <p:cBhvr>
                                        <p:cTn id="198" dur="1" fill="hold">
                                          <p:stCondLst>
                                            <p:cond delay="0"/>
                                          </p:stCondLst>
                                        </p:cTn>
                                        <p:tgtEl>
                                          <p:spTgt spid="42"/>
                                        </p:tgtEl>
                                        <p:attrNameLst>
                                          <p:attrName>style.visibility</p:attrName>
                                        </p:attrNameLst>
                                      </p:cBhvr>
                                      <p:to>
                                        <p:strVal val="visible"/>
                                      </p:to>
                                    </p:set>
                                    <p:animEffect transition="in" filter="wipe(left)">
                                      <p:cBhvr>
                                        <p:cTn id="199" dur="500"/>
                                        <p:tgtEl>
                                          <p:spTgt spid="42"/>
                                        </p:tgtEl>
                                      </p:cBhvr>
                                    </p:animEffect>
                                  </p:childTnLst>
                                </p:cTn>
                              </p:par>
                            </p:childTnLst>
                          </p:cTn>
                        </p:par>
                        <p:par>
                          <p:cTn id="200" fill="hold">
                            <p:stCondLst>
                              <p:cond delay="3500"/>
                            </p:stCondLst>
                            <p:childTnLst>
                              <p:par>
                                <p:cTn id="201" presetID="22" presetClass="entr" presetSubtype="8" fill="hold" grpId="0" nodeType="afterEffect">
                                  <p:stCondLst>
                                    <p:cond delay="0"/>
                                  </p:stCondLst>
                                  <p:childTnLst>
                                    <p:set>
                                      <p:cBhvr>
                                        <p:cTn id="202" dur="1" fill="hold">
                                          <p:stCondLst>
                                            <p:cond delay="0"/>
                                          </p:stCondLst>
                                        </p:cTn>
                                        <p:tgtEl>
                                          <p:spTgt spid="41"/>
                                        </p:tgtEl>
                                        <p:attrNameLst>
                                          <p:attrName>style.visibility</p:attrName>
                                        </p:attrNameLst>
                                      </p:cBhvr>
                                      <p:to>
                                        <p:strVal val="visible"/>
                                      </p:to>
                                    </p:set>
                                    <p:animEffect transition="in" filter="wipe(left)">
                                      <p:cBhvr>
                                        <p:cTn id="203" dur="500"/>
                                        <p:tgtEl>
                                          <p:spTgt spid="41"/>
                                        </p:tgtEl>
                                      </p:cBhvr>
                                    </p:animEffect>
                                  </p:childTnLst>
                                </p:cTn>
                              </p:par>
                            </p:childTnLst>
                          </p:cTn>
                        </p:par>
                        <p:par>
                          <p:cTn id="204" fill="hold">
                            <p:stCondLst>
                              <p:cond delay="4000"/>
                            </p:stCondLst>
                            <p:childTnLst>
                              <p:par>
                                <p:cTn id="205" presetID="22" presetClass="entr" presetSubtype="8" fill="hold" grpId="0" nodeType="afterEffect">
                                  <p:stCondLst>
                                    <p:cond delay="0"/>
                                  </p:stCondLst>
                                  <p:childTnLst>
                                    <p:set>
                                      <p:cBhvr>
                                        <p:cTn id="206" dur="1" fill="hold">
                                          <p:stCondLst>
                                            <p:cond delay="0"/>
                                          </p:stCondLst>
                                        </p:cTn>
                                        <p:tgtEl>
                                          <p:spTgt spid="53"/>
                                        </p:tgtEl>
                                        <p:attrNameLst>
                                          <p:attrName>style.visibility</p:attrName>
                                        </p:attrNameLst>
                                      </p:cBhvr>
                                      <p:to>
                                        <p:strVal val="visible"/>
                                      </p:to>
                                    </p:set>
                                    <p:animEffect transition="in" filter="wipe(left)">
                                      <p:cBhvr>
                                        <p:cTn id="207" dur="500"/>
                                        <p:tgtEl>
                                          <p:spTgt spid="53"/>
                                        </p:tgtEl>
                                      </p:cBhvr>
                                    </p:animEffect>
                                  </p:childTnLst>
                                </p:cTn>
                              </p:par>
                            </p:childTnLst>
                          </p:cTn>
                        </p:par>
                        <p:par>
                          <p:cTn id="208" fill="hold">
                            <p:stCondLst>
                              <p:cond delay="4500"/>
                            </p:stCondLst>
                            <p:childTnLst>
                              <p:par>
                                <p:cTn id="209" presetID="22" presetClass="entr" presetSubtype="8" fill="hold" grpId="0" nodeType="afterEffect">
                                  <p:stCondLst>
                                    <p:cond delay="0"/>
                                  </p:stCondLst>
                                  <p:childTnLst>
                                    <p:set>
                                      <p:cBhvr>
                                        <p:cTn id="210" dur="1" fill="hold">
                                          <p:stCondLst>
                                            <p:cond delay="0"/>
                                          </p:stCondLst>
                                        </p:cTn>
                                        <p:tgtEl>
                                          <p:spTgt spid="54"/>
                                        </p:tgtEl>
                                        <p:attrNameLst>
                                          <p:attrName>style.visibility</p:attrName>
                                        </p:attrNameLst>
                                      </p:cBhvr>
                                      <p:to>
                                        <p:strVal val="visible"/>
                                      </p:to>
                                    </p:set>
                                    <p:animEffect transition="in" filter="wipe(left)">
                                      <p:cBhvr>
                                        <p:cTn id="211" dur="500"/>
                                        <p:tgtEl>
                                          <p:spTgt spid="54"/>
                                        </p:tgtEl>
                                      </p:cBhvr>
                                    </p:animEffect>
                                  </p:childTnLst>
                                </p:cTn>
                              </p:par>
                            </p:childTnLst>
                          </p:cTn>
                        </p:par>
                        <p:par>
                          <p:cTn id="212" fill="hold">
                            <p:stCondLst>
                              <p:cond delay="5000"/>
                            </p:stCondLst>
                            <p:childTnLst>
                              <p:par>
                                <p:cTn id="213" presetID="22" presetClass="exit" presetSubtype="8" repeatCount="indefinite" nodeType="afterEffect">
                                  <p:stCondLst>
                                    <p:cond delay="0"/>
                                  </p:stCondLst>
                                  <p:endCondLst>
                                    <p:cond evt="onNext" delay="0">
                                      <p:tgtEl>
                                        <p:sldTgt/>
                                      </p:tgtEl>
                                    </p:cond>
                                  </p:endCondLst>
                                  <p:childTnLst>
                                    <p:animEffect transition="out" filter="wipe(left)">
                                      <p:cBhvr>
                                        <p:cTn id="214" dur="500"/>
                                        <p:tgtEl>
                                          <p:spTgt spid="42"/>
                                        </p:tgtEl>
                                      </p:cBhvr>
                                    </p:animEffect>
                                    <p:set>
                                      <p:cBhvr>
                                        <p:cTn id="215" dur="1" fill="hold">
                                          <p:stCondLst>
                                            <p:cond delay="499"/>
                                          </p:stCondLst>
                                        </p:cTn>
                                        <p:tgtEl>
                                          <p:spTgt spid="42"/>
                                        </p:tgtEl>
                                        <p:attrNameLst>
                                          <p:attrName>style.visibility</p:attrName>
                                        </p:attrNameLst>
                                      </p:cBhvr>
                                      <p:to>
                                        <p:strVal val="hidden"/>
                                      </p:to>
                                    </p:set>
                                  </p:childTnLst>
                                </p:cTn>
                              </p:par>
                            </p:childTnLst>
                          </p:cTn>
                        </p:par>
                      </p:childTnLst>
                    </p:cTn>
                  </p:par>
                  <p:par>
                    <p:cTn id="216" fill="hold">
                      <p:stCondLst>
                        <p:cond delay="indefinite"/>
                      </p:stCondLst>
                      <p:childTnLst>
                        <p:par>
                          <p:cTn id="217" fill="hold">
                            <p:stCondLst>
                              <p:cond delay="0"/>
                            </p:stCondLst>
                            <p:childTnLst>
                              <p:par>
                                <p:cTn id="218" presetID="5" presetClass="entr" presetSubtype="10" fill="hold" grpId="0" nodeType="clickEffect">
                                  <p:stCondLst>
                                    <p:cond delay="0"/>
                                  </p:stCondLst>
                                  <p:childTnLst>
                                    <p:set>
                                      <p:cBhvr>
                                        <p:cTn id="219" dur="1" fill="hold">
                                          <p:stCondLst>
                                            <p:cond delay="0"/>
                                          </p:stCondLst>
                                        </p:cTn>
                                        <p:tgtEl>
                                          <p:spTgt spid="55">
                                            <p:bg/>
                                          </p:spTgt>
                                        </p:tgtEl>
                                        <p:attrNameLst>
                                          <p:attrName>style.visibility</p:attrName>
                                        </p:attrNameLst>
                                      </p:cBhvr>
                                      <p:to>
                                        <p:strVal val="visible"/>
                                      </p:to>
                                    </p:set>
                                    <p:animEffect transition="in" filter="checkerboard(across)">
                                      <p:cBhvr>
                                        <p:cTn id="220" dur="500"/>
                                        <p:tgtEl>
                                          <p:spTgt spid="55">
                                            <p:bg/>
                                          </p:spTgt>
                                        </p:tgtEl>
                                      </p:cBhvr>
                                    </p:animEffect>
                                  </p:childTnLst>
                                </p:cTn>
                              </p:par>
                              <p:par>
                                <p:cTn id="221" presetID="5" presetClass="entr" presetSubtype="10" fill="hold" grpId="0" nodeType="withEffect">
                                  <p:stCondLst>
                                    <p:cond delay="0"/>
                                  </p:stCondLst>
                                  <p:childTnLst>
                                    <p:set>
                                      <p:cBhvr>
                                        <p:cTn id="222" dur="1" fill="hold">
                                          <p:stCondLst>
                                            <p:cond delay="0"/>
                                          </p:stCondLst>
                                        </p:cTn>
                                        <p:tgtEl>
                                          <p:spTgt spid="55">
                                            <p:txEl>
                                              <p:pRg st="0" end="0"/>
                                            </p:txEl>
                                          </p:spTgt>
                                        </p:tgtEl>
                                        <p:attrNameLst>
                                          <p:attrName>style.visibility</p:attrName>
                                        </p:attrNameLst>
                                      </p:cBhvr>
                                      <p:to>
                                        <p:strVal val="visible"/>
                                      </p:to>
                                    </p:set>
                                    <p:animEffect transition="in" filter="checkerboard(across)">
                                      <p:cBhvr>
                                        <p:cTn id="223" dur="500"/>
                                        <p:tgtEl>
                                          <p:spTgt spid="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utoUpdateAnimBg="0"/>
      <p:bldP spid="13" grpId="0" autoUpdateAnimBg="0"/>
      <p:bldP spid="14" grpId="0" autoUpdateAnimBg="0"/>
      <p:bldP spid="18" grpId="0" autoUpdateAnimBg="0"/>
      <p:bldP spid="19" grpId="0" uiExpand="1" build="p" animBg="1"/>
      <p:bldP spid="20" grpId="0" autoUpdateAnimBg="0"/>
      <p:bldP spid="34" grpId="0" animBg="1"/>
      <p:bldP spid="35" grpId="0" autoUpdateAnimBg="0"/>
      <p:bldP spid="40" grpId="0" uiExpand="1" build="p" animBg="1"/>
      <p:bldP spid="44" grpId="0" uiExpand="1" build="p" animBg="1"/>
      <p:bldP spid="45" grpId="0" uiExpand="1" build="p" animBg="1"/>
      <p:bldP spid="46" grpId="0" uiExpand="1" build="p" animBg="1"/>
      <p:bldP spid="47" grpId="0" uiExpand="1" build="p" animBg="1"/>
      <p:bldP spid="48" grpId="0" uiExpand="1" build="p" animBg="1"/>
      <p:bldP spid="43" grpId="0" autoUpdateAnimBg="0"/>
      <p:bldP spid="50" grpId="0" autoUpdateAnimBg="0"/>
      <p:bldP spid="51" grpId="0" autoUpdateAnimBg="0"/>
      <p:bldP spid="41" grpId="0" autoUpdateAnimBg="0"/>
      <p:bldP spid="53" grpId="0" animBg="1"/>
      <p:bldP spid="54" grpId="0" autoUpdateAnimBg="0"/>
      <p:bldP spid="55" grpId="0" uiExpand="1" build="p"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46</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Câu</a:t>
            </a:r>
            <a:r>
              <a:rPr lang="en-US" sz="2800" b="1" kern="0"/>
              <a:t> </a:t>
            </a:r>
            <a:r>
              <a:rPr lang="en-US" sz="2800" b="1" kern="0" err="1"/>
              <a:t>hỏi</a:t>
            </a:r>
            <a:r>
              <a:rPr lang="en-US" sz="2800" b="1" kern="0"/>
              <a:t> </a:t>
            </a:r>
            <a:r>
              <a:rPr lang="en-US" sz="2800" b="1" kern="0" err="1"/>
              <a:t>lý</a:t>
            </a:r>
            <a:r>
              <a:rPr lang="en-US" sz="2800" b="1" kern="0"/>
              <a:t> </a:t>
            </a:r>
            <a:r>
              <a:rPr lang="en-US" sz="2800" b="1" kern="0" err="1"/>
              <a:t>thuyết</a:t>
            </a:r>
            <a:endParaRPr lang="vi-VN" sz="2800" b="1" kern="0"/>
          </a:p>
        </p:txBody>
      </p:sp>
      <p:sp>
        <p:nvSpPr>
          <p:cNvPr id="5" name="Shape 1331"/>
          <p:cNvSpPr>
            <a:spLocks noGrp="1"/>
          </p:cNvSpPr>
          <p:nvPr>
            <p:ph type="body" idx="4294967295"/>
          </p:nvPr>
        </p:nvSpPr>
        <p:spPr>
          <a:xfrm>
            <a:off x="606244" y="1371600"/>
            <a:ext cx="7865404" cy="4572002"/>
          </a:xfrm>
          <a:prstGeom prst="rect">
            <a:avLst/>
          </a:prstGeom>
          <a:extLst>
            <a:ext uri="{C572A759-6A51-4108-AA02-DFA0A04FC94B}">
              <ma14:wrappingTextBoxFlag xmlns:ma14="http://schemas.microsoft.com/office/mac/drawingml/2011/main" xmlns="" val="1"/>
            </a:ext>
          </a:extLst>
        </p:spPr>
        <p:txBody>
          <a:bodyPr>
            <a:normAutofit/>
          </a:bodyPr>
          <a:lstStyle/>
          <a:p>
            <a:pPr marL="514350" indent="-514350">
              <a:buFontTx/>
              <a:buAutoNum type="arabicPeriod"/>
            </a:pPr>
            <a:r>
              <a:rPr lang="en-US"/>
              <a:t>View và ViewGroup là gì, khác nhau giữa View và ViewGroup</a:t>
            </a:r>
          </a:p>
          <a:p>
            <a:pPr marL="514350" indent="-514350">
              <a:buFontTx/>
              <a:buAutoNum type="arabicPeriod"/>
            </a:pPr>
            <a:r>
              <a:rPr lang="en-US"/>
              <a:t>Nêu các tạo file layout xml. Có mấy cách để tạo giao diện xml</a:t>
            </a:r>
          </a:p>
          <a:p>
            <a:pPr marL="514350" indent="-514350">
              <a:buFontTx/>
              <a:buAutoNum type="arabicPeriod"/>
            </a:pPr>
            <a:r>
              <a:rPr lang="en-US"/>
              <a:t>Nêu khái niệm, cách dùng và sự khác nhau giữa LinearLayout và RelativeLayout</a:t>
            </a:r>
          </a:p>
          <a:p>
            <a:pPr marL="514350" indent="-514350">
              <a:buFontTx/>
              <a:buAutoNum type="arabicPeriod"/>
            </a:pPr>
            <a:r>
              <a:rPr lang="en-US"/>
              <a:t>Nêu khái niệm, cách dùng và sự khác nhau giữa CheckBox và Radiobutton</a:t>
            </a:r>
            <a:endParaRPr lang="vi-VN"/>
          </a:p>
        </p:txBody>
      </p:sp>
    </p:spTree>
    <p:extLst>
      <p:ext uri="{BB962C8B-B14F-4D97-AF65-F5344CB8AC3E}">
        <p14:creationId xmlns:p14="http://schemas.microsoft.com/office/powerpoint/2010/main" val="3243880880"/>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47</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Bài</a:t>
            </a:r>
            <a:r>
              <a:rPr lang="en-US" sz="2800" b="1" kern="0"/>
              <a:t> </a:t>
            </a:r>
            <a:r>
              <a:rPr lang="en-US" sz="2800" b="1" kern="0" err="1"/>
              <a:t>tập</a:t>
            </a:r>
            <a:endParaRPr lang="vi-VN" sz="2800" b="1" kern="0"/>
          </a:p>
        </p:txBody>
      </p:sp>
      <p:sp>
        <p:nvSpPr>
          <p:cNvPr id="6" name="Shape 1336"/>
          <p:cNvSpPr>
            <a:spLocks noGrp="1"/>
          </p:cNvSpPr>
          <p:nvPr>
            <p:ph type="body" idx="4294967295"/>
          </p:nvPr>
        </p:nvSpPr>
        <p:spPr>
          <a:xfrm>
            <a:off x="576546" y="1169988"/>
            <a:ext cx="7772400" cy="1116012"/>
          </a:xfrm>
          <a:prstGeom prst="rect">
            <a:avLst/>
          </a:prstGeom>
          <a:extLst>
            <a:ext uri="{C572A759-6A51-4108-AA02-DFA0A04FC94B}">
              <ma14:wrappingTextBoxFlag xmlns:ma14="http://schemas.microsoft.com/office/mac/drawingml/2011/main" xmlns="" val="1"/>
            </a:ext>
          </a:extLst>
        </p:spPr>
        <p:txBody>
          <a:bodyPr>
            <a:normAutofit lnSpcReduction="10000"/>
          </a:bodyPr>
          <a:lstStyle/>
          <a:p>
            <a:pPr marL="514350" indent="-514350" defTabSz="886968">
              <a:lnSpc>
                <a:spcPct val="140000"/>
              </a:lnSpc>
              <a:spcBef>
                <a:spcPts val="0"/>
              </a:spcBef>
              <a:buFont typeface="+mj-lt"/>
              <a:buAutoNum type="arabicPeriod"/>
              <a:defRPr sz="2716"/>
            </a:pPr>
            <a:r>
              <a:rPr lang="en-US" dirty="0" err="1"/>
              <a:t>Sử</a:t>
            </a:r>
            <a:r>
              <a:rPr lang="en-US" dirty="0"/>
              <a:t> </a:t>
            </a:r>
            <a:r>
              <a:rPr lang="en-US" dirty="0" err="1"/>
              <a:t>dụng</a:t>
            </a:r>
            <a:r>
              <a:rPr lang="en-US" dirty="0"/>
              <a:t> Table Layout </a:t>
            </a:r>
            <a:r>
              <a:rPr lang="en-US" dirty="0" err="1"/>
              <a:t>để</a:t>
            </a:r>
            <a:r>
              <a:rPr lang="en-US" dirty="0"/>
              <a:t> </a:t>
            </a:r>
            <a:r>
              <a:rPr lang="en-US" dirty="0" err="1"/>
              <a:t>thiết</a:t>
            </a:r>
            <a:r>
              <a:rPr lang="en-US" dirty="0"/>
              <a:t> </a:t>
            </a:r>
            <a:r>
              <a:rPr lang="en-US" dirty="0" err="1"/>
              <a:t>kế</a:t>
            </a:r>
            <a:r>
              <a:rPr lang="en-US" dirty="0"/>
              <a:t> </a:t>
            </a:r>
            <a:r>
              <a:rPr lang="en-US" dirty="0" err="1"/>
              <a:t>giao</a:t>
            </a:r>
            <a:r>
              <a:rPr lang="en-US" dirty="0"/>
              <a:t> </a:t>
            </a:r>
            <a:r>
              <a:rPr lang="en-US" dirty="0" err="1"/>
              <a:t>diện</a:t>
            </a:r>
            <a:endParaRPr dirty="0"/>
          </a:p>
        </p:txBody>
      </p:sp>
      <p:pic>
        <p:nvPicPr>
          <p:cNvPr id="4" name="Picture 3" descr="Graphical user interface, application&#10;&#10;Description automatically generated">
            <a:extLst>
              <a:ext uri="{FF2B5EF4-FFF2-40B4-BE49-F238E27FC236}">
                <a16:creationId xmlns:a16="http://schemas.microsoft.com/office/drawing/2014/main" id="{152BA290-350B-431A-A78C-BA5E2CEC1A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2286000"/>
            <a:ext cx="6296992" cy="2500933"/>
          </a:xfrm>
          <a:prstGeom prst="rect">
            <a:avLst/>
          </a:prstGeom>
        </p:spPr>
      </p:pic>
      <p:sp>
        <p:nvSpPr>
          <p:cNvPr id="3" name="TextBox 2">
            <a:extLst>
              <a:ext uri="{FF2B5EF4-FFF2-40B4-BE49-F238E27FC236}">
                <a16:creationId xmlns:a16="http://schemas.microsoft.com/office/drawing/2014/main" id="{BC45161E-F450-3611-2F4D-3A1234BFABC3}"/>
              </a:ext>
            </a:extLst>
          </p:cNvPr>
          <p:cNvSpPr txBox="1"/>
          <p:nvPr/>
        </p:nvSpPr>
        <p:spPr>
          <a:xfrm>
            <a:off x="152400" y="4819077"/>
            <a:ext cx="7616763" cy="1631216"/>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solidFill>
                  <a:schemeClr val="tx1"/>
                </a:solidFill>
              </a:rPr>
              <a:t>Khi </a:t>
            </a:r>
            <a:r>
              <a:rPr lang="en-US" sz="2000" dirty="0" err="1">
                <a:solidFill>
                  <a:schemeClr val="tx1"/>
                </a:solidFill>
              </a:rPr>
              <a:t>bấm</a:t>
            </a:r>
            <a:r>
              <a:rPr lang="en-US" sz="2000" dirty="0">
                <a:solidFill>
                  <a:schemeClr val="tx1"/>
                </a:solidFill>
              </a:rPr>
              <a:t> Cancel </a:t>
            </a:r>
            <a:r>
              <a:rPr lang="en-US" sz="2000" dirty="0" err="1">
                <a:solidFill>
                  <a:schemeClr val="tx1"/>
                </a:solidFill>
              </a:rPr>
              <a:t>thì</a:t>
            </a:r>
            <a:r>
              <a:rPr lang="en-US" sz="2000" dirty="0">
                <a:solidFill>
                  <a:schemeClr val="tx1"/>
                </a:solidFill>
              </a:rPr>
              <a:t> in Username </a:t>
            </a:r>
            <a:r>
              <a:rPr lang="en-US" sz="2000" dirty="0" err="1">
                <a:solidFill>
                  <a:schemeClr val="tx1"/>
                </a:solidFill>
              </a:rPr>
              <a:t>và</a:t>
            </a:r>
            <a:r>
              <a:rPr lang="en-US" sz="2000" dirty="0">
                <a:solidFill>
                  <a:schemeClr val="tx1"/>
                </a:solidFill>
              </a:rPr>
              <a:t> pass </a:t>
            </a:r>
            <a:r>
              <a:rPr lang="en-US" sz="2000" dirty="0" err="1">
                <a:solidFill>
                  <a:schemeClr val="tx1"/>
                </a:solidFill>
              </a:rPr>
              <a:t>bằng</a:t>
            </a:r>
            <a:r>
              <a:rPr lang="en-US" sz="2000" dirty="0">
                <a:solidFill>
                  <a:schemeClr val="tx1"/>
                </a:solidFill>
              </a:rPr>
              <a:t> Toast</a:t>
            </a:r>
          </a:p>
          <a:p>
            <a:pPr marL="342900" indent="-342900" algn="just">
              <a:buFont typeface="Arial" panose="020B0604020202020204" pitchFamily="34" charset="0"/>
              <a:buChar char="•"/>
            </a:pPr>
            <a:r>
              <a:rPr lang="en-US" sz="2000" dirty="0">
                <a:solidFill>
                  <a:schemeClr val="tx1"/>
                </a:solidFill>
              </a:rPr>
              <a:t>Khi </a:t>
            </a:r>
            <a:r>
              <a:rPr lang="en-US" sz="2000" dirty="0" err="1">
                <a:solidFill>
                  <a:schemeClr val="tx1"/>
                </a:solidFill>
              </a:rPr>
              <a:t>bấm</a:t>
            </a:r>
            <a:r>
              <a:rPr lang="en-US" sz="2000" dirty="0">
                <a:solidFill>
                  <a:schemeClr val="tx1"/>
                </a:solidFill>
              </a:rPr>
              <a:t> Forget Password </a:t>
            </a:r>
            <a:r>
              <a:rPr lang="en-US" sz="2000" dirty="0" err="1">
                <a:solidFill>
                  <a:schemeClr val="tx1"/>
                </a:solidFill>
              </a:rPr>
              <a:t>thì</a:t>
            </a:r>
            <a:r>
              <a:rPr lang="en-US" sz="2000" dirty="0">
                <a:solidFill>
                  <a:schemeClr val="tx1"/>
                </a:solidFill>
              </a:rPr>
              <a:t> </a:t>
            </a:r>
            <a:r>
              <a:rPr lang="en-US" sz="2000" dirty="0" err="1">
                <a:solidFill>
                  <a:schemeClr val="tx1"/>
                </a:solidFill>
              </a:rPr>
              <a:t>mọi</a:t>
            </a:r>
            <a:r>
              <a:rPr lang="en-US" sz="2000" dirty="0">
                <a:solidFill>
                  <a:schemeClr val="tx1"/>
                </a:solidFill>
              </a:rPr>
              <a:t> </a:t>
            </a:r>
            <a:r>
              <a:rPr lang="en-US" sz="2000" dirty="0" err="1">
                <a:solidFill>
                  <a:schemeClr val="tx1"/>
                </a:solidFill>
              </a:rPr>
              <a:t>chữ</a:t>
            </a:r>
            <a:r>
              <a:rPr lang="en-US" sz="2000" dirty="0">
                <a:solidFill>
                  <a:schemeClr val="tx1"/>
                </a:solidFill>
              </a:rPr>
              <a:t> </a:t>
            </a:r>
            <a:r>
              <a:rPr lang="en-US" sz="2000" dirty="0" err="1">
                <a:solidFill>
                  <a:schemeClr val="tx1"/>
                </a:solidFill>
              </a:rPr>
              <a:t>trên</a:t>
            </a:r>
            <a:r>
              <a:rPr lang="en-US" sz="2000" dirty="0">
                <a:solidFill>
                  <a:schemeClr val="tx1"/>
                </a:solidFill>
              </a:rPr>
              <a:t> Username </a:t>
            </a:r>
            <a:r>
              <a:rPr lang="en-US" sz="2000" dirty="0" err="1">
                <a:solidFill>
                  <a:schemeClr val="tx1"/>
                </a:solidFill>
              </a:rPr>
              <a:t>và</a:t>
            </a:r>
            <a:r>
              <a:rPr lang="en-US" sz="2000" dirty="0">
                <a:solidFill>
                  <a:schemeClr val="tx1"/>
                </a:solidFill>
              </a:rPr>
              <a:t> Password </a:t>
            </a:r>
            <a:r>
              <a:rPr lang="en-US" sz="2000" dirty="0" err="1">
                <a:solidFill>
                  <a:schemeClr val="tx1"/>
                </a:solidFill>
              </a:rPr>
              <a:t>tự</a:t>
            </a:r>
            <a:r>
              <a:rPr lang="en-US" sz="2000" dirty="0">
                <a:solidFill>
                  <a:schemeClr val="tx1"/>
                </a:solidFill>
              </a:rPr>
              <a:t> </a:t>
            </a:r>
            <a:r>
              <a:rPr lang="en-US" sz="2000" dirty="0" err="1">
                <a:solidFill>
                  <a:schemeClr val="tx1"/>
                </a:solidFill>
              </a:rPr>
              <a:t>động</a:t>
            </a:r>
            <a:r>
              <a:rPr lang="en-US" sz="2000" dirty="0">
                <a:solidFill>
                  <a:schemeClr val="tx1"/>
                </a:solidFill>
              </a:rPr>
              <a:t> </a:t>
            </a:r>
            <a:r>
              <a:rPr lang="en-US" sz="2000" dirty="0" err="1">
                <a:solidFill>
                  <a:schemeClr val="tx1"/>
                </a:solidFill>
              </a:rPr>
              <a:t>biến</a:t>
            </a:r>
            <a:r>
              <a:rPr lang="en-US" sz="2000" dirty="0">
                <a:solidFill>
                  <a:schemeClr val="tx1"/>
                </a:solidFill>
              </a:rPr>
              <a:t> </a:t>
            </a:r>
            <a:r>
              <a:rPr lang="en-US" sz="2000" dirty="0" err="1">
                <a:solidFill>
                  <a:schemeClr val="tx1"/>
                </a:solidFill>
              </a:rPr>
              <a:t>mất</a:t>
            </a:r>
            <a:endParaRPr lang="en-US" sz="2000" dirty="0">
              <a:solidFill>
                <a:schemeClr val="tx1"/>
              </a:solidFill>
            </a:endParaRPr>
          </a:p>
          <a:p>
            <a:pPr marL="342900" indent="-342900" algn="just">
              <a:buFont typeface="Arial" panose="020B0604020202020204" pitchFamily="34" charset="0"/>
              <a:buChar char="•"/>
            </a:pPr>
            <a:r>
              <a:rPr lang="en-US" sz="2000" dirty="0">
                <a:solidFill>
                  <a:schemeClr val="tx1"/>
                </a:solidFill>
              </a:rPr>
              <a:t>Khi </a:t>
            </a:r>
            <a:r>
              <a:rPr lang="en-US" sz="2000" dirty="0" err="1">
                <a:solidFill>
                  <a:schemeClr val="tx1"/>
                </a:solidFill>
              </a:rPr>
              <a:t>bấm</a:t>
            </a:r>
            <a:r>
              <a:rPr lang="en-US" sz="2000" dirty="0">
                <a:solidFill>
                  <a:schemeClr val="tx1"/>
                </a:solidFill>
              </a:rPr>
              <a:t> </a:t>
            </a:r>
            <a:r>
              <a:rPr lang="en-US" sz="2000" dirty="0" err="1">
                <a:solidFill>
                  <a:schemeClr val="tx1"/>
                </a:solidFill>
              </a:rPr>
              <a:t>nút</a:t>
            </a:r>
            <a:r>
              <a:rPr lang="en-US" sz="2000" dirty="0">
                <a:solidFill>
                  <a:schemeClr val="tx1"/>
                </a:solidFill>
              </a:rPr>
              <a:t> Login </a:t>
            </a:r>
            <a:r>
              <a:rPr lang="en-US" sz="2000" dirty="0" err="1">
                <a:solidFill>
                  <a:schemeClr val="tx1"/>
                </a:solidFill>
              </a:rPr>
              <a:t>thì</a:t>
            </a:r>
            <a:r>
              <a:rPr lang="en-US" sz="2000" dirty="0">
                <a:solidFill>
                  <a:schemeClr val="tx1"/>
                </a:solidFill>
              </a:rPr>
              <a:t> </a:t>
            </a:r>
            <a:r>
              <a:rPr lang="en-US" sz="2000" dirty="0" err="1">
                <a:solidFill>
                  <a:schemeClr val="tx1"/>
                </a:solidFill>
              </a:rPr>
              <a:t>sẽ</a:t>
            </a:r>
            <a:r>
              <a:rPr lang="en-US" sz="2000" dirty="0">
                <a:solidFill>
                  <a:schemeClr val="tx1"/>
                </a:solidFill>
              </a:rPr>
              <a:t> </a:t>
            </a:r>
            <a:r>
              <a:rPr lang="en-US" sz="2000" dirty="0" err="1">
                <a:solidFill>
                  <a:schemeClr val="tx1"/>
                </a:solidFill>
              </a:rPr>
              <a:t>kiểm</a:t>
            </a:r>
            <a:r>
              <a:rPr lang="en-US" sz="2000" dirty="0">
                <a:solidFill>
                  <a:schemeClr val="tx1"/>
                </a:solidFill>
              </a:rPr>
              <a:t> </a:t>
            </a:r>
            <a:r>
              <a:rPr lang="en-US" sz="2000" dirty="0" err="1">
                <a:solidFill>
                  <a:schemeClr val="tx1"/>
                </a:solidFill>
              </a:rPr>
              <a:t>tra</a:t>
            </a:r>
            <a:r>
              <a:rPr lang="en-US" sz="2000" dirty="0">
                <a:solidFill>
                  <a:schemeClr val="tx1"/>
                </a:solidFill>
              </a:rPr>
              <a:t> Username </a:t>
            </a:r>
            <a:r>
              <a:rPr lang="en-US" sz="2000" dirty="0" err="1">
                <a:solidFill>
                  <a:schemeClr val="tx1"/>
                </a:solidFill>
              </a:rPr>
              <a:t>có</a:t>
            </a:r>
            <a:r>
              <a:rPr lang="en-US" sz="2000" dirty="0">
                <a:solidFill>
                  <a:schemeClr val="tx1"/>
                </a:solidFill>
              </a:rPr>
              <a:t> </a:t>
            </a:r>
            <a:r>
              <a:rPr lang="en-US" sz="2000" dirty="0" err="1">
                <a:solidFill>
                  <a:schemeClr val="tx1"/>
                </a:solidFill>
              </a:rPr>
              <a:t>bằng</a:t>
            </a:r>
            <a:r>
              <a:rPr lang="en-US" sz="2000" dirty="0">
                <a:solidFill>
                  <a:schemeClr val="tx1"/>
                </a:solidFill>
              </a:rPr>
              <a:t> “</a:t>
            </a:r>
            <a:r>
              <a:rPr lang="en-US" sz="2000" dirty="0" err="1">
                <a:solidFill>
                  <a:schemeClr val="tx1"/>
                </a:solidFill>
              </a:rPr>
              <a:t>uneti</a:t>
            </a:r>
            <a:r>
              <a:rPr lang="en-US" sz="2000" dirty="0">
                <a:solidFill>
                  <a:schemeClr val="tx1"/>
                </a:solidFill>
              </a:rPr>
              <a:t>”, password </a:t>
            </a:r>
            <a:r>
              <a:rPr lang="en-US" sz="2000" dirty="0" err="1">
                <a:solidFill>
                  <a:schemeClr val="tx1"/>
                </a:solidFill>
              </a:rPr>
              <a:t>có</a:t>
            </a:r>
            <a:r>
              <a:rPr lang="en-US" sz="2000" dirty="0">
                <a:solidFill>
                  <a:schemeClr val="tx1"/>
                </a:solidFill>
              </a:rPr>
              <a:t> </a:t>
            </a:r>
            <a:r>
              <a:rPr lang="en-US" sz="2000" dirty="0" err="1">
                <a:solidFill>
                  <a:schemeClr val="tx1"/>
                </a:solidFill>
              </a:rPr>
              <a:t>bằng</a:t>
            </a:r>
            <a:r>
              <a:rPr lang="en-US" sz="2000" dirty="0">
                <a:solidFill>
                  <a:schemeClr val="tx1"/>
                </a:solidFill>
              </a:rPr>
              <a:t> “uneti-k14” hay </a:t>
            </a:r>
            <a:r>
              <a:rPr lang="en-US" sz="2000" dirty="0" err="1">
                <a:solidFill>
                  <a:schemeClr val="tx1"/>
                </a:solidFill>
              </a:rPr>
              <a:t>không</a:t>
            </a:r>
            <a:r>
              <a:rPr lang="en-US" sz="2000" dirty="0">
                <a:solidFill>
                  <a:schemeClr val="tx1"/>
                </a:solidFill>
              </a:rPr>
              <a:t>.</a:t>
            </a:r>
          </a:p>
        </p:txBody>
      </p:sp>
    </p:spTree>
    <p:extLst>
      <p:ext uri="{BB962C8B-B14F-4D97-AF65-F5344CB8AC3E}">
        <p14:creationId xmlns:p14="http://schemas.microsoft.com/office/powerpoint/2010/main" val="2202967167"/>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48</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Bài</a:t>
            </a:r>
            <a:r>
              <a:rPr lang="en-US" sz="2800" b="1" kern="0"/>
              <a:t> </a:t>
            </a:r>
            <a:r>
              <a:rPr lang="en-US" sz="2800" b="1" kern="0" err="1"/>
              <a:t>tập</a:t>
            </a:r>
            <a:endParaRPr lang="vi-VN" sz="2800" b="1" kern="0"/>
          </a:p>
        </p:txBody>
      </p:sp>
      <p:sp>
        <p:nvSpPr>
          <p:cNvPr id="6" name="Shape 1336"/>
          <p:cNvSpPr>
            <a:spLocks noGrp="1"/>
          </p:cNvSpPr>
          <p:nvPr>
            <p:ph type="body" idx="4294967295"/>
          </p:nvPr>
        </p:nvSpPr>
        <p:spPr>
          <a:xfrm>
            <a:off x="576546" y="1169988"/>
            <a:ext cx="7772400" cy="1116012"/>
          </a:xfrm>
          <a:prstGeom prst="rect">
            <a:avLst/>
          </a:prstGeom>
          <a:extLst>
            <a:ext uri="{C572A759-6A51-4108-AA02-DFA0A04FC94B}">
              <ma14:wrappingTextBoxFlag xmlns:ma14="http://schemas.microsoft.com/office/mac/drawingml/2011/main" xmlns="" val="1"/>
            </a:ext>
          </a:extLst>
        </p:spPr>
        <p:txBody>
          <a:bodyPr>
            <a:normAutofit lnSpcReduction="10000"/>
          </a:bodyPr>
          <a:lstStyle/>
          <a:p>
            <a:pPr marL="0" indent="0" defTabSz="886968">
              <a:lnSpc>
                <a:spcPct val="140000"/>
              </a:lnSpc>
              <a:spcBef>
                <a:spcPts val="0"/>
              </a:spcBef>
              <a:buNone/>
              <a:defRPr sz="2716"/>
            </a:pPr>
            <a:r>
              <a:rPr lang="en-US"/>
              <a:t>2. Sử dụng Table Layout để thiết kế giao diện:</a:t>
            </a:r>
            <a:endParaRPr/>
          </a:p>
        </p:txBody>
      </p:sp>
      <p:pic>
        <p:nvPicPr>
          <p:cNvPr id="5" name="Picture 4" descr="Graphical user interface, table&#10;&#10;Description automatically generated">
            <a:extLst>
              <a:ext uri="{FF2B5EF4-FFF2-40B4-BE49-F238E27FC236}">
                <a16:creationId xmlns:a16="http://schemas.microsoft.com/office/drawing/2014/main" id="{F62998D5-E5BB-4087-AED2-3C575AC846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828800"/>
            <a:ext cx="7434261" cy="4508590"/>
          </a:xfrm>
          <a:prstGeom prst="rect">
            <a:avLst/>
          </a:prstGeom>
        </p:spPr>
      </p:pic>
    </p:spTree>
    <p:extLst>
      <p:ext uri="{BB962C8B-B14F-4D97-AF65-F5344CB8AC3E}">
        <p14:creationId xmlns:p14="http://schemas.microsoft.com/office/powerpoint/2010/main" val="2861470682"/>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49</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Bài</a:t>
            </a:r>
            <a:r>
              <a:rPr lang="en-US" sz="2800" b="1" kern="0"/>
              <a:t> </a:t>
            </a:r>
            <a:r>
              <a:rPr lang="en-US" sz="2800" b="1" kern="0" err="1"/>
              <a:t>tập</a:t>
            </a:r>
            <a:endParaRPr lang="vi-VN" sz="2800" b="1" kern="0"/>
          </a:p>
        </p:txBody>
      </p:sp>
      <p:sp>
        <p:nvSpPr>
          <p:cNvPr id="6" name="Shape 1336"/>
          <p:cNvSpPr>
            <a:spLocks noGrp="1"/>
          </p:cNvSpPr>
          <p:nvPr>
            <p:ph type="body" idx="4294967295"/>
          </p:nvPr>
        </p:nvSpPr>
        <p:spPr>
          <a:xfrm>
            <a:off x="576546" y="1169988"/>
            <a:ext cx="7772400" cy="1116012"/>
          </a:xfrm>
          <a:prstGeom prst="rect">
            <a:avLst/>
          </a:prstGeom>
          <a:extLst>
            <a:ext uri="{C572A759-6A51-4108-AA02-DFA0A04FC94B}">
              <ma14:wrappingTextBoxFlag xmlns:ma14="http://schemas.microsoft.com/office/mac/drawingml/2011/main" xmlns="" val="1"/>
            </a:ext>
          </a:extLst>
        </p:spPr>
        <p:txBody>
          <a:bodyPr>
            <a:normAutofit/>
          </a:bodyPr>
          <a:lstStyle/>
          <a:p>
            <a:pPr marL="0" indent="0" defTabSz="886968">
              <a:lnSpc>
                <a:spcPct val="140000"/>
              </a:lnSpc>
              <a:spcBef>
                <a:spcPts val="0"/>
              </a:spcBef>
              <a:buNone/>
              <a:defRPr sz="2716"/>
            </a:pPr>
            <a:r>
              <a:rPr lang="en-US" dirty="0"/>
              <a:t>3. </a:t>
            </a:r>
            <a:r>
              <a:rPr lang="en-US" dirty="0" err="1"/>
              <a:t>Thiết</a:t>
            </a:r>
            <a:r>
              <a:rPr lang="en-US" dirty="0"/>
              <a:t> </a:t>
            </a:r>
            <a:r>
              <a:rPr lang="en-US" dirty="0" err="1"/>
              <a:t>kế</a:t>
            </a:r>
            <a:r>
              <a:rPr lang="en-US" dirty="0"/>
              <a:t> Layout </a:t>
            </a:r>
            <a:r>
              <a:rPr lang="en-US" dirty="0" err="1"/>
              <a:t>theo</a:t>
            </a:r>
            <a:r>
              <a:rPr lang="en-US" dirty="0"/>
              <a:t> </a:t>
            </a:r>
            <a:r>
              <a:rPr lang="en-US" dirty="0" err="1"/>
              <a:t>hình</a:t>
            </a:r>
            <a:r>
              <a:rPr lang="en-US" dirty="0"/>
              <a:t> </a:t>
            </a:r>
            <a:r>
              <a:rPr lang="en-US" dirty="0" err="1"/>
              <a:t>sau</a:t>
            </a:r>
            <a:endParaRPr dirty="0"/>
          </a:p>
        </p:txBody>
      </p:sp>
      <p:pic>
        <p:nvPicPr>
          <p:cNvPr id="4" name="Picture 3" descr="Chart, treemap chart&#10;&#10;Description automatically generated">
            <a:extLst>
              <a:ext uri="{FF2B5EF4-FFF2-40B4-BE49-F238E27FC236}">
                <a16:creationId xmlns:a16="http://schemas.microsoft.com/office/drawing/2014/main" id="{D3B2A31C-887B-4613-82BD-FDDC3F7A65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352" y="1746927"/>
            <a:ext cx="3722475" cy="4955473"/>
          </a:xfrm>
          <a:prstGeom prst="rect">
            <a:avLst/>
          </a:prstGeom>
        </p:spPr>
      </p:pic>
      <p:sp>
        <p:nvSpPr>
          <p:cNvPr id="5" name="Rectangle: Rounded Corners 4">
            <a:extLst>
              <a:ext uri="{FF2B5EF4-FFF2-40B4-BE49-F238E27FC236}">
                <a16:creationId xmlns:a16="http://schemas.microsoft.com/office/drawing/2014/main" id="{ADF8BDFC-46EE-C22D-7C6A-170F67D1C2C6}"/>
              </a:ext>
            </a:extLst>
          </p:cNvPr>
          <p:cNvSpPr/>
          <p:nvPr/>
        </p:nvSpPr>
        <p:spPr bwMode="auto">
          <a:xfrm>
            <a:off x="1084877" y="1891336"/>
            <a:ext cx="1611439" cy="1994863"/>
          </a:xfrm>
          <a:prstGeom prst="roundRect">
            <a:avLst/>
          </a:prstGeom>
          <a:solidFill>
            <a:srgbClr val="411E00"/>
          </a:solidFill>
          <a:ln w="9525" cap="flat" cmpd="sng" algn="ctr">
            <a:no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bg1"/>
              </a:solidFill>
              <a:effectLst/>
              <a:latin typeface="Arial" charset="0"/>
            </a:endParaRPr>
          </a:p>
        </p:txBody>
      </p:sp>
      <p:sp>
        <p:nvSpPr>
          <p:cNvPr id="3" name="Rectangle 2">
            <a:extLst>
              <a:ext uri="{FF2B5EF4-FFF2-40B4-BE49-F238E27FC236}">
                <a16:creationId xmlns:a16="http://schemas.microsoft.com/office/drawing/2014/main" id="{788E9980-147D-FA25-7171-159029D9A839}"/>
              </a:ext>
            </a:extLst>
          </p:cNvPr>
          <p:cNvSpPr/>
          <p:nvPr/>
        </p:nvSpPr>
        <p:spPr bwMode="auto">
          <a:xfrm>
            <a:off x="1009864" y="2066792"/>
            <a:ext cx="1429722" cy="438416"/>
          </a:xfrm>
          <a:prstGeom prst="rect">
            <a:avLst/>
          </a:prstGeom>
          <a:solidFill>
            <a:schemeClr val="bg1"/>
          </a:solidFill>
          <a:ln w="9525" cap="flat" cmpd="sng" algn="ctr">
            <a:solidFill>
              <a:schemeClr val="accent1"/>
            </a:solidFill>
            <a:prstDash val="solid"/>
            <a:round/>
            <a:headEnd type="none" w="med" len="med"/>
            <a:tailEnd type="none" w="med" len="med"/>
          </a:ln>
          <a:effectLst>
            <a:innerShdw blurRad="114300">
              <a:prstClr val="black"/>
            </a:innerShdw>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r>
              <a:rPr lang="en-US" dirty="0">
                <a:solidFill>
                  <a:sysClr val="windowText" lastClr="000000"/>
                </a:solidFill>
              </a:rPr>
              <a:t>Form1</a:t>
            </a:r>
            <a:endParaRPr kumimoji="0" lang="en-US" sz="2400" b="0" i="0" u="none" strike="noStrike" cap="none" normalizeH="0" baseline="0" dirty="0">
              <a:ln>
                <a:noFill/>
              </a:ln>
              <a:solidFill>
                <a:sysClr val="windowText" lastClr="000000"/>
              </a:solidFill>
              <a:effectLst/>
              <a:latin typeface="Arial" charset="0"/>
            </a:endParaRPr>
          </a:p>
        </p:txBody>
      </p:sp>
      <p:sp>
        <p:nvSpPr>
          <p:cNvPr id="8" name="TextBox 7">
            <a:extLst>
              <a:ext uri="{FF2B5EF4-FFF2-40B4-BE49-F238E27FC236}">
                <a16:creationId xmlns:a16="http://schemas.microsoft.com/office/drawing/2014/main" id="{2D1A13BC-A3C9-EBF3-5D3D-B65990BD1FBC}"/>
              </a:ext>
            </a:extLst>
          </p:cNvPr>
          <p:cNvSpPr txBox="1"/>
          <p:nvPr/>
        </p:nvSpPr>
        <p:spPr>
          <a:xfrm>
            <a:off x="4588468" y="2101293"/>
            <a:ext cx="3444134" cy="3785652"/>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solidFill>
                  <a:schemeClr val="tx1"/>
                </a:solidFill>
              </a:rPr>
              <a:t>Form1, Form2, Form3 </a:t>
            </a:r>
            <a:r>
              <a:rPr lang="en-US" sz="2000" dirty="0" err="1">
                <a:solidFill>
                  <a:schemeClr val="tx1"/>
                </a:solidFill>
              </a:rPr>
              <a:t>là</a:t>
            </a:r>
            <a:r>
              <a:rPr lang="en-US" sz="2000" dirty="0">
                <a:solidFill>
                  <a:schemeClr val="tx1"/>
                </a:solidFill>
              </a:rPr>
              <a:t> </a:t>
            </a:r>
            <a:r>
              <a:rPr lang="en-US" sz="2000" dirty="0" err="1">
                <a:solidFill>
                  <a:schemeClr val="tx1"/>
                </a:solidFill>
              </a:rPr>
              <a:t>EditText</a:t>
            </a:r>
            <a:endParaRPr lang="en-US" sz="2000" dirty="0">
              <a:solidFill>
                <a:schemeClr val="tx1"/>
              </a:solidFill>
            </a:endParaRPr>
          </a:p>
          <a:p>
            <a:pPr marL="342900" indent="-342900" algn="just">
              <a:buFont typeface="Arial" panose="020B0604020202020204" pitchFamily="34" charset="0"/>
              <a:buChar char="•"/>
            </a:pPr>
            <a:r>
              <a:rPr lang="en-US" sz="2000" dirty="0">
                <a:solidFill>
                  <a:schemeClr val="tx1"/>
                </a:solidFill>
              </a:rPr>
              <a:t>List1, List2, List3 </a:t>
            </a:r>
            <a:r>
              <a:rPr lang="en-US" sz="2000" dirty="0" err="1">
                <a:solidFill>
                  <a:schemeClr val="tx1"/>
                </a:solidFill>
              </a:rPr>
              <a:t>là</a:t>
            </a:r>
            <a:r>
              <a:rPr lang="en-US" sz="2000" dirty="0">
                <a:solidFill>
                  <a:schemeClr val="tx1"/>
                </a:solidFill>
              </a:rPr>
              <a:t> </a:t>
            </a:r>
            <a:r>
              <a:rPr lang="en-US" sz="2000" dirty="0" err="1">
                <a:solidFill>
                  <a:schemeClr val="tx1"/>
                </a:solidFill>
              </a:rPr>
              <a:t>ListView</a:t>
            </a:r>
            <a:endParaRPr lang="en-US" sz="2000" dirty="0">
              <a:solidFill>
                <a:schemeClr val="tx1"/>
              </a:solidFill>
            </a:endParaRPr>
          </a:p>
          <a:p>
            <a:pPr marL="342900" indent="-342900" algn="just">
              <a:buFont typeface="Arial" panose="020B0604020202020204" pitchFamily="34" charset="0"/>
              <a:buChar char="•"/>
            </a:pPr>
            <a:r>
              <a:rPr lang="en-US" sz="2000" dirty="0">
                <a:solidFill>
                  <a:schemeClr val="tx1"/>
                </a:solidFill>
              </a:rPr>
              <a:t>Text1, Text2, Text3 </a:t>
            </a:r>
            <a:r>
              <a:rPr lang="en-US" sz="2000" dirty="0" err="1">
                <a:solidFill>
                  <a:schemeClr val="tx1"/>
                </a:solidFill>
              </a:rPr>
              <a:t>là</a:t>
            </a:r>
            <a:r>
              <a:rPr lang="en-US" sz="2000" dirty="0">
                <a:solidFill>
                  <a:schemeClr val="tx1"/>
                </a:solidFill>
              </a:rPr>
              <a:t> </a:t>
            </a:r>
            <a:r>
              <a:rPr lang="en-US" sz="2000" dirty="0" err="1">
                <a:solidFill>
                  <a:schemeClr val="tx1"/>
                </a:solidFill>
              </a:rPr>
              <a:t>TextView</a:t>
            </a:r>
            <a:endParaRPr lang="en-US" sz="2000" dirty="0">
              <a:solidFill>
                <a:schemeClr val="tx1"/>
              </a:solidFill>
            </a:endParaRPr>
          </a:p>
          <a:p>
            <a:pPr marL="342900" indent="-342900" algn="just">
              <a:buFont typeface="Arial" panose="020B0604020202020204" pitchFamily="34" charset="0"/>
              <a:buChar char="•"/>
            </a:pPr>
            <a:r>
              <a:rPr lang="en-US" sz="2000" dirty="0">
                <a:solidFill>
                  <a:schemeClr val="tx1"/>
                </a:solidFill>
              </a:rPr>
              <a:t>Khi </a:t>
            </a:r>
            <a:r>
              <a:rPr lang="en-US" sz="2000" dirty="0" err="1">
                <a:solidFill>
                  <a:schemeClr val="tx1"/>
                </a:solidFill>
              </a:rPr>
              <a:t>bấm</a:t>
            </a:r>
            <a:r>
              <a:rPr lang="en-US" sz="2000" dirty="0">
                <a:solidFill>
                  <a:schemeClr val="tx1"/>
                </a:solidFill>
              </a:rPr>
              <a:t> List1 </a:t>
            </a:r>
            <a:r>
              <a:rPr lang="en-US" sz="2000" dirty="0" err="1">
                <a:solidFill>
                  <a:schemeClr val="tx1"/>
                </a:solidFill>
              </a:rPr>
              <a:t>thì</a:t>
            </a:r>
            <a:r>
              <a:rPr lang="en-US" sz="2000" dirty="0">
                <a:solidFill>
                  <a:schemeClr val="tx1"/>
                </a:solidFill>
              </a:rPr>
              <a:t> Text1 </a:t>
            </a:r>
            <a:r>
              <a:rPr lang="en-US" sz="2000" dirty="0" err="1">
                <a:solidFill>
                  <a:schemeClr val="tx1"/>
                </a:solidFill>
              </a:rPr>
              <a:t>hiển</a:t>
            </a:r>
            <a:r>
              <a:rPr lang="en-US" sz="2000" dirty="0">
                <a:solidFill>
                  <a:schemeClr val="tx1"/>
                </a:solidFill>
              </a:rPr>
              <a:t> </a:t>
            </a:r>
            <a:r>
              <a:rPr lang="en-US" sz="2000" dirty="0" err="1">
                <a:solidFill>
                  <a:schemeClr val="tx1"/>
                </a:solidFill>
              </a:rPr>
              <a:t>thị</a:t>
            </a:r>
            <a:r>
              <a:rPr lang="en-US" sz="2000" dirty="0">
                <a:solidFill>
                  <a:schemeClr val="tx1"/>
                </a:solidFill>
              </a:rPr>
              <a:t> </a:t>
            </a:r>
            <a:r>
              <a:rPr lang="en-US" sz="2000" dirty="0" err="1">
                <a:solidFill>
                  <a:schemeClr val="tx1"/>
                </a:solidFill>
              </a:rPr>
              <a:t>giá</a:t>
            </a:r>
            <a:r>
              <a:rPr lang="en-US" sz="2000" dirty="0">
                <a:solidFill>
                  <a:schemeClr val="tx1"/>
                </a:solidFill>
              </a:rPr>
              <a:t> </a:t>
            </a:r>
            <a:r>
              <a:rPr lang="en-US" sz="2000" dirty="0" err="1">
                <a:solidFill>
                  <a:schemeClr val="tx1"/>
                </a:solidFill>
              </a:rPr>
              <a:t>trị</a:t>
            </a:r>
            <a:r>
              <a:rPr lang="en-US" sz="2000" dirty="0">
                <a:solidFill>
                  <a:schemeClr val="tx1"/>
                </a:solidFill>
              </a:rPr>
              <a:t> Form1,</a:t>
            </a:r>
          </a:p>
          <a:p>
            <a:pPr marL="342900" indent="-342900" algn="just">
              <a:buFont typeface="Arial" panose="020B0604020202020204" pitchFamily="34" charset="0"/>
              <a:buChar char="•"/>
            </a:pPr>
            <a:r>
              <a:rPr lang="en-US" sz="2000" dirty="0">
                <a:solidFill>
                  <a:schemeClr val="tx1"/>
                </a:solidFill>
              </a:rPr>
              <a:t>Khi </a:t>
            </a:r>
            <a:r>
              <a:rPr lang="en-US" sz="2000" dirty="0" err="1">
                <a:solidFill>
                  <a:schemeClr val="tx1"/>
                </a:solidFill>
              </a:rPr>
              <a:t>bấm</a:t>
            </a:r>
            <a:r>
              <a:rPr lang="en-US" sz="2000" dirty="0">
                <a:solidFill>
                  <a:schemeClr val="tx1"/>
                </a:solidFill>
              </a:rPr>
              <a:t> List2 </a:t>
            </a:r>
            <a:r>
              <a:rPr lang="en-US" sz="2000" dirty="0" err="1">
                <a:solidFill>
                  <a:schemeClr val="tx1"/>
                </a:solidFill>
              </a:rPr>
              <a:t>thì</a:t>
            </a:r>
            <a:r>
              <a:rPr lang="en-US" sz="2000" dirty="0">
                <a:solidFill>
                  <a:schemeClr val="tx1"/>
                </a:solidFill>
              </a:rPr>
              <a:t> Text2 </a:t>
            </a:r>
            <a:r>
              <a:rPr lang="en-US" sz="2000" dirty="0" err="1">
                <a:solidFill>
                  <a:schemeClr val="tx1"/>
                </a:solidFill>
              </a:rPr>
              <a:t>hiển</a:t>
            </a:r>
            <a:r>
              <a:rPr lang="en-US" sz="2000" dirty="0">
                <a:solidFill>
                  <a:schemeClr val="tx1"/>
                </a:solidFill>
              </a:rPr>
              <a:t> </a:t>
            </a:r>
            <a:r>
              <a:rPr lang="en-US" sz="2000" dirty="0" err="1">
                <a:solidFill>
                  <a:schemeClr val="tx1"/>
                </a:solidFill>
              </a:rPr>
              <a:t>thị</a:t>
            </a:r>
            <a:r>
              <a:rPr lang="en-US" sz="2000" dirty="0">
                <a:solidFill>
                  <a:schemeClr val="tx1"/>
                </a:solidFill>
              </a:rPr>
              <a:t> </a:t>
            </a:r>
            <a:r>
              <a:rPr lang="en-US" sz="2000" dirty="0" err="1">
                <a:solidFill>
                  <a:schemeClr val="tx1"/>
                </a:solidFill>
              </a:rPr>
              <a:t>giá</a:t>
            </a:r>
            <a:r>
              <a:rPr lang="en-US" sz="2000" dirty="0">
                <a:solidFill>
                  <a:schemeClr val="tx1"/>
                </a:solidFill>
              </a:rPr>
              <a:t> </a:t>
            </a:r>
            <a:r>
              <a:rPr lang="en-US" sz="2000" dirty="0" err="1">
                <a:solidFill>
                  <a:schemeClr val="tx1"/>
                </a:solidFill>
              </a:rPr>
              <a:t>trị</a:t>
            </a:r>
            <a:r>
              <a:rPr lang="en-US" sz="2000" dirty="0">
                <a:solidFill>
                  <a:schemeClr val="tx1"/>
                </a:solidFill>
              </a:rPr>
              <a:t> Form2</a:t>
            </a:r>
          </a:p>
          <a:p>
            <a:pPr marL="342900" indent="-342900" algn="just">
              <a:buFont typeface="Arial" panose="020B0604020202020204" pitchFamily="34" charset="0"/>
              <a:buChar char="•"/>
            </a:pPr>
            <a:r>
              <a:rPr lang="en-US" sz="2000" dirty="0">
                <a:solidFill>
                  <a:schemeClr val="tx1"/>
                </a:solidFill>
              </a:rPr>
              <a:t>Khi </a:t>
            </a:r>
            <a:r>
              <a:rPr lang="en-US" sz="2000" dirty="0" err="1">
                <a:solidFill>
                  <a:schemeClr val="tx1"/>
                </a:solidFill>
              </a:rPr>
              <a:t>bấm</a:t>
            </a:r>
            <a:r>
              <a:rPr lang="en-US" sz="2000" dirty="0">
                <a:solidFill>
                  <a:schemeClr val="tx1"/>
                </a:solidFill>
              </a:rPr>
              <a:t> List3 </a:t>
            </a:r>
            <a:r>
              <a:rPr lang="en-US" sz="2000" dirty="0" err="1">
                <a:solidFill>
                  <a:schemeClr val="tx1"/>
                </a:solidFill>
              </a:rPr>
              <a:t>thì</a:t>
            </a:r>
            <a:r>
              <a:rPr lang="en-US" sz="2000" dirty="0">
                <a:solidFill>
                  <a:schemeClr val="tx1"/>
                </a:solidFill>
              </a:rPr>
              <a:t> Text 3 </a:t>
            </a:r>
            <a:r>
              <a:rPr lang="en-US" sz="2000" dirty="0" err="1">
                <a:solidFill>
                  <a:schemeClr val="tx1"/>
                </a:solidFill>
              </a:rPr>
              <a:t>hiển</a:t>
            </a:r>
            <a:r>
              <a:rPr lang="en-US" sz="2000" dirty="0">
                <a:solidFill>
                  <a:schemeClr val="tx1"/>
                </a:solidFill>
              </a:rPr>
              <a:t> </a:t>
            </a:r>
            <a:r>
              <a:rPr lang="en-US" sz="2000" dirty="0" err="1">
                <a:solidFill>
                  <a:schemeClr val="tx1"/>
                </a:solidFill>
              </a:rPr>
              <a:t>thị</a:t>
            </a:r>
            <a:r>
              <a:rPr lang="en-US" sz="2000" dirty="0">
                <a:solidFill>
                  <a:schemeClr val="tx1"/>
                </a:solidFill>
              </a:rPr>
              <a:t> </a:t>
            </a:r>
            <a:r>
              <a:rPr lang="en-US" sz="2000" dirty="0" err="1">
                <a:solidFill>
                  <a:schemeClr val="tx1"/>
                </a:solidFill>
              </a:rPr>
              <a:t>giá</a:t>
            </a:r>
            <a:r>
              <a:rPr lang="en-US" sz="2000" dirty="0">
                <a:solidFill>
                  <a:schemeClr val="tx1"/>
                </a:solidFill>
              </a:rPr>
              <a:t> </a:t>
            </a:r>
            <a:r>
              <a:rPr lang="en-US" sz="2000" dirty="0" err="1">
                <a:solidFill>
                  <a:schemeClr val="tx1"/>
                </a:solidFill>
              </a:rPr>
              <a:t>trị</a:t>
            </a:r>
            <a:r>
              <a:rPr lang="en-US" sz="2000" dirty="0">
                <a:solidFill>
                  <a:schemeClr val="tx1"/>
                </a:solidFill>
              </a:rPr>
              <a:t> Form3</a:t>
            </a:r>
          </a:p>
        </p:txBody>
      </p:sp>
      <p:sp>
        <p:nvSpPr>
          <p:cNvPr id="10" name="Rectangle 9">
            <a:extLst>
              <a:ext uri="{FF2B5EF4-FFF2-40B4-BE49-F238E27FC236}">
                <a16:creationId xmlns:a16="http://schemas.microsoft.com/office/drawing/2014/main" id="{139FCBA4-975D-AA4D-C3C7-70B28EEE0CB7}"/>
              </a:ext>
            </a:extLst>
          </p:cNvPr>
          <p:cNvSpPr/>
          <p:nvPr/>
        </p:nvSpPr>
        <p:spPr bwMode="auto">
          <a:xfrm>
            <a:off x="1015999" y="3400086"/>
            <a:ext cx="1429722" cy="438416"/>
          </a:xfrm>
          <a:prstGeom prst="rect">
            <a:avLst/>
          </a:prstGeom>
          <a:solidFill>
            <a:schemeClr val="bg1"/>
          </a:solidFill>
          <a:ln w="9525" cap="flat" cmpd="sng" algn="ctr">
            <a:solidFill>
              <a:schemeClr val="accent1"/>
            </a:solidFill>
            <a:prstDash val="solid"/>
            <a:round/>
            <a:headEnd type="none" w="med" len="med"/>
            <a:tailEnd type="none" w="med" len="med"/>
          </a:ln>
          <a:effectLst>
            <a:innerShdw blurRad="114300">
              <a:prstClr val="black"/>
            </a:innerShdw>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r>
              <a:rPr lang="en-US" dirty="0">
                <a:solidFill>
                  <a:sysClr val="windowText" lastClr="000000"/>
                </a:solidFill>
              </a:rPr>
              <a:t>Form3</a:t>
            </a:r>
            <a:endParaRPr kumimoji="0" lang="en-US" sz="2400" b="0" i="0" u="none" strike="noStrike" cap="none" normalizeH="0" baseline="0" dirty="0">
              <a:ln>
                <a:noFill/>
              </a:ln>
              <a:solidFill>
                <a:sysClr val="windowText" lastClr="000000"/>
              </a:solidFill>
              <a:effectLst/>
              <a:latin typeface="Arial" charset="0"/>
            </a:endParaRPr>
          </a:p>
        </p:txBody>
      </p:sp>
      <p:sp>
        <p:nvSpPr>
          <p:cNvPr id="11" name="Rectangle 10">
            <a:extLst>
              <a:ext uri="{FF2B5EF4-FFF2-40B4-BE49-F238E27FC236}">
                <a16:creationId xmlns:a16="http://schemas.microsoft.com/office/drawing/2014/main" id="{8657E30A-7790-835A-A5C0-99144813241C}"/>
              </a:ext>
            </a:extLst>
          </p:cNvPr>
          <p:cNvSpPr/>
          <p:nvPr/>
        </p:nvSpPr>
        <p:spPr bwMode="auto">
          <a:xfrm>
            <a:off x="1009864" y="2720564"/>
            <a:ext cx="1429722" cy="438416"/>
          </a:xfrm>
          <a:prstGeom prst="rect">
            <a:avLst/>
          </a:prstGeom>
          <a:solidFill>
            <a:schemeClr val="bg1"/>
          </a:solidFill>
          <a:ln w="9525" cap="flat" cmpd="sng" algn="ctr">
            <a:solidFill>
              <a:schemeClr val="accent1"/>
            </a:solidFill>
            <a:prstDash val="solid"/>
            <a:round/>
            <a:headEnd type="none" w="med" len="med"/>
            <a:tailEnd type="none" w="med" len="med"/>
          </a:ln>
          <a:effectLst>
            <a:innerShdw blurRad="114300">
              <a:prstClr val="black"/>
            </a:innerShdw>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r>
              <a:rPr lang="en-US" dirty="0">
                <a:solidFill>
                  <a:sysClr val="windowText" lastClr="000000"/>
                </a:solidFill>
              </a:rPr>
              <a:t>Form2</a:t>
            </a:r>
            <a:endParaRPr kumimoji="0" lang="en-US" sz="2400" b="0" i="0" u="none" strike="noStrike" cap="none" normalizeH="0" baseline="0" dirty="0">
              <a:ln>
                <a:noFill/>
              </a:ln>
              <a:solidFill>
                <a:sysClr val="windowText" lastClr="000000"/>
              </a:solidFill>
              <a:effectLst/>
              <a:latin typeface="Arial" charset="0"/>
            </a:endParaRPr>
          </a:p>
        </p:txBody>
      </p:sp>
      <p:sp>
        <p:nvSpPr>
          <p:cNvPr id="12" name="Rectangle 11">
            <a:extLst>
              <a:ext uri="{FF2B5EF4-FFF2-40B4-BE49-F238E27FC236}">
                <a16:creationId xmlns:a16="http://schemas.microsoft.com/office/drawing/2014/main" id="{F00A4A79-6A33-82CB-56C3-A3A0D1F12DED}"/>
              </a:ext>
            </a:extLst>
          </p:cNvPr>
          <p:cNvSpPr/>
          <p:nvPr/>
        </p:nvSpPr>
        <p:spPr bwMode="auto">
          <a:xfrm>
            <a:off x="3108841" y="2066792"/>
            <a:ext cx="1082159" cy="1819407"/>
          </a:xfrm>
          <a:prstGeom prst="rect">
            <a:avLst/>
          </a:prstGeom>
          <a:solidFill>
            <a:srgbClr val="1A1A1A"/>
          </a:solidFill>
          <a:ln w="9525" cap="flat" cmpd="sng" algn="ctr">
            <a:noFill/>
            <a:prstDash val="solid"/>
            <a:round/>
            <a:headEnd type="none" w="med" len="med"/>
            <a:tailEnd type="none" w="med" len="med"/>
          </a:ln>
          <a:effectLst/>
        </p:spPr>
        <p:txBody>
          <a:bodyPr vert="horz" wrap="non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13" name="TextBox 12">
            <a:extLst>
              <a:ext uri="{FF2B5EF4-FFF2-40B4-BE49-F238E27FC236}">
                <a16:creationId xmlns:a16="http://schemas.microsoft.com/office/drawing/2014/main" id="{84E69382-BAA2-D4AE-B615-0AA8D2393D2F}"/>
              </a:ext>
            </a:extLst>
          </p:cNvPr>
          <p:cNvSpPr txBox="1"/>
          <p:nvPr/>
        </p:nvSpPr>
        <p:spPr>
          <a:xfrm>
            <a:off x="3163593" y="2055167"/>
            <a:ext cx="835486" cy="461665"/>
          </a:xfrm>
          <a:prstGeom prst="rect">
            <a:avLst/>
          </a:prstGeom>
          <a:noFill/>
        </p:spPr>
        <p:txBody>
          <a:bodyPr wrap="none" rtlCol="0">
            <a:spAutoFit/>
          </a:bodyPr>
          <a:lstStyle/>
          <a:p>
            <a:r>
              <a:rPr lang="en-US" dirty="0"/>
              <a:t>List1</a:t>
            </a:r>
          </a:p>
        </p:txBody>
      </p:sp>
      <p:sp>
        <p:nvSpPr>
          <p:cNvPr id="14" name="TextBox 13">
            <a:extLst>
              <a:ext uri="{FF2B5EF4-FFF2-40B4-BE49-F238E27FC236}">
                <a16:creationId xmlns:a16="http://schemas.microsoft.com/office/drawing/2014/main" id="{FCA2B971-F1DA-8381-419F-750C3878BE6B}"/>
              </a:ext>
            </a:extLst>
          </p:cNvPr>
          <p:cNvSpPr txBox="1"/>
          <p:nvPr/>
        </p:nvSpPr>
        <p:spPr>
          <a:xfrm>
            <a:off x="3163593" y="2708939"/>
            <a:ext cx="835486" cy="461665"/>
          </a:xfrm>
          <a:prstGeom prst="rect">
            <a:avLst/>
          </a:prstGeom>
          <a:noFill/>
        </p:spPr>
        <p:txBody>
          <a:bodyPr wrap="none" rtlCol="0">
            <a:spAutoFit/>
          </a:bodyPr>
          <a:lstStyle/>
          <a:p>
            <a:r>
              <a:rPr lang="en-US" dirty="0"/>
              <a:t>List2</a:t>
            </a:r>
          </a:p>
        </p:txBody>
      </p:sp>
      <p:sp>
        <p:nvSpPr>
          <p:cNvPr id="15" name="TextBox 14">
            <a:extLst>
              <a:ext uri="{FF2B5EF4-FFF2-40B4-BE49-F238E27FC236}">
                <a16:creationId xmlns:a16="http://schemas.microsoft.com/office/drawing/2014/main" id="{CA8459EF-9A60-C9F3-E81E-51CD8BEC8D2E}"/>
              </a:ext>
            </a:extLst>
          </p:cNvPr>
          <p:cNvSpPr txBox="1"/>
          <p:nvPr/>
        </p:nvSpPr>
        <p:spPr>
          <a:xfrm>
            <a:off x="3163593" y="3388461"/>
            <a:ext cx="835486" cy="461665"/>
          </a:xfrm>
          <a:prstGeom prst="rect">
            <a:avLst/>
          </a:prstGeom>
          <a:noFill/>
        </p:spPr>
        <p:txBody>
          <a:bodyPr wrap="none" rtlCol="0">
            <a:spAutoFit/>
          </a:bodyPr>
          <a:lstStyle/>
          <a:p>
            <a:r>
              <a:rPr lang="en-US" dirty="0"/>
              <a:t>List3</a:t>
            </a:r>
          </a:p>
        </p:txBody>
      </p:sp>
      <p:sp>
        <p:nvSpPr>
          <p:cNvPr id="16" name="Rectangle 15">
            <a:extLst>
              <a:ext uri="{FF2B5EF4-FFF2-40B4-BE49-F238E27FC236}">
                <a16:creationId xmlns:a16="http://schemas.microsoft.com/office/drawing/2014/main" id="{60F4B8A4-416B-C6C3-E779-630BD6BFD491}"/>
              </a:ext>
            </a:extLst>
          </p:cNvPr>
          <p:cNvSpPr/>
          <p:nvPr/>
        </p:nvSpPr>
        <p:spPr bwMode="auto">
          <a:xfrm>
            <a:off x="918177" y="5105400"/>
            <a:ext cx="873496" cy="438416"/>
          </a:xfrm>
          <a:prstGeom prst="rect">
            <a:avLst/>
          </a:prstGeom>
          <a:solidFill>
            <a:srgbClr val="FFAA00"/>
          </a:solidFill>
          <a:ln w="9525" cap="flat" cmpd="sng" algn="ctr">
            <a:noFill/>
            <a:prstDash val="solid"/>
            <a:round/>
            <a:headEnd type="none" w="med" len="med"/>
            <a:tailEnd type="none" w="med" len="med"/>
          </a:ln>
          <a:effectLst/>
        </p:spPr>
        <p:txBody>
          <a:bodyPr vert="horz" wrap="non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ysClr val="windowText" lastClr="000000"/>
                </a:solidFill>
                <a:effectLst/>
                <a:latin typeface="Arial" charset="0"/>
              </a:rPr>
              <a:t>Text1</a:t>
            </a:r>
          </a:p>
        </p:txBody>
      </p:sp>
      <p:sp>
        <p:nvSpPr>
          <p:cNvPr id="17" name="Rectangle 16">
            <a:extLst>
              <a:ext uri="{FF2B5EF4-FFF2-40B4-BE49-F238E27FC236}">
                <a16:creationId xmlns:a16="http://schemas.microsoft.com/office/drawing/2014/main" id="{B28B006A-A4DD-27BD-E98F-8116D48C96CF}"/>
              </a:ext>
            </a:extLst>
          </p:cNvPr>
          <p:cNvSpPr/>
          <p:nvPr/>
        </p:nvSpPr>
        <p:spPr bwMode="auto">
          <a:xfrm>
            <a:off x="2103322" y="5105400"/>
            <a:ext cx="873496" cy="438416"/>
          </a:xfrm>
          <a:prstGeom prst="rect">
            <a:avLst/>
          </a:prstGeom>
          <a:solidFill>
            <a:srgbClr val="00AAFF"/>
          </a:solidFill>
          <a:ln w="9525" cap="flat" cmpd="sng" algn="ctr">
            <a:noFill/>
            <a:prstDash val="solid"/>
            <a:round/>
            <a:headEnd type="none" w="med" len="med"/>
            <a:tailEnd type="none" w="med" len="med"/>
          </a:ln>
          <a:effectLst/>
        </p:spPr>
        <p:txBody>
          <a:bodyPr vert="horz" wrap="non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ysClr val="windowText" lastClr="000000"/>
                </a:solidFill>
                <a:effectLst/>
                <a:latin typeface="Arial" charset="0"/>
              </a:rPr>
              <a:t>Text2</a:t>
            </a:r>
          </a:p>
        </p:txBody>
      </p:sp>
      <p:sp>
        <p:nvSpPr>
          <p:cNvPr id="18" name="Rectangle 17">
            <a:extLst>
              <a:ext uri="{FF2B5EF4-FFF2-40B4-BE49-F238E27FC236}">
                <a16:creationId xmlns:a16="http://schemas.microsoft.com/office/drawing/2014/main" id="{6F4311DF-9DF2-EB07-8E18-09D17AEA3B67}"/>
              </a:ext>
            </a:extLst>
          </p:cNvPr>
          <p:cNvSpPr/>
          <p:nvPr/>
        </p:nvSpPr>
        <p:spPr bwMode="auto">
          <a:xfrm>
            <a:off x="3240408" y="5105400"/>
            <a:ext cx="873496" cy="438416"/>
          </a:xfrm>
          <a:prstGeom prst="rect">
            <a:avLst/>
          </a:prstGeom>
          <a:solidFill>
            <a:srgbClr val="FF00AA"/>
          </a:solidFill>
          <a:ln w="9525" cap="flat" cmpd="sng" algn="ctr">
            <a:noFill/>
            <a:prstDash val="solid"/>
            <a:round/>
            <a:headEnd type="none" w="med" len="med"/>
            <a:tailEnd type="none" w="med" len="med"/>
          </a:ln>
          <a:effectLst/>
        </p:spPr>
        <p:txBody>
          <a:bodyPr vert="horz" wrap="non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ysClr val="windowText" lastClr="000000"/>
                </a:solidFill>
                <a:effectLst/>
                <a:latin typeface="Arial" charset="0"/>
              </a:rPr>
              <a:t>Text3</a:t>
            </a:r>
          </a:p>
        </p:txBody>
      </p:sp>
    </p:spTree>
    <p:extLst>
      <p:ext uri="{BB962C8B-B14F-4D97-AF65-F5344CB8AC3E}">
        <p14:creationId xmlns:p14="http://schemas.microsoft.com/office/powerpoint/2010/main" val="1759920452"/>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D9B17DD-2844-E5FF-1F9C-15F4B9ACA9CA}"/>
              </a:ext>
            </a:extLst>
          </p:cNvPr>
          <p:cNvSpPr/>
          <p:nvPr/>
        </p:nvSpPr>
        <p:spPr bwMode="auto">
          <a:xfrm>
            <a:off x="685800" y="1953598"/>
            <a:ext cx="3962400" cy="4675802"/>
          </a:xfrm>
          <a:prstGeom prst="rect">
            <a:avLst/>
          </a:prstGeom>
          <a:solidFill>
            <a:schemeClr val="accent6">
              <a:lumMod val="20000"/>
              <a:lumOff val="80000"/>
            </a:schemeClr>
          </a:solidFill>
          <a:ln w="9525" cap="flat" cmpd="sng" algn="ctr">
            <a:solidFill>
              <a:srgbClr val="C00000"/>
            </a:solid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2" name="Slide Number Placeholder 1"/>
          <p:cNvSpPr>
            <a:spLocks noGrp="1"/>
          </p:cNvSpPr>
          <p:nvPr>
            <p:ph type="sldNum" sz="quarter" idx="2"/>
          </p:nvPr>
        </p:nvSpPr>
        <p:spPr/>
        <p:txBody>
          <a:bodyPr/>
          <a:lstStyle/>
          <a:p>
            <a:fld id="{86CB4B4D-7CA3-9044-876B-883B54F8677D}" type="slidenum">
              <a:rPr lang="en-US" smtClean="0"/>
              <a:t>50</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Bài</a:t>
            </a:r>
            <a:r>
              <a:rPr lang="en-US" sz="2800" b="1" kern="0"/>
              <a:t> </a:t>
            </a:r>
            <a:r>
              <a:rPr lang="en-US" sz="2800" b="1" kern="0" err="1"/>
              <a:t>tập</a:t>
            </a:r>
            <a:endParaRPr lang="vi-VN" sz="2800" b="1" kern="0"/>
          </a:p>
        </p:txBody>
      </p:sp>
      <p:sp>
        <p:nvSpPr>
          <p:cNvPr id="6" name="Shape 1336"/>
          <p:cNvSpPr>
            <a:spLocks noGrp="1"/>
          </p:cNvSpPr>
          <p:nvPr>
            <p:ph type="body" idx="4294967295"/>
          </p:nvPr>
        </p:nvSpPr>
        <p:spPr>
          <a:xfrm>
            <a:off x="576546" y="1169988"/>
            <a:ext cx="7772400" cy="1116012"/>
          </a:xfrm>
          <a:prstGeom prst="rect">
            <a:avLst/>
          </a:prstGeom>
          <a:extLst>
            <a:ext uri="{C572A759-6A51-4108-AA02-DFA0A04FC94B}">
              <ma14:wrappingTextBoxFlag xmlns:ma14="http://schemas.microsoft.com/office/mac/drawingml/2011/main" xmlns="" val="1"/>
            </a:ext>
          </a:extLst>
        </p:spPr>
        <p:txBody>
          <a:bodyPr>
            <a:normAutofit/>
          </a:bodyPr>
          <a:lstStyle/>
          <a:p>
            <a:pPr marL="0" indent="0" defTabSz="886968">
              <a:lnSpc>
                <a:spcPct val="140000"/>
              </a:lnSpc>
              <a:spcBef>
                <a:spcPts val="0"/>
              </a:spcBef>
              <a:buNone/>
              <a:defRPr sz="2716"/>
            </a:pPr>
            <a:r>
              <a:rPr lang="en-US" dirty="0"/>
              <a:t>4. </a:t>
            </a:r>
            <a:r>
              <a:rPr lang="en-US" dirty="0" err="1"/>
              <a:t>Thiết</a:t>
            </a:r>
            <a:r>
              <a:rPr lang="en-US" dirty="0"/>
              <a:t> </a:t>
            </a:r>
            <a:r>
              <a:rPr lang="en-US" dirty="0" err="1"/>
              <a:t>kế</a:t>
            </a:r>
            <a:r>
              <a:rPr lang="en-US" dirty="0"/>
              <a:t> Layout </a:t>
            </a:r>
            <a:r>
              <a:rPr lang="en-US" dirty="0" err="1"/>
              <a:t>theo</a:t>
            </a:r>
            <a:r>
              <a:rPr lang="en-US" dirty="0"/>
              <a:t> </a:t>
            </a:r>
            <a:r>
              <a:rPr lang="en-US" dirty="0" err="1"/>
              <a:t>hình</a:t>
            </a:r>
            <a:r>
              <a:rPr lang="en-US" dirty="0"/>
              <a:t> </a:t>
            </a:r>
            <a:r>
              <a:rPr lang="en-US" dirty="0" err="1"/>
              <a:t>sau</a:t>
            </a:r>
            <a:endParaRPr dirty="0"/>
          </a:p>
        </p:txBody>
      </p:sp>
      <p:sp>
        <p:nvSpPr>
          <p:cNvPr id="3" name="TextBox 2">
            <a:extLst>
              <a:ext uri="{FF2B5EF4-FFF2-40B4-BE49-F238E27FC236}">
                <a16:creationId xmlns:a16="http://schemas.microsoft.com/office/drawing/2014/main" id="{0ACA237E-E6A4-437E-8361-30C8E518DF84}"/>
              </a:ext>
            </a:extLst>
          </p:cNvPr>
          <p:cNvSpPr txBox="1"/>
          <p:nvPr/>
        </p:nvSpPr>
        <p:spPr>
          <a:xfrm>
            <a:off x="4588468" y="2101293"/>
            <a:ext cx="3444134" cy="1938992"/>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err="1">
                <a:solidFill>
                  <a:schemeClr val="tx1"/>
                </a:solidFill>
              </a:rPr>
              <a:t>Từ</a:t>
            </a:r>
            <a:r>
              <a:rPr lang="en-US" sz="2000" dirty="0">
                <a:solidFill>
                  <a:schemeClr val="tx1"/>
                </a:solidFill>
              </a:rPr>
              <a:t> </a:t>
            </a:r>
            <a:r>
              <a:rPr lang="en-US" sz="2000" dirty="0" err="1">
                <a:solidFill>
                  <a:schemeClr val="tx1"/>
                </a:solidFill>
              </a:rPr>
              <a:t>Mục</a:t>
            </a:r>
            <a:r>
              <a:rPr lang="en-US" sz="2000" dirty="0">
                <a:solidFill>
                  <a:schemeClr val="tx1"/>
                </a:solidFill>
              </a:rPr>
              <a:t> 1 </a:t>
            </a:r>
            <a:r>
              <a:rPr lang="en-US" sz="2000" dirty="0" err="1">
                <a:solidFill>
                  <a:schemeClr val="tx1"/>
                </a:solidFill>
              </a:rPr>
              <a:t>đến</a:t>
            </a:r>
            <a:r>
              <a:rPr lang="en-US" sz="2000" dirty="0">
                <a:solidFill>
                  <a:schemeClr val="tx1"/>
                </a:solidFill>
              </a:rPr>
              <a:t> </a:t>
            </a:r>
            <a:r>
              <a:rPr lang="en-US" sz="2000" dirty="0" err="1">
                <a:solidFill>
                  <a:schemeClr val="tx1"/>
                </a:solidFill>
              </a:rPr>
              <a:t>Mục</a:t>
            </a:r>
            <a:r>
              <a:rPr lang="en-US" sz="2000" dirty="0">
                <a:solidFill>
                  <a:schemeClr val="tx1"/>
                </a:solidFill>
              </a:rPr>
              <a:t> 8 </a:t>
            </a:r>
            <a:r>
              <a:rPr lang="en-US" sz="2000" dirty="0" err="1">
                <a:solidFill>
                  <a:schemeClr val="tx1"/>
                </a:solidFill>
              </a:rPr>
              <a:t>là</a:t>
            </a:r>
            <a:r>
              <a:rPr lang="en-US" sz="2000" dirty="0">
                <a:solidFill>
                  <a:schemeClr val="tx1"/>
                </a:solidFill>
              </a:rPr>
              <a:t> </a:t>
            </a:r>
            <a:r>
              <a:rPr lang="en-US" sz="2000">
                <a:solidFill>
                  <a:schemeClr val="tx1"/>
                </a:solidFill>
              </a:rPr>
              <a:t>ListView</a:t>
            </a:r>
            <a:endParaRPr lang="en-US" sz="2000" dirty="0">
              <a:solidFill>
                <a:schemeClr val="tx1"/>
              </a:solidFill>
            </a:endParaRPr>
          </a:p>
          <a:p>
            <a:pPr marL="342900" indent="-342900" algn="just">
              <a:buFont typeface="Arial" panose="020B0604020202020204" pitchFamily="34" charset="0"/>
              <a:buChar char="•"/>
            </a:pPr>
            <a:r>
              <a:rPr lang="en-US" sz="2000" dirty="0" err="1">
                <a:solidFill>
                  <a:schemeClr val="tx1"/>
                </a:solidFill>
              </a:rPr>
              <a:t>Cứ</a:t>
            </a:r>
            <a:r>
              <a:rPr lang="en-US" sz="2000" dirty="0">
                <a:solidFill>
                  <a:schemeClr val="tx1"/>
                </a:solidFill>
              </a:rPr>
              <a:t> </a:t>
            </a:r>
            <a:r>
              <a:rPr lang="en-US" sz="2000" dirty="0" err="1">
                <a:solidFill>
                  <a:schemeClr val="tx1"/>
                </a:solidFill>
              </a:rPr>
              <a:t>bấm</a:t>
            </a:r>
            <a:r>
              <a:rPr lang="en-US" sz="2000" dirty="0">
                <a:solidFill>
                  <a:schemeClr val="tx1"/>
                </a:solidFill>
              </a:rPr>
              <a:t> </a:t>
            </a:r>
            <a:r>
              <a:rPr lang="en-US" sz="2000" dirty="0" err="1">
                <a:solidFill>
                  <a:schemeClr val="tx1"/>
                </a:solidFill>
              </a:rPr>
              <a:t>một</a:t>
            </a:r>
            <a:r>
              <a:rPr lang="en-US" sz="2000" dirty="0">
                <a:solidFill>
                  <a:schemeClr val="tx1"/>
                </a:solidFill>
              </a:rPr>
              <a:t> </a:t>
            </a:r>
            <a:r>
              <a:rPr lang="en-US" sz="2000" dirty="0" err="1">
                <a:solidFill>
                  <a:schemeClr val="tx1"/>
                </a:solidFill>
              </a:rPr>
              <a:t>nút</a:t>
            </a:r>
            <a:r>
              <a:rPr lang="en-US" sz="2000" dirty="0">
                <a:solidFill>
                  <a:schemeClr val="tx1"/>
                </a:solidFill>
              </a:rPr>
              <a:t> </a:t>
            </a:r>
            <a:r>
              <a:rPr lang="en-US" sz="2000" dirty="0" err="1">
                <a:solidFill>
                  <a:schemeClr val="tx1"/>
                </a:solidFill>
              </a:rPr>
              <a:t>thì</a:t>
            </a:r>
            <a:r>
              <a:rPr lang="en-US" sz="2000" dirty="0">
                <a:solidFill>
                  <a:schemeClr val="tx1"/>
                </a:solidFill>
              </a:rPr>
              <a:t> </a:t>
            </a:r>
            <a:r>
              <a:rPr lang="en-US" sz="2000" dirty="0" err="1">
                <a:solidFill>
                  <a:schemeClr val="tx1"/>
                </a:solidFill>
              </a:rPr>
              <a:t>sẽ</a:t>
            </a:r>
            <a:r>
              <a:rPr lang="en-US" sz="2000" dirty="0">
                <a:solidFill>
                  <a:schemeClr val="tx1"/>
                </a:solidFill>
              </a:rPr>
              <a:t> </a:t>
            </a:r>
            <a:r>
              <a:rPr lang="en-US" sz="2000" dirty="0" err="1">
                <a:solidFill>
                  <a:schemeClr val="tx1"/>
                </a:solidFill>
              </a:rPr>
              <a:t>thực</a:t>
            </a:r>
            <a:r>
              <a:rPr lang="en-US" sz="2000" dirty="0">
                <a:solidFill>
                  <a:schemeClr val="tx1"/>
                </a:solidFill>
              </a:rPr>
              <a:t> </a:t>
            </a:r>
            <a:r>
              <a:rPr lang="en-US" sz="2000" dirty="0" err="1">
                <a:solidFill>
                  <a:schemeClr val="tx1"/>
                </a:solidFill>
              </a:rPr>
              <a:t>hiện</a:t>
            </a:r>
            <a:r>
              <a:rPr lang="en-US" sz="2000" dirty="0">
                <a:solidFill>
                  <a:schemeClr val="tx1"/>
                </a:solidFill>
              </a:rPr>
              <a:t> </a:t>
            </a:r>
            <a:r>
              <a:rPr lang="en-US" sz="2000" dirty="0" err="1">
                <a:solidFill>
                  <a:schemeClr val="tx1"/>
                </a:solidFill>
              </a:rPr>
              <a:t>một</a:t>
            </a:r>
            <a:r>
              <a:rPr lang="en-US" sz="2000" dirty="0">
                <a:solidFill>
                  <a:schemeClr val="tx1"/>
                </a:solidFill>
              </a:rPr>
              <a:t> </a:t>
            </a:r>
            <a:r>
              <a:rPr lang="en-US" sz="2000" dirty="0" err="1">
                <a:solidFill>
                  <a:schemeClr val="tx1"/>
                </a:solidFill>
              </a:rPr>
              <a:t>chức</a:t>
            </a:r>
            <a:r>
              <a:rPr lang="en-US" sz="2000" dirty="0">
                <a:solidFill>
                  <a:schemeClr val="tx1"/>
                </a:solidFill>
              </a:rPr>
              <a:t> </a:t>
            </a:r>
            <a:r>
              <a:rPr lang="en-US" sz="2000" dirty="0" err="1">
                <a:solidFill>
                  <a:schemeClr val="tx1"/>
                </a:solidFill>
              </a:rPr>
              <a:t>năng</a:t>
            </a:r>
            <a:r>
              <a:rPr lang="en-US" sz="2000" dirty="0">
                <a:solidFill>
                  <a:schemeClr val="tx1"/>
                </a:solidFill>
              </a:rPr>
              <a:t> </a:t>
            </a:r>
            <a:r>
              <a:rPr lang="en-US" sz="2000" dirty="0" err="1">
                <a:solidFill>
                  <a:schemeClr val="tx1"/>
                </a:solidFill>
              </a:rPr>
              <a:t>cụ</a:t>
            </a:r>
            <a:r>
              <a:rPr lang="en-US" sz="2000" dirty="0">
                <a:solidFill>
                  <a:schemeClr val="tx1"/>
                </a:solidFill>
              </a:rPr>
              <a:t> </a:t>
            </a:r>
            <a:r>
              <a:rPr lang="en-US" sz="2000" dirty="0" err="1">
                <a:solidFill>
                  <a:schemeClr val="tx1"/>
                </a:solidFill>
              </a:rPr>
              <a:t>thể</a:t>
            </a:r>
            <a:r>
              <a:rPr lang="en-US" sz="2000" dirty="0">
                <a:solidFill>
                  <a:schemeClr val="tx1"/>
                </a:solidFill>
              </a:rPr>
              <a:t> </a:t>
            </a:r>
            <a:r>
              <a:rPr lang="en-US" sz="2000" dirty="0" err="1">
                <a:solidFill>
                  <a:schemeClr val="tx1"/>
                </a:solidFill>
              </a:rPr>
              <a:t>và</a:t>
            </a:r>
            <a:r>
              <a:rPr lang="en-US" sz="2000" dirty="0">
                <a:solidFill>
                  <a:schemeClr val="tx1"/>
                </a:solidFill>
              </a:rPr>
              <a:t> in </a:t>
            </a:r>
            <a:r>
              <a:rPr lang="en-US" sz="2000" dirty="0" err="1">
                <a:solidFill>
                  <a:schemeClr val="tx1"/>
                </a:solidFill>
              </a:rPr>
              <a:t>ra</a:t>
            </a:r>
            <a:r>
              <a:rPr lang="en-US" sz="2000" dirty="0">
                <a:solidFill>
                  <a:schemeClr val="tx1"/>
                </a:solidFill>
              </a:rPr>
              <a:t> </a:t>
            </a:r>
            <a:r>
              <a:rPr lang="en-US" sz="2000" dirty="0" err="1">
                <a:solidFill>
                  <a:schemeClr val="tx1"/>
                </a:solidFill>
              </a:rPr>
              <a:t>TextViewResult</a:t>
            </a:r>
            <a:endParaRPr lang="en-US" sz="2000" dirty="0">
              <a:solidFill>
                <a:schemeClr val="tx1"/>
              </a:solidFill>
            </a:endParaRPr>
          </a:p>
        </p:txBody>
      </p:sp>
      <p:grpSp>
        <p:nvGrpSpPr>
          <p:cNvPr id="17" name="Group 16">
            <a:extLst>
              <a:ext uri="{FF2B5EF4-FFF2-40B4-BE49-F238E27FC236}">
                <a16:creationId xmlns:a16="http://schemas.microsoft.com/office/drawing/2014/main" id="{27AC566B-4A72-A6D4-35AE-5452F3BFC541}"/>
              </a:ext>
            </a:extLst>
          </p:cNvPr>
          <p:cNvGrpSpPr/>
          <p:nvPr/>
        </p:nvGrpSpPr>
        <p:grpSpPr>
          <a:xfrm>
            <a:off x="795053" y="2111376"/>
            <a:ext cx="3760479" cy="3708448"/>
            <a:chOff x="795054" y="1777952"/>
            <a:chExt cx="3905364" cy="4810955"/>
          </a:xfrm>
        </p:grpSpPr>
        <p:pic>
          <p:nvPicPr>
            <p:cNvPr id="5" name="Picture 4" descr="Table&#10;&#10;Description automatically generated with medium confidence">
              <a:extLst>
                <a:ext uri="{FF2B5EF4-FFF2-40B4-BE49-F238E27FC236}">
                  <a16:creationId xmlns:a16="http://schemas.microsoft.com/office/drawing/2014/main" id="{0C773502-070D-4158-99DA-34FAB290D1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5054" y="1777952"/>
              <a:ext cx="3905364" cy="4810955"/>
            </a:xfrm>
            <a:prstGeom prst="rect">
              <a:avLst/>
            </a:prstGeom>
          </p:spPr>
        </p:pic>
        <p:sp>
          <p:nvSpPr>
            <p:cNvPr id="4" name="Rectangle 3">
              <a:extLst>
                <a:ext uri="{FF2B5EF4-FFF2-40B4-BE49-F238E27FC236}">
                  <a16:creationId xmlns:a16="http://schemas.microsoft.com/office/drawing/2014/main" id="{1B073C95-F655-0DDD-5805-049916B437B3}"/>
                </a:ext>
              </a:extLst>
            </p:cNvPr>
            <p:cNvSpPr/>
            <p:nvPr/>
          </p:nvSpPr>
          <p:spPr bwMode="auto">
            <a:xfrm>
              <a:off x="990600" y="2057400"/>
              <a:ext cx="838200" cy="381000"/>
            </a:xfrm>
            <a:prstGeom prst="rect">
              <a:avLst/>
            </a:prstGeom>
            <a:solidFill>
              <a:srgbClr val="FAFAFA"/>
            </a:solidFill>
            <a:ln w="9525" cap="flat" cmpd="sng" algn="ctr">
              <a:no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10" name="Rectangle 9">
              <a:extLst>
                <a:ext uri="{FF2B5EF4-FFF2-40B4-BE49-F238E27FC236}">
                  <a16:creationId xmlns:a16="http://schemas.microsoft.com/office/drawing/2014/main" id="{7774FE20-06DB-4DE3-BC44-5600598C4912}"/>
                </a:ext>
              </a:extLst>
            </p:cNvPr>
            <p:cNvSpPr/>
            <p:nvPr/>
          </p:nvSpPr>
          <p:spPr bwMode="auto">
            <a:xfrm>
              <a:off x="990600" y="2572147"/>
              <a:ext cx="838200" cy="381000"/>
            </a:xfrm>
            <a:prstGeom prst="rect">
              <a:avLst/>
            </a:prstGeom>
            <a:solidFill>
              <a:srgbClr val="FAFAFA"/>
            </a:solidFill>
            <a:ln w="9525" cap="flat" cmpd="sng" algn="ctr">
              <a:no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11" name="Rectangle 10">
              <a:extLst>
                <a:ext uri="{FF2B5EF4-FFF2-40B4-BE49-F238E27FC236}">
                  <a16:creationId xmlns:a16="http://schemas.microsoft.com/office/drawing/2014/main" id="{D73BE341-6BCE-DCF6-187C-C85E8C300D68}"/>
                </a:ext>
              </a:extLst>
            </p:cNvPr>
            <p:cNvSpPr/>
            <p:nvPr/>
          </p:nvSpPr>
          <p:spPr bwMode="auto">
            <a:xfrm>
              <a:off x="1011026" y="3227586"/>
              <a:ext cx="838200" cy="381000"/>
            </a:xfrm>
            <a:prstGeom prst="rect">
              <a:avLst/>
            </a:prstGeom>
            <a:solidFill>
              <a:srgbClr val="FAFAFA"/>
            </a:solidFill>
            <a:ln w="9525" cap="flat" cmpd="sng" algn="ctr">
              <a:no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12" name="Rectangle 11">
              <a:extLst>
                <a:ext uri="{FF2B5EF4-FFF2-40B4-BE49-F238E27FC236}">
                  <a16:creationId xmlns:a16="http://schemas.microsoft.com/office/drawing/2014/main" id="{4963C76A-E664-6E8A-AF38-DA4A1A0C8A86}"/>
                </a:ext>
              </a:extLst>
            </p:cNvPr>
            <p:cNvSpPr/>
            <p:nvPr/>
          </p:nvSpPr>
          <p:spPr bwMode="auto">
            <a:xfrm>
              <a:off x="1011026" y="3742333"/>
              <a:ext cx="838200" cy="381000"/>
            </a:xfrm>
            <a:prstGeom prst="rect">
              <a:avLst/>
            </a:prstGeom>
            <a:solidFill>
              <a:srgbClr val="FAFAFA"/>
            </a:solidFill>
            <a:ln w="9525" cap="flat" cmpd="sng" algn="ctr">
              <a:no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13" name="Rectangle 12">
              <a:extLst>
                <a:ext uri="{FF2B5EF4-FFF2-40B4-BE49-F238E27FC236}">
                  <a16:creationId xmlns:a16="http://schemas.microsoft.com/office/drawing/2014/main" id="{6016AE77-238F-A9FA-C2B7-9036FEC8F4B2}"/>
                </a:ext>
              </a:extLst>
            </p:cNvPr>
            <p:cNvSpPr/>
            <p:nvPr/>
          </p:nvSpPr>
          <p:spPr bwMode="auto">
            <a:xfrm>
              <a:off x="991169" y="4359672"/>
              <a:ext cx="838200" cy="381000"/>
            </a:xfrm>
            <a:prstGeom prst="rect">
              <a:avLst/>
            </a:prstGeom>
            <a:solidFill>
              <a:srgbClr val="FAFAFA"/>
            </a:solidFill>
            <a:ln w="9525" cap="flat" cmpd="sng" algn="ctr">
              <a:no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14" name="Rectangle 13">
              <a:extLst>
                <a:ext uri="{FF2B5EF4-FFF2-40B4-BE49-F238E27FC236}">
                  <a16:creationId xmlns:a16="http://schemas.microsoft.com/office/drawing/2014/main" id="{998621C1-1C85-9AB4-6147-1F45264BEBF5}"/>
                </a:ext>
              </a:extLst>
            </p:cNvPr>
            <p:cNvSpPr/>
            <p:nvPr/>
          </p:nvSpPr>
          <p:spPr bwMode="auto">
            <a:xfrm>
              <a:off x="991169" y="4874419"/>
              <a:ext cx="838200" cy="381000"/>
            </a:xfrm>
            <a:prstGeom prst="rect">
              <a:avLst/>
            </a:prstGeom>
            <a:solidFill>
              <a:srgbClr val="FAFAFA"/>
            </a:solidFill>
            <a:ln w="9525" cap="flat" cmpd="sng" algn="ctr">
              <a:no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15" name="Rectangle 14">
              <a:extLst>
                <a:ext uri="{FF2B5EF4-FFF2-40B4-BE49-F238E27FC236}">
                  <a16:creationId xmlns:a16="http://schemas.microsoft.com/office/drawing/2014/main" id="{653E727D-CBF3-D942-5D55-9F56F2BFE1FD}"/>
                </a:ext>
              </a:extLst>
            </p:cNvPr>
            <p:cNvSpPr/>
            <p:nvPr/>
          </p:nvSpPr>
          <p:spPr bwMode="auto">
            <a:xfrm>
              <a:off x="1011595" y="5529858"/>
              <a:ext cx="838200" cy="381000"/>
            </a:xfrm>
            <a:prstGeom prst="rect">
              <a:avLst/>
            </a:prstGeom>
            <a:solidFill>
              <a:srgbClr val="FAFAFA"/>
            </a:solidFill>
            <a:ln w="9525" cap="flat" cmpd="sng" algn="ctr">
              <a:no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16" name="Rectangle 15">
              <a:extLst>
                <a:ext uri="{FF2B5EF4-FFF2-40B4-BE49-F238E27FC236}">
                  <a16:creationId xmlns:a16="http://schemas.microsoft.com/office/drawing/2014/main" id="{EC9C05A7-C78A-9304-7C90-0C8226B2C5C4}"/>
                </a:ext>
              </a:extLst>
            </p:cNvPr>
            <p:cNvSpPr/>
            <p:nvPr/>
          </p:nvSpPr>
          <p:spPr bwMode="auto">
            <a:xfrm>
              <a:off x="1011595" y="6044605"/>
              <a:ext cx="838200" cy="381000"/>
            </a:xfrm>
            <a:prstGeom prst="rect">
              <a:avLst/>
            </a:prstGeom>
            <a:solidFill>
              <a:srgbClr val="FAFAFA"/>
            </a:solidFill>
            <a:ln w="9525" cap="flat" cmpd="sng" algn="ctr">
              <a:noFill/>
              <a:prstDash val="solid"/>
              <a:round/>
              <a:headEnd type="none" w="med" len="med"/>
              <a:tailEnd type="none" w="med" len="med"/>
            </a:ln>
            <a:effectLst/>
          </p:spPr>
          <p:txBody>
            <a:bodyPr vert="horz" wrap="squar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grpSp>
      <p:sp>
        <p:nvSpPr>
          <p:cNvPr id="19" name="TextBox 18">
            <a:extLst>
              <a:ext uri="{FF2B5EF4-FFF2-40B4-BE49-F238E27FC236}">
                <a16:creationId xmlns:a16="http://schemas.microsoft.com/office/drawing/2014/main" id="{5F265256-97DF-1959-6B3F-78C54A3AF798}"/>
              </a:ext>
            </a:extLst>
          </p:cNvPr>
          <p:cNvSpPr txBox="1"/>
          <p:nvPr/>
        </p:nvSpPr>
        <p:spPr>
          <a:xfrm>
            <a:off x="1532799" y="5972494"/>
            <a:ext cx="2284986" cy="461665"/>
          </a:xfrm>
          <a:prstGeom prst="rect">
            <a:avLst/>
          </a:prstGeom>
          <a:noFill/>
        </p:spPr>
        <p:txBody>
          <a:bodyPr wrap="none" rtlCol="0">
            <a:spAutoFit/>
          </a:bodyPr>
          <a:lstStyle/>
          <a:p>
            <a:r>
              <a:rPr lang="en-US" dirty="0" err="1">
                <a:solidFill>
                  <a:schemeClr val="tx1"/>
                </a:solidFill>
              </a:rPr>
              <a:t>TextViewResult</a:t>
            </a:r>
            <a:endParaRPr lang="en-US" dirty="0">
              <a:solidFill>
                <a:schemeClr val="tx1"/>
              </a:solidFill>
            </a:endParaRPr>
          </a:p>
        </p:txBody>
      </p:sp>
      <p:sp>
        <p:nvSpPr>
          <p:cNvPr id="20" name="Rectangle 19">
            <a:extLst>
              <a:ext uri="{FF2B5EF4-FFF2-40B4-BE49-F238E27FC236}">
                <a16:creationId xmlns:a16="http://schemas.microsoft.com/office/drawing/2014/main" id="{D82F51FA-CBD8-F6B7-5FE6-684E7264BC1F}"/>
              </a:ext>
            </a:extLst>
          </p:cNvPr>
          <p:cNvSpPr/>
          <p:nvPr/>
        </p:nvSpPr>
        <p:spPr bwMode="auto">
          <a:xfrm>
            <a:off x="-2514600" y="76200"/>
            <a:ext cx="914400" cy="914400"/>
          </a:xfrm>
          <a:prstGeom prst="rect">
            <a:avLst/>
          </a:prstGeom>
          <a:noFill/>
          <a:ln w="9525" cap="flat" cmpd="sng" algn="ctr">
            <a:noFill/>
            <a:prstDash val="solid"/>
            <a:round/>
            <a:headEnd type="none" w="med" len="med"/>
            <a:tailEnd type="none" w="med" len="med"/>
          </a:ln>
          <a:effectLst/>
        </p:spPr>
        <p:txBody>
          <a:bodyPr vert="horz" wrap="none" lIns="68415" tIns="34208" rIns="68415" bIns="34208" numCol="1" rtlCol="0" anchor="t" anchorCtr="0" compatLnSpc="1">
            <a:prstTxWarp prst="textNoShape">
              <a:avLst/>
            </a:prstTxWarp>
            <a:spAutoFit/>
          </a:bodyPr>
          <a:lstStyle/>
          <a:p>
            <a:pPr marL="0" marR="0" indent="0" algn="ctr" defTabSz="684213"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p:txBody>
      </p:sp>
      <p:sp>
        <p:nvSpPr>
          <p:cNvPr id="21" name="TextBox 20">
            <a:extLst>
              <a:ext uri="{FF2B5EF4-FFF2-40B4-BE49-F238E27FC236}">
                <a16:creationId xmlns:a16="http://schemas.microsoft.com/office/drawing/2014/main" id="{2BBD07D3-A074-39B8-4412-BAE7EA0D1C4E}"/>
              </a:ext>
            </a:extLst>
          </p:cNvPr>
          <p:cNvSpPr txBox="1"/>
          <p:nvPr/>
        </p:nvSpPr>
        <p:spPr>
          <a:xfrm>
            <a:off x="942047" y="2257484"/>
            <a:ext cx="3217547" cy="400110"/>
          </a:xfrm>
          <a:prstGeom prst="rect">
            <a:avLst/>
          </a:prstGeom>
          <a:noFill/>
        </p:spPr>
        <p:txBody>
          <a:bodyPr wrap="none" rtlCol="0">
            <a:spAutoFit/>
          </a:bodyPr>
          <a:lstStyle/>
          <a:p>
            <a:pPr algn="l"/>
            <a:r>
              <a:rPr lang="en-US" sz="2000" dirty="0">
                <a:solidFill>
                  <a:schemeClr val="tx1"/>
                </a:solidFill>
              </a:rPr>
              <a:t>1. </a:t>
            </a:r>
            <a:r>
              <a:rPr lang="en-US" sz="2000" dirty="0" err="1">
                <a:solidFill>
                  <a:schemeClr val="tx1"/>
                </a:solidFill>
              </a:rPr>
              <a:t>Số</a:t>
            </a:r>
            <a:r>
              <a:rPr lang="en-US" sz="2000" dirty="0">
                <a:solidFill>
                  <a:schemeClr val="tx1"/>
                </a:solidFill>
              </a:rPr>
              <a:t> </a:t>
            </a:r>
            <a:r>
              <a:rPr lang="en-US" sz="2000" dirty="0" err="1">
                <a:solidFill>
                  <a:schemeClr val="tx1"/>
                </a:solidFill>
              </a:rPr>
              <a:t>nguyên</a:t>
            </a:r>
            <a:r>
              <a:rPr lang="en-US" sz="2000" dirty="0">
                <a:solidFill>
                  <a:schemeClr val="tx1"/>
                </a:solidFill>
              </a:rPr>
              <a:t> </a:t>
            </a:r>
            <a:r>
              <a:rPr lang="en-US" sz="2000" dirty="0" err="1">
                <a:solidFill>
                  <a:schemeClr val="tx1"/>
                </a:solidFill>
              </a:rPr>
              <a:t>từ</a:t>
            </a:r>
            <a:r>
              <a:rPr lang="en-US" sz="2000" dirty="0">
                <a:solidFill>
                  <a:schemeClr val="tx1"/>
                </a:solidFill>
              </a:rPr>
              <a:t> 1 </a:t>
            </a:r>
            <a:r>
              <a:rPr lang="en-US" sz="2000" dirty="0" err="1">
                <a:solidFill>
                  <a:schemeClr val="tx1"/>
                </a:solidFill>
              </a:rPr>
              <a:t>đến</a:t>
            </a:r>
            <a:r>
              <a:rPr lang="en-US" sz="2000" dirty="0">
                <a:solidFill>
                  <a:schemeClr val="tx1"/>
                </a:solidFill>
              </a:rPr>
              <a:t> 100</a:t>
            </a:r>
          </a:p>
        </p:txBody>
      </p:sp>
      <p:sp>
        <p:nvSpPr>
          <p:cNvPr id="22" name="TextBox 21">
            <a:extLst>
              <a:ext uri="{FF2B5EF4-FFF2-40B4-BE49-F238E27FC236}">
                <a16:creationId xmlns:a16="http://schemas.microsoft.com/office/drawing/2014/main" id="{FAE5F25C-D985-3520-1F4D-B2E37BE258C6}"/>
              </a:ext>
            </a:extLst>
          </p:cNvPr>
          <p:cNvSpPr txBox="1"/>
          <p:nvPr/>
        </p:nvSpPr>
        <p:spPr>
          <a:xfrm>
            <a:off x="942047" y="2698378"/>
            <a:ext cx="2570127" cy="400110"/>
          </a:xfrm>
          <a:prstGeom prst="rect">
            <a:avLst/>
          </a:prstGeom>
          <a:noFill/>
        </p:spPr>
        <p:txBody>
          <a:bodyPr wrap="none" rtlCol="0">
            <a:spAutoFit/>
          </a:bodyPr>
          <a:lstStyle/>
          <a:p>
            <a:pPr algn="l"/>
            <a:r>
              <a:rPr lang="en-US" sz="2000" dirty="0">
                <a:solidFill>
                  <a:schemeClr val="tx1"/>
                </a:solidFill>
              </a:rPr>
              <a:t>2. </a:t>
            </a:r>
            <a:r>
              <a:rPr lang="en-US" sz="2000" dirty="0" err="1">
                <a:solidFill>
                  <a:schemeClr val="tx1"/>
                </a:solidFill>
              </a:rPr>
              <a:t>Tích</a:t>
            </a:r>
            <a:r>
              <a:rPr lang="en-US" sz="2000" dirty="0">
                <a:solidFill>
                  <a:schemeClr val="tx1"/>
                </a:solidFill>
              </a:rPr>
              <a:t> 12 x 7 x 1995</a:t>
            </a:r>
          </a:p>
        </p:txBody>
      </p:sp>
      <p:sp>
        <p:nvSpPr>
          <p:cNvPr id="23" name="TextBox 22">
            <a:extLst>
              <a:ext uri="{FF2B5EF4-FFF2-40B4-BE49-F238E27FC236}">
                <a16:creationId xmlns:a16="http://schemas.microsoft.com/office/drawing/2014/main" id="{454D8F2D-E82E-5CEA-40B0-F576313BADA2}"/>
              </a:ext>
            </a:extLst>
          </p:cNvPr>
          <p:cNvSpPr txBox="1"/>
          <p:nvPr/>
        </p:nvSpPr>
        <p:spPr>
          <a:xfrm>
            <a:off x="942047" y="3132622"/>
            <a:ext cx="2932213" cy="400110"/>
          </a:xfrm>
          <a:prstGeom prst="rect">
            <a:avLst/>
          </a:prstGeom>
          <a:noFill/>
        </p:spPr>
        <p:txBody>
          <a:bodyPr wrap="none" rtlCol="0">
            <a:spAutoFit/>
          </a:bodyPr>
          <a:lstStyle/>
          <a:p>
            <a:pPr algn="l"/>
            <a:r>
              <a:rPr lang="en-US" sz="2000" dirty="0">
                <a:solidFill>
                  <a:schemeClr val="tx1"/>
                </a:solidFill>
              </a:rPr>
              <a:t>3. </a:t>
            </a:r>
            <a:r>
              <a:rPr lang="en-US" sz="2000" dirty="0" err="1">
                <a:solidFill>
                  <a:schemeClr val="tx1"/>
                </a:solidFill>
              </a:rPr>
              <a:t>Số</a:t>
            </a:r>
            <a:r>
              <a:rPr lang="en-US" sz="2000" dirty="0">
                <a:solidFill>
                  <a:schemeClr val="tx1"/>
                </a:solidFill>
              </a:rPr>
              <a:t> </a:t>
            </a:r>
            <a:r>
              <a:rPr lang="en-US" sz="2000" dirty="0" err="1">
                <a:solidFill>
                  <a:schemeClr val="tx1"/>
                </a:solidFill>
              </a:rPr>
              <a:t>chắn</a:t>
            </a:r>
            <a:r>
              <a:rPr lang="en-US" sz="2000" dirty="0">
                <a:solidFill>
                  <a:schemeClr val="tx1"/>
                </a:solidFill>
              </a:rPr>
              <a:t> </a:t>
            </a:r>
            <a:r>
              <a:rPr lang="en-US" sz="2000" dirty="0" err="1">
                <a:solidFill>
                  <a:schemeClr val="tx1"/>
                </a:solidFill>
              </a:rPr>
              <a:t>từ</a:t>
            </a:r>
            <a:r>
              <a:rPr lang="en-US" sz="2000" dirty="0">
                <a:solidFill>
                  <a:schemeClr val="tx1"/>
                </a:solidFill>
              </a:rPr>
              <a:t> 1 </a:t>
            </a:r>
            <a:r>
              <a:rPr lang="en-US" sz="2000" dirty="0" err="1">
                <a:solidFill>
                  <a:schemeClr val="tx1"/>
                </a:solidFill>
              </a:rPr>
              <a:t>đến</a:t>
            </a:r>
            <a:r>
              <a:rPr lang="en-US" sz="2000" dirty="0">
                <a:solidFill>
                  <a:schemeClr val="tx1"/>
                </a:solidFill>
              </a:rPr>
              <a:t> 100</a:t>
            </a:r>
          </a:p>
        </p:txBody>
      </p:sp>
      <p:sp>
        <p:nvSpPr>
          <p:cNvPr id="24" name="TextBox 23">
            <a:extLst>
              <a:ext uri="{FF2B5EF4-FFF2-40B4-BE49-F238E27FC236}">
                <a16:creationId xmlns:a16="http://schemas.microsoft.com/office/drawing/2014/main" id="{4BE12C8B-2C35-8F2A-52B8-7AED412200E2}"/>
              </a:ext>
            </a:extLst>
          </p:cNvPr>
          <p:cNvSpPr txBox="1"/>
          <p:nvPr/>
        </p:nvSpPr>
        <p:spPr>
          <a:xfrm>
            <a:off x="942047" y="3573516"/>
            <a:ext cx="2576346" cy="400110"/>
          </a:xfrm>
          <a:prstGeom prst="rect">
            <a:avLst/>
          </a:prstGeom>
          <a:noFill/>
        </p:spPr>
        <p:txBody>
          <a:bodyPr wrap="none" rtlCol="0">
            <a:spAutoFit/>
          </a:bodyPr>
          <a:lstStyle/>
          <a:p>
            <a:pPr algn="l"/>
            <a:r>
              <a:rPr lang="en-US" sz="2000" dirty="0">
                <a:solidFill>
                  <a:schemeClr val="tx1"/>
                </a:solidFill>
              </a:rPr>
              <a:t>4. </a:t>
            </a:r>
            <a:r>
              <a:rPr lang="en-US" sz="2000" dirty="0" err="1">
                <a:solidFill>
                  <a:schemeClr val="tx1"/>
                </a:solidFill>
              </a:rPr>
              <a:t>Số</a:t>
            </a:r>
            <a:r>
              <a:rPr lang="en-US" sz="2000" dirty="0">
                <a:solidFill>
                  <a:schemeClr val="tx1"/>
                </a:solidFill>
              </a:rPr>
              <a:t> </a:t>
            </a:r>
            <a:r>
              <a:rPr lang="en-US" sz="2000" dirty="0" err="1">
                <a:solidFill>
                  <a:schemeClr val="tx1"/>
                </a:solidFill>
              </a:rPr>
              <a:t>lẻ</a:t>
            </a:r>
            <a:r>
              <a:rPr lang="en-US" sz="2000" dirty="0">
                <a:solidFill>
                  <a:schemeClr val="tx1"/>
                </a:solidFill>
              </a:rPr>
              <a:t> </a:t>
            </a:r>
            <a:r>
              <a:rPr lang="en-US" sz="2000" dirty="0" err="1">
                <a:solidFill>
                  <a:schemeClr val="tx1"/>
                </a:solidFill>
              </a:rPr>
              <a:t>từ</a:t>
            </a:r>
            <a:r>
              <a:rPr lang="en-US" sz="2000" dirty="0">
                <a:solidFill>
                  <a:schemeClr val="tx1"/>
                </a:solidFill>
              </a:rPr>
              <a:t> 1 </a:t>
            </a:r>
            <a:r>
              <a:rPr lang="en-US" sz="2000" dirty="0" err="1">
                <a:solidFill>
                  <a:schemeClr val="tx1"/>
                </a:solidFill>
              </a:rPr>
              <a:t>đến</a:t>
            </a:r>
            <a:r>
              <a:rPr lang="en-US" sz="2000" dirty="0">
                <a:solidFill>
                  <a:schemeClr val="tx1"/>
                </a:solidFill>
              </a:rPr>
              <a:t> 100</a:t>
            </a:r>
          </a:p>
        </p:txBody>
      </p:sp>
      <p:sp>
        <p:nvSpPr>
          <p:cNvPr id="25" name="TextBox 24">
            <a:extLst>
              <a:ext uri="{FF2B5EF4-FFF2-40B4-BE49-F238E27FC236}">
                <a16:creationId xmlns:a16="http://schemas.microsoft.com/office/drawing/2014/main" id="{8833EE75-AF8A-794D-8DCD-81F17C3B6B68}"/>
              </a:ext>
            </a:extLst>
          </p:cNvPr>
          <p:cNvSpPr txBox="1"/>
          <p:nvPr/>
        </p:nvSpPr>
        <p:spPr>
          <a:xfrm>
            <a:off x="940372" y="4040381"/>
            <a:ext cx="1053494" cy="400110"/>
          </a:xfrm>
          <a:prstGeom prst="rect">
            <a:avLst/>
          </a:prstGeom>
          <a:noFill/>
        </p:spPr>
        <p:txBody>
          <a:bodyPr wrap="none" rtlCol="0">
            <a:spAutoFit/>
          </a:bodyPr>
          <a:lstStyle/>
          <a:p>
            <a:pPr algn="l"/>
            <a:r>
              <a:rPr lang="en-US" sz="2000" dirty="0">
                <a:solidFill>
                  <a:schemeClr val="tx1"/>
                </a:solidFill>
              </a:rPr>
              <a:t>5. </a:t>
            </a:r>
            <a:r>
              <a:rPr lang="en-US" sz="2000" dirty="0" err="1">
                <a:solidFill>
                  <a:schemeClr val="tx1"/>
                </a:solidFill>
              </a:rPr>
              <a:t>Số</a:t>
            </a:r>
            <a:r>
              <a:rPr lang="en-US" sz="2000" dirty="0">
                <a:solidFill>
                  <a:schemeClr val="tx1"/>
                </a:solidFill>
              </a:rPr>
              <a:t> pi</a:t>
            </a:r>
          </a:p>
        </p:txBody>
      </p:sp>
      <p:sp>
        <p:nvSpPr>
          <p:cNvPr id="26" name="TextBox 25">
            <a:extLst>
              <a:ext uri="{FF2B5EF4-FFF2-40B4-BE49-F238E27FC236}">
                <a16:creationId xmlns:a16="http://schemas.microsoft.com/office/drawing/2014/main" id="{A4DC86F7-7B46-9D84-0381-32EFFA5F04C8}"/>
              </a:ext>
            </a:extLst>
          </p:cNvPr>
          <p:cNvSpPr txBox="1"/>
          <p:nvPr/>
        </p:nvSpPr>
        <p:spPr>
          <a:xfrm>
            <a:off x="940372" y="4481275"/>
            <a:ext cx="2598981" cy="400110"/>
          </a:xfrm>
          <a:prstGeom prst="rect">
            <a:avLst/>
          </a:prstGeom>
          <a:noFill/>
        </p:spPr>
        <p:txBody>
          <a:bodyPr wrap="none" rtlCol="0">
            <a:spAutoFit/>
          </a:bodyPr>
          <a:lstStyle/>
          <a:p>
            <a:pPr algn="l"/>
            <a:r>
              <a:rPr lang="en-US" sz="2000" dirty="0">
                <a:solidFill>
                  <a:schemeClr val="tx1"/>
                </a:solidFill>
              </a:rPr>
              <a:t>6. </a:t>
            </a:r>
            <a:r>
              <a:rPr lang="en-US" sz="2000" dirty="0" err="1">
                <a:solidFill>
                  <a:schemeClr val="tx1"/>
                </a:solidFill>
              </a:rPr>
              <a:t>Tên</a:t>
            </a:r>
            <a:r>
              <a:rPr lang="en-US" sz="2000" dirty="0">
                <a:solidFill>
                  <a:schemeClr val="tx1"/>
                </a:solidFill>
              </a:rPr>
              <a:t> </a:t>
            </a:r>
            <a:r>
              <a:rPr lang="en-US" sz="2000" dirty="0" err="1">
                <a:solidFill>
                  <a:schemeClr val="tx1"/>
                </a:solidFill>
              </a:rPr>
              <a:t>trường</a:t>
            </a:r>
            <a:r>
              <a:rPr lang="en-US" sz="2000" dirty="0">
                <a:solidFill>
                  <a:schemeClr val="tx1"/>
                </a:solidFill>
              </a:rPr>
              <a:t> UNETI</a:t>
            </a:r>
          </a:p>
        </p:txBody>
      </p:sp>
      <p:sp>
        <p:nvSpPr>
          <p:cNvPr id="27" name="TextBox 26">
            <a:extLst>
              <a:ext uri="{FF2B5EF4-FFF2-40B4-BE49-F238E27FC236}">
                <a16:creationId xmlns:a16="http://schemas.microsoft.com/office/drawing/2014/main" id="{3467C94B-4E32-CE82-44BD-B4C2463D3213}"/>
              </a:ext>
            </a:extLst>
          </p:cNvPr>
          <p:cNvSpPr txBox="1"/>
          <p:nvPr/>
        </p:nvSpPr>
        <p:spPr>
          <a:xfrm>
            <a:off x="940372" y="4915519"/>
            <a:ext cx="3445174" cy="400110"/>
          </a:xfrm>
          <a:prstGeom prst="rect">
            <a:avLst/>
          </a:prstGeom>
          <a:noFill/>
        </p:spPr>
        <p:txBody>
          <a:bodyPr wrap="none" rtlCol="0">
            <a:spAutoFit/>
          </a:bodyPr>
          <a:lstStyle/>
          <a:p>
            <a:pPr algn="l"/>
            <a:r>
              <a:rPr lang="en-US" sz="2000" dirty="0">
                <a:solidFill>
                  <a:schemeClr val="tx1"/>
                </a:solidFill>
              </a:rPr>
              <a:t>7. </a:t>
            </a:r>
            <a:r>
              <a:rPr lang="en-US" sz="2000" dirty="0" err="1">
                <a:solidFill>
                  <a:schemeClr val="tx1"/>
                </a:solidFill>
              </a:rPr>
              <a:t>Số</a:t>
            </a:r>
            <a:r>
              <a:rPr lang="en-US" sz="2000" dirty="0">
                <a:solidFill>
                  <a:schemeClr val="tx1"/>
                </a:solidFill>
              </a:rPr>
              <a:t> </a:t>
            </a:r>
            <a:r>
              <a:rPr lang="en-US" sz="2000" dirty="0" err="1">
                <a:solidFill>
                  <a:schemeClr val="tx1"/>
                </a:solidFill>
              </a:rPr>
              <a:t>hoàn</a:t>
            </a:r>
            <a:r>
              <a:rPr lang="en-US" sz="2000" dirty="0">
                <a:solidFill>
                  <a:schemeClr val="tx1"/>
                </a:solidFill>
              </a:rPr>
              <a:t> </a:t>
            </a:r>
            <a:r>
              <a:rPr lang="en-US" sz="2000" dirty="0" err="1">
                <a:solidFill>
                  <a:schemeClr val="tx1"/>
                </a:solidFill>
              </a:rPr>
              <a:t>hảo</a:t>
            </a:r>
            <a:r>
              <a:rPr lang="en-US" sz="2000" dirty="0">
                <a:solidFill>
                  <a:schemeClr val="tx1"/>
                </a:solidFill>
              </a:rPr>
              <a:t> </a:t>
            </a:r>
            <a:r>
              <a:rPr lang="en-US" sz="2000" dirty="0" err="1">
                <a:solidFill>
                  <a:schemeClr val="tx1"/>
                </a:solidFill>
              </a:rPr>
              <a:t>từ</a:t>
            </a:r>
            <a:r>
              <a:rPr lang="en-US" sz="2000" dirty="0">
                <a:solidFill>
                  <a:schemeClr val="tx1"/>
                </a:solidFill>
              </a:rPr>
              <a:t> 1 </a:t>
            </a:r>
            <a:r>
              <a:rPr lang="en-US" sz="2000" dirty="0" err="1">
                <a:solidFill>
                  <a:schemeClr val="tx1"/>
                </a:solidFill>
              </a:rPr>
              <a:t>đến</a:t>
            </a:r>
            <a:r>
              <a:rPr lang="en-US" sz="2000" dirty="0">
                <a:solidFill>
                  <a:schemeClr val="tx1"/>
                </a:solidFill>
              </a:rPr>
              <a:t> 100</a:t>
            </a:r>
          </a:p>
        </p:txBody>
      </p:sp>
      <p:sp>
        <p:nvSpPr>
          <p:cNvPr id="28" name="TextBox 27">
            <a:extLst>
              <a:ext uri="{FF2B5EF4-FFF2-40B4-BE49-F238E27FC236}">
                <a16:creationId xmlns:a16="http://schemas.microsoft.com/office/drawing/2014/main" id="{6BBCECEE-9F2C-23F8-D80F-0CA34F5A41B9}"/>
              </a:ext>
            </a:extLst>
          </p:cNvPr>
          <p:cNvSpPr txBox="1"/>
          <p:nvPr/>
        </p:nvSpPr>
        <p:spPr>
          <a:xfrm>
            <a:off x="940372" y="5356413"/>
            <a:ext cx="2778325" cy="400110"/>
          </a:xfrm>
          <a:prstGeom prst="rect">
            <a:avLst/>
          </a:prstGeom>
          <a:noFill/>
        </p:spPr>
        <p:txBody>
          <a:bodyPr wrap="none" rtlCol="0">
            <a:spAutoFit/>
          </a:bodyPr>
          <a:lstStyle/>
          <a:p>
            <a:pPr algn="l"/>
            <a:r>
              <a:rPr lang="en-US" sz="2000" dirty="0">
                <a:solidFill>
                  <a:schemeClr val="tx1"/>
                </a:solidFill>
              </a:rPr>
              <a:t>8. 50 </a:t>
            </a:r>
            <a:r>
              <a:rPr lang="en-US" sz="2000" dirty="0" err="1">
                <a:solidFill>
                  <a:schemeClr val="tx1"/>
                </a:solidFill>
              </a:rPr>
              <a:t>chữ</a:t>
            </a:r>
            <a:r>
              <a:rPr lang="en-US" sz="2000" dirty="0">
                <a:solidFill>
                  <a:schemeClr val="tx1"/>
                </a:solidFill>
              </a:rPr>
              <a:t> </a:t>
            </a:r>
            <a:r>
              <a:rPr lang="en-US" sz="2000" dirty="0" err="1">
                <a:solidFill>
                  <a:schemeClr val="tx1"/>
                </a:solidFill>
              </a:rPr>
              <a:t>số</a:t>
            </a:r>
            <a:r>
              <a:rPr lang="en-US" sz="2000" dirty="0">
                <a:solidFill>
                  <a:schemeClr val="tx1"/>
                </a:solidFill>
              </a:rPr>
              <a:t> Fibonacci</a:t>
            </a:r>
          </a:p>
        </p:txBody>
      </p:sp>
    </p:spTree>
    <p:extLst>
      <p:ext uri="{BB962C8B-B14F-4D97-AF65-F5344CB8AC3E}">
        <p14:creationId xmlns:p14="http://schemas.microsoft.com/office/powerpoint/2010/main" val="617621144"/>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INKNOELEADERBOARD" val="659384857"/>
</p:tagLst>
</file>

<file path=ppt/theme/theme1.xml><?xml version="1.0" encoding="utf-8"?>
<a:theme xmlns:a="http://schemas.openxmlformats.org/drawingml/2006/main" name="cdb2004146l">
  <a:themeElements>
    <a:clrScheme name="cdb2004146l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cdb2004146l">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68415" tIns="34208" rIns="68415" bIns="34208" numCol="1" anchor="t" anchorCtr="0" compatLnSpc="1">
        <a:prstTxWarp prst="textNoShape">
          <a:avLst/>
        </a:prstTxWarp>
        <a:spAutoFit/>
      </a:bodyPr>
      <a:lstStyle>
        <a:defPPr marL="0" marR="0" indent="0" algn="ctr" defTabSz="684213"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68415" tIns="34208" rIns="68415" bIns="34208" numCol="1" anchor="t" anchorCtr="0" compatLnSpc="1">
        <a:prstTxWarp prst="textNoShape">
          <a:avLst/>
        </a:prstTxWarp>
        <a:spAutoFit/>
      </a:bodyPr>
      <a:lstStyle>
        <a:defPPr marL="0" marR="0" indent="0" algn="ctr" defTabSz="684213"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lnDef>
  </a:objectDefaults>
  <a:extraClrSchemeLst>
    <a:extraClrScheme>
      <a:clrScheme name="cdb2004146l 1">
        <a:dk1>
          <a:srgbClr val="48806B"/>
        </a:dk1>
        <a:lt1>
          <a:srgbClr val="FFFFFF"/>
        </a:lt1>
        <a:dk2>
          <a:srgbClr val="77956D"/>
        </a:dk2>
        <a:lt2>
          <a:srgbClr val="C0C0C0"/>
        </a:lt2>
        <a:accent1>
          <a:srgbClr val="6BB9C3"/>
        </a:accent1>
        <a:accent2>
          <a:srgbClr val="E7BA15"/>
        </a:accent2>
        <a:accent3>
          <a:srgbClr val="FFFFFF"/>
        </a:accent3>
        <a:accent4>
          <a:srgbClr val="3C6C5A"/>
        </a:accent4>
        <a:accent5>
          <a:srgbClr val="BAD9DE"/>
        </a:accent5>
        <a:accent6>
          <a:srgbClr val="D1A812"/>
        </a:accent6>
        <a:hlink>
          <a:srgbClr val="76C14D"/>
        </a:hlink>
        <a:folHlink>
          <a:srgbClr val="B0C29C"/>
        </a:folHlink>
      </a:clrScheme>
      <a:clrMap bg1="lt1" tx1="dk1" bg2="lt2" tx2="dk2" accent1="accent1" accent2="accent2" accent3="accent3" accent4="accent4" accent5="accent5" accent6="accent6" hlink="hlink" folHlink="folHlink"/>
    </a:extraClrScheme>
    <a:extraClrScheme>
      <a:clrScheme name="cdb2004146l 2">
        <a:dk1>
          <a:srgbClr val="5F5F5F"/>
        </a:dk1>
        <a:lt1>
          <a:srgbClr val="FFFFFF"/>
        </a:lt1>
        <a:dk2>
          <a:srgbClr val="8D8D8D"/>
        </a:dk2>
        <a:lt2>
          <a:srgbClr val="C0C0C0"/>
        </a:lt2>
        <a:accent1>
          <a:srgbClr val="8EC072"/>
        </a:accent1>
        <a:accent2>
          <a:srgbClr val="5DB8CD"/>
        </a:accent2>
        <a:accent3>
          <a:srgbClr val="FFFFFF"/>
        </a:accent3>
        <a:accent4>
          <a:srgbClr val="505050"/>
        </a:accent4>
        <a:accent5>
          <a:srgbClr val="C6DCBC"/>
        </a:accent5>
        <a:accent6>
          <a:srgbClr val="53A6BA"/>
        </a:accent6>
        <a:hlink>
          <a:srgbClr val="D68B40"/>
        </a:hlink>
        <a:folHlink>
          <a:srgbClr val="D5D179"/>
        </a:folHlink>
      </a:clrScheme>
      <a:clrMap bg1="lt1" tx1="dk1" bg2="lt2" tx2="dk2" accent1="accent1" accent2="accent2" accent3="accent3" accent4="accent4" accent5="accent5" accent6="accent6" hlink="hlink" folHlink="folHlink"/>
    </a:extraClrScheme>
    <a:extraClrScheme>
      <a:clrScheme name="cdb2004146l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cdb2004146l</Template>
  <TotalTime>24641</TotalTime>
  <Words>2364</Words>
  <Application>Microsoft Office PowerPoint</Application>
  <PresentationFormat>On-screen Show (4:3)</PresentationFormat>
  <Paragraphs>334</Paragraphs>
  <Slides>50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.VnArial Narrow</vt:lpstr>
      <vt:lpstr>Arial</vt:lpstr>
      <vt:lpstr>Tahoma</vt:lpstr>
      <vt:lpstr>Times New Roman</vt:lpstr>
      <vt:lpstr>Verdana</vt:lpstr>
      <vt:lpstr>Wingdings</vt:lpstr>
      <vt:lpstr>cdb2004146l</vt:lpstr>
      <vt:lpstr>PowerPoint Presentation</vt:lpstr>
      <vt:lpstr>Chương 1 – Tổng quan về lập trình Android</vt:lpstr>
      <vt:lpstr>PowerPoint Presentation</vt:lpstr>
      <vt:lpstr>1.1 THÀNH PHẦN TRONG GIAO DIỆN ANDROID</vt:lpstr>
      <vt:lpstr>1.1.1 VIEW - WIDGET</vt:lpstr>
      <vt:lpstr>1.1.2 VIEWGROUP - LAYOUT</vt:lpstr>
      <vt:lpstr>1.1.3 THAM SỐ CỦA LAYOUT VÀ VIEW</vt:lpstr>
      <vt:lpstr>1.1.3 THAM SỐ CỦA LAYOUT VÀ VIEW</vt:lpstr>
      <vt:lpstr>PowerPoint Presentation</vt:lpstr>
      <vt:lpstr>1.2 XÂY DỰNG GIAO DIỆN SỬ DỤNG XML</vt:lpstr>
      <vt:lpstr>1.2 XÂY DỰNG GIAO DIỆN SỬ DỤNG XML</vt:lpstr>
      <vt:lpstr>1.2 XÂY DỰNG GIAO DIỆN SỬ DỤNG XML</vt:lpstr>
      <vt:lpstr>1.2 XÂY DỰNG GIAO DIỆN SỬ DỤNG XML</vt:lpstr>
      <vt:lpstr>1.2 XÂY DỰNG GIAO DIỆN SỬ DỤNG XML</vt:lpstr>
      <vt:lpstr>1.2 XÂY DỰNG GIAO DIỆN SỬ DỤNG XML</vt:lpstr>
      <vt:lpstr>PowerPoint Presentation</vt:lpstr>
      <vt:lpstr>1.3.1 LinearLayout</vt:lpstr>
      <vt:lpstr>1.3.1 LinearLayout</vt:lpstr>
      <vt:lpstr>1.3.1 LinearLayout</vt:lpstr>
      <vt:lpstr>1.3.2 RelativeLayout</vt:lpstr>
      <vt:lpstr>1.3.2 RelativeLayout</vt:lpstr>
      <vt:lpstr>1.3.2 RelativeLayout</vt:lpstr>
      <vt:lpstr>1.3.3. FrameLayout</vt:lpstr>
      <vt:lpstr>1.3.3. FrameLayout</vt:lpstr>
      <vt:lpstr>1.3.4 TableLayout</vt:lpstr>
      <vt:lpstr>1.3.4 TableLayout</vt:lpstr>
      <vt:lpstr>1.3.4 TableLayout</vt:lpstr>
      <vt:lpstr>1.3.5 AbsoluteLayout</vt:lpstr>
      <vt:lpstr>1.3.5 AbsoluteLayout</vt:lpstr>
      <vt:lpstr>PowerPoint Presentation</vt:lpstr>
      <vt:lpstr>1.4.1 TextView </vt:lpstr>
      <vt:lpstr>1.4.2 EditText </vt:lpstr>
      <vt:lpstr>1.4.2 Button &amp; ImageButton </vt:lpstr>
      <vt:lpstr>1.4.3 ToggleButton</vt:lpstr>
      <vt:lpstr>1.4.4 CheckBox</vt:lpstr>
      <vt:lpstr>1.4.5 RadioGroup &amp; RadioButton</vt:lpstr>
      <vt:lpstr>1.4.5 RadioGroup &amp; RadioButton</vt:lpstr>
      <vt:lpstr>1.4.6 ListView</vt:lpstr>
      <vt:lpstr>1.4.6 ListView</vt:lpstr>
      <vt:lpstr>1.4.6 ListView</vt:lpstr>
      <vt:lpstr>1.4.7 Cách tương tác với các View</vt:lpstr>
      <vt:lpstr>1.4.7 Cách tương tác với các 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WORKGROUP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tài: VPN</dc:title>
  <dc:creator>LATDAT</dc:creator>
  <cp:lastModifiedBy>Admin</cp:lastModifiedBy>
  <cp:revision>1420</cp:revision>
  <dcterms:created xsi:type="dcterms:W3CDTF">2011-02-25T01:16:23Z</dcterms:created>
  <dcterms:modified xsi:type="dcterms:W3CDTF">2023-06-27T00:59:02Z</dcterms:modified>
</cp:coreProperties>
</file>